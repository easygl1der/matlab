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305" r:id="rId4"/>
    <p:sldId id="303" r:id="rId5"/>
    <p:sldId id="306" r:id="rId6"/>
    <p:sldId id="307" r:id="rId7"/>
    <p:sldId id="308" r:id="rId8"/>
    <p:sldId id="311" r:id="rId9"/>
    <p:sldId id="304" r:id="rId10"/>
    <p:sldId id="310" r:id="rId11"/>
    <p:sldId id="314" r:id="rId12"/>
    <p:sldId id="334" r:id="rId13"/>
    <p:sldId id="333" r:id="rId14"/>
    <p:sldId id="336" r:id="rId15"/>
    <p:sldId id="337" r:id="rId16"/>
    <p:sldId id="335" r:id="rId17"/>
    <p:sldId id="309" r:id="rId18"/>
    <p:sldId id="312" r:id="rId19"/>
    <p:sldId id="297" r:id="rId20"/>
    <p:sldId id="298" r:id="rId21"/>
    <p:sldId id="436" r:id="rId22"/>
    <p:sldId id="437" r:id="rId23"/>
    <p:sldId id="438" r:id="rId24"/>
    <p:sldId id="439" r:id="rId25"/>
    <p:sldId id="440" r:id="rId26"/>
    <p:sldId id="441" r:id="rId27"/>
    <p:sldId id="442" r:id="rId28"/>
    <p:sldId id="443" r:id="rId29"/>
    <p:sldId id="444" r:id="rId30"/>
    <p:sldId id="445" r:id="rId31"/>
    <p:sldId id="446" r:id="rId32"/>
    <p:sldId id="473" r:id="rId33"/>
    <p:sldId id="474" r:id="rId34"/>
    <p:sldId id="447" r:id="rId35"/>
    <p:sldId id="449" r:id="rId36"/>
    <p:sldId id="450" r:id="rId37"/>
    <p:sldId id="451" r:id="rId38"/>
    <p:sldId id="452" r:id="rId39"/>
    <p:sldId id="453" r:id="rId40"/>
    <p:sldId id="454" r:id="rId41"/>
    <p:sldId id="455" r:id="rId42"/>
    <p:sldId id="456" r:id="rId43"/>
    <p:sldId id="465" r:id="rId44"/>
    <p:sldId id="466" r:id="rId45"/>
    <p:sldId id="471" r:id="rId46"/>
    <p:sldId id="467" r:id="rId47"/>
    <p:sldId id="468" r:id="rId48"/>
    <p:sldId id="470" r:id="rId49"/>
    <p:sldId id="472" r:id="rId50"/>
  </p:sldIdLst>
  <p:sldSz cx="12192000" cy="6858000"/>
  <p:notesSz cx="6858000" cy="9144000"/>
  <p:custDataLst>
    <p:tags r:id="rId5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4" Type="http://schemas.openxmlformats.org/officeDocument/2006/relationships/tags" Target="tags/tag1.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CB709B4-20BF-447C-90F9-CF5B0B650BF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276E44-8CE7-42EB-9666-FF94AA0EB07E}"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CB709B4-20BF-447C-90F9-CF5B0B650BF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276E44-8CE7-42EB-9666-FF94AA0EB07E}"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CB709B4-20BF-447C-90F9-CF5B0B650BF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276E44-8CE7-42EB-9666-FF94AA0EB07E}"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5CB709B4-20BF-447C-90F9-CF5B0B650BF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276E44-8CE7-42EB-9666-FF94AA0EB07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5CB709B4-20BF-447C-90F9-CF5B0B650BF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7276E44-8CE7-42EB-9666-FF94AA0EB07E}"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CB709B4-20BF-447C-90F9-CF5B0B650BFB}"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7276E44-8CE7-42EB-9666-FF94AA0EB07E}"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CB709B4-20BF-447C-90F9-CF5B0B650BF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7276E44-8CE7-42EB-9666-FF94AA0EB07E}"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CB709B4-20BF-447C-90F9-CF5B0B650BF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276E44-8CE7-42EB-9666-FF94AA0EB07E}"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CB709B4-20BF-447C-90F9-CF5B0B650BF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276E44-8CE7-42EB-9666-FF94AA0EB07E}"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CB709B4-20BF-447C-90F9-CF5B0B650BF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276E44-8CE7-42EB-9666-FF94AA0EB07E}"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CB709B4-20BF-447C-90F9-CF5B0B650BF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276E44-8CE7-42EB-9666-FF94AA0EB07E}"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showMasterSp="0">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838200" y="1825625"/>
            <a:ext cx="51816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6172200" y="1825625"/>
            <a:ext cx="51816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106"/>
          <p:cNvSpPr>
            <a:spLocks noGrp="1"/>
          </p:cNvSpPr>
          <p:nvPr>
            <p:ph type="dt" sz="half" idx="10"/>
          </p:nvPr>
        </p:nvSpPr>
        <p:spPr>
          <a:xfrm>
            <a:off x="1549400" y="6243638"/>
            <a:ext cx="2540000" cy="457200"/>
          </a:xfrm>
          <a:prstGeom prst="rect">
            <a:avLst/>
          </a:prstGeom>
        </p:spPr>
        <p:txBody>
          <a:bodyPr/>
          <a:lstStyle>
            <a:lvl1pPr>
              <a:defRPr/>
            </a:lvl1pPr>
          </a:lstStyle>
          <a:p>
            <a:pPr>
              <a:defRPr/>
            </a:pPr>
            <a:r>
              <a:rPr lang="en-US" altLang="zh-CN"/>
              <a:t> </a:t>
            </a:r>
            <a:fld id="{8BCC63E4-7D76-42D6-82BF-2997BBB291CC}" type="datetimeFigureOut">
              <a:rPr lang="zh-CN" altLang="en-US" dirty="0">
                <a:solidFill>
                  <a:srgbClr val="45516B"/>
                </a:solidFill>
              </a:rPr>
            </a:fld>
            <a:endParaRPr lang="zh-CN" altLang="en-US">
              <a:solidFill>
                <a:srgbClr val="45516B"/>
              </a:solidFill>
            </a:endParaRPr>
          </a:p>
        </p:txBody>
      </p:sp>
      <p:sp>
        <p:nvSpPr>
          <p:cNvPr id="6" name="页脚占位符 4107"/>
          <p:cNvSpPr>
            <a:spLocks noGrp="1"/>
          </p:cNvSpPr>
          <p:nvPr>
            <p:ph type="ftr" sz="quarter" idx="11"/>
          </p:nvPr>
        </p:nvSpPr>
        <p:spPr/>
        <p:txBody>
          <a:bodyPr/>
          <a:lstStyle>
            <a:lvl1pPr>
              <a:defRPr/>
            </a:lvl1pPr>
          </a:lstStyle>
          <a:p>
            <a:pPr>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7" name="灯片编号占位符 4108"/>
          <p:cNvSpPr>
            <a:spLocks noGrp="1"/>
          </p:cNvSpPr>
          <p:nvPr>
            <p:ph type="sldNum" sz="quarter" idx="12"/>
          </p:nvPr>
        </p:nvSpPr>
        <p:spPr/>
        <p:txBody>
          <a:bodyPr/>
          <a:lstStyle>
            <a:lvl1pPr>
              <a:defRPr/>
            </a:lvl1pPr>
          </a:lstStyle>
          <a:p>
            <a:pPr>
              <a:defRPr/>
            </a:pPr>
            <a:fld id="{1DB9044C-2E4B-40E7-AAE4-5ED3B9E1A976}" type="slidenum">
              <a:rPr lang="zh-CN" altLang="en-US"/>
            </a:fld>
            <a:r>
              <a:rPr lang="en-US" altLang="zh-CN">
                <a:solidFill>
                  <a:schemeClr val="accent2"/>
                </a:solidFill>
              </a:rPr>
              <a:t> </a:t>
            </a:r>
            <a:endParaRPr lang="en-US" altLang="zh-CN">
              <a:solidFill>
                <a:schemeClr val="accent2"/>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showMasterSp="0">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838200" y="1825625"/>
            <a:ext cx="51816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6172200" y="1825626"/>
            <a:ext cx="5181600" cy="20986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6172200" y="4076701"/>
            <a:ext cx="5181600" cy="21002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日期占位符 4106"/>
          <p:cNvSpPr>
            <a:spLocks noGrp="1"/>
          </p:cNvSpPr>
          <p:nvPr>
            <p:ph type="dt" sz="half" idx="10"/>
          </p:nvPr>
        </p:nvSpPr>
        <p:spPr>
          <a:xfrm>
            <a:off x="1549400" y="6243638"/>
            <a:ext cx="2540000" cy="457200"/>
          </a:xfrm>
          <a:prstGeom prst="rect">
            <a:avLst/>
          </a:prstGeom>
        </p:spPr>
        <p:txBody>
          <a:bodyPr/>
          <a:lstStyle>
            <a:lvl1pPr>
              <a:defRPr/>
            </a:lvl1pPr>
          </a:lstStyle>
          <a:p>
            <a:pPr>
              <a:defRPr/>
            </a:pPr>
            <a:r>
              <a:rPr lang="en-US" altLang="zh-CN"/>
              <a:t> </a:t>
            </a:r>
            <a:fld id="{AF70EB73-C0F8-427C-B1AB-5D3FCA7A8751}" type="datetimeFigureOut">
              <a:rPr lang="zh-CN" altLang="en-US" dirty="0">
                <a:solidFill>
                  <a:srgbClr val="45516B"/>
                </a:solidFill>
              </a:rPr>
            </a:fld>
            <a:endParaRPr lang="zh-CN" altLang="en-US">
              <a:solidFill>
                <a:srgbClr val="45516B"/>
              </a:solidFill>
            </a:endParaRPr>
          </a:p>
        </p:txBody>
      </p:sp>
      <p:sp>
        <p:nvSpPr>
          <p:cNvPr id="7" name="页脚占位符 4107"/>
          <p:cNvSpPr>
            <a:spLocks noGrp="1"/>
          </p:cNvSpPr>
          <p:nvPr>
            <p:ph type="ftr" sz="quarter" idx="11"/>
          </p:nvPr>
        </p:nvSpPr>
        <p:spPr/>
        <p:txBody>
          <a:bodyPr/>
          <a:lstStyle>
            <a:lvl1pPr>
              <a:defRPr/>
            </a:lvl1pPr>
          </a:lstStyle>
          <a:p>
            <a:pPr>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8" name="灯片编号占位符 4108"/>
          <p:cNvSpPr>
            <a:spLocks noGrp="1"/>
          </p:cNvSpPr>
          <p:nvPr>
            <p:ph type="sldNum" sz="quarter" idx="12"/>
          </p:nvPr>
        </p:nvSpPr>
        <p:spPr/>
        <p:txBody>
          <a:bodyPr/>
          <a:lstStyle>
            <a:lvl1pPr>
              <a:defRPr/>
            </a:lvl1pPr>
          </a:lstStyle>
          <a:p>
            <a:pPr>
              <a:defRPr/>
            </a:pPr>
            <a:fld id="{9BDFF7EC-2EBB-49D4-9184-B2C7C024ABA5}" type="slidenum">
              <a:rPr lang="zh-CN" altLang="en-US"/>
            </a:fld>
            <a:r>
              <a:rPr lang="en-US" altLang="zh-CN">
                <a:solidFill>
                  <a:schemeClr val="accent2"/>
                </a:solidFill>
              </a:rPr>
              <a:t> </a:t>
            </a:r>
            <a:endParaRPr lang="en-US" altLang="zh-CN">
              <a:solidFill>
                <a:schemeClr val="accent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B709B4-20BF-447C-90F9-CF5B0B650BF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276E44-8CE7-42EB-9666-FF94AA0EB07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13.xml"/><Relationship Id="rId2" Type="http://schemas.openxmlformats.org/officeDocument/2006/relationships/image" Target="../media/image8.wmf"/><Relationship Id="rId1"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12.xml"/><Relationship Id="rId4" Type="http://schemas.openxmlformats.org/officeDocument/2006/relationships/image" Target="../media/image10.wmf"/><Relationship Id="rId3" Type="http://schemas.openxmlformats.org/officeDocument/2006/relationships/oleObject" Target="../embeddings/oleObject6.bin"/><Relationship Id="rId2" Type="http://schemas.openxmlformats.org/officeDocument/2006/relationships/image" Target="../media/image9.wmf"/><Relationship Id="rId1" Type="http://schemas.openxmlformats.org/officeDocument/2006/relationships/oleObject" Target="../embeddings/oleObject5.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slideLayout" Target="../slideLayouts/slideLayout2.xml"/><Relationship Id="rId3" Type="http://schemas.openxmlformats.org/officeDocument/2006/relationships/themeOverride" Target="../theme/themeOverride1.xml"/><Relationship Id="rId2" Type="http://schemas.openxmlformats.org/officeDocument/2006/relationships/image" Target="../media/image12.wmf"/><Relationship Id="rId1" Type="http://schemas.openxmlformats.org/officeDocument/2006/relationships/oleObject" Target="../embeddings/oleObject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b="1" dirty="0">
                <a:solidFill>
                  <a:srgbClr val="C00000"/>
                </a:solidFill>
                <a:latin typeface="华文细黑" panose="02010600040101010101" pitchFamily="2" charset="-122"/>
                <a:ea typeface="华文细黑" panose="02010600040101010101" pitchFamily="2" charset="-122"/>
              </a:rPr>
              <a:t>数学实验第一次实验课</a:t>
            </a:r>
            <a:endParaRPr lang="zh-CN" altLang="en-US" b="1" dirty="0">
              <a:solidFill>
                <a:srgbClr val="C00000"/>
              </a:solidFill>
              <a:latin typeface="华文细黑" panose="02010600040101010101" pitchFamily="2" charset="-122"/>
              <a:ea typeface="华文细黑" panose="0201060004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图片 62485"/>
          <p:cNvPicPr>
            <a:picLocks noChangeAspect="1" noChangeArrowheads="1"/>
          </p:cNvPicPr>
          <p:nvPr/>
        </p:nvPicPr>
        <p:blipFill>
          <a:blip r:embed="rId1" cstate="print"/>
          <a:srcRect/>
          <a:stretch>
            <a:fillRect/>
          </a:stretch>
        </p:blipFill>
        <p:spPr bwMode="auto">
          <a:xfrm>
            <a:off x="3863976" y="1989138"/>
            <a:ext cx="6264275" cy="4214812"/>
          </a:xfrm>
          <a:prstGeom prst="rect">
            <a:avLst/>
          </a:prstGeom>
          <a:noFill/>
          <a:ln w="9525">
            <a:noFill/>
            <a:miter lim="800000"/>
            <a:headEnd/>
            <a:tailEnd/>
          </a:ln>
        </p:spPr>
      </p:pic>
      <p:sp>
        <p:nvSpPr>
          <p:cNvPr id="62467" name="文本框 62466"/>
          <p:cNvSpPr txBox="1">
            <a:spLocks noChangeArrowheads="1"/>
          </p:cNvSpPr>
          <p:nvPr/>
        </p:nvSpPr>
        <p:spPr bwMode="auto">
          <a:xfrm>
            <a:off x="2855914" y="1341439"/>
            <a:ext cx="1106487" cy="376237"/>
          </a:xfrm>
          <a:prstGeom prst="rect">
            <a:avLst/>
          </a:prstGeom>
          <a:solidFill>
            <a:schemeClr val="bg1"/>
          </a:solidFill>
          <a:ln w="9525">
            <a:solidFill>
              <a:srgbClr val="CC0000"/>
            </a:solidFill>
            <a:miter lim="800000"/>
          </a:ln>
        </p:spPr>
        <p:txBody>
          <a:bodyPr>
            <a:spAutoFit/>
          </a:bodyPr>
          <a:lstStyle/>
          <a:p>
            <a:pPr algn="ctr">
              <a:spcBef>
                <a:spcPct val="0"/>
              </a:spcBef>
            </a:pPr>
            <a:r>
              <a:rPr lang="zh-CN" altLang="en-US" b="1">
                <a:solidFill>
                  <a:srgbClr val="FF0000"/>
                </a:solidFill>
                <a:latin typeface="Monotype Corsiva" panose="03010101010201010101" pitchFamily="66" charset="0"/>
                <a:ea typeface="楷体_GB2312" pitchFamily="49" charset="-122"/>
              </a:rPr>
              <a:t>菜单栏</a:t>
            </a:r>
            <a:endParaRPr lang="zh-CN" altLang="en-US" b="1">
              <a:solidFill>
                <a:srgbClr val="FF0000"/>
              </a:solidFill>
              <a:latin typeface="Monotype Corsiva" panose="03010101010201010101" pitchFamily="66" charset="0"/>
              <a:ea typeface="楷体_GB2312" pitchFamily="49" charset="-122"/>
            </a:endParaRPr>
          </a:p>
        </p:txBody>
      </p:sp>
      <p:sp>
        <p:nvSpPr>
          <p:cNvPr id="62468" name="直接连接符 62467"/>
          <p:cNvSpPr>
            <a:spLocks noChangeShapeType="1"/>
          </p:cNvSpPr>
          <p:nvPr/>
        </p:nvSpPr>
        <p:spPr bwMode="auto">
          <a:xfrm>
            <a:off x="3498850" y="1722438"/>
            <a:ext cx="685800" cy="457200"/>
          </a:xfrm>
          <a:prstGeom prst="line">
            <a:avLst/>
          </a:prstGeom>
          <a:noFill/>
          <a:ln w="9525">
            <a:solidFill>
              <a:srgbClr val="FF0000"/>
            </a:solidFill>
            <a:round/>
            <a:tailEnd type="triangle" w="med" len="med"/>
          </a:ln>
        </p:spPr>
        <p:txBody>
          <a:bodyPr/>
          <a:lstStyle/>
          <a:p>
            <a:endParaRPr lang="zh-CN" altLang="en-US"/>
          </a:p>
        </p:txBody>
      </p:sp>
      <p:sp>
        <p:nvSpPr>
          <p:cNvPr id="62469" name="文本框 62468"/>
          <p:cNvSpPr txBox="1">
            <a:spLocks noChangeArrowheads="1"/>
          </p:cNvSpPr>
          <p:nvPr/>
        </p:nvSpPr>
        <p:spPr bwMode="auto">
          <a:xfrm>
            <a:off x="4079875" y="1341439"/>
            <a:ext cx="996950" cy="376237"/>
          </a:xfrm>
          <a:prstGeom prst="rect">
            <a:avLst/>
          </a:prstGeom>
          <a:solidFill>
            <a:schemeClr val="bg1"/>
          </a:solidFill>
          <a:ln w="9525">
            <a:solidFill>
              <a:srgbClr val="CC0000"/>
            </a:solidFill>
            <a:miter lim="800000"/>
          </a:ln>
        </p:spPr>
        <p:txBody>
          <a:bodyPr>
            <a:spAutoFit/>
          </a:bodyPr>
          <a:lstStyle/>
          <a:p>
            <a:pPr algn="ctr">
              <a:spcBef>
                <a:spcPct val="0"/>
              </a:spcBef>
            </a:pPr>
            <a:r>
              <a:rPr lang="zh-CN" altLang="en-US" b="1">
                <a:solidFill>
                  <a:srgbClr val="FF0000"/>
                </a:solidFill>
                <a:latin typeface="Monotype Corsiva" panose="03010101010201010101" pitchFamily="66" charset="0"/>
                <a:ea typeface="楷体_GB2312" pitchFamily="49" charset="-122"/>
              </a:rPr>
              <a:t>工具栏</a:t>
            </a:r>
            <a:endParaRPr lang="zh-CN" altLang="en-US" b="1">
              <a:solidFill>
                <a:srgbClr val="FF0000"/>
              </a:solidFill>
              <a:latin typeface="Monotype Corsiva" panose="03010101010201010101" pitchFamily="66" charset="0"/>
              <a:ea typeface="楷体_GB2312" pitchFamily="49" charset="-122"/>
            </a:endParaRPr>
          </a:p>
        </p:txBody>
      </p:sp>
      <p:sp>
        <p:nvSpPr>
          <p:cNvPr id="62470" name="直接连接符 62469"/>
          <p:cNvSpPr>
            <a:spLocks noChangeShapeType="1"/>
          </p:cNvSpPr>
          <p:nvPr/>
        </p:nvSpPr>
        <p:spPr bwMode="auto">
          <a:xfrm>
            <a:off x="4641850" y="1722438"/>
            <a:ext cx="0" cy="685800"/>
          </a:xfrm>
          <a:prstGeom prst="line">
            <a:avLst/>
          </a:prstGeom>
          <a:noFill/>
          <a:ln w="9525">
            <a:solidFill>
              <a:srgbClr val="FF0000"/>
            </a:solidFill>
            <a:round/>
            <a:tailEnd type="triangle" w="med" len="med"/>
          </a:ln>
        </p:spPr>
        <p:txBody>
          <a:bodyPr/>
          <a:lstStyle/>
          <a:p>
            <a:endParaRPr lang="zh-CN" altLang="en-US"/>
          </a:p>
        </p:txBody>
      </p:sp>
      <p:sp>
        <p:nvSpPr>
          <p:cNvPr id="62471" name="文本框 62470"/>
          <p:cNvSpPr txBox="1">
            <a:spLocks noChangeArrowheads="1"/>
          </p:cNvSpPr>
          <p:nvPr/>
        </p:nvSpPr>
        <p:spPr bwMode="auto">
          <a:xfrm>
            <a:off x="5364163" y="1341439"/>
            <a:ext cx="1574800" cy="376237"/>
          </a:xfrm>
          <a:prstGeom prst="rect">
            <a:avLst/>
          </a:prstGeom>
          <a:solidFill>
            <a:schemeClr val="bg1"/>
          </a:solidFill>
          <a:ln w="9525">
            <a:solidFill>
              <a:srgbClr val="CC0000"/>
            </a:solidFill>
            <a:miter lim="800000"/>
          </a:ln>
        </p:spPr>
        <p:txBody>
          <a:bodyPr wrap="none">
            <a:spAutoFit/>
          </a:bodyPr>
          <a:lstStyle/>
          <a:p>
            <a:pPr algn="ctr">
              <a:spcBef>
                <a:spcPct val="0"/>
              </a:spcBef>
            </a:pPr>
            <a:r>
              <a:rPr lang="zh-CN" altLang="en-US" b="1">
                <a:solidFill>
                  <a:srgbClr val="FF0000"/>
                </a:solidFill>
                <a:latin typeface="Monotype Corsiva" panose="03010101010201010101" pitchFamily="66" charset="0"/>
                <a:ea typeface="楷体_GB2312" pitchFamily="49" charset="-122"/>
              </a:rPr>
              <a:t>文件编辑窗口</a:t>
            </a:r>
            <a:endParaRPr lang="zh-CN" altLang="en-US" b="1">
              <a:solidFill>
                <a:srgbClr val="FF0000"/>
              </a:solidFill>
              <a:latin typeface="Monotype Corsiva" panose="03010101010201010101" pitchFamily="66" charset="0"/>
              <a:ea typeface="楷体_GB2312" pitchFamily="49" charset="-122"/>
            </a:endParaRPr>
          </a:p>
        </p:txBody>
      </p:sp>
      <p:sp>
        <p:nvSpPr>
          <p:cNvPr id="62472" name="直接连接符 62471"/>
          <p:cNvSpPr>
            <a:spLocks noChangeShapeType="1"/>
          </p:cNvSpPr>
          <p:nvPr/>
        </p:nvSpPr>
        <p:spPr bwMode="auto">
          <a:xfrm>
            <a:off x="6089650" y="1722438"/>
            <a:ext cx="6350" cy="1346200"/>
          </a:xfrm>
          <a:prstGeom prst="line">
            <a:avLst/>
          </a:prstGeom>
          <a:noFill/>
          <a:ln w="9525">
            <a:solidFill>
              <a:srgbClr val="FF0000"/>
            </a:solidFill>
            <a:round/>
            <a:tailEnd type="triangle" w="med" len="med"/>
          </a:ln>
        </p:spPr>
        <p:txBody>
          <a:bodyPr/>
          <a:lstStyle/>
          <a:p>
            <a:endParaRPr lang="zh-CN" altLang="en-US"/>
          </a:p>
        </p:txBody>
      </p:sp>
      <p:sp>
        <p:nvSpPr>
          <p:cNvPr id="62473" name="文本框 62472"/>
          <p:cNvSpPr txBox="1">
            <a:spLocks noChangeArrowheads="1"/>
          </p:cNvSpPr>
          <p:nvPr/>
        </p:nvSpPr>
        <p:spPr bwMode="auto">
          <a:xfrm>
            <a:off x="2203451" y="2560639"/>
            <a:ext cx="1444625" cy="376237"/>
          </a:xfrm>
          <a:prstGeom prst="rect">
            <a:avLst/>
          </a:prstGeom>
          <a:solidFill>
            <a:schemeClr val="bg1"/>
          </a:solidFill>
          <a:ln w="9525">
            <a:solidFill>
              <a:srgbClr val="CC0000"/>
            </a:solidFill>
            <a:miter lim="800000"/>
          </a:ln>
        </p:spPr>
        <p:txBody>
          <a:bodyPr>
            <a:spAutoFit/>
          </a:bodyPr>
          <a:lstStyle/>
          <a:p>
            <a:pPr algn="ctr">
              <a:spcBef>
                <a:spcPct val="0"/>
              </a:spcBef>
            </a:pPr>
            <a:r>
              <a:rPr lang="zh-CN" altLang="en-US" b="1">
                <a:solidFill>
                  <a:srgbClr val="FF0000"/>
                </a:solidFill>
                <a:latin typeface="Monotype Corsiva" panose="03010101010201010101" pitchFamily="66" charset="0"/>
                <a:ea typeface="楷体_GB2312" pitchFamily="49" charset="-122"/>
              </a:rPr>
              <a:t>工作空间</a:t>
            </a:r>
            <a:endParaRPr lang="zh-CN" altLang="en-US" b="1">
              <a:solidFill>
                <a:srgbClr val="FF0000"/>
              </a:solidFill>
              <a:latin typeface="Monotype Corsiva" panose="03010101010201010101" pitchFamily="66" charset="0"/>
              <a:ea typeface="楷体_GB2312" pitchFamily="49" charset="-122"/>
            </a:endParaRPr>
          </a:p>
        </p:txBody>
      </p:sp>
      <p:sp>
        <p:nvSpPr>
          <p:cNvPr id="62474" name="直接连接符 62473"/>
          <p:cNvSpPr>
            <a:spLocks noChangeShapeType="1"/>
          </p:cNvSpPr>
          <p:nvPr/>
        </p:nvSpPr>
        <p:spPr bwMode="auto">
          <a:xfrm>
            <a:off x="3648076" y="2781300"/>
            <a:ext cx="765175" cy="922338"/>
          </a:xfrm>
          <a:prstGeom prst="line">
            <a:avLst/>
          </a:prstGeom>
          <a:noFill/>
          <a:ln w="9525">
            <a:solidFill>
              <a:srgbClr val="FF0000"/>
            </a:solidFill>
            <a:round/>
            <a:tailEnd type="triangle" w="med" len="med"/>
          </a:ln>
        </p:spPr>
        <p:txBody>
          <a:bodyPr/>
          <a:lstStyle/>
          <a:p>
            <a:endParaRPr lang="zh-CN" altLang="en-US"/>
          </a:p>
        </p:txBody>
      </p:sp>
      <p:sp>
        <p:nvSpPr>
          <p:cNvPr id="62475" name="文本框 62474"/>
          <p:cNvSpPr txBox="1">
            <a:spLocks noChangeArrowheads="1"/>
          </p:cNvSpPr>
          <p:nvPr/>
        </p:nvSpPr>
        <p:spPr bwMode="auto">
          <a:xfrm>
            <a:off x="2206626" y="4160839"/>
            <a:ext cx="1368425" cy="650875"/>
          </a:xfrm>
          <a:prstGeom prst="rect">
            <a:avLst/>
          </a:prstGeom>
          <a:solidFill>
            <a:schemeClr val="bg1"/>
          </a:solidFill>
          <a:ln w="9525">
            <a:solidFill>
              <a:srgbClr val="CC0000"/>
            </a:solidFill>
            <a:miter lim="800000"/>
          </a:ln>
        </p:spPr>
        <p:txBody>
          <a:bodyPr>
            <a:spAutoFit/>
          </a:bodyPr>
          <a:lstStyle/>
          <a:p>
            <a:pPr algn="ctr">
              <a:spcBef>
                <a:spcPct val="0"/>
              </a:spcBef>
            </a:pPr>
            <a:r>
              <a:rPr lang="zh-CN" altLang="en-US" b="1">
                <a:solidFill>
                  <a:srgbClr val="FF0000"/>
                </a:solidFill>
                <a:latin typeface="Monotype Corsiva" panose="03010101010201010101" pitchFamily="66" charset="0"/>
                <a:ea typeface="楷体_GB2312" pitchFamily="49" charset="-122"/>
              </a:rPr>
              <a:t>历史命令</a:t>
            </a:r>
            <a:endParaRPr lang="zh-CN" altLang="en-US" b="1">
              <a:solidFill>
                <a:srgbClr val="FF0000"/>
              </a:solidFill>
              <a:latin typeface="Monotype Corsiva" panose="03010101010201010101" pitchFamily="66" charset="0"/>
              <a:ea typeface="楷体_GB2312" pitchFamily="49" charset="-122"/>
            </a:endParaRPr>
          </a:p>
          <a:p>
            <a:pPr algn="ctr">
              <a:spcBef>
                <a:spcPct val="0"/>
              </a:spcBef>
            </a:pPr>
            <a:r>
              <a:rPr lang="zh-CN" altLang="en-US" b="1">
                <a:solidFill>
                  <a:srgbClr val="FF0000"/>
                </a:solidFill>
                <a:latin typeface="Monotype Corsiva" panose="03010101010201010101" pitchFamily="66" charset="0"/>
                <a:ea typeface="楷体_GB2312" pitchFamily="49" charset="-122"/>
              </a:rPr>
              <a:t>窗口</a:t>
            </a:r>
            <a:endParaRPr lang="zh-CN" altLang="en-US" b="1">
              <a:solidFill>
                <a:srgbClr val="FF0000"/>
              </a:solidFill>
              <a:latin typeface="Monotype Corsiva" panose="03010101010201010101" pitchFamily="66" charset="0"/>
              <a:ea typeface="楷体_GB2312" pitchFamily="49" charset="-122"/>
            </a:endParaRPr>
          </a:p>
        </p:txBody>
      </p:sp>
      <p:sp>
        <p:nvSpPr>
          <p:cNvPr id="62476" name="直接连接符 62475"/>
          <p:cNvSpPr>
            <a:spLocks noChangeShapeType="1"/>
          </p:cNvSpPr>
          <p:nvPr/>
        </p:nvSpPr>
        <p:spPr bwMode="auto">
          <a:xfrm>
            <a:off x="3346450" y="4846638"/>
            <a:ext cx="1066800" cy="457200"/>
          </a:xfrm>
          <a:prstGeom prst="line">
            <a:avLst/>
          </a:prstGeom>
          <a:noFill/>
          <a:ln w="9525">
            <a:solidFill>
              <a:srgbClr val="FF0000"/>
            </a:solidFill>
            <a:round/>
            <a:tailEnd type="triangle" w="med" len="med"/>
          </a:ln>
        </p:spPr>
        <p:txBody>
          <a:bodyPr/>
          <a:lstStyle/>
          <a:p>
            <a:endParaRPr lang="zh-CN" altLang="en-US"/>
          </a:p>
        </p:txBody>
      </p:sp>
      <p:sp>
        <p:nvSpPr>
          <p:cNvPr id="62477" name="文本框 62476"/>
          <p:cNvSpPr txBox="1">
            <a:spLocks noChangeArrowheads="1"/>
          </p:cNvSpPr>
          <p:nvPr/>
        </p:nvSpPr>
        <p:spPr bwMode="auto">
          <a:xfrm>
            <a:off x="2200276" y="5308600"/>
            <a:ext cx="1592263" cy="376238"/>
          </a:xfrm>
          <a:prstGeom prst="rect">
            <a:avLst/>
          </a:prstGeom>
          <a:solidFill>
            <a:schemeClr val="bg1"/>
          </a:solidFill>
          <a:ln w="9525">
            <a:solidFill>
              <a:srgbClr val="CC0000"/>
            </a:solidFill>
            <a:miter lim="800000"/>
          </a:ln>
        </p:spPr>
        <p:txBody>
          <a:bodyPr>
            <a:spAutoFit/>
          </a:bodyPr>
          <a:lstStyle/>
          <a:p>
            <a:pPr algn="ctr">
              <a:spcBef>
                <a:spcPct val="0"/>
              </a:spcBef>
            </a:pPr>
            <a:r>
              <a:rPr lang="en-US" altLang="zh-CN" b="1">
                <a:solidFill>
                  <a:srgbClr val="FF0000"/>
                </a:solidFill>
                <a:latin typeface="Monotype Corsiva" panose="03010101010201010101" pitchFamily="66" charset="0"/>
              </a:rPr>
              <a:t>Start </a:t>
            </a:r>
            <a:r>
              <a:rPr lang="zh-CN" altLang="en-US" b="1">
                <a:solidFill>
                  <a:srgbClr val="FF0000"/>
                </a:solidFill>
                <a:latin typeface="Monotype Corsiva" panose="03010101010201010101" pitchFamily="66" charset="0"/>
                <a:ea typeface="楷体_GB2312" pitchFamily="49" charset="-122"/>
              </a:rPr>
              <a:t>菜单</a:t>
            </a:r>
            <a:endParaRPr lang="zh-CN" altLang="en-US" b="1">
              <a:solidFill>
                <a:srgbClr val="FF0000"/>
              </a:solidFill>
              <a:latin typeface="Monotype Corsiva" panose="03010101010201010101" pitchFamily="66" charset="0"/>
              <a:ea typeface="楷体_GB2312" pitchFamily="49" charset="-122"/>
            </a:endParaRPr>
          </a:p>
        </p:txBody>
      </p:sp>
      <p:sp>
        <p:nvSpPr>
          <p:cNvPr id="62478" name="直接连接符 62477"/>
          <p:cNvSpPr>
            <a:spLocks noChangeShapeType="1"/>
          </p:cNvSpPr>
          <p:nvPr/>
        </p:nvSpPr>
        <p:spPr bwMode="auto">
          <a:xfrm>
            <a:off x="3346451" y="5684838"/>
            <a:ext cx="733425" cy="265112"/>
          </a:xfrm>
          <a:prstGeom prst="line">
            <a:avLst/>
          </a:prstGeom>
          <a:noFill/>
          <a:ln w="9525">
            <a:solidFill>
              <a:srgbClr val="FF0000"/>
            </a:solidFill>
            <a:round/>
            <a:tailEnd type="triangle" w="med" len="med"/>
          </a:ln>
        </p:spPr>
        <p:txBody>
          <a:bodyPr/>
          <a:lstStyle/>
          <a:p>
            <a:endParaRPr lang="zh-CN" altLang="en-US"/>
          </a:p>
        </p:txBody>
      </p:sp>
      <p:sp>
        <p:nvSpPr>
          <p:cNvPr id="62479" name="文本框 62478"/>
          <p:cNvSpPr txBox="1">
            <a:spLocks noChangeArrowheads="1"/>
          </p:cNvSpPr>
          <p:nvPr/>
        </p:nvSpPr>
        <p:spPr bwMode="auto">
          <a:xfrm>
            <a:off x="7461250" y="1341439"/>
            <a:ext cx="1295400" cy="376237"/>
          </a:xfrm>
          <a:prstGeom prst="rect">
            <a:avLst/>
          </a:prstGeom>
          <a:solidFill>
            <a:schemeClr val="bg1"/>
          </a:solidFill>
          <a:ln w="9525">
            <a:solidFill>
              <a:srgbClr val="CC0000"/>
            </a:solidFill>
            <a:miter lim="800000"/>
          </a:ln>
        </p:spPr>
        <p:txBody>
          <a:bodyPr>
            <a:spAutoFit/>
          </a:bodyPr>
          <a:lstStyle/>
          <a:p>
            <a:pPr algn="ctr">
              <a:spcBef>
                <a:spcPct val="0"/>
              </a:spcBef>
            </a:pPr>
            <a:r>
              <a:rPr lang="zh-CN" altLang="en-US" b="1">
                <a:solidFill>
                  <a:srgbClr val="FF0000"/>
                </a:solidFill>
                <a:latin typeface="Monotype Corsiva" panose="03010101010201010101" pitchFamily="66" charset="0"/>
                <a:ea typeface="楷体_GB2312" pitchFamily="49" charset="-122"/>
              </a:rPr>
              <a:t>命令窗口</a:t>
            </a:r>
            <a:endParaRPr lang="zh-CN" altLang="en-US" b="1">
              <a:solidFill>
                <a:srgbClr val="FF0000"/>
              </a:solidFill>
              <a:latin typeface="Monotype Corsiva" panose="03010101010201010101" pitchFamily="66" charset="0"/>
              <a:ea typeface="楷体_GB2312" pitchFamily="49" charset="-122"/>
            </a:endParaRPr>
          </a:p>
        </p:txBody>
      </p:sp>
      <p:sp>
        <p:nvSpPr>
          <p:cNvPr id="62480" name="直接连接符 62479"/>
          <p:cNvSpPr>
            <a:spLocks noChangeShapeType="1"/>
          </p:cNvSpPr>
          <p:nvPr/>
        </p:nvSpPr>
        <p:spPr bwMode="auto">
          <a:xfrm flipH="1">
            <a:off x="8040688" y="1722438"/>
            <a:ext cx="30162" cy="3001962"/>
          </a:xfrm>
          <a:prstGeom prst="line">
            <a:avLst/>
          </a:prstGeom>
          <a:noFill/>
          <a:ln w="9525">
            <a:solidFill>
              <a:srgbClr val="FF0000"/>
            </a:solidFill>
            <a:round/>
            <a:tailEnd type="triangle" w="med" len="med"/>
          </a:ln>
        </p:spPr>
        <p:txBody>
          <a:bodyPr/>
          <a:lstStyle/>
          <a:p>
            <a:endParaRPr lang="zh-CN" altLang="en-US"/>
          </a:p>
        </p:txBody>
      </p:sp>
      <p:sp>
        <p:nvSpPr>
          <p:cNvPr id="62481" name="文本框 62480"/>
          <p:cNvSpPr txBox="1">
            <a:spLocks noChangeArrowheads="1"/>
          </p:cNvSpPr>
          <p:nvPr/>
        </p:nvSpPr>
        <p:spPr bwMode="auto">
          <a:xfrm>
            <a:off x="6959600" y="5300664"/>
            <a:ext cx="1447800" cy="376237"/>
          </a:xfrm>
          <a:prstGeom prst="rect">
            <a:avLst/>
          </a:prstGeom>
          <a:solidFill>
            <a:schemeClr val="bg1"/>
          </a:solidFill>
          <a:ln w="9525">
            <a:solidFill>
              <a:srgbClr val="CC0000"/>
            </a:solidFill>
            <a:miter lim="800000"/>
          </a:ln>
        </p:spPr>
        <p:txBody>
          <a:bodyPr>
            <a:spAutoFit/>
          </a:bodyPr>
          <a:lstStyle/>
          <a:p>
            <a:pPr algn="ctr">
              <a:spcBef>
                <a:spcPct val="0"/>
              </a:spcBef>
            </a:pPr>
            <a:r>
              <a:rPr lang="zh-CN" altLang="en-US" b="1">
                <a:solidFill>
                  <a:srgbClr val="FF0000"/>
                </a:solidFill>
                <a:latin typeface="Monotype Corsiva" panose="03010101010201010101" pitchFamily="66" charset="0"/>
                <a:ea typeface="楷体_GB2312" pitchFamily="49" charset="-122"/>
              </a:rPr>
              <a:t>命令提示符</a:t>
            </a:r>
            <a:endParaRPr lang="zh-CN" altLang="en-US" b="1">
              <a:solidFill>
                <a:srgbClr val="FF0000"/>
              </a:solidFill>
              <a:latin typeface="Monotype Corsiva" panose="03010101010201010101" pitchFamily="66" charset="0"/>
              <a:ea typeface="楷体_GB2312" pitchFamily="49" charset="-122"/>
            </a:endParaRPr>
          </a:p>
        </p:txBody>
      </p:sp>
      <p:sp>
        <p:nvSpPr>
          <p:cNvPr id="62482" name="直接连接符 62481"/>
          <p:cNvSpPr>
            <a:spLocks noChangeShapeType="1"/>
          </p:cNvSpPr>
          <p:nvPr/>
        </p:nvSpPr>
        <p:spPr bwMode="auto">
          <a:xfrm flipH="1" flipV="1">
            <a:off x="5519738" y="4724401"/>
            <a:ext cx="1439862" cy="792163"/>
          </a:xfrm>
          <a:prstGeom prst="line">
            <a:avLst/>
          </a:prstGeom>
          <a:noFill/>
          <a:ln w="9525">
            <a:solidFill>
              <a:srgbClr val="FF0000"/>
            </a:solidFill>
            <a:round/>
            <a:tailEnd type="triangle" w="med" len="med"/>
          </a:ln>
        </p:spPr>
        <p:txBody>
          <a:bodyPr/>
          <a:lstStyle/>
          <a:p>
            <a:endParaRPr lang="zh-CN" altLang="en-US"/>
          </a:p>
        </p:txBody>
      </p:sp>
      <p:sp>
        <p:nvSpPr>
          <p:cNvPr id="32787" name="矩形 62483"/>
          <p:cNvSpPr>
            <a:spLocks noChangeArrowheads="1"/>
          </p:cNvSpPr>
          <p:nvPr/>
        </p:nvSpPr>
        <p:spPr bwMode="auto">
          <a:xfrm>
            <a:off x="2711450" y="363539"/>
            <a:ext cx="5507038" cy="579437"/>
          </a:xfrm>
          <a:prstGeom prst="rect">
            <a:avLst/>
          </a:prstGeom>
          <a:noFill/>
          <a:ln w="9525">
            <a:noFill/>
            <a:miter lim="800000"/>
          </a:ln>
        </p:spPr>
        <p:txBody>
          <a:bodyPr wrap="none">
            <a:spAutoFit/>
          </a:bodyPr>
          <a:lstStyle/>
          <a:p>
            <a:pPr marL="342900" indent="-342900"/>
            <a:r>
              <a:rPr lang="en-US" altLang="zh-CN" sz="3200" b="1" dirty="0">
                <a:solidFill>
                  <a:srgbClr val="4D009A"/>
                </a:solidFill>
                <a:latin typeface="华文楷体" panose="02010600040101010101" pitchFamily="2" charset="-122"/>
                <a:ea typeface="华文楷体" panose="02010600040101010101" pitchFamily="2" charset="-122"/>
              </a:rPr>
              <a:t>1.1 </a:t>
            </a:r>
            <a:r>
              <a:rPr lang="zh-CN" altLang="en-US" sz="3200" b="1" dirty="0">
                <a:solidFill>
                  <a:srgbClr val="4D009A"/>
                </a:solidFill>
                <a:latin typeface="华文楷体" panose="02010600040101010101" pitchFamily="2" charset="-122"/>
                <a:ea typeface="华文楷体" panose="02010600040101010101" pitchFamily="2" charset="-122"/>
              </a:rPr>
              <a:t>启动与退出</a:t>
            </a:r>
            <a:r>
              <a:rPr lang="en-US" altLang="zh-CN" sz="3200" b="1" dirty="0">
                <a:solidFill>
                  <a:srgbClr val="4D009A"/>
                </a:solidFill>
                <a:latin typeface="华文楷体" panose="02010600040101010101" pitchFamily="2" charset="-122"/>
                <a:ea typeface="华文楷体" panose="02010600040101010101" pitchFamily="2" charset="-122"/>
              </a:rPr>
              <a:t>MATLAB </a:t>
            </a:r>
            <a:r>
              <a:rPr lang="zh-CN" altLang="en-US" sz="2600" b="1" dirty="0">
                <a:solidFill>
                  <a:srgbClr val="4D009A"/>
                </a:solidFill>
                <a:latin typeface="华文楷体" panose="02010600040101010101" pitchFamily="2" charset="-122"/>
                <a:ea typeface="华文楷体" panose="02010600040101010101" pitchFamily="2" charset="-122"/>
              </a:rPr>
              <a:t>（续）</a:t>
            </a:r>
            <a:endParaRPr lang="zh-CN" altLang="en-US" sz="2600" b="1" dirty="0">
              <a:solidFill>
                <a:srgbClr val="4D009A"/>
              </a:solidFill>
              <a:latin typeface="华文楷体" panose="02010600040101010101" pitchFamily="2" charset="-122"/>
              <a:ea typeface="华文楷体" panose="02010600040101010101" pitchFamily="2" charset="-122"/>
            </a:endParaRPr>
          </a:p>
        </p:txBody>
      </p:sp>
      <p:sp>
        <p:nvSpPr>
          <p:cNvPr id="23571"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092D2CB1-3E02-40D9-84C9-2725B4823CBA}" type="datetime1">
              <a:rPr lang="zh-CN" altLang="en-US" smtClean="0">
                <a:solidFill>
                  <a:srgbClr val="45516B"/>
                </a:solidFill>
              </a:rPr>
            </a:fld>
            <a:endParaRPr lang="zh-CN" altLang="en-US">
              <a:solidFill>
                <a:srgbClr val="45516B"/>
              </a:solidFill>
            </a:endParaRPr>
          </a:p>
        </p:txBody>
      </p:sp>
      <p:sp>
        <p:nvSpPr>
          <p:cNvPr id="23572"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32790" name="灯片编号占位符 3"/>
          <p:cNvSpPr>
            <a:spLocks noGrp="1" noChangeArrowheads="1"/>
          </p:cNvSpPr>
          <p:nvPr>
            <p:ph type="sldNum" sz="quarter" idx="12"/>
          </p:nvPr>
        </p:nvSpPr>
        <p:spPr bwMode="auto">
          <a:noFill/>
          <a:ln>
            <a:miter lim="800000"/>
          </a:ln>
        </p:spPr>
        <p:txBody>
          <a:bodyPr/>
          <a:lstStyle/>
          <a:p>
            <a:fld id="{891C062F-A80B-45CF-8CD6-9B3B809B90A7}"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4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246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246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247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247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247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247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248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248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248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247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247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247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247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247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24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animBg="1"/>
      <p:bldP spid="62468" grpId="0" animBg="1"/>
      <p:bldP spid="62469" grpId="0" animBg="1"/>
      <p:bldP spid="62470" grpId="0" animBg="1"/>
      <p:bldP spid="62471" grpId="0" animBg="1"/>
      <p:bldP spid="62472" grpId="0" animBg="1"/>
      <p:bldP spid="62473" grpId="0" animBg="1"/>
      <p:bldP spid="62474" grpId="0" animBg="1"/>
      <p:bldP spid="62475" grpId="0" animBg="1"/>
      <p:bldP spid="62476" grpId="0" animBg="1"/>
      <p:bldP spid="62477" grpId="0" animBg="1"/>
      <p:bldP spid="62478" grpId="0" animBg="1"/>
      <p:bldP spid="62479" grpId="0" animBg="1"/>
      <p:bldP spid="62480" grpId="0" animBg="1"/>
      <p:bldP spid="62481" grpId="0" animBg="1"/>
      <p:bldP spid="6248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标题 60417"/>
          <p:cNvSpPr>
            <a:spLocks noGrp="1" noChangeArrowheads="1"/>
          </p:cNvSpPr>
          <p:nvPr>
            <p:ph type="title"/>
          </p:nvPr>
        </p:nvSpPr>
        <p:spPr>
          <a:xfrm>
            <a:off x="2711450" y="1"/>
            <a:ext cx="7793038" cy="982663"/>
          </a:xfrm>
        </p:spPr>
        <p:txBody>
          <a:bodyPr/>
          <a:lstStyle/>
          <a:p>
            <a:pPr marL="838200" indent="-838200"/>
            <a:r>
              <a:rPr lang="en-US" altLang="zh-CN" sz="3600" b="1" dirty="0">
                <a:solidFill>
                  <a:srgbClr val="4D009A"/>
                </a:solidFill>
                <a:latin typeface="华文楷体" panose="02010600040101010101" pitchFamily="2" charset="-122"/>
                <a:ea typeface="华文楷体" panose="02010600040101010101" pitchFamily="2" charset="-122"/>
              </a:rPr>
              <a:t>1.2 </a:t>
            </a:r>
            <a:r>
              <a:rPr lang="zh-CN" altLang="en-US" sz="3600" b="1" dirty="0">
                <a:solidFill>
                  <a:srgbClr val="4D009A"/>
                </a:solidFill>
                <a:latin typeface="华文楷体" panose="02010600040101010101" pitchFamily="2" charset="-122"/>
                <a:ea typeface="华文楷体" panose="02010600040101010101" pitchFamily="2" charset="-122"/>
              </a:rPr>
              <a:t>命令窗口的使用</a:t>
            </a:r>
            <a:endParaRPr lang="zh-CN" altLang="en-US" sz="3600" b="1" dirty="0">
              <a:solidFill>
                <a:srgbClr val="4D009A"/>
              </a:solidFill>
              <a:latin typeface="华文楷体" panose="02010600040101010101" pitchFamily="2" charset="-122"/>
              <a:ea typeface="华文楷体" panose="02010600040101010101" pitchFamily="2" charset="-122"/>
            </a:endParaRPr>
          </a:p>
        </p:txBody>
      </p:sp>
      <p:sp>
        <p:nvSpPr>
          <p:cNvPr id="60419" name="文本占位符 60418"/>
          <p:cNvSpPr>
            <a:spLocks noGrp="1" noChangeArrowheads="1"/>
          </p:cNvSpPr>
          <p:nvPr>
            <p:ph type="body" sz="half" idx="1"/>
          </p:nvPr>
        </p:nvSpPr>
        <p:spPr>
          <a:xfrm>
            <a:off x="2706688" y="1341439"/>
            <a:ext cx="7421562" cy="4791075"/>
          </a:xfrm>
        </p:spPr>
        <p:txBody>
          <a:bodyPr>
            <a:normAutofit lnSpcReduction="10000"/>
          </a:bodyPr>
          <a:lstStyle/>
          <a:p>
            <a:pPr eaLnBrk="1" hangingPunct="1">
              <a:lnSpc>
                <a:spcPct val="90000"/>
              </a:lnSpc>
              <a:buFont typeface="Wingdings" panose="05000000000000000000" pitchFamily="2" charset="2"/>
              <a:buChar char="±"/>
            </a:pPr>
            <a:r>
              <a:rPr lang="zh-CN" altLang="en-US" sz="2200" b="1" dirty="0">
                <a:solidFill>
                  <a:srgbClr val="0000FF"/>
                </a:solidFill>
                <a:latin typeface="华文楷体" panose="02010600040101010101" pitchFamily="2" charset="-122"/>
                <a:ea typeface="华文楷体" panose="02010600040101010101" pitchFamily="2" charset="-122"/>
              </a:rPr>
              <a:t>激活命令窗口。</a:t>
            </a:r>
            <a:endParaRPr lang="zh-CN" altLang="en-US" sz="2200" b="1" dirty="0">
              <a:solidFill>
                <a:srgbClr val="0000FF"/>
              </a:solidFill>
              <a:latin typeface="华文楷体" panose="02010600040101010101" pitchFamily="2" charset="-122"/>
              <a:ea typeface="华文楷体" panose="02010600040101010101" pitchFamily="2" charset="-122"/>
            </a:endParaRPr>
          </a:p>
          <a:p>
            <a:pPr eaLnBrk="1" hangingPunct="1">
              <a:lnSpc>
                <a:spcPct val="90000"/>
              </a:lnSpc>
              <a:buFont typeface="Wingdings" panose="05000000000000000000" pitchFamily="2" charset="2"/>
              <a:buChar char="±"/>
            </a:pPr>
            <a:r>
              <a:rPr lang="zh-CN" altLang="en-US" sz="2200" b="1" dirty="0">
                <a:solidFill>
                  <a:srgbClr val="0000FF"/>
                </a:solidFill>
                <a:latin typeface="华文楷体" panose="02010600040101010101" pitchFamily="2" charset="-122"/>
                <a:ea typeface="华文楷体" panose="02010600040101010101" pitchFamily="2" charset="-122"/>
              </a:rPr>
              <a:t>“</a:t>
            </a:r>
            <a:r>
              <a:rPr lang="en-US" altLang="zh-CN" sz="2200" b="1" dirty="0">
                <a:solidFill>
                  <a:srgbClr val="0000FF"/>
                </a:solidFill>
                <a:latin typeface="华文楷体" panose="02010600040101010101" pitchFamily="2" charset="-122"/>
                <a:ea typeface="华文楷体" panose="02010600040101010101" pitchFamily="2" charset="-122"/>
              </a:rPr>
              <a:t>&gt;&gt;” </a:t>
            </a:r>
            <a:r>
              <a:rPr lang="zh-CN" altLang="en-US" sz="2200" b="1" dirty="0">
                <a:solidFill>
                  <a:srgbClr val="0000FF"/>
                </a:solidFill>
                <a:latin typeface="华文楷体" panose="02010600040101010101" pitchFamily="2" charset="-122"/>
                <a:ea typeface="华文楷体" panose="02010600040101010101" pitchFamily="2" charset="-122"/>
              </a:rPr>
              <a:t>与闪烁的光标一起表明系统就绪，等待输入。</a:t>
            </a:r>
            <a:endParaRPr lang="zh-CN" altLang="en-US" sz="2200" b="1" dirty="0">
              <a:solidFill>
                <a:srgbClr val="0000FF"/>
              </a:solidFill>
              <a:latin typeface="华文楷体" panose="02010600040101010101" pitchFamily="2" charset="-122"/>
              <a:ea typeface="华文楷体" panose="02010600040101010101" pitchFamily="2" charset="-122"/>
            </a:endParaRPr>
          </a:p>
          <a:p>
            <a:pPr eaLnBrk="1" hangingPunct="1">
              <a:lnSpc>
                <a:spcPct val="90000"/>
              </a:lnSpc>
              <a:buFont typeface="Wingdings" panose="05000000000000000000" pitchFamily="2" charset="2"/>
              <a:buChar char="±"/>
            </a:pPr>
            <a:r>
              <a:rPr lang="zh-CN" altLang="en-US" sz="2200" b="1" dirty="0">
                <a:solidFill>
                  <a:srgbClr val="0000FF"/>
                </a:solidFill>
                <a:latin typeface="华文楷体" panose="02010600040101010101" pitchFamily="2" charset="-122"/>
                <a:ea typeface="华文楷体" panose="02010600040101010101" pitchFamily="2" charset="-122"/>
              </a:rPr>
              <a:t>命令窗口脱离</a:t>
            </a:r>
            <a:r>
              <a:rPr lang="en-US" altLang="zh-CN" sz="2200" b="1" dirty="0">
                <a:solidFill>
                  <a:srgbClr val="0000FF"/>
                </a:solidFill>
                <a:latin typeface="华文楷体" panose="02010600040101010101" pitchFamily="2" charset="-122"/>
                <a:ea typeface="华文楷体" panose="02010600040101010101" pitchFamily="2" charset="-122"/>
              </a:rPr>
              <a:t>MATLAB</a:t>
            </a:r>
            <a:r>
              <a:rPr lang="zh-CN" altLang="en-US" sz="2200" b="1" dirty="0">
                <a:solidFill>
                  <a:srgbClr val="0000FF"/>
                </a:solidFill>
                <a:latin typeface="华文楷体" panose="02010600040101010101" pitchFamily="2" charset="-122"/>
                <a:ea typeface="华文楷体" panose="02010600040101010101" pitchFamily="2" charset="-122"/>
              </a:rPr>
              <a:t>桌面。 </a:t>
            </a:r>
            <a:endParaRPr lang="zh-CN" altLang="en-US" sz="2200" b="1" dirty="0">
              <a:solidFill>
                <a:srgbClr val="0000FF"/>
              </a:solidFill>
              <a:latin typeface="华文楷体" panose="02010600040101010101" pitchFamily="2" charset="-122"/>
              <a:ea typeface="华文楷体" panose="02010600040101010101" pitchFamily="2" charset="-122"/>
            </a:endParaRPr>
          </a:p>
          <a:p>
            <a:pPr eaLnBrk="1" hangingPunct="1">
              <a:lnSpc>
                <a:spcPct val="90000"/>
              </a:lnSpc>
            </a:pPr>
            <a:r>
              <a:rPr lang="zh-CN" altLang="en-US" sz="2600" b="1" dirty="0">
                <a:solidFill>
                  <a:srgbClr val="4D009A"/>
                </a:solidFill>
                <a:ea typeface="华文楷体" panose="02010600040101010101" pitchFamily="2" charset="-122"/>
              </a:rPr>
              <a:t>简单计算</a:t>
            </a:r>
            <a:endParaRPr lang="zh-CN" altLang="en-US" sz="2600" b="1" dirty="0">
              <a:solidFill>
                <a:srgbClr val="4D009A"/>
              </a:solidFill>
              <a:ea typeface="华文楷体" panose="02010600040101010101" pitchFamily="2" charset="-122"/>
            </a:endParaRPr>
          </a:p>
          <a:p>
            <a:pPr eaLnBrk="1" hangingPunct="1">
              <a:lnSpc>
                <a:spcPct val="90000"/>
              </a:lnSpc>
              <a:buFont typeface="Wingdings" panose="05000000000000000000" pitchFamily="2" charset="2"/>
              <a:buNone/>
            </a:pPr>
            <a:r>
              <a:rPr lang="zh-CN" altLang="en-US" sz="2200" b="1" dirty="0">
                <a:solidFill>
                  <a:srgbClr val="4D009A"/>
                </a:solidFill>
                <a:latin typeface="华文楷体" panose="02010600040101010101" pitchFamily="2" charset="-122"/>
                <a:ea typeface="华文楷体" panose="02010600040101010101" pitchFamily="2" charset="-122"/>
              </a:rPr>
              <a:t>【例</a:t>
            </a:r>
            <a:r>
              <a:rPr lang="en-US" altLang="zh-CN" sz="2200" b="1" dirty="0">
                <a:solidFill>
                  <a:srgbClr val="4D009A"/>
                </a:solidFill>
                <a:latin typeface="华文楷体" panose="02010600040101010101" pitchFamily="2" charset="-122"/>
                <a:ea typeface="华文楷体" panose="02010600040101010101" pitchFamily="2" charset="-122"/>
              </a:rPr>
              <a:t>1.2-1</a:t>
            </a:r>
            <a:r>
              <a:rPr lang="zh-CN" altLang="en-US" sz="2200" b="1" dirty="0">
                <a:solidFill>
                  <a:srgbClr val="4D009A"/>
                </a:solidFill>
                <a:latin typeface="华文楷体" panose="02010600040101010101" pitchFamily="2" charset="-122"/>
                <a:ea typeface="华文楷体" panose="02010600040101010101" pitchFamily="2" charset="-122"/>
              </a:rPr>
              <a:t>】计算</a:t>
            </a:r>
            <a:endParaRPr lang="zh-CN" altLang="en-US" sz="2200" b="1" dirty="0">
              <a:solidFill>
                <a:srgbClr val="4D009A"/>
              </a:solidFill>
              <a:latin typeface="华文楷体" panose="02010600040101010101" pitchFamily="2" charset="-122"/>
              <a:ea typeface="华文楷体" panose="02010600040101010101" pitchFamily="2" charset="-122"/>
            </a:endParaRPr>
          </a:p>
          <a:p>
            <a:pPr eaLnBrk="1" hangingPunct="1">
              <a:lnSpc>
                <a:spcPct val="90000"/>
              </a:lnSpc>
              <a:buFont typeface="Wingdings" panose="05000000000000000000" pitchFamily="2" charset="2"/>
              <a:buNone/>
            </a:pPr>
            <a:r>
              <a:rPr lang="zh-CN" altLang="en-US" sz="2200" b="1" dirty="0">
                <a:solidFill>
                  <a:srgbClr val="4D009A"/>
                </a:solidFill>
                <a:latin typeface="华文楷体" panose="02010600040101010101" pitchFamily="2" charset="-122"/>
                <a:ea typeface="华文楷体" panose="02010600040101010101" pitchFamily="2" charset="-122"/>
              </a:rPr>
              <a:t>（</a:t>
            </a:r>
            <a:r>
              <a:rPr lang="en-US" altLang="zh-CN" sz="2200" b="1" dirty="0">
                <a:solidFill>
                  <a:srgbClr val="4D009A"/>
                </a:solidFill>
                <a:latin typeface="华文楷体" panose="02010600040101010101" pitchFamily="2" charset="-122"/>
                <a:ea typeface="华文楷体" panose="02010600040101010101" pitchFamily="2" charset="-122"/>
              </a:rPr>
              <a:t>1</a:t>
            </a:r>
            <a:r>
              <a:rPr lang="zh-CN" altLang="en-US" sz="2200" b="1" dirty="0">
                <a:solidFill>
                  <a:srgbClr val="4D009A"/>
                </a:solidFill>
                <a:latin typeface="华文楷体" panose="02010600040101010101" pitchFamily="2" charset="-122"/>
                <a:ea typeface="华文楷体" panose="02010600040101010101" pitchFamily="2" charset="-122"/>
              </a:rPr>
              <a:t>）在</a:t>
            </a:r>
            <a:r>
              <a:rPr lang="en-US" altLang="zh-CN" sz="2200" b="1" dirty="0">
                <a:solidFill>
                  <a:srgbClr val="4D009A"/>
                </a:solidFill>
                <a:latin typeface="华文楷体" panose="02010600040101010101" pitchFamily="2" charset="-122"/>
                <a:ea typeface="华文楷体" panose="02010600040101010101" pitchFamily="2" charset="-122"/>
              </a:rPr>
              <a:t>MATLAB</a:t>
            </a:r>
            <a:r>
              <a:rPr lang="zh-CN" altLang="en-US" sz="2200" b="1" dirty="0">
                <a:solidFill>
                  <a:srgbClr val="4D009A"/>
                </a:solidFill>
                <a:latin typeface="华文楷体" panose="02010600040101010101" pitchFamily="2" charset="-122"/>
                <a:ea typeface="华文楷体" panose="02010600040101010101" pitchFamily="2" charset="-122"/>
              </a:rPr>
              <a:t>命令窗口输入</a:t>
            </a:r>
            <a:endParaRPr lang="zh-CN" altLang="en-US" sz="2200" b="1" dirty="0">
              <a:solidFill>
                <a:srgbClr val="4D009A"/>
              </a:solidFill>
              <a:latin typeface="华文楷体" panose="02010600040101010101" pitchFamily="2" charset="-122"/>
              <a:ea typeface="华文楷体" panose="02010600040101010101" pitchFamily="2" charset="-122"/>
            </a:endParaRPr>
          </a:p>
          <a:p>
            <a:pPr eaLnBrk="1" hangingPunct="1">
              <a:lnSpc>
                <a:spcPct val="90000"/>
              </a:lnSpc>
              <a:buFont typeface="Wingdings" panose="05000000000000000000" pitchFamily="2" charset="2"/>
              <a:buNone/>
            </a:pPr>
            <a:r>
              <a:rPr lang="zh-CN" altLang="en-US" sz="2200" b="1" dirty="0">
                <a:solidFill>
                  <a:srgbClr val="4D009A"/>
                </a:solidFill>
                <a:latin typeface="华文楷体" panose="02010600040101010101" pitchFamily="2" charset="-122"/>
                <a:ea typeface="华文楷体" panose="02010600040101010101" pitchFamily="2" charset="-122"/>
              </a:rPr>
              <a:t>     以下内容：</a:t>
            </a:r>
            <a:endParaRPr lang="zh-CN" altLang="en-US" sz="2200" b="1" dirty="0">
              <a:solidFill>
                <a:srgbClr val="4D009A"/>
              </a:solidFill>
              <a:latin typeface="华文楷体" panose="02010600040101010101" pitchFamily="2" charset="-122"/>
              <a:ea typeface="华文楷体" panose="02010600040101010101" pitchFamily="2" charset="-122"/>
            </a:endParaRPr>
          </a:p>
          <a:p>
            <a:pPr eaLnBrk="1" hangingPunct="1">
              <a:lnSpc>
                <a:spcPct val="90000"/>
              </a:lnSpc>
              <a:buFont typeface="Wingdings" panose="05000000000000000000" pitchFamily="2" charset="2"/>
              <a:buNone/>
            </a:pPr>
            <a:r>
              <a:rPr lang="en-US" altLang="zh-CN" sz="2200" b="1" dirty="0">
                <a:solidFill>
                  <a:srgbClr val="4D009A"/>
                </a:solidFill>
                <a:latin typeface="华文楷体" panose="02010600040101010101" pitchFamily="2" charset="-122"/>
                <a:ea typeface="华文楷体" panose="02010600040101010101" pitchFamily="2" charset="-122"/>
              </a:rPr>
              <a:t>&gt;&gt;(12+2*(7-4))/3^2</a:t>
            </a:r>
            <a:endParaRPr lang="en-US" altLang="zh-CN" sz="2200" b="1" dirty="0">
              <a:solidFill>
                <a:srgbClr val="4D009A"/>
              </a:solidFill>
              <a:latin typeface="华文楷体" panose="02010600040101010101" pitchFamily="2" charset="-122"/>
              <a:ea typeface="华文楷体" panose="02010600040101010101" pitchFamily="2" charset="-122"/>
            </a:endParaRPr>
          </a:p>
          <a:p>
            <a:pPr eaLnBrk="1" hangingPunct="1">
              <a:lnSpc>
                <a:spcPct val="90000"/>
              </a:lnSpc>
              <a:buFont typeface="Wingdings" panose="05000000000000000000" pitchFamily="2" charset="2"/>
              <a:buNone/>
            </a:pPr>
            <a:r>
              <a:rPr lang="zh-CN" altLang="en-US" sz="2200" b="1" dirty="0">
                <a:solidFill>
                  <a:srgbClr val="4D009A"/>
                </a:solidFill>
                <a:latin typeface="华文楷体" panose="02010600040101010101" pitchFamily="2" charset="-122"/>
                <a:ea typeface="华文楷体" panose="02010600040101010101" pitchFamily="2" charset="-122"/>
              </a:rPr>
              <a:t>（</a:t>
            </a:r>
            <a:r>
              <a:rPr lang="en-US" altLang="zh-CN" sz="2200" b="1" dirty="0">
                <a:solidFill>
                  <a:srgbClr val="4D009A"/>
                </a:solidFill>
                <a:latin typeface="华文楷体" panose="02010600040101010101" pitchFamily="2" charset="-122"/>
                <a:ea typeface="华文楷体" panose="02010600040101010101" pitchFamily="2" charset="-122"/>
              </a:rPr>
              <a:t>2</a:t>
            </a:r>
            <a:r>
              <a:rPr lang="zh-CN" altLang="en-US" sz="2200" b="1" dirty="0">
                <a:solidFill>
                  <a:srgbClr val="4D009A"/>
                </a:solidFill>
                <a:latin typeface="华文楷体" panose="02010600040101010101" pitchFamily="2" charset="-122"/>
                <a:ea typeface="华文楷体" panose="02010600040101010101" pitchFamily="2" charset="-122"/>
              </a:rPr>
              <a:t>）按【</a:t>
            </a:r>
            <a:r>
              <a:rPr lang="en-US" altLang="zh-CN" sz="2200" b="1" dirty="0">
                <a:solidFill>
                  <a:srgbClr val="4D009A"/>
                </a:solidFill>
                <a:latin typeface="华文楷体" panose="02010600040101010101" pitchFamily="2" charset="-122"/>
                <a:ea typeface="华文楷体" panose="02010600040101010101" pitchFamily="2" charset="-122"/>
              </a:rPr>
              <a:t>Enter</a:t>
            </a:r>
            <a:r>
              <a:rPr lang="zh-CN" altLang="en-US" sz="2200" b="1" dirty="0">
                <a:solidFill>
                  <a:srgbClr val="4D009A"/>
                </a:solidFill>
                <a:latin typeface="华文楷体" panose="02010600040101010101" pitchFamily="2" charset="-122"/>
                <a:ea typeface="华文楷体" panose="02010600040101010101" pitchFamily="2" charset="-122"/>
              </a:rPr>
              <a:t>】键，指令执行。</a:t>
            </a:r>
            <a:endParaRPr lang="zh-CN" altLang="en-US" sz="2200" b="1" dirty="0">
              <a:solidFill>
                <a:srgbClr val="4D009A"/>
              </a:solidFill>
              <a:latin typeface="华文楷体" panose="02010600040101010101" pitchFamily="2" charset="-122"/>
              <a:ea typeface="华文楷体" panose="02010600040101010101" pitchFamily="2" charset="-122"/>
            </a:endParaRPr>
          </a:p>
          <a:p>
            <a:pPr eaLnBrk="1" hangingPunct="1">
              <a:lnSpc>
                <a:spcPct val="90000"/>
              </a:lnSpc>
              <a:buFont typeface="Wingdings" panose="05000000000000000000" pitchFamily="2" charset="2"/>
              <a:buNone/>
            </a:pPr>
            <a:r>
              <a:rPr lang="zh-CN" altLang="en-US" sz="2200" b="1" dirty="0">
                <a:solidFill>
                  <a:srgbClr val="4D009A"/>
                </a:solidFill>
                <a:latin typeface="华文楷体" panose="02010600040101010101" pitchFamily="2" charset="-122"/>
                <a:ea typeface="华文楷体" panose="02010600040101010101" pitchFamily="2" charset="-122"/>
              </a:rPr>
              <a:t>（</a:t>
            </a:r>
            <a:r>
              <a:rPr lang="en-US" altLang="zh-CN" sz="2200" b="1" dirty="0">
                <a:solidFill>
                  <a:srgbClr val="4D009A"/>
                </a:solidFill>
                <a:latin typeface="华文楷体" panose="02010600040101010101" pitchFamily="2" charset="-122"/>
                <a:ea typeface="华文楷体" panose="02010600040101010101" pitchFamily="2" charset="-122"/>
              </a:rPr>
              <a:t>3</a:t>
            </a:r>
            <a:r>
              <a:rPr lang="zh-CN" altLang="en-US" sz="2200" b="1" dirty="0">
                <a:solidFill>
                  <a:srgbClr val="4D009A"/>
                </a:solidFill>
                <a:latin typeface="华文楷体" panose="02010600040101010101" pitchFamily="2" charset="-122"/>
                <a:ea typeface="华文楷体" panose="02010600040101010101" pitchFamily="2" charset="-122"/>
              </a:rPr>
              <a:t>）返回的计算结果：</a:t>
            </a:r>
            <a:endParaRPr lang="zh-CN" altLang="en-US" sz="2200" b="1" dirty="0">
              <a:solidFill>
                <a:srgbClr val="4D009A"/>
              </a:solidFill>
              <a:latin typeface="华文楷体" panose="02010600040101010101" pitchFamily="2" charset="-122"/>
              <a:ea typeface="华文楷体" panose="02010600040101010101" pitchFamily="2" charset="-122"/>
            </a:endParaRPr>
          </a:p>
          <a:p>
            <a:pPr eaLnBrk="1" hangingPunct="1">
              <a:lnSpc>
                <a:spcPct val="90000"/>
              </a:lnSpc>
              <a:buFont typeface="Wingdings" panose="05000000000000000000" pitchFamily="2" charset="2"/>
              <a:buNone/>
            </a:pPr>
            <a:r>
              <a:rPr lang="en-US" altLang="zh-CN" sz="2200" dirty="0" err="1">
                <a:solidFill>
                  <a:srgbClr val="003300"/>
                </a:solidFill>
                <a:latin typeface="楷体_GB2312" pitchFamily="49" charset="-122"/>
                <a:ea typeface="楷体_GB2312" pitchFamily="49" charset="-122"/>
              </a:rPr>
              <a:t>ans</a:t>
            </a:r>
            <a:r>
              <a:rPr lang="en-US" altLang="zh-CN" sz="2200" dirty="0">
                <a:solidFill>
                  <a:srgbClr val="003300"/>
                </a:solidFill>
                <a:latin typeface="楷体_GB2312" pitchFamily="49" charset="-122"/>
                <a:ea typeface="楷体_GB2312" pitchFamily="49" charset="-122"/>
              </a:rPr>
              <a:t>=</a:t>
            </a:r>
            <a:endParaRPr lang="en-US" altLang="zh-CN" sz="2200" dirty="0">
              <a:solidFill>
                <a:srgbClr val="003300"/>
              </a:solidFill>
              <a:latin typeface="楷体_GB2312" pitchFamily="49" charset="-122"/>
              <a:ea typeface="楷体_GB2312" pitchFamily="49" charset="-122"/>
            </a:endParaRPr>
          </a:p>
          <a:p>
            <a:pPr eaLnBrk="1" hangingPunct="1">
              <a:lnSpc>
                <a:spcPct val="90000"/>
              </a:lnSpc>
              <a:buFont typeface="Wingdings" panose="05000000000000000000" pitchFamily="2" charset="2"/>
              <a:buNone/>
            </a:pPr>
            <a:r>
              <a:rPr lang="en-US" altLang="zh-CN" sz="2200" dirty="0">
                <a:solidFill>
                  <a:srgbClr val="003300"/>
                </a:solidFill>
                <a:latin typeface="楷体_GB2312" pitchFamily="49" charset="-122"/>
                <a:ea typeface="楷体_GB2312" pitchFamily="49" charset="-122"/>
              </a:rPr>
              <a:t>    2</a:t>
            </a:r>
            <a:r>
              <a:rPr lang="en-US" altLang="zh-CN" sz="2000" dirty="0">
                <a:solidFill>
                  <a:srgbClr val="4D009A"/>
                </a:solidFill>
                <a:latin typeface="楷体_GB2312" pitchFamily="49" charset="-122"/>
                <a:ea typeface="楷体_GB2312" pitchFamily="49" charset="-122"/>
              </a:rPr>
              <a:t>  </a:t>
            </a:r>
            <a:endParaRPr lang="en-US" altLang="zh-CN" sz="2000" dirty="0">
              <a:solidFill>
                <a:srgbClr val="4D009A"/>
              </a:solidFill>
              <a:latin typeface="楷体_GB2312" pitchFamily="49" charset="-122"/>
              <a:ea typeface="楷体_GB2312" pitchFamily="49" charset="-122"/>
            </a:endParaRPr>
          </a:p>
        </p:txBody>
      </p:sp>
      <p:graphicFrame>
        <p:nvGraphicFramePr>
          <p:cNvPr id="60421" name="内容占位符 60420"/>
          <p:cNvGraphicFramePr>
            <a:graphicFrameLocks noGrp="1"/>
          </p:cNvGraphicFramePr>
          <p:nvPr>
            <p:ph sz="half" idx="2"/>
          </p:nvPr>
        </p:nvGraphicFramePr>
        <p:xfrm>
          <a:off x="4872038" y="2852739"/>
          <a:ext cx="2087562" cy="427037"/>
        </p:xfrm>
        <a:graphic>
          <a:graphicData uri="http://schemas.openxmlformats.org/presentationml/2006/ole">
            <mc:AlternateContent xmlns:mc="http://schemas.openxmlformats.org/markup-compatibility/2006">
              <mc:Choice xmlns:v="urn:schemas-microsoft-com:vml" Requires="v">
                <p:oleObj spid="_x0000_s5124" name="" r:id="rId1" imgW="28346400" imgH="5791200" progId="Equation.DSMT4">
                  <p:embed/>
                </p:oleObj>
              </mc:Choice>
              <mc:Fallback>
                <p:oleObj name="" r:id="rId1" imgW="28346400" imgH="5791200" progId="Equation.DSMT4">
                  <p:embed/>
                  <p:pic>
                    <p:nvPicPr>
                      <p:cNvPr id="0" name="内容占位符 60420"/>
                      <p:cNvPicPr>
                        <a:picLocks noGrp="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2038" y="2852739"/>
                        <a:ext cx="208756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60424" name="图片 60423"/>
          <p:cNvPicPr>
            <a:picLocks noChangeAspect="1" noChangeArrowheads="1"/>
          </p:cNvPicPr>
          <p:nvPr/>
        </p:nvPicPr>
        <p:blipFill>
          <a:blip r:embed="rId3" cstate="print"/>
          <a:srcRect/>
          <a:stretch>
            <a:fillRect/>
          </a:stretch>
        </p:blipFill>
        <p:spPr bwMode="auto">
          <a:xfrm>
            <a:off x="7104063" y="2924175"/>
            <a:ext cx="3384550" cy="2573338"/>
          </a:xfrm>
          <a:prstGeom prst="rect">
            <a:avLst/>
          </a:prstGeom>
          <a:noFill/>
          <a:ln w="9525">
            <a:noFill/>
            <a:miter lim="800000"/>
            <a:headEnd/>
            <a:tailEnd/>
          </a:ln>
        </p:spPr>
      </p:pic>
      <p:sp>
        <p:nvSpPr>
          <p:cNvPr id="24581"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7B2CF1C9-CE77-432B-BFD2-11BB0D49F876}" type="datetime1">
              <a:rPr lang="zh-CN" altLang="en-US" smtClean="0">
                <a:solidFill>
                  <a:srgbClr val="45516B"/>
                </a:solidFill>
              </a:rPr>
            </a:fld>
            <a:endParaRPr lang="zh-CN" altLang="en-US">
              <a:solidFill>
                <a:srgbClr val="45516B"/>
              </a:solidFill>
            </a:endParaRPr>
          </a:p>
        </p:txBody>
      </p:sp>
      <p:sp>
        <p:nvSpPr>
          <p:cNvPr id="24582"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1032" name="灯片编号占位符 3"/>
          <p:cNvSpPr>
            <a:spLocks noGrp="1" noChangeArrowheads="1"/>
          </p:cNvSpPr>
          <p:nvPr>
            <p:ph type="sldNum" sz="quarter" idx="12"/>
          </p:nvPr>
        </p:nvSpPr>
        <p:spPr bwMode="auto">
          <a:noFill/>
          <a:ln>
            <a:miter lim="800000"/>
          </a:ln>
        </p:spPr>
        <p:txBody>
          <a:bodyPr/>
          <a:lstStyle/>
          <a:p>
            <a:fld id="{14844BB7-F689-44F5-AE30-331724112C74}"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blinds(horizontal)">
                                      <p:cBhvr>
                                        <p:cTn id="7" dur="500"/>
                                        <p:tgtEl>
                                          <p:spTgt spid="604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0419">
                                            <p:txEl>
                                              <p:pRg st="1" end="1"/>
                                            </p:txEl>
                                          </p:spTgt>
                                        </p:tgtEl>
                                        <p:attrNameLst>
                                          <p:attrName>style.visibility</p:attrName>
                                        </p:attrNameLst>
                                      </p:cBhvr>
                                      <p:to>
                                        <p:strVal val="visible"/>
                                      </p:to>
                                    </p:set>
                                    <p:animEffect transition="in" filter="blinds(horizontal)">
                                      <p:cBhvr>
                                        <p:cTn id="12" dur="500"/>
                                        <p:tgtEl>
                                          <p:spTgt spid="604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0419">
                                            <p:txEl>
                                              <p:pRg st="2" end="2"/>
                                            </p:txEl>
                                          </p:spTgt>
                                        </p:tgtEl>
                                        <p:attrNameLst>
                                          <p:attrName>style.visibility</p:attrName>
                                        </p:attrNameLst>
                                      </p:cBhvr>
                                      <p:to>
                                        <p:strVal val="visible"/>
                                      </p:to>
                                    </p:set>
                                    <p:animEffect transition="in" filter="blinds(horizontal)">
                                      <p:cBhvr>
                                        <p:cTn id="17" dur="500"/>
                                        <p:tgtEl>
                                          <p:spTgt spid="604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0419">
                                            <p:txEl>
                                              <p:pRg st="3" end="3"/>
                                            </p:txEl>
                                          </p:spTgt>
                                        </p:tgtEl>
                                        <p:attrNameLst>
                                          <p:attrName>style.visibility</p:attrName>
                                        </p:attrNameLst>
                                      </p:cBhvr>
                                      <p:to>
                                        <p:strVal val="visible"/>
                                      </p:to>
                                    </p:set>
                                    <p:animEffect transition="in" filter="blinds(horizontal)">
                                      <p:cBhvr>
                                        <p:cTn id="22" dur="500"/>
                                        <p:tgtEl>
                                          <p:spTgt spid="604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0419">
                                            <p:txEl>
                                              <p:pRg st="4" end="4"/>
                                            </p:txEl>
                                          </p:spTgt>
                                        </p:tgtEl>
                                        <p:attrNameLst>
                                          <p:attrName>style.visibility</p:attrName>
                                        </p:attrNameLst>
                                      </p:cBhvr>
                                      <p:to>
                                        <p:strVal val="visible"/>
                                      </p:to>
                                    </p:set>
                                    <p:animEffect transition="in" filter="blinds(horizontal)">
                                      <p:cBhvr>
                                        <p:cTn id="27" dur="500"/>
                                        <p:tgtEl>
                                          <p:spTgt spid="604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0421"/>
                                        </p:tgtEl>
                                        <p:attrNameLst>
                                          <p:attrName>style.visibility</p:attrName>
                                        </p:attrNameLst>
                                      </p:cBhvr>
                                      <p:to>
                                        <p:strVal val="visible"/>
                                      </p:to>
                                    </p:set>
                                    <p:animEffect transition="in" filter="blinds(horizontal)">
                                      <p:cBhvr>
                                        <p:cTn id="32" dur="500"/>
                                        <p:tgtEl>
                                          <p:spTgt spid="6042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0419">
                                            <p:txEl>
                                              <p:pRg st="5" end="5"/>
                                            </p:txEl>
                                          </p:spTgt>
                                        </p:tgtEl>
                                        <p:attrNameLst>
                                          <p:attrName>style.visibility</p:attrName>
                                        </p:attrNameLst>
                                      </p:cBhvr>
                                      <p:to>
                                        <p:strVal val="visible"/>
                                      </p:to>
                                    </p:set>
                                    <p:animEffect transition="in" filter="blinds(horizontal)">
                                      <p:cBhvr>
                                        <p:cTn id="37" dur="500"/>
                                        <p:tgtEl>
                                          <p:spTgt spid="60419">
                                            <p:txEl>
                                              <p:pRg st="5" end="5"/>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60419">
                                            <p:txEl>
                                              <p:pRg st="6" end="6"/>
                                            </p:txEl>
                                          </p:spTgt>
                                        </p:tgtEl>
                                        <p:attrNameLst>
                                          <p:attrName>style.visibility</p:attrName>
                                        </p:attrNameLst>
                                      </p:cBhvr>
                                      <p:to>
                                        <p:strVal val="visible"/>
                                      </p:to>
                                    </p:set>
                                    <p:animEffect transition="in" filter="blinds(horizontal)">
                                      <p:cBhvr>
                                        <p:cTn id="40" dur="500"/>
                                        <p:tgtEl>
                                          <p:spTgt spid="60419">
                                            <p:txEl>
                                              <p:pRg st="6" end="6"/>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60419">
                                            <p:txEl>
                                              <p:pRg st="7" end="7"/>
                                            </p:txEl>
                                          </p:spTgt>
                                        </p:tgtEl>
                                        <p:attrNameLst>
                                          <p:attrName>style.visibility</p:attrName>
                                        </p:attrNameLst>
                                      </p:cBhvr>
                                      <p:to>
                                        <p:strVal val="visible"/>
                                      </p:to>
                                    </p:set>
                                    <p:animEffect transition="in" filter="blinds(horizontal)">
                                      <p:cBhvr>
                                        <p:cTn id="43" dur="500"/>
                                        <p:tgtEl>
                                          <p:spTgt spid="60419">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60419">
                                            <p:txEl>
                                              <p:pRg st="8" end="8"/>
                                            </p:txEl>
                                          </p:spTgt>
                                        </p:tgtEl>
                                        <p:attrNameLst>
                                          <p:attrName>style.visibility</p:attrName>
                                        </p:attrNameLst>
                                      </p:cBhvr>
                                      <p:to>
                                        <p:strVal val="visible"/>
                                      </p:to>
                                    </p:set>
                                    <p:animEffect transition="in" filter="blinds(horizontal)">
                                      <p:cBhvr>
                                        <p:cTn id="48" dur="500"/>
                                        <p:tgtEl>
                                          <p:spTgt spid="60419">
                                            <p:txEl>
                                              <p:pRg st="8" end="8"/>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60419">
                                            <p:txEl>
                                              <p:pRg st="9" end="9"/>
                                            </p:txEl>
                                          </p:spTgt>
                                        </p:tgtEl>
                                        <p:attrNameLst>
                                          <p:attrName>style.visibility</p:attrName>
                                        </p:attrNameLst>
                                      </p:cBhvr>
                                      <p:to>
                                        <p:strVal val="visible"/>
                                      </p:to>
                                    </p:set>
                                    <p:animEffect transition="in" filter="blinds(horizontal)">
                                      <p:cBhvr>
                                        <p:cTn id="53" dur="500"/>
                                        <p:tgtEl>
                                          <p:spTgt spid="60419">
                                            <p:txEl>
                                              <p:pRg st="9" end="9"/>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60419">
                                            <p:txEl>
                                              <p:pRg st="10" end="10"/>
                                            </p:txEl>
                                          </p:spTgt>
                                        </p:tgtEl>
                                        <p:attrNameLst>
                                          <p:attrName>style.visibility</p:attrName>
                                        </p:attrNameLst>
                                      </p:cBhvr>
                                      <p:to>
                                        <p:strVal val="visible"/>
                                      </p:to>
                                    </p:set>
                                    <p:animEffect transition="in" filter="blinds(horizontal)">
                                      <p:cBhvr>
                                        <p:cTn id="58" dur="500"/>
                                        <p:tgtEl>
                                          <p:spTgt spid="60419">
                                            <p:txEl>
                                              <p:pRg st="10" end="10"/>
                                            </p:txEl>
                                          </p:spTgt>
                                        </p:tgtEl>
                                      </p:cBhvr>
                                    </p:animEffect>
                                  </p:childTnLst>
                                </p:cTn>
                              </p:par>
                              <p:par>
                                <p:cTn id="59" presetID="3" presetClass="entr" presetSubtype="10" fill="hold" nodeType="withEffect">
                                  <p:stCondLst>
                                    <p:cond delay="0"/>
                                  </p:stCondLst>
                                  <p:childTnLst>
                                    <p:set>
                                      <p:cBhvr>
                                        <p:cTn id="60" dur="1" fill="hold">
                                          <p:stCondLst>
                                            <p:cond delay="0"/>
                                          </p:stCondLst>
                                        </p:cTn>
                                        <p:tgtEl>
                                          <p:spTgt spid="60419">
                                            <p:txEl>
                                              <p:pRg st="11" end="11"/>
                                            </p:txEl>
                                          </p:spTgt>
                                        </p:tgtEl>
                                        <p:attrNameLst>
                                          <p:attrName>style.visibility</p:attrName>
                                        </p:attrNameLst>
                                      </p:cBhvr>
                                      <p:to>
                                        <p:strVal val="visible"/>
                                      </p:to>
                                    </p:set>
                                    <p:animEffect transition="in" filter="blinds(horizontal)">
                                      <p:cBhvr>
                                        <p:cTn id="61" dur="500"/>
                                        <p:tgtEl>
                                          <p:spTgt spid="60419">
                                            <p:txEl>
                                              <p:pRg st="11" end="11"/>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nodeType="clickEffect">
                                  <p:stCondLst>
                                    <p:cond delay="0"/>
                                  </p:stCondLst>
                                  <p:childTnLst>
                                    <p:set>
                                      <p:cBhvr>
                                        <p:cTn id="65" dur="1" fill="hold">
                                          <p:stCondLst>
                                            <p:cond delay="0"/>
                                          </p:stCondLst>
                                        </p:cTn>
                                        <p:tgtEl>
                                          <p:spTgt spid="60424"/>
                                        </p:tgtEl>
                                        <p:attrNameLst>
                                          <p:attrName>style.visibility</p:attrName>
                                        </p:attrNameLst>
                                      </p:cBhvr>
                                      <p:to>
                                        <p:strVal val="visible"/>
                                      </p:to>
                                    </p:set>
                                    <p:animEffect transition="in" filter="wipe(up)">
                                      <p:cBhvr>
                                        <p:cTn id="66" dur="500"/>
                                        <p:tgtEl>
                                          <p:spTgt spid="604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64513"/>
          <p:cNvSpPr>
            <a:spLocks noGrp="1" noChangeArrowheads="1"/>
          </p:cNvSpPr>
          <p:nvPr>
            <p:ph type="title"/>
          </p:nvPr>
        </p:nvSpPr>
        <p:spPr>
          <a:xfrm>
            <a:off x="2640014" y="188914"/>
            <a:ext cx="7793037" cy="720725"/>
          </a:xfrm>
        </p:spPr>
        <p:txBody>
          <a:bodyPr/>
          <a:lstStyle/>
          <a:p>
            <a:pPr marL="838200" indent="-838200"/>
            <a:r>
              <a:rPr lang="en-US" altLang="zh-CN" sz="3200" b="1" dirty="0">
                <a:solidFill>
                  <a:srgbClr val="4D009A"/>
                </a:solidFill>
                <a:latin typeface="华文楷体" panose="02010600040101010101" pitchFamily="2" charset="-122"/>
                <a:ea typeface="华文楷体" panose="02010600040101010101" pitchFamily="2" charset="-122"/>
              </a:rPr>
              <a:t>1.2 </a:t>
            </a:r>
            <a:r>
              <a:rPr lang="zh-CN" altLang="en-US" sz="3200" b="1" dirty="0">
                <a:solidFill>
                  <a:srgbClr val="4D009A"/>
                </a:solidFill>
                <a:latin typeface="华文楷体" panose="02010600040101010101" pitchFamily="2" charset="-122"/>
                <a:ea typeface="华文楷体" panose="02010600040101010101" pitchFamily="2" charset="-122"/>
              </a:rPr>
              <a:t>命令窗口 （续）</a:t>
            </a:r>
            <a:endParaRPr lang="zh-CN" altLang="en-US" sz="3200" b="1" dirty="0">
              <a:solidFill>
                <a:srgbClr val="4D009A"/>
              </a:solidFill>
              <a:latin typeface="华文楷体" panose="02010600040101010101" pitchFamily="2" charset="-122"/>
              <a:ea typeface="华文楷体" panose="02010600040101010101" pitchFamily="2" charset="-122"/>
            </a:endParaRPr>
          </a:p>
        </p:txBody>
      </p:sp>
      <p:sp>
        <p:nvSpPr>
          <p:cNvPr id="64515" name="内容占位符 64514"/>
          <p:cNvSpPr>
            <a:spLocks noGrp="1" noChangeArrowheads="1"/>
          </p:cNvSpPr>
          <p:nvPr>
            <p:ph idx="1"/>
          </p:nvPr>
        </p:nvSpPr>
        <p:spPr>
          <a:xfrm>
            <a:off x="2706688" y="1341439"/>
            <a:ext cx="7205662" cy="4791075"/>
          </a:xfrm>
        </p:spPr>
        <p:txBody>
          <a:bodyPr/>
          <a:lstStyle/>
          <a:p>
            <a:pPr eaLnBrk="1" hangingPunct="1">
              <a:buFont typeface="Wingdings" panose="05000000000000000000" pitchFamily="2" charset="2"/>
              <a:buNone/>
            </a:pPr>
            <a:r>
              <a:rPr lang="zh-CN" altLang="en-US" b="1">
                <a:solidFill>
                  <a:srgbClr val="0000FF"/>
                </a:solidFill>
                <a:latin typeface="楷体_GB2312" pitchFamily="49" charset="-122"/>
                <a:ea typeface="楷体_GB2312" pitchFamily="49" charset="-122"/>
              </a:rPr>
              <a:t>〖说明〗</a:t>
            </a:r>
            <a:endParaRPr lang="zh-CN" altLang="en-US" b="1">
              <a:solidFill>
                <a:srgbClr val="0000FF"/>
              </a:solidFill>
              <a:latin typeface="楷体_GB2312" pitchFamily="49" charset="-122"/>
              <a:ea typeface="楷体_GB2312" pitchFamily="49" charset="-122"/>
            </a:endParaRPr>
          </a:p>
          <a:p>
            <a:pPr lvl="1" eaLnBrk="1" hangingPunct="1">
              <a:spcBef>
                <a:spcPct val="50000"/>
              </a:spcBef>
              <a:buFont typeface="Wingdings" panose="05000000000000000000" pitchFamily="2" charset="2"/>
              <a:buChar char="l"/>
            </a:pPr>
            <a:r>
              <a:rPr lang="zh-CN" altLang="en-US" sz="2000" b="1">
                <a:solidFill>
                  <a:srgbClr val="0000FF"/>
                </a:solidFill>
                <a:latin typeface="华文楷体" panose="02010600040101010101" pitchFamily="2" charset="-122"/>
                <a:ea typeface="华文楷体" panose="02010600040101010101" pitchFamily="2" charset="-122"/>
              </a:rPr>
              <a:t>在命令窗口【</a:t>
            </a:r>
            <a:r>
              <a:rPr lang="en-US" altLang="zh-CN" sz="2000" b="1">
                <a:solidFill>
                  <a:srgbClr val="0000FF"/>
                </a:solidFill>
                <a:latin typeface="华文楷体" panose="02010600040101010101" pitchFamily="2" charset="-122"/>
                <a:ea typeface="华文楷体" panose="02010600040101010101" pitchFamily="2" charset="-122"/>
              </a:rPr>
              <a:t>Enter</a:t>
            </a:r>
            <a:r>
              <a:rPr lang="zh-CN" altLang="en-US" sz="2000" b="1">
                <a:solidFill>
                  <a:srgbClr val="0000FF"/>
                </a:solidFill>
                <a:latin typeface="华文楷体" panose="02010600040101010101" pitchFamily="2" charset="-122"/>
                <a:ea typeface="华文楷体" panose="02010600040101010101" pitchFamily="2" charset="-122"/>
              </a:rPr>
              <a:t>】键提交命令执行。</a:t>
            </a:r>
            <a:endParaRPr lang="zh-CN" altLang="en-US" sz="2000" b="1">
              <a:solidFill>
                <a:srgbClr val="0000FF"/>
              </a:solidFill>
              <a:latin typeface="华文楷体" panose="02010600040101010101" pitchFamily="2" charset="-122"/>
              <a:ea typeface="华文楷体" panose="02010600040101010101" pitchFamily="2" charset="-122"/>
            </a:endParaRPr>
          </a:p>
          <a:p>
            <a:pPr lvl="1" eaLnBrk="1" hangingPunct="1">
              <a:spcBef>
                <a:spcPct val="50000"/>
              </a:spcBef>
              <a:buFont typeface="Wingdings" panose="05000000000000000000" pitchFamily="2" charset="2"/>
              <a:buChar char="l"/>
            </a:pPr>
            <a:r>
              <a:rPr lang="en-US" altLang="zh-CN" sz="2000" b="1">
                <a:solidFill>
                  <a:srgbClr val="0000FF"/>
                </a:solidFill>
                <a:latin typeface="华文楷体" panose="02010600040101010101" pitchFamily="2" charset="-122"/>
                <a:ea typeface="华文楷体" panose="02010600040101010101" pitchFamily="2" charset="-122"/>
              </a:rPr>
              <a:t>Matlab</a:t>
            </a:r>
            <a:r>
              <a:rPr lang="zh-CN" altLang="en-US" sz="2000" b="1">
                <a:solidFill>
                  <a:srgbClr val="0000FF"/>
                </a:solidFill>
                <a:latin typeface="华文楷体" panose="02010600040101010101" pitchFamily="2" charset="-122"/>
                <a:ea typeface="华文楷体" panose="02010600040101010101" pitchFamily="2" charset="-122"/>
              </a:rPr>
              <a:t>所用运算符（如</a:t>
            </a:r>
            <a:r>
              <a:rPr lang="en-US" altLang="zh-CN" sz="2000" b="1">
                <a:solidFill>
                  <a:srgbClr val="0000FF"/>
                </a:solidFill>
                <a:latin typeface="华文楷体" panose="02010600040101010101" pitchFamily="2" charset="-122"/>
                <a:ea typeface="华文楷体" panose="02010600040101010101" pitchFamily="2" charset="-122"/>
              </a:rPr>
              <a:t>+</a:t>
            </a:r>
            <a:r>
              <a:rPr lang="zh-CN" altLang="en-US" sz="2000" b="1">
                <a:solidFill>
                  <a:srgbClr val="0000FF"/>
                </a:solidFill>
                <a:latin typeface="华文楷体" panose="02010600040101010101" pitchFamily="2" charset="-122"/>
                <a:ea typeface="华文楷体" panose="02010600040101010101" pitchFamily="2" charset="-122"/>
              </a:rPr>
              <a:t>、</a:t>
            </a:r>
            <a:r>
              <a:rPr lang="en-US" altLang="zh-CN" sz="2000" b="1">
                <a:solidFill>
                  <a:srgbClr val="0000FF"/>
                </a:solidFill>
                <a:latin typeface="华文楷体" panose="02010600040101010101" pitchFamily="2" charset="-122"/>
                <a:ea typeface="华文楷体" panose="02010600040101010101" pitchFamily="2" charset="-122"/>
              </a:rPr>
              <a:t>-</a:t>
            </a:r>
            <a:r>
              <a:rPr lang="zh-CN" altLang="en-US" sz="2000" b="1">
                <a:solidFill>
                  <a:srgbClr val="0000FF"/>
                </a:solidFill>
                <a:latin typeface="华文楷体" panose="02010600040101010101" pitchFamily="2" charset="-122"/>
                <a:ea typeface="华文楷体" panose="02010600040101010101" pitchFamily="2" charset="-122"/>
              </a:rPr>
              <a:t>、</a:t>
            </a:r>
            <a:r>
              <a:rPr lang="en-US" altLang="zh-CN" sz="2000" b="1">
                <a:solidFill>
                  <a:srgbClr val="0000FF"/>
                </a:solidFill>
                <a:latin typeface="华文楷体" panose="02010600040101010101" pitchFamily="2" charset="-122"/>
                <a:ea typeface="华文楷体" panose="02010600040101010101" pitchFamily="2" charset="-122"/>
              </a:rPr>
              <a:t>^</a:t>
            </a:r>
            <a:r>
              <a:rPr lang="zh-CN" altLang="en-US" sz="2000" b="1">
                <a:solidFill>
                  <a:srgbClr val="0000FF"/>
                </a:solidFill>
                <a:latin typeface="华文楷体" panose="02010600040101010101" pitchFamily="2" charset="-122"/>
                <a:ea typeface="华文楷体" panose="02010600040101010101" pitchFamily="2" charset="-122"/>
              </a:rPr>
              <a:t>等）是各种计算程序中常见的。</a:t>
            </a:r>
            <a:endParaRPr lang="zh-CN" altLang="en-US" sz="2000" b="1">
              <a:solidFill>
                <a:srgbClr val="0000FF"/>
              </a:solidFill>
              <a:latin typeface="华文楷体" panose="02010600040101010101" pitchFamily="2" charset="-122"/>
              <a:ea typeface="华文楷体" panose="02010600040101010101" pitchFamily="2" charset="-122"/>
            </a:endParaRPr>
          </a:p>
          <a:p>
            <a:pPr lvl="1" eaLnBrk="1" hangingPunct="1">
              <a:spcBef>
                <a:spcPct val="50000"/>
              </a:spcBef>
              <a:buFont typeface="Wingdings" panose="05000000000000000000" pitchFamily="2" charset="2"/>
              <a:buChar char="l"/>
            </a:pPr>
            <a:r>
              <a:rPr lang="zh-CN" altLang="en-US" sz="2000" b="1">
                <a:solidFill>
                  <a:srgbClr val="0000FF"/>
                </a:solidFill>
                <a:latin typeface="华文楷体" panose="02010600040101010101" pitchFamily="2" charset="-122"/>
                <a:ea typeface="华文楷体" panose="02010600040101010101" pitchFamily="2" charset="-122"/>
              </a:rPr>
              <a:t>计算结果中的“</a:t>
            </a:r>
            <a:r>
              <a:rPr lang="en-US" altLang="zh-CN" sz="2000" b="1">
                <a:solidFill>
                  <a:srgbClr val="0000FF"/>
                </a:solidFill>
                <a:latin typeface="华文楷体" panose="02010600040101010101" pitchFamily="2" charset="-122"/>
                <a:ea typeface="华文楷体" panose="02010600040101010101" pitchFamily="2" charset="-122"/>
              </a:rPr>
              <a:t>ans”</a:t>
            </a:r>
            <a:r>
              <a:rPr lang="zh-CN" altLang="en-US" sz="2000" b="1">
                <a:solidFill>
                  <a:srgbClr val="0000FF"/>
                </a:solidFill>
                <a:latin typeface="华文楷体" panose="02010600040101010101" pitchFamily="2" charset="-122"/>
                <a:ea typeface="华文楷体" panose="02010600040101010101" pitchFamily="2" charset="-122"/>
              </a:rPr>
              <a:t>是英文“</a:t>
            </a:r>
            <a:r>
              <a:rPr lang="en-US" altLang="zh-CN" sz="2000" b="1">
                <a:solidFill>
                  <a:srgbClr val="0000FF"/>
                </a:solidFill>
                <a:latin typeface="华文楷体" panose="02010600040101010101" pitchFamily="2" charset="-122"/>
                <a:ea typeface="华文楷体" panose="02010600040101010101" pitchFamily="2" charset="-122"/>
              </a:rPr>
              <a:t>answer”</a:t>
            </a:r>
            <a:r>
              <a:rPr lang="zh-CN" altLang="en-US" sz="2000" b="1">
                <a:solidFill>
                  <a:srgbClr val="0000FF"/>
                </a:solidFill>
                <a:latin typeface="华文楷体" panose="02010600040101010101" pitchFamily="2" charset="-122"/>
                <a:ea typeface="华文楷体" panose="02010600040101010101" pitchFamily="2" charset="-122"/>
              </a:rPr>
              <a:t>的一种缩写，其含义就是“运算答案”。</a:t>
            </a:r>
            <a:r>
              <a:rPr lang="en-US" altLang="zh-CN" sz="2000" b="1">
                <a:solidFill>
                  <a:srgbClr val="0000FF"/>
                </a:solidFill>
                <a:latin typeface="华文楷体" panose="02010600040101010101" pitchFamily="2" charset="-122"/>
                <a:ea typeface="华文楷体" panose="02010600040101010101" pitchFamily="2" charset="-122"/>
              </a:rPr>
              <a:t>ans</a:t>
            </a:r>
            <a:r>
              <a:rPr lang="zh-CN" altLang="en-US" sz="2000" b="1">
                <a:solidFill>
                  <a:srgbClr val="0000FF"/>
                </a:solidFill>
                <a:latin typeface="华文楷体" panose="02010600040101010101" pitchFamily="2" charset="-122"/>
                <a:ea typeface="华文楷体" panose="02010600040101010101" pitchFamily="2" charset="-122"/>
              </a:rPr>
              <a:t>是</a:t>
            </a:r>
            <a:r>
              <a:rPr lang="en-US" altLang="zh-CN" sz="2000" b="1">
                <a:solidFill>
                  <a:srgbClr val="0000FF"/>
                </a:solidFill>
                <a:latin typeface="华文楷体" panose="02010600040101010101" pitchFamily="2" charset="-122"/>
                <a:ea typeface="华文楷体" panose="02010600040101010101" pitchFamily="2" charset="-122"/>
              </a:rPr>
              <a:t>Matlab</a:t>
            </a:r>
            <a:r>
              <a:rPr lang="zh-CN" altLang="en-US" sz="2000" b="1">
                <a:solidFill>
                  <a:srgbClr val="0000FF"/>
                </a:solidFill>
                <a:latin typeface="华文楷体" panose="02010600040101010101" pitchFamily="2" charset="-122"/>
                <a:ea typeface="华文楷体" panose="02010600040101010101" pitchFamily="2" charset="-122"/>
              </a:rPr>
              <a:t>的一个预定义变量。</a:t>
            </a:r>
            <a:endParaRPr lang="zh-CN" altLang="en-US" sz="2000" b="1">
              <a:solidFill>
                <a:srgbClr val="0000FF"/>
              </a:solidFill>
              <a:latin typeface="华文楷体" panose="02010600040101010101" pitchFamily="2" charset="-122"/>
              <a:ea typeface="华文楷体" panose="02010600040101010101" pitchFamily="2" charset="-122"/>
            </a:endParaRPr>
          </a:p>
        </p:txBody>
      </p:sp>
      <p:sp>
        <p:nvSpPr>
          <p:cNvPr id="25603"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D11189C5-3C38-4B87-AA14-F9375CB4D464}" type="datetime1">
              <a:rPr lang="zh-CN" altLang="en-US" smtClean="0">
                <a:solidFill>
                  <a:srgbClr val="45516B"/>
                </a:solidFill>
              </a:rPr>
            </a:fld>
            <a:endParaRPr lang="zh-CN" altLang="en-US">
              <a:solidFill>
                <a:srgbClr val="45516B"/>
              </a:solidFill>
            </a:endParaRPr>
          </a:p>
        </p:txBody>
      </p:sp>
      <p:sp>
        <p:nvSpPr>
          <p:cNvPr id="25604"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33798" name="灯片编号占位符 3"/>
          <p:cNvSpPr>
            <a:spLocks noGrp="1" noChangeArrowheads="1"/>
          </p:cNvSpPr>
          <p:nvPr>
            <p:ph type="sldNum" sz="quarter" idx="12"/>
          </p:nvPr>
        </p:nvSpPr>
        <p:spPr bwMode="auto">
          <a:noFill/>
          <a:ln>
            <a:miter lim="800000"/>
          </a:ln>
        </p:spPr>
        <p:txBody>
          <a:bodyPr/>
          <a:lstStyle/>
          <a:p>
            <a:fld id="{516F0E94-C6DE-489B-8213-972F4E4928E3}"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4515">
                                            <p:txEl>
                                              <p:pRg st="0" end="0"/>
                                            </p:txEl>
                                          </p:spTgt>
                                        </p:tgtEl>
                                        <p:attrNameLst>
                                          <p:attrName>style.visibility</p:attrName>
                                        </p:attrNameLst>
                                      </p:cBhvr>
                                      <p:to>
                                        <p:strVal val="visible"/>
                                      </p:to>
                                    </p:set>
                                    <p:animEffect transition="in" filter="blinds(horizontal)">
                                      <p:cBhvr>
                                        <p:cTn id="7" dur="500"/>
                                        <p:tgtEl>
                                          <p:spTgt spid="645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4515">
                                            <p:txEl>
                                              <p:pRg st="1" end="1"/>
                                            </p:txEl>
                                          </p:spTgt>
                                        </p:tgtEl>
                                        <p:attrNameLst>
                                          <p:attrName>style.visibility</p:attrName>
                                        </p:attrNameLst>
                                      </p:cBhvr>
                                      <p:to>
                                        <p:strVal val="visible"/>
                                      </p:to>
                                    </p:set>
                                    <p:animEffect transition="in" filter="blinds(horizontal)">
                                      <p:cBhvr>
                                        <p:cTn id="12" dur="500"/>
                                        <p:tgtEl>
                                          <p:spTgt spid="645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4515">
                                            <p:txEl>
                                              <p:pRg st="2" end="2"/>
                                            </p:txEl>
                                          </p:spTgt>
                                        </p:tgtEl>
                                        <p:attrNameLst>
                                          <p:attrName>style.visibility</p:attrName>
                                        </p:attrNameLst>
                                      </p:cBhvr>
                                      <p:to>
                                        <p:strVal val="visible"/>
                                      </p:to>
                                    </p:set>
                                    <p:animEffect transition="in" filter="blinds(horizontal)">
                                      <p:cBhvr>
                                        <p:cTn id="17" dur="500"/>
                                        <p:tgtEl>
                                          <p:spTgt spid="645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4515">
                                            <p:txEl>
                                              <p:pRg st="3" end="3"/>
                                            </p:txEl>
                                          </p:spTgt>
                                        </p:tgtEl>
                                        <p:attrNameLst>
                                          <p:attrName>style.visibility</p:attrName>
                                        </p:attrNameLst>
                                      </p:cBhvr>
                                      <p:to>
                                        <p:strVal val="visible"/>
                                      </p:to>
                                    </p:set>
                                    <p:animEffect transition="in" filter="blinds(horizontal)">
                                      <p:cBhvr>
                                        <p:cTn id="22" dur="500"/>
                                        <p:tgtEl>
                                          <p:spTgt spid="645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标题 65537"/>
          <p:cNvSpPr>
            <a:spLocks noGrp="1" noChangeArrowheads="1"/>
          </p:cNvSpPr>
          <p:nvPr>
            <p:ph type="title"/>
          </p:nvPr>
        </p:nvSpPr>
        <p:spPr>
          <a:xfrm>
            <a:off x="2640014" y="1"/>
            <a:ext cx="7793037" cy="982663"/>
          </a:xfrm>
        </p:spPr>
        <p:txBody>
          <a:bodyPr/>
          <a:lstStyle/>
          <a:p>
            <a:pPr marL="838200" indent="-838200"/>
            <a:r>
              <a:rPr lang="en-US" altLang="zh-CN" sz="3200" b="1" dirty="0">
                <a:solidFill>
                  <a:srgbClr val="4D009A"/>
                </a:solidFill>
                <a:latin typeface="华文楷体" panose="02010600040101010101" pitchFamily="2" charset="-122"/>
                <a:ea typeface="华文楷体" panose="02010600040101010101" pitchFamily="2" charset="-122"/>
              </a:rPr>
              <a:t>1.2 </a:t>
            </a:r>
            <a:r>
              <a:rPr lang="zh-CN" altLang="en-US" sz="3200" b="1" dirty="0">
                <a:solidFill>
                  <a:srgbClr val="4D009A"/>
                </a:solidFill>
                <a:latin typeface="华文楷体" panose="02010600040101010101" pitchFamily="2" charset="-122"/>
                <a:ea typeface="华文楷体" panose="02010600040101010101" pitchFamily="2" charset="-122"/>
              </a:rPr>
              <a:t>命令窗口 </a:t>
            </a:r>
            <a:r>
              <a:rPr lang="zh-CN" altLang="en-US" sz="2600" b="1" dirty="0">
                <a:solidFill>
                  <a:srgbClr val="4D009A"/>
                </a:solidFill>
                <a:latin typeface="华文楷体" panose="02010600040101010101" pitchFamily="2" charset="-122"/>
                <a:ea typeface="华文楷体" panose="02010600040101010101" pitchFamily="2" charset="-122"/>
              </a:rPr>
              <a:t>（续）</a:t>
            </a:r>
            <a:endParaRPr lang="zh-CN" altLang="en-US" sz="2600" b="1" dirty="0">
              <a:solidFill>
                <a:srgbClr val="4D009A"/>
              </a:solidFill>
              <a:latin typeface="华文楷体" panose="02010600040101010101" pitchFamily="2" charset="-122"/>
              <a:ea typeface="华文楷体" panose="02010600040101010101" pitchFamily="2" charset="-122"/>
            </a:endParaRPr>
          </a:p>
        </p:txBody>
      </p:sp>
      <p:sp>
        <p:nvSpPr>
          <p:cNvPr id="2052" name="文本占位符 65538"/>
          <p:cNvSpPr>
            <a:spLocks noGrp="1" noChangeArrowheads="1"/>
          </p:cNvSpPr>
          <p:nvPr>
            <p:ph idx="1"/>
          </p:nvPr>
        </p:nvSpPr>
        <p:spPr>
          <a:xfrm>
            <a:off x="2566988" y="1052514"/>
            <a:ext cx="7772400" cy="4791075"/>
          </a:xfrm>
        </p:spPr>
        <p:txBody>
          <a:bodyPr/>
          <a:lstStyle/>
          <a:p>
            <a:pPr eaLnBrk="1" hangingPunct="1"/>
            <a:r>
              <a:rPr lang="zh-CN" altLang="en-US" dirty="0">
                <a:solidFill>
                  <a:srgbClr val="4D009A"/>
                </a:solidFill>
                <a:latin typeface="华文楷体" panose="02010600040101010101" pitchFamily="2" charset="-122"/>
                <a:ea typeface="华文楷体" panose="02010600040101010101" pitchFamily="2" charset="-122"/>
              </a:rPr>
              <a:t>简单计算（续）</a:t>
            </a:r>
            <a:endParaRPr lang="zh-CN" altLang="en-US" dirty="0">
              <a:solidFill>
                <a:srgbClr val="4D009A"/>
              </a:solidFill>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zh-CN" altLang="en-US" sz="2200" b="1" dirty="0">
                <a:solidFill>
                  <a:srgbClr val="4D009A"/>
                </a:solidFill>
                <a:latin typeface="华文楷体" panose="02010600040101010101" pitchFamily="2" charset="-122"/>
                <a:ea typeface="华文楷体" panose="02010600040101010101" pitchFamily="2" charset="-122"/>
              </a:rPr>
              <a:t>【例</a:t>
            </a:r>
            <a:r>
              <a:rPr lang="en-US" altLang="zh-CN" sz="2200" b="1" dirty="0">
                <a:solidFill>
                  <a:srgbClr val="4D009A"/>
                </a:solidFill>
                <a:latin typeface="华文楷体" panose="02010600040101010101" pitchFamily="2" charset="-122"/>
                <a:ea typeface="华文楷体" panose="02010600040101010101" pitchFamily="2" charset="-122"/>
              </a:rPr>
              <a:t>1.2-2</a:t>
            </a:r>
            <a:r>
              <a:rPr lang="zh-CN" altLang="en-US" sz="2200" b="1" dirty="0">
                <a:solidFill>
                  <a:srgbClr val="4D009A"/>
                </a:solidFill>
                <a:latin typeface="华文楷体" panose="02010600040101010101" pitchFamily="2" charset="-122"/>
                <a:ea typeface="华文楷体" panose="02010600040101010101" pitchFamily="2" charset="-122"/>
              </a:rPr>
              <a:t>】计算</a:t>
            </a:r>
            <a:r>
              <a:rPr lang="en-US" altLang="zh-CN" sz="2200" b="1" dirty="0">
                <a:solidFill>
                  <a:srgbClr val="4D009A"/>
                </a:solidFill>
                <a:latin typeface="华文楷体" panose="02010600040101010101" pitchFamily="2" charset="-122"/>
                <a:ea typeface="华文楷体" panose="02010600040101010101" pitchFamily="2" charset="-122"/>
              </a:rPr>
              <a:t>sin(45</a:t>
            </a:r>
            <a:r>
              <a:rPr lang="ar-SA" altLang="zh-CN" sz="2200" b="1" dirty="0">
                <a:solidFill>
                  <a:srgbClr val="4D009A"/>
                </a:solidFill>
                <a:latin typeface="华文楷体" panose="02010600040101010101" pitchFamily="2" charset="-122"/>
                <a:cs typeface="Tahoma" panose="020B0604030504040204" pitchFamily="34" charset="0"/>
              </a:rPr>
              <a:t>ْ</a:t>
            </a:r>
            <a:r>
              <a:rPr lang="en-US" altLang="zh-CN" sz="2200" b="1" dirty="0">
                <a:solidFill>
                  <a:srgbClr val="4D009A"/>
                </a:solidFill>
                <a:latin typeface="华文楷体" panose="02010600040101010101" pitchFamily="2" charset="-122"/>
                <a:ea typeface="华文楷体" panose="02010600040101010101" pitchFamily="2" charset="-122"/>
              </a:rPr>
              <a:t> )</a:t>
            </a:r>
            <a:endParaRPr lang="en-US" altLang="zh-CN" sz="2200" b="1" dirty="0">
              <a:solidFill>
                <a:srgbClr val="4D009A"/>
              </a:solidFill>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en-US" altLang="zh-CN" sz="2200" b="1" dirty="0">
                <a:solidFill>
                  <a:srgbClr val="4D009A"/>
                </a:solidFill>
                <a:latin typeface="华文楷体" panose="02010600040101010101" pitchFamily="2" charset="-122"/>
                <a:ea typeface="华文楷体" panose="02010600040101010101" pitchFamily="2" charset="-122"/>
              </a:rPr>
              <a:t>&gt;&gt;sin(45*pi/180)</a:t>
            </a:r>
            <a:endParaRPr lang="en-US" altLang="en-US" sz="2200" b="1" dirty="0">
              <a:solidFill>
                <a:srgbClr val="4D009A"/>
              </a:solidFill>
              <a:latin typeface="华文楷体" panose="02010600040101010101" pitchFamily="2" charset="-122"/>
              <a:cs typeface="Tahoma" panose="020B0604030504040204" pitchFamily="34" charset="0"/>
            </a:endParaRPr>
          </a:p>
        </p:txBody>
      </p:sp>
      <p:sp>
        <p:nvSpPr>
          <p:cNvPr id="65540" name="文本框 65539"/>
          <p:cNvSpPr txBox="1">
            <a:spLocks noChangeArrowheads="1"/>
          </p:cNvSpPr>
          <p:nvPr/>
        </p:nvSpPr>
        <p:spPr bwMode="auto">
          <a:xfrm>
            <a:off x="4872038" y="2349500"/>
            <a:ext cx="5631670" cy="1600438"/>
          </a:xfrm>
          <a:prstGeom prst="rect">
            <a:avLst/>
          </a:prstGeom>
          <a:noFill/>
          <a:ln w="9525">
            <a:solidFill>
              <a:srgbClr val="FF6600"/>
            </a:solidFill>
            <a:miter lim="800000"/>
          </a:ln>
        </p:spPr>
        <p:txBody>
          <a:bodyPr wrap="none">
            <a:spAutoFit/>
          </a:bodyPr>
          <a:lstStyle/>
          <a:p>
            <a:pPr marL="342900" indent="-342900">
              <a:buClr>
                <a:srgbClr val="0000FF"/>
              </a:buClr>
              <a:buFont typeface="Wingdings" panose="05000000000000000000" pitchFamily="2" charset="2"/>
              <a:buChar char="l"/>
            </a:pPr>
            <a:r>
              <a:rPr lang="en-US" altLang="zh-CN" sz="2000" b="1">
                <a:solidFill>
                  <a:srgbClr val="4D009A"/>
                </a:solidFill>
                <a:latin typeface="Tahoma" panose="020B0604030504040204" pitchFamily="34" charset="0"/>
              </a:rPr>
              <a:t>Matlab</a:t>
            </a:r>
            <a:r>
              <a:rPr lang="zh-CN" altLang="en-US" sz="2000" b="1">
                <a:solidFill>
                  <a:srgbClr val="4D009A"/>
                </a:solidFill>
                <a:latin typeface="Tahoma" panose="020B0604030504040204" pitchFamily="34" charset="0"/>
              </a:rPr>
              <a:t>中正弦函数</a:t>
            </a:r>
            <a:r>
              <a:rPr lang="en-US" altLang="zh-CN" sz="2000" b="1">
                <a:solidFill>
                  <a:srgbClr val="4D009A"/>
                </a:solidFill>
                <a:latin typeface="Tahoma" panose="020B0604030504040204" pitchFamily="34" charset="0"/>
              </a:rPr>
              <a:t>sin</a:t>
            </a:r>
            <a:r>
              <a:rPr lang="zh-CN" altLang="en-US" sz="2000" b="1">
                <a:solidFill>
                  <a:srgbClr val="4D009A"/>
                </a:solidFill>
                <a:latin typeface="Tahoma" panose="020B0604030504040204" pitchFamily="34" charset="0"/>
              </a:rPr>
              <a:t>就是常见的正弦函数。</a:t>
            </a:r>
            <a:endParaRPr lang="zh-CN" altLang="en-US" sz="2000" b="1">
              <a:solidFill>
                <a:srgbClr val="4D009A"/>
              </a:solidFill>
              <a:latin typeface="Tahoma" panose="020B0604030504040204" pitchFamily="34" charset="0"/>
            </a:endParaRPr>
          </a:p>
          <a:p>
            <a:pPr marL="342900" indent="-342900">
              <a:buClr>
                <a:srgbClr val="0000FF"/>
              </a:buClr>
              <a:buFont typeface="Wingdings" panose="05000000000000000000" pitchFamily="2" charset="2"/>
              <a:buChar char="l"/>
            </a:pPr>
            <a:r>
              <a:rPr lang="zh-CN" altLang="en-US" sz="2000" b="1">
                <a:solidFill>
                  <a:srgbClr val="4D009A"/>
                </a:solidFill>
                <a:latin typeface="Tahoma" panose="020B0604030504040204" pitchFamily="34" charset="0"/>
              </a:rPr>
              <a:t>它的参数值是以“弧度”为单位的。</a:t>
            </a:r>
            <a:endParaRPr lang="zh-CN" altLang="en-US" sz="2000" b="1">
              <a:solidFill>
                <a:srgbClr val="4D009A"/>
              </a:solidFill>
              <a:latin typeface="Tahoma" panose="020B0604030504040204" pitchFamily="34" charset="0"/>
            </a:endParaRPr>
          </a:p>
          <a:p>
            <a:pPr marL="342900" indent="-342900">
              <a:buClr>
                <a:srgbClr val="0000FF"/>
              </a:buClr>
              <a:buFont typeface="Wingdings" panose="05000000000000000000" pitchFamily="2" charset="2"/>
              <a:buChar char="l"/>
            </a:pPr>
            <a:r>
              <a:rPr lang="en-US" altLang="zh-CN" sz="2000" b="1">
                <a:solidFill>
                  <a:srgbClr val="4D009A"/>
                </a:solidFill>
                <a:latin typeface="Tahoma" panose="020B0604030504040204" pitchFamily="34" charset="0"/>
              </a:rPr>
              <a:t>pi</a:t>
            </a:r>
            <a:r>
              <a:rPr lang="zh-CN" altLang="en-US" sz="2000" b="1">
                <a:solidFill>
                  <a:srgbClr val="4D009A"/>
                </a:solidFill>
                <a:latin typeface="Tahoma" panose="020B0604030504040204" pitchFamily="34" charset="0"/>
              </a:rPr>
              <a:t>也是</a:t>
            </a:r>
            <a:r>
              <a:rPr lang="en-US" altLang="zh-CN" sz="2000" b="1">
                <a:solidFill>
                  <a:srgbClr val="4D009A"/>
                </a:solidFill>
                <a:latin typeface="Tahoma" panose="020B0604030504040204" pitchFamily="34" charset="0"/>
              </a:rPr>
              <a:t>Matlab</a:t>
            </a:r>
            <a:r>
              <a:rPr lang="zh-CN" altLang="en-US" sz="2000" b="1">
                <a:solidFill>
                  <a:srgbClr val="4D009A"/>
                </a:solidFill>
                <a:latin typeface="Tahoma" panose="020B0604030504040204" pitchFamily="34" charset="0"/>
              </a:rPr>
              <a:t>的预定义变量。</a:t>
            </a:r>
            <a:endParaRPr lang="zh-CN" altLang="en-US" sz="2000" b="1">
              <a:solidFill>
                <a:srgbClr val="4D009A"/>
              </a:solidFill>
              <a:latin typeface="Tahoma" panose="020B0604030504040204" pitchFamily="34" charset="0"/>
            </a:endParaRPr>
          </a:p>
          <a:p>
            <a:pPr marL="342900" indent="-342900">
              <a:buClr>
                <a:srgbClr val="0000FF"/>
              </a:buClr>
              <a:buFont typeface="Wingdings" panose="05000000000000000000" pitchFamily="2" charset="2"/>
              <a:buChar char="l"/>
            </a:pPr>
            <a:r>
              <a:rPr lang="en-US" altLang="zh-CN" sz="2000" b="1">
                <a:solidFill>
                  <a:srgbClr val="4D009A"/>
                </a:solidFill>
                <a:latin typeface="Tahoma" panose="020B0604030504040204" pitchFamily="34" charset="0"/>
              </a:rPr>
              <a:t>pi=3.14159…</a:t>
            </a:r>
            <a:endParaRPr lang="en-US" altLang="zh-CN" sz="2000" b="1">
              <a:solidFill>
                <a:srgbClr val="4D009A"/>
              </a:solidFill>
              <a:latin typeface="Tahoma" panose="020B0604030504040204" pitchFamily="34" charset="0"/>
            </a:endParaRPr>
          </a:p>
          <a:p>
            <a:pPr marL="342900" indent="-342900">
              <a:buClr>
                <a:srgbClr val="0000FF"/>
              </a:buClr>
              <a:buFont typeface="Wingdings" panose="05000000000000000000" pitchFamily="2" charset="2"/>
              <a:buChar char="l"/>
            </a:pPr>
            <a:r>
              <a:rPr lang="en-US" altLang="zh-CN" b="1">
                <a:solidFill>
                  <a:srgbClr val="4D009A"/>
                </a:solidFill>
                <a:latin typeface="Tahoma" panose="020B0604030504040204" pitchFamily="34" charset="0"/>
              </a:rPr>
              <a:t>Matlab</a:t>
            </a:r>
            <a:r>
              <a:rPr lang="zh-CN" altLang="en-US" b="1">
                <a:solidFill>
                  <a:srgbClr val="4D009A"/>
                </a:solidFill>
                <a:latin typeface="Tahoma" panose="020B0604030504040204" pitchFamily="34" charset="0"/>
              </a:rPr>
              <a:t>对字母大小写是敏感的。</a:t>
            </a:r>
            <a:endParaRPr lang="zh-CN" altLang="en-US" b="1">
              <a:solidFill>
                <a:srgbClr val="4D009A"/>
              </a:solidFill>
              <a:latin typeface="Tahoma" panose="020B0604030504040204" pitchFamily="34" charset="0"/>
            </a:endParaRPr>
          </a:p>
        </p:txBody>
      </p:sp>
      <p:grpSp>
        <p:nvGrpSpPr>
          <p:cNvPr id="2" name="组合 65546"/>
          <p:cNvGrpSpPr/>
          <p:nvPr/>
        </p:nvGrpSpPr>
        <p:grpSpPr bwMode="auto">
          <a:xfrm>
            <a:off x="2711625" y="4509121"/>
            <a:ext cx="5885079" cy="511175"/>
            <a:chOff x="748" y="2840"/>
            <a:chExt cx="3961" cy="322"/>
          </a:xfrm>
        </p:grpSpPr>
        <p:sp>
          <p:nvSpPr>
            <p:cNvPr id="2062" name="文本框 65540"/>
            <p:cNvSpPr txBox="1">
              <a:spLocks noChangeArrowheads="1"/>
            </p:cNvSpPr>
            <p:nvPr/>
          </p:nvSpPr>
          <p:spPr bwMode="auto">
            <a:xfrm>
              <a:off x="748" y="2867"/>
              <a:ext cx="3961" cy="271"/>
            </a:xfrm>
            <a:prstGeom prst="rect">
              <a:avLst/>
            </a:prstGeom>
            <a:noFill/>
            <a:ln w="9525">
              <a:noFill/>
              <a:miter lim="800000"/>
            </a:ln>
          </p:spPr>
          <p:txBody>
            <a:bodyPr wrap="none">
              <a:spAutoFit/>
            </a:bodyPr>
            <a:lstStyle/>
            <a:p>
              <a:pPr marL="342900" indent="-342900"/>
              <a:r>
                <a:rPr lang="zh-CN" altLang="en-US" sz="2200" b="1" dirty="0">
                  <a:solidFill>
                    <a:srgbClr val="4D009A"/>
                  </a:solidFill>
                  <a:latin typeface="华文楷体" panose="02010600040101010101" pitchFamily="2" charset="-122"/>
                  <a:ea typeface="华文楷体" panose="02010600040101010101" pitchFamily="2" charset="-122"/>
                </a:rPr>
                <a:t>【例</a:t>
              </a:r>
              <a:r>
                <a:rPr lang="en-US" altLang="zh-CN" sz="2200" b="1" dirty="0">
                  <a:solidFill>
                    <a:srgbClr val="4D009A"/>
                  </a:solidFill>
                  <a:latin typeface="华文楷体" panose="02010600040101010101" pitchFamily="2" charset="-122"/>
                  <a:ea typeface="华文楷体" panose="02010600040101010101" pitchFamily="2" charset="-122"/>
                </a:rPr>
                <a:t>1.2-3</a:t>
              </a:r>
              <a:r>
                <a:rPr lang="zh-CN" altLang="en-US" sz="2200" b="1" dirty="0">
                  <a:solidFill>
                    <a:srgbClr val="4D009A"/>
                  </a:solidFill>
                  <a:latin typeface="华文楷体" panose="02010600040101010101" pitchFamily="2" charset="-122"/>
                  <a:ea typeface="华文楷体" panose="02010600040101010101" pitchFamily="2" charset="-122"/>
                </a:rPr>
                <a:t>】求                     的值，其中</a:t>
              </a:r>
              <a:r>
                <a:rPr lang="en-US" altLang="zh-CN" sz="2200" b="1" dirty="0">
                  <a:solidFill>
                    <a:srgbClr val="4D009A"/>
                  </a:solidFill>
                  <a:latin typeface="华文楷体" panose="02010600040101010101" pitchFamily="2" charset="-122"/>
                  <a:ea typeface="华文楷体" panose="02010600040101010101" pitchFamily="2" charset="-122"/>
                </a:rPr>
                <a:t>x=4.92</a:t>
              </a:r>
              <a:r>
                <a:rPr lang="zh-CN" altLang="en-US" sz="2200" b="1" dirty="0">
                  <a:solidFill>
                    <a:srgbClr val="4D009A"/>
                  </a:solidFill>
                  <a:latin typeface="华文楷体" panose="02010600040101010101" pitchFamily="2" charset="-122"/>
                  <a:ea typeface="华文楷体" panose="02010600040101010101" pitchFamily="2" charset="-122"/>
                </a:rPr>
                <a:t>。</a:t>
              </a:r>
              <a:r>
                <a:rPr lang="zh-CN" altLang="en-US" b="1" dirty="0">
                  <a:latin typeface="Tahoma" panose="020B0604030504040204" pitchFamily="34" charset="0"/>
                </a:rPr>
                <a:t> </a:t>
              </a:r>
              <a:endParaRPr lang="zh-CN" altLang="en-US" b="1" dirty="0">
                <a:latin typeface="Tahoma" panose="020B0604030504040204" pitchFamily="34" charset="0"/>
              </a:endParaRPr>
            </a:p>
          </p:txBody>
        </p:sp>
        <p:graphicFrame>
          <p:nvGraphicFramePr>
            <p:cNvPr id="2050" name="对象 65541"/>
            <p:cNvGraphicFramePr/>
            <p:nvPr/>
          </p:nvGraphicFramePr>
          <p:xfrm>
            <a:off x="2109" y="2840"/>
            <a:ext cx="772" cy="322"/>
          </p:xfrm>
          <a:graphic>
            <a:graphicData uri="http://schemas.openxmlformats.org/presentationml/2006/ole">
              <mc:AlternateContent xmlns:mc="http://schemas.openxmlformats.org/markup-compatibility/2006">
                <mc:Choice xmlns:v="urn:schemas-microsoft-com:vml" Requires="v">
                  <p:oleObj spid="_x0000_s6148" name="" r:id="rId1" imgW="17983200" imgH="7620000" progId="Equation.DSMT4">
                    <p:embed/>
                  </p:oleObj>
                </mc:Choice>
                <mc:Fallback>
                  <p:oleObj name="" r:id="rId1" imgW="17983200" imgH="7620000" progId="Equation.DSMT4">
                    <p:embed/>
                    <p:pic>
                      <p:nvPicPr>
                        <p:cNvPr id="0" name="对象 6554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9" y="2840"/>
                          <a:ext cx="772"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65544" name="文本框 65543"/>
          <p:cNvSpPr txBox="1">
            <a:spLocks noChangeArrowheads="1"/>
          </p:cNvSpPr>
          <p:nvPr/>
        </p:nvSpPr>
        <p:spPr bwMode="auto">
          <a:xfrm>
            <a:off x="2740025" y="5033964"/>
            <a:ext cx="3262432" cy="430887"/>
          </a:xfrm>
          <a:prstGeom prst="rect">
            <a:avLst/>
          </a:prstGeom>
          <a:noFill/>
          <a:ln w="9525">
            <a:noFill/>
            <a:miter lim="800000"/>
          </a:ln>
        </p:spPr>
        <p:txBody>
          <a:bodyPr wrap="none">
            <a:spAutoFit/>
          </a:bodyPr>
          <a:lstStyle/>
          <a:p>
            <a:pPr marL="342900" indent="-342900"/>
            <a:r>
              <a:rPr lang="en-US" altLang="zh-CN" sz="2200" b="1">
                <a:solidFill>
                  <a:srgbClr val="4D009A"/>
                </a:solidFill>
                <a:latin typeface="华文楷体" panose="02010600040101010101" pitchFamily="2" charset="-122"/>
                <a:ea typeface="华文楷体" panose="02010600040101010101" pitchFamily="2" charset="-122"/>
              </a:rPr>
              <a:t>&gt;&gt;sqrt(2*exp(4.92+0.5)+1)</a:t>
            </a:r>
            <a:endParaRPr lang="en-US" altLang="zh-CN" b="1">
              <a:latin typeface="华文楷体" panose="02010600040101010101" pitchFamily="2" charset="-122"/>
              <a:ea typeface="华文楷体" panose="02010600040101010101" pitchFamily="2" charset="-122"/>
            </a:endParaRPr>
          </a:p>
        </p:txBody>
      </p:sp>
      <p:sp>
        <p:nvSpPr>
          <p:cNvPr id="65546" name="文本框 65545"/>
          <p:cNvSpPr txBox="1">
            <a:spLocks noChangeArrowheads="1"/>
          </p:cNvSpPr>
          <p:nvPr/>
        </p:nvSpPr>
        <p:spPr bwMode="auto">
          <a:xfrm>
            <a:off x="6672264" y="4581525"/>
            <a:ext cx="3671887" cy="1292662"/>
          </a:xfrm>
          <a:prstGeom prst="rect">
            <a:avLst/>
          </a:prstGeom>
          <a:solidFill>
            <a:schemeClr val="bg1"/>
          </a:solidFill>
          <a:ln w="9525">
            <a:solidFill>
              <a:srgbClr val="FF6600"/>
            </a:solidFill>
            <a:miter lim="800000"/>
          </a:ln>
        </p:spPr>
        <p:txBody>
          <a:bodyPr>
            <a:spAutoFit/>
          </a:bodyPr>
          <a:lstStyle/>
          <a:p>
            <a:pPr marL="342900" indent="-342900">
              <a:buClr>
                <a:srgbClr val="0000FF"/>
              </a:buClr>
              <a:buFont typeface="Wingdings" panose="05000000000000000000" pitchFamily="2" charset="2"/>
              <a:buChar char="l"/>
            </a:pPr>
            <a:r>
              <a:rPr lang="en-US" altLang="zh-CN" sz="2000" b="1">
                <a:solidFill>
                  <a:srgbClr val="4D009A"/>
                </a:solidFill>
                <a:latin typeface="Tahoma" panose="020B0604030504040204" pitchFamily="34" charset="0"/>
              </a:rPr>
              <a:t>Matlab</a:t>
            </a:r>
            <a:r>
              <a:rPr lang="zh-CN" altLang="en-US" sz="2000" b="1">
                <a:solidFill>
                  <a:srgbClr val="4D009A"/>
                </a:solidFill>
                <a:latin typeface="Tahoma" panose="020B0604030504040204" pitchFamily="34" charset="0"/>
              </a:rPr>
              <a:t>中开平方</a:t>
            </a:r>
            <a:r>
              <a:rPr lang="en-US" altLang="zh-CN" sz="2000" b="1">
                <a:solidFill>
                  <a:srgbClr val="4D009A"/>
                </a:solidFill>
                <a:latin typeface="Tahoma" panose="020B0604030504040204" pitchFamily="34" charset="0"/>
              </a:rPr>
              <a:t>—sqrt(x)</a:t>
            </a:r>
            <a:r>
              <a:rPr lang="zh-CN" altLang="en-US" sz="2000" b="1">
                <a:solidFill>
                  <a:srgbClr val="4D009A"/>
                </a:solidFill>
                <a:latin typeface="Tahoma" panose="020B0604030504040204" pitchFamily="34" charset="0"/>
              </a:rPr>
              <a:t>，是英文</a:t>
            </a:r>
            <a:r>
              <a:rPr lang="en-US" altLang="zh-CN" sz="2000" b="1">
                <a:solidFill>
                  <a:srgbClr val="4D009A"/>
                </a:solidFill>
                <a:latin typeface="Tahoma" panose="020B0604030504040204" pitchFamily="34" charset="0"/>
              </a:rPr>
              <a:t>square root</a:t>
            </a:r>
            <a:r>
              <a:rPr lang="zh-CN" altLang="en-US" sz="2000" b="1">
                <a:solidFill>
                  <a:srgbClr val="4D009A"/>
                </a:solidFill>
                <a:latin typeface="Tahoma" panose="020B0604030504040204" pitchFamily="34" charset="0"/>
              </a:rPr>
              <a:t>的缩写</a:t>
            </a:r>
            <a:r>
              <a:rPr lang="zh-CN" altLang="en-US" b="1">
                <a:latin typeface="Tahoma" panose="020B0604030504040204" pitchFamily="34" charset="0"/>
              </a:rPr>
              <a:t> </a:t>
            </a:r>
            <a:r>
              <a:rPr lang="zh-CN" altLang="en-US" sz="2000" b="1">
                <a:solidFill>
                  <a:srgbClr val="4D009A"/>
                </a:solidFill>
                <a:latin typeface="Tahoma" panose="020B0604030504040204" pitchFamily="34" charset="0"/>
              </a:rPr>
              <a:t>。</a:t>
            </a:r>
            <a:endParaRPr lang="zh-CN" altLang="en-US" sz="2000" b="1">
              <a:solidFill>
                <a:srgbClr val="4D009A"/>
              </a:solidFill>
              <a:latin typeface="Tahoma" panose="020B0604030504040204" pitchFamily="34" charset="0"/>
            </a:endParaRPr>
          </a:p>
          <a:p>
            <a:pPr marL="342900" indent="-342900">
              <a:buClr>
                <a:srgbClr val="0000FF"/>
              </a:buClr>
              <a:buFont typeface="Wingdings" panose="05000000000000000000" pitchFamily="2" charset="2"/>
              <a:buChar char="l"/>
            </a:pPr>
            <a:r>
              <a:rPr lang="en-US" altLang="zh-CN" b="1">
                <a:solidFill>
                  <a:srgbClr val="4D009A"/>
                </a:solidFill>
                <a:latin typeface="Tahoma" panose="020B0604030504040204" pitchFamily="34" charset="0"/>
              </a:rPr>
              <a:t>Matlab</a:t>
            </a:r>
            <a:r>
              <a:rPr lang="zh-CN" altLang="en-US" b="1">
                <a:solidFill>
                  <a:srgbClr val="4D009A"/>
                </a:solidFill>
                <a:latin typeface="Tahoma" panose="020B0604030504040204" pitchFamily="34" charset="0"/>
              </a:rPr>
              <a:t>中指数函数</a:t>
            </a:r>
            <a:r>
              <a:rPr lang="en-US" altLang="zh-CN" b="1">
                <a:solidFill>
                  <a:srgbClr val="4D009A"/>
                </a:solidFill>
                <a:latin typeface="Tahoma" panose="020B0604030504040204" pitchFamily="34" charset="0"/>
              </a:rPr>
              <a:t>exp(x)</a:t>
            </a:r>
            <a:r>
              <a:rPr lang="zh-CN" altLang="en-US" b="1">
                <a:solidFill>
                  <a:srgbClr val="4D009A"/>
                </a:solidFill>
                <a:latin typeface="Tahoma" panose="020B0604030504040204" pitchFamily="34" charset="0"/>
              </a:rPr>
              <a:t>，常见的表达方式</a:t>
            </a:r>
            <a:r>
              <a:rPr lang="zh-CN" altLang="en-US" sz="2000" b="1">
                <a:solidFill>
                  <a:srgbClr val="4D009A"/>
                </a:solidFill>
                <a:latin typeface="Tahoma" panose="020B0604030504040204" pitchFamily="34" charset="0"/>
              </a:rPr>
              <a:t>。</a:t>
            </a:r>
            <a:endParaRPr lang="zh-CN" altLang="en-US" sz="2000" b="1">
              <a:solidFill>
                <a:srgbClr val="4D009A"/>
              </a:solidFill>
              <a:latin typeface="Tahoma" panose="020B0604030504040204" pitchFamily="34" charset="0"/>
            </a:endParaRPr>
          </a:p>
        </p:txBody>
      </p:sp>
      <p:sp>
        <p:nvSpPr>
          <p:cNvPr id="65548" name="文本框 65547"/>
          <p:cNvSpPr txBox="1">
            <a:spLocks noChangeArrowheads="1"/>
          </p:cNvSpPr>
          <p:nvPr/>
        </p:nvSpPr>
        <p:spPr bwMode="auto">
          <a:xfrm>
            <a:off x="2782888" y="2730501"/>
            <a:ext cx="1473160" cy="769441"/>
          </a:xfrm>
          <a:prstGeom prst="rect">
            <a:avLst/>
          </a:prstGeom>
          <a:noFill/>
          <a:ln w="9525">
            <a:noFill/>
            <a:miter lim="800000"/>
          </a:ln>
        </p:spPr>
        <p:txBody>
          <a:bodyPr wrap="none">
            <a:spAutoFit/>
          </a:bodyPr>
          <a:lstStyle/>
          <a:p>
            <a:pPr>
              <a:buFont typeface="Wingdings" panose="05000000000000000000" pitchFamily="2" charset="2"/>
              <a:buNone/>
            </a:pPr>
            <a:r>
              <a:rPr lang="en-US" altLang="zh-CN" sz="2200">
                <a:solidFill>
                  <a:srgbClr val="003300"/>
                </a:solidFill>
                <a:latin typeface="Tahoma" panose="020B0604030504040204" pitchFamily="34" charset="0"/>
              </a:rPr>
              <a:t>ans=</a:t>
            </a:r>
            <a:endParaRPr lang="en-US" altLang="zh-CN" sz="2200">
              <a:solidFill>
                <a:srgbClr val="003300"/>
              </a:solidFill>
              <a:latin typeface="Tahoma" panose="020B0604030504040204" pitchFamily="34" charset="0"/>
            </a:endParaRPr>
          </a:p>
          <a:p>
            <a:pPr>
              <a:buFont typeface="Wingdings" panose="05000000000000000000" pitchFamily="2" charset="2"/>
              <a:buNone/>
            </a:pPr>
            <a:r>
              <a:rPr lang="en-US" altLang="zh-CN" sz="2200">
                <a:solidFill>
                  <a:srgbClr val="003300"/>
                </a:solidFill>
                <a:latin typeface="Tahoma" panose="020B0604030504040204" pitchFamily="34" charset="0"/>
              </a:rPr>
              <a:t>     0.7071</a:t>
            </a:r>
            <a:endParaRPr lang="en-US" altLang="zh-CN" sz="2200">
              <a:solidFill>
                <a:srgbClr val="003300"/>
              </a:solidFill>
              <a:latin typeface="Tahoma" panose="020B0604030504040204" pitchFamily="34" charset="0"/>
            </a:endParaRPr>
          </a:p>
        </p:txBody>
      </p:sp>
      <p:sp>
        <p:nvSpPr>
          <p:cNvPr id="65549" name="文本框 65548"/>
          <p:cNvSpPr txBox="1">
            <a:spLocks noChangeArrowheads="1"/>
          </p:cNvSpPr>
          <p:nvPr/>
        </p:nvSpPr>
        <p:spPr bwMode="auto">
          <a:xfrm>
            <a:off x="2855914" y="5373689"/>
            <a:ext cx="1633781" cy="769441"/>
          </a:xfrm>
          <a:prstGeom prst="rect">
            <a:avLst/>
          </a:prstGeom>
          <a:noFill/>
          <a:ln w="9525">
            <a:noFill/>
            <a:miter lim="800000"/>
          </a:ln>
        </p:spPr>
        <p:txBody>
          <a:bodyPr wrap="none">
            <a:spAutoFit/>
          </a:bodyPr>
          <a:lstStyle/>
          <a:p>
            <a:pPr>
              <a:buFont typeface="Wingdings" panose="05000000000000000000" pitchFamily="2" charset="2"/>
              <a:buNone/>
            </a:pPr>
            <a:r>
              <a:rPr lang="en-US" altLang="zh-CN" sz="2200">
                <a:solidFill>
                  <a:srgbClr val="003300"/>
                </a:solidFill>
                <a:latin typeface="Tahoma" panose="020B0604030504040204" pitchFamily="34" charset="0"/>
              </a:rPr>
              <a:t>ans=</a:t>
            </a:r>
            <a:endParaRPr lang="en-US" altLang="zh-CN" sz="2200">
              <a:solidFill>
                <a:srgbClr val="003300"/>
              </a:solidFill>
              <a:latin typeface="Tahoma" panose="020B0604030504040204" pitchFamily="34" charset="0"/>
            </a:endParaRPr>
          </a:p>
          <a:p>
            <a:pPr>
              <a:buFont typeface="Wingdings" panose="05000000000000000000" pitchFamily="2" charset="2"/>
              <a:buNone/>
            </a:pPr>
            <a:r>
              <a:rPr lang="en-US" altLang="zh-CN" sz="2200">
                <a:solidFill>
                  <a:srgbClr val="003300"/>
                </a:solidFill>
                <a:latin typeface="Tahoma" panose="020B0604030504040204" pitchFamily="34" charset="0"/>
              </a:rPr>
              <a:t>     21.2781</a:t>
            </a:r>
            <a:endParaRPr lang="en-US" altLang="zh-CN" sz="2200">
              <a:solidFill>
                <a:srgbClr val="003300"/>
              </a:solidFill>
              <a:latin typeface="Tahoma" panose="020B0604030504040204" pitchFamily="34" charset="0"/>
            </a:endParaRPr>
          </a:p>
        </p:txBody>
      </p:sp>
      <p:sp>
        <p:nvSpPr>
          <p:cNvPr id="26635"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AD74D5F9-6D1F-47B5-B382-C60B167CD5BA}" type="datetime1">
              <a:rPr lang="zh-CN" altLang="en-US" smtClean="0">
                <a:solidFill>
                  <a:srgbClr val="45516B"/>
                </a:solidFill>
              </a:rPr>
            </a:fld>
            <a:endParaRPr lang="zh-CN" altLang="en-US">
              <a:solidFill>
                <a:srgbClr val="45516B"/>
              </a:solidFill>
            </a:endParaRPr>
          </a:p>
        </p:txBody>
      </p:sp>
      <p:sp>
        <p:nvSpPr>
          <p:cNvPr id="26636"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2061" name="灯片编号占位符 3"/>
          <p:cNvSpPr>
            <a:spLocks noGrp="1" noChangeArrowheads="1"/>
          </p:cNvSpPr>
          <p:nvPr>
            <p:ph type="sldNum" sz="quarter" idx="12"/>
          </p:nvPr>
        </p:nvSpPr>
        <p:spPr bwMode="auto">
          <a:noFill/>
          <a:ln>
            <a:miter lim="800000"/>
          </a:ln>
        </p:spPr>
        <p:txBody>
          <a:bodyPr/>
          <a:lstStyle/>
          <a:p>
            <a:fld id="{F8B2568C-8299-49BE-B36D-F7B80EB0E8F7}"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5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65548">
                                            <p:txEl>
                                              <p:pRg st="0" end="0"/>
                                            </p:txEl>
                                          </p:spTgt>
                                        </p:tgtEl>
                                        <p:attrNameLst>
                                          <p:attrName>style.visibility</p:attrName>
                                        </p:attrNameLst>
                                      </p:cBhvr>
                                      <p:to>
                                        <p:strVal val="visible"/>
                                      </p:to>
                                    </p:set>
                                    <p:animEffect transition="in" filter="blinds(horizontal)">
                                      <p:cBhvr>
                                        <p:cTn id="11" dur="500"/>
                                        <p:tgtEl>
                                          <p:spTgt spid="65548">
                                            <p:txEl>
                                              <p:pRg st="0" end="0"/>
                                            </p:txEl>
                                          </p:spTgt>
                                        </p:tgtEl>
                                      </p:cBhvr>
                                    </p:animEffect>
                                  </p:childTnLst>
                                </p:cTn>
                              </p:par>
                              <p:par>
                                <p:cTn id="12" presetID="3" presetClass="entr" presetSubtype="10" fill="hold" nodeType="withEffect">
                                  <p:stCondLst>
                                    <p:cond delay="0"/>
                                  </p:stCondLst>
                                  <p:childTnLst>
                                    <p:set>
                                      <p:cBhvr>
                                        <p:cTn id="13" dur="1" fill="hold">
                                          <p:stCondLst>
                                            <p:cond delay="0"/>
                                          </p:stCondLst>
                                        </p:cTn>
                                        <p:tgtEl>
                                          <p:spTgt spid="65548">
                                            <p:txEl>
                                              <p:pRg st="1" end="1"/>
                                            </p:txEl>
                                          </p:spTgt>
                                        </p:tgtEl>
                                        <p:attrNameLst>
                                          <p:attrName>style.visibility</p:attrName>
                                        </p:attrNameLst>
                                      </p:cBhvr>
                                      <p:to>
                                        <p:strVal val="visible"/>
                                      </p:to>
                                    </p:set>
                                    <p:animEffect transition="in" filter="blinds(horizontal)">
                                      <p:cBhvr>
                                        <p:cTn id="14" dur="500"/>
                                        <p:tgtEl>
                                          <p:spTgt spid="65548">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55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554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65549">
                                            <p:txEl>
                                              <p:pRg st="0" end="0"/>
                                            </p:txEl>
                                          </p:spTgt>
                                        </p:tgtEl>
                                        <p:attrNameLst>
                                          <p:attrName>style.visibility</p:attrName>
                                        </p:attrNameLst>
                                      </p:cBhvr>
                                      <p:to>
                                        <p:strVal val="visible"/>
                                      </p:to>
                                    </p:set>
                                    <p:animEffect transition="in" filter="blinds(horizontal)">
                                      <p:cBhvr>
                                        <p:cTn id="31" dur="500"/>
                                        <p:tgtEl>
                                          <p:spTgt spid="65549">
                                            <p:txEl>
                                              <p:pRg st="0" end="0"/>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65549">
                                            <p:txEl>
                                              <p:pRg st="1" end="1"/>
                                            </p:txEl>
                                          </p:spTgt>
                                        </p:tgtEl>
                                        <p:attrNameLst>
                                          <p:attrName>style.visibility</p:attrName>
                                        </p:attrNameLst>
                                      </p:cBhvr>
                                      <p:to>
                                        <p:strVal val="visible"/>
                                      </p:to>
                                    </p:set>
                                    <p:animEffect transition="in" filter="blinds(horizontal)">
                                      <p:cBhvr>
                                        <p:cTn id="34" dur="500"/>
                                        <p:tgtEl>
                                          <p:spTgt spid="6554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0" grpId="0" animBg="1"/>
      <p:bldP spid="65544" grpId="0"/>
      <p:bldP spid="6554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标题 66561"/>
          <p:cNvSpPr>
            <a:spLocks noGrp="1" noChangeArrowheads="1"/>
          </p:cNvSpPr>
          <p:nvPr>
            <p:ph type="title"/>
          </p:nvPr>
        </p:nvSpPr>
        <p:spPr>
          <a:xfrm>
            <a:off x="2711450" y="1"/>
            <a:ext cx="7793038" cy="982663"/>
          </a:xfrm>
        </p:spPr>
        <p:txBody>
          <a:bodyPr/>
          <a:lstStyle/>
          <a:p>
            <a:pPr marL="838200" indent="-838200"/>
            <a:r>
              <a:rPr lang="en-US" altLang="zh-CN" sz="3200" b="1" dirty="0">
                <a:solidFill>
                  <a:srgbClr val="4D009A"/>
                </a:solidFill>
                <a:latin typeface="华文楷体" panose="02010600040101010101" pitchFamily="2" charset="-122"/>
                <a:ea typeface="华文楷体" panose="02010600040101010101" pitchFamily="2" charset="-122"/>
              </a:rPr>
              <a:t>1.2 </a:t>
            </a:r>
            <a:r>
              <a:rPr lang="zh-CN" altLang="en-US" sz="3200" b="1" dirty="0">
                <a:solidFill>
                  <a:srgbClr val="4D009A"/>
                </a:solidFill>
                <a:latin typeface="华文楷体" panose="02010600040101010101" pitchFamily="2" charset="-122"/>
                <a:ea typeface="华文楷体" panose="02010600040101010101" pitchFamily="2" charset="-122"/>
              </a:rPr>
              <a:t>命令窗口</a:t>
            </a:r>
            <a:r>
              <a:rPr lang="zh-CN" altLang="en-US" sz="3600" b="1" dirty="0">
                <a:solidFill>
                  <a:srgbClr val="4D009A"/>
                </a:solidFill>
                <a:latin typeface="华文楷体" panose="02010600040101010101" pitchFamily="2" charset="-122"/>
                <a:ea typeface="华文楷体" panose="02010600040101010101" pitchFamily="2" charset="-122"/>
              </a:rPr>
              <a:t> </a:t>
            </a:r>
            <a:r>
              <a:rPr lang="zh-CN" altLang="en-US" sz="2600" b="1" dirty="0">
                <a:solidFill>
                  <a:srgbClr val="4D009A"/>
                </a:solidFill>
                <a:latin typeface="华文楷体" panose="02010600040101010101" pitchFamily="2" charset="-122"/>
                <a:ea typeface="华文楷体" panose="02010600040101010101" pitchFamily="2" charset="-122"/>
              </a:rPr>
              <a:t>（续）</a:t>
            </a:r>
            <a:endParaRPr lang="zh-CN" altLang="en-US" sz="2600" b="1" dirty="0">
              <a:solidFill>
                <a:srgbClr val="4D009A"/>
              </a:solidFill>
              <a:latin typeface="华文楷体" panose="02010600040101010101" pitchFamily="2" charset="-122"/>
              <a:ea typeface="华文楷体" panose="02010600040101010101" pitchFamily="2" charset="-122"/>
            </a:endParaRPr>
          </a:p>
        </p:txBody>
      </p:sp>
      <p:sp>
        <p:nvSpPr>
          <p:cNvPr id="3077" name="文本占位符 66562"/>
          <p:cNvSpPr>
            <a:spLocks noGrp="1" noChangeArrowheads="1"/>
          </p:cNvSpPr>
          <p:nvPr>
            <p:ph idx="1"/>
          </p:nvPr>
        </p:nvSpPr>
        <p:spPr>
          <a:xfrm>
            <a:off x="2706689" y="1341438"/>
            <a:ext cx="7710487" cy="4824412"/>
          </a:xfrm>
        </p:spPr>
        <p:txBody>
          <a:bodyPr/>
          <a:lstStyle/>
          <a:p>
            <a:pPr eaLnBrk="1" hangingPunct="1">
              <a:buFont typeface="Wingdings" panose="05000000000000000000" pitchFamily="2" charset="2"/>
              <a:buChar char="7"/>
            </a:pPr>
            <a:r>
              <a:rPr lang="en-US" altLang="zh-CN" sz="2600" b="1" dirty="0">
                <a:solidFill>
                  <a:srgbClr val="4D009A"/>
                </a:solidFill>
                <a:latin typeface="楷体_GB2312" pitchFamily="49" charset="-122"/>
                <a:ea typeface="楷体_GB2312" pitchFamily="49" charset="-122"/>
              </a:rPr>
              <a:t>“</a:t>
            </a:r>
            <a:r>
              <a:rPr lang="en-US" altLang="zh-CN" sz="2600" b="1" dirty="0" err="1">
                <a:solidFill>
                  <a:srgbClr val="0000FF"/>
                </a:solidFill>
                <a:latin typeface="楷体_GB2312" pitchFamily="49" charset="-122"/>
                <a:ea typeface="楷体_GB2312" pitchFamily="49" charset="-122"/>
              </a:rPr>
              <a:t>clc</a:t>
            </a:r>
            <a:r>
              <a:rPr lang="en-US" altLang="zh-CN" sz="2600" b="1" dirty="0">
                <a:solidFill>
                  <a:srgbClr val="4D009A"/>
                </a:solidFill>
                <a:latin typeface="楷体_GB2312" pitchFamily="49" charset="-122"/>
                <a:ea typeface="楷体_GB2312" pitchFamily="49" charset="-122"/>
              </a:rPr>
              <a:t>”</a:t>
            </a:r>
            <a:r>
              <a:rPr lang="zh-CN" altLang="en-US" sz="2600" b="1" dirty="0">
                <a:solidFill>
                  <a:srgbClr val="4D009A"/>
                </a:solidFill>
                <a:latin typeface="楷体_GB2312" pitchFamily="49" charset="-122"/>
                <a:ea typeface="楷体_GB2312" pitchFamily="49" charset="-122"/>
              </a:rPr>
              <a:t>清除窗口显示内容的命令</a:t>
            </a:r>
            <a:r>
              <a:rPr lang="zh-CN" altLang="en-US" sz="2600" b="1" dirty="0">
                <a:solidFill>
                  <a:srgbClr val="4D009A"/>
                </a:solidFill>
              </a:rPr>
              <a:t>。</a:t>
            </a:r>
            <a:endParaRPr lang="zh-CN" altLang="en-US" sz="2600" b="1" dirty="0">
              <a:solidFill>
                <a:srgbClr val="4D009A"/>
              </a:solidFill>
            </a:endParaRPr>
          </a:p>
        </p:txBody>
      </p:sp>
      <p:grpSp>
        <p:nvGrpSpPr>
          <p:cNvPr id="2" name="组合 66571"/>
          <p:cNvGrpSpPr/>
          <p:nvPr/>
        </p:nvGrpSpPr>
        <p:grpSpPr bwMode="auto">
          <a:xfrm>
            <a:off x="2640013" y="1844675"/>
            <a:ext cx="4530982" cy="654050"/>
            <a:chOff x="703" y="1162"/>
            <a:chExt cx="3078" cy="412"/>
          </a:xfrm>
        </p:grpSpPr>
        <p:sp>
          <p:nvSpPr>
            <p:cNvPr id="3089" name="文本框 66565"/>
            <p:cNvSpPr txBox="1">
              <a:spLocks noChangeArrowheads="1"/>
            </p:cNvSpPr>
            <p:nvPr/>
          </p:nvSpPr>
          <p:spPr bwMode="auto">
            <a:xfrm>
              <a:off x="703" y="1234"/>
              <a:ext cx="3078" cy="271"/>
            </a:xfrm>
            <a:prstGeom prst="rect">
              <a:avLst/>
            </a:prstGeom>
            <a:noFill/>
            <a:ln w="9525">
              <a:noFill/>
              <a:miter lim="800000"/>
            </a:ln>
          </p:spPr>
          <p:txBody>
            <a:bodyPr wrap="none">
              <a:spAutoFit/>
            </a:bodyPr>
            <a:lstStyle/>
            <a:p>
              <a:pPr marL="342900" indent="-342900"/>
              <a:r>
                <a:rPr lang="zh-CN" altLang="en-US" sz="2200" b="1" dirty="0">
                  <a:solidFill>
                    <a:srgbClr val="4D009A"/>
                  </a:solidFill>
                  <a:latin typeface="华文楷体" panose="02010600040101010101" pitchFamily="2" charset="-122"/>
                  <a:ea typeface="华文楷体" panose="02010600040101010101" pitchFamily="2" charset="-122"/>
                </a:rPr>
                <a:t>【例</a:t>
              </a:r>
              <a:r>
                <a:rPr lang="en-US" altLang="zh-CN" sz="2200" b="1" dirty="0">
                  <a:solidFill>
                    <a:srgbClr val="4D009A"/>
                  </a:solidFill>
                  <a:latin typeface="华文楷体" panose="02010600040101010101" pitchFamily="2" charset="-122"/>
                  <a:ea typeface="华文楷体" panose="02010600040101010101" pitchFamily="2" charset="-122"/>
                </a:rPr>
                <a:t>1.2-4</a:t>
              </a:r>
              <a:r>
                <a:rPr lang="zh-CN" altLang="en-US" sz="2200" b="1" dirty="0">
                  <a:solidFill>
                    <a:srgbClr val="4D009A"/>
                  </a:solidFill>
                  <a:latin typeface="华文楷体" panose="02010600040101010101" pitchFamily="2" charset="-122"/>
                  <a:ea typeface="华文楷体" panose="02010600040101010101" pitchFamily="2" charset="-122"/>
                </a:rPr>
                <a:t>】求                         的值。</a:t>
              </a:r>
              <a:r>
                <a:rPr lang="zh-CN" altLang="en-US" b="1" dirty="0">
                  <a:latin typeface="华文楷体" panose="02010600040101010101" pitchFamily="2" charset="-122"/>
                  <a:ea typeface="华文楷体" panose="02010600040101010101" pitchFamily="2" charset="-122"/>
                </a:rPr>
                <a:t> </a:t>
              </a:r>
              <a:endParaRPr lang="zh-CN" altLang="en-US" b="1" dirty="0">
                <a:latin typeface="华文楷体" panose="02010600040101010101" pitchFamily="2" charset="-122"/>
                <a:ea typeface="华文楷体" panose="02010600040101010101" pitchFamily="2" charset="-122"/>
              </a:endParaRPr>
            </a:p>
          </p:txBody>
        </p:sp>
        <p:graphicFrame>
          <p:nvGraphicFramePr>
            <p:cNvPr id="3075" name="对象 66566"/>
            <p:cNvGraphicFramePr/>
            <p:nvPr/>
          </p:nvGraphicFramePr>
          <p:xfrm>
            <a:off x="2099" y="1162"/>
            <a:ext cx="916" cy="412"/>
          </p:xfrm>
          <a:graphic>
            <a:graphicData uri="http://schemas.openxmlformats.org/presentationml/2006/ole">
              <mc:AlternateContent xmlns:mc="http://schemas.openxmlformats.org/markup-compatibility/2006">
                <mc:Choice xmlns:v="urn:schemas-microsoft-com:vml" Requires="v">
                  <p:oleObj spid="_x0000_s7174" name="" r:id="rId1" imgW="21336000" imgH="9753600" progId="Equation.DSMT4">
                    <p:embed/>
                  </p:oleObj>
                </mc:Choice>
                <mc:Fallback>
                  <p:oleObj name="" r:id="rId1" imgW="21336000" imgH="9753600" progId="Equation.DSMT4">
                    <p:embed/>
                    <p:pic>
                      <p:nvPicPr>
                        <p:cNvPr id="0" name="对象 6656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9" y="1162"/>
                          <a:ext cx="916"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66570" name="文本框 66569"/>
          <p:cNvSpPr txBox="1">
            <a:spLocks noChangeArrowheads="1"/>
          </p:cNvSpPr>
          <p:nvPr/>
        </p:nvSpPr>
        <p:spPr bwMode="auto">
          <a:xfrm>
            <a:off x="2640013" y="2463800"/>
            <a:ext cx="3573462" cy="427038"/>
          </a:xfrm>
          <a:prstGeom prst="rect">
            <a:avLst/>
          </a:prstGeom>
          <a:noFill/>
          <a:ln w="9525">
            <a:noFill/>
            <a:miter lim="800000"/>
          </a:ln>
        </p:spPr>
        <p:txBody>
          <a:bodyPr wrap="none">
            <a:spAutoFit/>
          </a:bodyPr>
          <a:lstStyle/>
          <a:p>
            <a:pPr marL="342900" indent="-342900"/>
            <a:r>
              <a:rPr lang="en-US" altLang="zh-CN" sz="2200" b="1">
                <a:solidFill>
                  <a:srgbClr val="4D009A"/>
                </a:solidFill>
                <a:latin typeface="华文楷体" panose="02010600040101010101" pitchFamily="2" charset="-122"/>
                <a:ea typeface="华文楷体" panose="02010600040101010101" pitchFamily="2" charset="-122"/>
              </a:rPr>
              <a:t>&gt;&gt;y=2*sin(0.3*pi)/(1+sqrt(5))</a:t>
            </a:r>
            <a:endParaRPr lang="en-US" altLang="zh-CN" b="1">
              <a:latin typeface="华文楷体" panose="02010600040101010101" pitchFamily="2" charset="-122"/>
              <a:ea typeface="华文楷体" panose="02010600040101010101" pitchFamily="2" charset="-122"/>
            </a:endParaRPr>
          </a:p>
        </p:txBody>
      </p:sp>
      <p:sp>
        <p:nvSpPr>
          <p:cNvPr id="66573" name="文本框 66572"/>
          <p:cNvSpPr txBox="1">
            <a:spLocks noChangeArrowheads="1"/>
          </p:cNvSpPr>
          <p:nvPr/>
        </p:nvSpPr>
        <p:spPr bwMode="auto">
          <a:xfrm>
            <a:off x="2640013" y="2997201"/>
            <a:ext cx="1303562" cy="769441"/>
          </a:xfrm>
          <a:prstGeom prst="rect">
            <a:avLst/>
          </a:prstGeom>
          <a:noFill/>
          <a:ln w="9525">
            <a:noFill/>
            <a:miter lim="800000"/>
          </a:ln>
        </p:spPr>
        <p:txBody>
          <a:bodyPr wrap="none">
            <a:spAutoFit/>
          </a:bodyPr>
          <a:lstStyle/>
          <a:p>
            <a:pPr marL="342900" indent="-342900"/>
            <a:r>
              <a:rPr lang="en-US" altLang="zh-CN" sz="2200">
                <a:solidFill>
                  <a:srgbClr val="003300"/>
                </a:solidFill>
                <a:latin typeface="Tahoma" panose="020B0604030504040204" pitchFamily="34" charset="0"/>
              </a:rPr>
              <a:t>y=</a:t>
            </a:r>
            <a:endParaRPr lang="en-US" altLang="zh-CN" sz="2200">
              <a:solidFill>
                <a:srgbClr val="003300"/>
              </a:solidFill>
              <a:latin typeface="Tahoma" panose="020B0604030504040204" pitchFamily="34" charset="0"/>
            </a:endParaRPr>
          </a:p>
          <a:p>
            <a:pPr marL="342900" indent="-342900"/>
            <a:r>
              <a:rPr lang="en-US" altLang="zh-CN" sz="2200">
                <a:solidFill>
                  <a:srgbClr val="003300"/>
                </a:solidFill>
                <a:latin typeface="Tahoma" panose="020B0604030504040204" pitchFamily="34" charset="0"/>
              </a:rPr>
              <a:t>   0.5000</a:t>
            </a:r>
            <a:endParaRPr lang="en-US" altLang="zh-CN">
              <a:solidFill>
                <a:srgbClr val="003300"/>
              </a:solidFill>
              <a:latin typeface="Tahoma" panose="020B0604030504040204" pitchFamily="34" charset="0"/>
            </a:endParaRPr>
          </a:p>
        </p:txBody>
      </p:sp>
      <p:sp>
        <p:nvSpPr>
          <p:cNvPr id="66580" name="文本框 66579"/>
          <p:cNvSpPr txBox="1">
            <a:spLocks noChangeArrowheads="1"/>
          </p:cNvSpPr>
          <p:nvPr/>
        </p:nvSpPr>
        <p:spPr bwMode="auto">
          <a:xfrm>
            <a:off x="7175501" y="4149725"/>
            <a:ext cx="3095625" cy="1446550"/>
          </a:xfrm>
          <a:prstGeom prst="rect">
            <a:avLst/>
          </a:prstGeom>
          <a:noFill/>
          <a:ln w="9525">
            <a:solidFill>
              <a:srgbClr val="FF6600"/>
            </a:solidFill>
            <a:miter lim="800000"/>
          </a:ln>
        </p:spPr>
        <p:txBody>
          <a:bodyPr>
            <a:spAutoFit/>
          </a:bodyPr>
          <a:lstStyle/>
          <a:p>
            <a:pPr marL="342900" indent="-342900">
              <a:buFont typeface="Wingdings" panose="05000000000000000000" pitchFamily="2" charset="2"/>
              <a:buChar char="%"/>
            </a:pPr>
            <a:r>
              <a:rPr lang="zh-CN" altLang="en-US" sz="2200">
                <a:solidFill>
                  <a:srgbClr val="003300"/>
                </a:solidFill>
                <a:latin typeface="Tahoma" panose="020B0604030504040204" pitchFamily="34" charset="0"/>
                <a:ea typeface="楷体_GB2312" pitchFamily="49" charset="-122"/>
              </a:rPr>
              <a:t>命令行编辑</a:t>
            </a:r>
            <a:endParaRPr lang="zh-CN" altLang="en-US" sz="2200">
              <a:solidFill>
                <a:srgbClr val="003300"/>
              </a:solidFill>
              <a:latin typeface="Tahoma" panose="020B0604030504040204" pitchFamily="34" charset="0"/>
              <a:ea typeface="楷体_GB2312" pitchFamily="49" charset="-122"/>
            </a:endParaRPr>
          </a:p>
          <a:p>
            <a:pPr marL="800100" lvl="1" indent="-342900">
              <a:buClr>
                <a:srgbClr val="3039E8"/>
              </a:buClr>
              <a:buFont typeface="Wingdings" panose="05000000000000000000" pitchFamily="2" charset="2"/>
              <a:buChar char="l"/>
            </a:pPr>
            <a:r>
              <a:rPr lang="zh-CN" altLang="en-US" sz="2200">
                <a:solidFill>
                  <a:srgbClr val="003300"/>
                </a:solidFill>
                <a:latin typeface="Tahoma" panose="020B0604030504040204" pitchFamily="34" charset="0"/>
                <a:ea typeface="楷体_GB2312" pitchFamily="49" charset="-122"/>
              </a:rPr>
              <a:t> “</a:t>
            </a:r>
            <a:r>
              <a:rPr lang="en-US" altLang="zh-CN" sz="2200">
                <a:solidFill>
                  <a:srgbClr val="003300"/>
                </a:solidFill>
                <a:latin typeface="Tahoma" panose="020B0604030504040204" pitchFamily="34" charset="0"/>
                <a:ea typeface="楷体_GB2312" pitchFamily="49" charset="-122"/>
              </a:rPr>
              <a:t>↑”</a:t>
            </a:r>
            <a:r>
              <a:rPr lang="zh-CN" altLang="en-US" sz="2200">
                <a:solidFill>
                  <a:srgbClr val="003300"/>
                </a:solidFill>
                <a:latin typeface="Tahoma" panose="020B0604030504040204" pitchFamily="34" charset="0"/>
                <a:ea typeface="楷体_GB2312" pitchFamily="49" charset="-122"/>
              </a:rPr>
              <a:t>键调回已输入过命令。</a:t>
            </a:r>
            <a:endParaRPr lang="zh-CN" altLang="en-US" sz="2200">
              <a:solidFill>
                <a:srgbClr val="003300"/>
              </a:solidFill>
              <a:latin typeface="Tahoma" panose="020B0604030504040204" pitchFamily="34" charset="0"/>
              <a:ea typeface="楷体_GB2312" pitchFamily="49" charset="-122"/>
            </a:endParaRPr>
          </a:p>
          <a:p>
            <a:pPr marL="800100" lvl="1" indent="-342900">
              <a:buClr>
                <a:srgbClr val="3039E8"/>
              </a:buClr>
              <a:buFont typeface="Wingdings" panose="05000000000000000000" pitchFamily="2" charset="2"/>
              <a:buChar char="l"/>
            </a:pPr>
            <a:r>
              <a:rPr lang="zh-CN" altLang="en-US" sz="2200">
                <a:solidFill>
                  <a:srgbClr val="003300"/>
                </a:solidFill>
                <a:latin typeface="Tahoma" panose="020B0604030504040204" pitchFamily="34" charset="0"/>
                <a:ea typeface="楷体_GB2312" pitchFamily="49" charset="-122"/>
              </a:rPr>
              <a:t>修改。</a:t>
            </a:r>
            <a:endParaRPr lang="zh-CN" altLang="en-US" sz="2200">
              <a:solidFill>
                <a:srgbClr val="003300"/>
              </a:solidFill>
              <a:latin typeface="Tahoma" panose="020B0604030504040204" pitchFamily="34" charset="0"/>
              <a:ea typeface="楷体_GB2312" pitchFamily="49" charset="-122"/>
            </a:endParaRPr>
          </a:p>
        </p:txBody>
      </p:sp>
      <p:sp>
        <p:nvSpPr>
          <p:cNvPr id="27662"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72983643-D551-4C59-8EE5-9B93C820E22C}" type="datetime1">
              <a:rPr lang="zh-CN" altLang="en-US" smtClean="0">
                <a:solidFill>
                  <a:srgbClr val="45516B"/>
                </a:solidFill>
              </a:rPr>
            </a:fld>
            <a:endParaRPr lang="zh-CN" altLang="en-US">
              <a:solidFill>
                <a:srgbClr val="45516B"/>
              </a:solidFill>
            </a:endParaRPr>
          </a:p>
        </p:txBody>
      </p:sp>
      <p:sp>
        <p:nvSpPr>
          <p:cNvPr id="27663"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3087" name="灯片编号占位符 3"/>
          <p:cNvSpPr>
            <a:spLocks noGrp="1" noChangeArrowheads="1"/>
          </p:cNvSpPr>
          <p:nvPr>
            <p:ph type="sldNum" sz="quarter" idx="12"/>
          </p:nvPr>
        </p:nvSpPr>
        <p:spPr bwMode="auto">
          <a:noFill/>
          <a:ln>
            <a:miter lim="800000"/>
          </a:ln>
        </p:spPr>
        <p:txBody>
          <a:bodyPr/>
          <a:lstStyle/>
          <a:p>
            <a:fld id="{AEF4D1AC-D374-4B42-827A-8613BA3CBA89}"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5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65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658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665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70" grpId="0"/>
      <p:bldP spid="66573" grpId="0"/>
      <p:bldP spid="66580" grpId="0" animBg="1"/>
      <p:bldP spid="66580"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69633"/>
          <p:cNvSpPr>
            <a:spLocks noGrp="1" noChangeArrowheads="1"/>
          </p:cNvSpPr>
          <p:nvPr>
            <p:ph type="title"/>
          </p:nvPr>
        </p:nvSpPr>
        <p:spPr>
          <a:xfrm>
            <a:off x="2640014" y="1"/>
            <a:ext cx="7793037" cy="982663"/>
          </a:xfrm>
        </p:spPr>
        <p:txBody>
          <a:bodyPr/>
          <a:lstStyle/>
          <a:p>
            <a:pPr marL="838200" indent="-838200"/>
            <a:r>
              <a:rPr lang="en-US" altLang="zh-CN" sz="3200" b="1" dirty="0">
                <a:solidFill>
                  <a:srgbClr val="4D009A"/>
                </a:solidFill>
                <a:latin typeface="华文楷体" panose="02010600040101010101" pitchFamily="2" charset="-122"/>
                <a:ea typeface="华文楷体" panose="02010600040101010101" pitchFamily="2" charset="-122"/>
              </a:rPr>
              <a:t>1.2 </a:t>
            </a:r>
            <a:r>
              <a:rPr lang="zh-CN" altLang="en-US" sz="3200" b="1" dirty="0">
                <a:solidFill>
                  <a:srgbClr val="4D009A"/>
                </a:solidFill>
                <a:latin typeface="华文楷体" panose="02010600040101010101" pitchFamily="2" charset="-122"/>
                <a:ea typeface="华文楷体" panose="02010600040101010101" pitchFamily="2" charset="-122"/>
              </a:rPr>
              <a:t>命令窗口</a:t>
            </a:r>
            <a:r>
              <a:rPr lang="zh-CN" altLang="en-US" sz="3600" b="1" dirty="0">
                <a:solidFill>
                  <a:srgbClr val="4D009A"/>
                </a:solidFill>
                <a:latin typeface="华文楷体" panose="02010600040101010101" pitchFamily="2" charset="-122"/>
                <a:ea typeface="华文楷体" panose="02010600040101010101" pitchFamily="2" charset="-122"/>
              </a:rPr>
              <a:t> </a:t>
            </a:r>
            <a:r>
              <a:rPr lang="zh-CN" altLang="en-US" sz="2600" b="1" dirty="0">
                <a:solidFill>
                  <a:srgbClr val="4D009A"/>
                </a:solidFill>
                <a:latin typeface="华文楷体" panose="02010600040101010101" pitchFamily="2" charset="-122"/>
                <a:ea typeface="华文楷体" panose="02010600040101010101" pitchFamily="2" charset="-122"/>
              </a:rPr>
              <a:t>（续）</a:t>
            </a:r>
            <a:endParaRPr lang="zh-CN" altLang="en-US" sz="2600" b="1" dirty="0">
              <a:solidFill>
                <a:srgbClr val="4D009A"/>
              </a:solidFill>
              <a:latin typeface="华文楷体" panose="02010600040101010101" pitchFamily="2" charset="-122"/>
              <a:ea typeface="华文楷体" panose="02010600040101010101" pitchFamily="2" charset="-122"/>
            </a:endParaRPr>
          </a:p>
        </p:txBody>
      </p:sp>
      <p:sp>
        <p:nvSpPr>
          <p:cNvPr id="34819" name="文本占位符 69634"/>
          <p:cNvSpPr>
            <a:spLocks noGrp="1" noChangeArrowheads="1"/>
          </p:cNvSpPr>
          <p:nvPr>
            <p:ph idx="1"/>
          </p:nvPr>
        </p:nvSpPr>
        <p:spPr>
          <a:xfrm>
            <a:off x="2706688" y="1341438"/>
            <a:ext cx="7061200" cy="1439862"/>
          </a:xfrm>
        </p:spPr>
        <p:txBody>
          <a:bodyPr/>
          <a:lstStyle/>
          <a:p>
            <a:pPr eaLnBrk="1" hangingPunct="1">
              <a:buClrTx/>
              <a:buFont typeface="Wingdings" panose="05000000000000000000" pitchFamily="2" charset="2"/>
              <a:buNone/>
            </a:pPr>
            <a:r>
              <a:rPr lang="zh-CN" altLang="en-US" sz="2600" b="1" dirty="0">
                <a:solidFill>
                  <a:srgbClr val="4D009A"/>
                </a:solidFill>
                <a:latin typeface="华文楷体" panose="02010600040101010101" pitchFamily="2" charset="-122"/>
                <a:ea typeface="华文楷体" panose="02010600040101010101" pitchFamily="2" charset="-122"/>
              </a:rPr>
              <a:t>【例</a:t>
            </a:r>
            <a:r>
              <a:rPr lang="en-US" altLang="zh-CN" sz="2600" b="1" dirty="0">
                <a:solidFill>
                  <a:srgbClr val="4D009A"/>
                </a:solidFill>
                <a:latin typeface="华文楷体" panose="02010600040101010101" pitchFamily="2" charset="-122"/>
                <a:ea typeface="华文楷体" panose="02010600040101010101" pitchFamily="2" charset="-122"/>
              </a:rPr>
              <a:t>1.2-5</a:t>
            </a:r>
            <a:r>
              <a:rPr lang="zh-CN" altLang="en-US" sz="2600" b="1" dirty="0">
                <a:solidFill>
                  <a:srgbClr val="4D009A"/>
                </a:solidFill>
                <a:latin typeface="华文楷体" panose="02010600040101010101" pitchFamily="2" charset="-122"/>
                <a:ea typeface="华文楷体" panose="02010600040101010101" pitchFamily="2" charset="-122"/>
              </a:rPr>
              <a:t>】计算半径为</a:t>
            </a:r>
            <a:r>
              <a:rPr lang="en-US" altLang="zh-CN" sz="2600" b="1" dirty="0">
                <a:solidFill>
                  <a:srgbClr val="4D009A"/>
                </a:solidFill>
                <a:latin typeface="华文楷体" panose="02010600040101010101" pitchFamily="2" charset="-122"/>
                <a:ea typeface="华文楷体" panose="02010600040101010101" pitchFamily="2" charset="-122"/>
              </a:rPr>
              <a:t>5.2m</a:t>
            </a:r>
            <a:r>
              <a:rPr lang="zh-CN" altLang="en-US" sz="2600" b="1" dirty="0">
                <a:solidFill>
                  <a:srgbClr val="4D009A"/>
                </a:solidFill>
                <a:latin typeface="华文楷体" panose="02010600040101010101" pitchFamily="2" charset="-122"/>
                <a:ea typeface="华文楷体" panose="02010600040101010101" pitchFamily="2" charset="-122"/>
              </a:rPr>
              <a:t>的圆的周长和面积。</a:t>
            </a:r>
            <a:endParaRPr lang="zh-CN" altLang="en-US" sz="2600" b="1" dirty="0">
              <a:solidFill>
                <a:srgbClr val="4D009A"/>
              </a:solidFill>
              <a:latin typeface="华文楷体" panose="02010600040101010101" pitchFamily="2" charset="-122"/>
              <a:ea typeface="华文楷体" panose="02010600040101010101" pitchFamily="2" charset="-122"/>
            </a:endParaRPr>
          </a:p>
          <a:p>
            <a:pPr eaLnBrk="1" hangingPunct="1">
              <a:buClrTx/>
              <a:buFont typeface="Wingdings" panose="05000000000000000000" pitchFamily="2" charset="2"/>
              <a:buNone/>
            </a:pPr>
            <a:r>
              <a:rPr lang="en-US" altLang="zh-CN" sz="2200" b="1" dirty="0">
                <a:solidFill>
                  <a:srgbClr val="4D009A"/>
                </a:solidFill>
                <a:latin typeface="华文楷体" panose="02010600040101010101" pitchFamily="2" charset="-122"/>
                <a:ea typeface="华文楷体" panose="02010600040101010101" pitchFamily="2" charset="-122"/>
              </a:rPr>
              <a:t>&gt;&gt;radius=5.2;  %</a:t>
            </a:r>
            <a:r>
              <a:rPr lang="zh-CN" altLang="en-US" sz="2200" b="1" dirty="0">
                <a:solidFill>
                  <a:srgbClr val="4D009A"/>
                </a:solidFill>
                <a:latin typeface="华文楷体" panose="02010600040101010101" pitchFamily="2" charset="-122"/>
                <a:ea typeface="华文楷体" panose="02010600040101010101" pitchFamily="2" charset="-122"/>
              </a:rPr>
              <a:t>圆的半径</a:t>
            </a:r>
            <a:endParaRPr lang="zh-CN" altLang="en-US" sz="2200" b="1" dirty="0">
              <a:solidFill>
                <a:srgbClr val="4D009A"/>
              </a:solidFill>
              <a:latin typeface="华文楷体" panose="02010600040101010101" pitchFamily="2" charset="-122"/>
              <a:ea typeface="华文楷体" panose="02010600040101010101" pitchFamily="2" charset="-122"/>
            </a:endParaRPr>
          </a:p>
          <a:p>
            <a:pPr eaLnBrk="1" hangingPunct="1">
              <a:buClrTx/>
              <a:buFont typeface="Wingdings" panose="05000000000000000000" pitchFamily="2" charset="2"/>
              <a:buNone/>
            </a:pPr>
            <a:r>
              <a:rPr lang="en-US" altLang="zh-CN" sz="2200" b="1" dirty="0">
                <a:solidFill>
                  <a:srgbClr val="4D009A"/>
                </a:solidFill>
                <a:latin typeface="华文楷体" panose="02010600040101010101" pitchFamily="2" charset="-122"/>
                <a:ea typeface="华文楷体" panose="02010600040101010101" pitchFamily="2" charset="-122"/>
              </a:rPr>
              <a:t>&gt;&gt;area=pi*5.2^2,</a:t>
            </a:r>
            <a:r>
              <a:rPr lang="en-US" altLang="zh-CN" sz="2200" b="1" dirty="0">
                <a:latin typeface="华文楷体" panose="02010600040101010101" pitchFamily="2" charset="-122"/>
                <a:ea typeface="华文楷体" panose="02010600040101010101" pitchFamily="2" charset="-122"/>
              </a:rPr>
              <a:t> </a:t>
            </a:r>
            <a:r>
              <a:rPr lang="en-US" altLang="zh-CN" sz="2200" b="1" dirty="0" err="1">
                <a:solidFill>
                  <a:srgbClr val="4D009A"/>
                </a:solidFill>
                <a:latin typeface="华文楷体" panose="02010600040101010101" pitchFamily="2" charset="-122"/>
                <a:ea typeface="华文楷体" panose="02010600040101010101" pitchFamily="2" charset="-122"/>
              </a:rPr>
              <a:t>circle_len</a:t>
            </a:r>
            <a:r>
              <a:rPr lang="en-US" altLang="zh-CN" sz="2200" b="1" dirty="0">
                <a:solidFill>
                  <a:srgbClr val="4D009A"/>
                </a:solidFill>
                <a:latin typeface="华文楷体" panose="02010600040101010101" pitchFamily="2" charset="-122"/>
                <a:ea typeface="华文楷体" panose="02010600040101010101" pitchFamily="2" charset="-122"/>
              </a:rPr>
              <a:t>=2*pi*5.2</a:t>
            </a:r>
            <a:endParaRPr lang="en-US" altLang="zh-CN" sz="2200" b="1" dirty="0">
              <a:solidFill>
                <a:srgbClr val="4D009A"/>
              </a:solidFill>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endParaRPr lang="en-US" altLang="zh-CN" sz="2600" b="1" dirty="0">
              <a:solidFill>
                <a:srgbClr val="4D009A"/>
              </a:solidFill>
              <a:latin typeface="华文楷体" panose="02010600040101010101" pitchFamily="2" charset="-122"/>
              <a:ea typeface="华文楷体" panose="02010600040101010101" pitchFamily="2" charset="-122"/>
            </a:endParaRPr>
          </a:p>
        </p:txBody>
      </p:sp>
      <p:sp>
        <p:nvSpPr>
          <p:cNvPr id="34820" name="矩形 69635"/>
          <p:cNvSpPr>
            <a:spLocks noChangeArrowheads="1"/>
          </p:cNvSpPr>
          <p:nvPr/>
        </p:nvSpPr>
        <p:spPr bwMode="auto">
          <a:xfrm>
            <a:off x="2706688" y="2708276"/>
            <a:ext cx="7061200" cy="1655763"/>
          </a:xfrm>
          <a:prstGeom prst="rect">
            <a:avLst/>
          </a:prstGeom>
          <a:noFill/>
          <a:ln w="9525">
            <a:noFill/>
            <a:miter lim="800000"/>
          </a:ln>
        </p:spPr>
        <p:txBody>
          <a:bodyPr/>
          <a:lstStyle/>
          <a:p>
            <a:pPr marL="609600" indent="-609600">
              <a:buClr>
                <a:srgbClr val="4D009A"/>
              </a:buClr>
            </a:pPr>
            <a:r>
              <a:rPr lang="en-US" altLang="en-US" sz="2200" dirty="0">
                <a:solidFill>
                  <a:srgbClr val="003300"/>
                </a:solidFill>
                <a:latin typeface="Tahoma" panose="020B0604030504040204" pitchFamily="34" charset="0"/>
              </a:rPr>
              <a:t>area =</a:t>
            </a:r>
            <a:endParaRPr lang="en-US" altLang="en-US" sz="2200" dirty="0">
              <a:solidFill>
                <a:srgbClr val="003300"/>
              </a:solidFill>
              <a:latin typeface="Tahoma" panose="020B0604030504040204" pitchFamily="34" charset="0"/>
            </a:endParaRPr>
          </a:p>
          <a:p>
            <a:pPr marL="609600" indent="-609600">
              <a:buClr>
                <a:srgbClr val="4D009A"/>
              </a:buClr>
            </a:pPr>
            <a:r>
              <a:rPr lang="en-US" altLang="en-US" sz="2200" dirty="0">
                <a:solidFill>
                  <a:srgbClr val="003300"/>
                </a:solidFill>
                <a:latin typeface="Tahoma" panose="020B0604030504040204" pitchFamily="34" charset="0"/>
              </a:rPr>
              <a:t>       84.9487</a:t>
            </a:r>
            <a:endParaRPr lang="en-US" altLang="en-US" sz="2200" dirty="0">
              <a:solidFill>
                <a:srgbClr val="003300"/>
              </a:solidFill>
              <a:latin typeface="Tahoma" panose="020B0604030504040204" pitchFamily="34" charset="0"/>
            </a:endParaRPr>
          </a:p>
          <a:p>
            <a:pPr marL="609600" indent="-609600">
              <a:buClr>
                <a:srgbClr val="4D009A"/>
              </a:buClr>
            </a:pPr>
            <a:r>
              <a:rPr lang="en-US" altLang="en-US" sz="2200" dirty="0" err="1">
                <a:solidFill>
                  <a:srgbClr val="003300"/>
                </a:solidFill>
                <a:latin typeface="Tahoma" panose="020B0604030504040204" pitchFamily="34" charset="0"/>
              </a:rPr>
              <a:t>circle_len</a:t>
            </a:r>
            <a:r>
              <a:rPr lang="en-US" altLang="en-US" sz="2200" dirty="0">
                <a:solidFill>
                  <a:srgbClr val="003300"/>
                </a:solidFill>
                <a:latin typeface="Tahoma" panose="020B0604030504040204" pitchFamily="34" charset="0"/>
              </a:rPr>
              <a:t> =</a:t>
            </a:r>
            <a:endParaRPr lang="en-US" altLang="en-US" sz="2200" dirty="0">
              <a:solidFill>
                <a:srgbClr val="003300"/>
              </a:solidFill>
              <a:latin typeface="Tahoma" panose="020B0604030504040204" pitchFamily="34" charset="0"/>
            </a:endParaRPr>
          </a:p>
          <a:p>
            <a:pPr marL="609600" indent="-609600">
              <a:buClr>
                <a:srgbClr val="4D009A"/>
              </a:buClr>
            </a:pPr>
            <a:r>
              <a:rPr lang="en-US" altLang="en-US" sz="2200" dirty="0">
                <a:solidFill>
                  <a:srgbClr val="003300"/>
                </a:solidFill>
                <a:latin typeface="Tahoma" panose="020B0604030504040204" pitchFamily="34" charset="0"/>
              </a:rPr>
              <a:t>             31.6726</a:t>
            </a:r>
            <a:endParaRPr lang="en-US" altLang="zh-CN" sz="2200" dirty="0">
              <a:solidFill>
                <a:srgbClr val="003300"/>
              </a:solidFill>
              <a:latin typeface="Tahoma" panose="020B0604030504040204" pitchFamily="34" charset="0"/>
            </a:endParaRPr>
          </a:p>
          <a:p>
            <a:pPr marL="609600" indent="-609600">
              <a:buClr>
                <a:srgbClr val="4D009A"/>
              </a:buClr>
            </a:pPr>
            <a:endParaRPr lang="en-US" altLang="zh-CN" sz="2200" dirty="0">
              <a:solidFill>
                <a:srgbClr val="003300"/>
              </a:solidFill>
              <a:latin typeface="Tahoma" panose="020B0604030504040204" pitchFamily="34" charset="0"/>
            </a:endParaRPr>
          </a:p>
        </p:txBody>
      </p:sp>
      <p:sp>
        <p:nvSpPr>
          <p:cNvPr id="69637" name="文本框 69636"/>
          <p:cNvSpPr txBox="1">
            <a:spLocks noChangeArrowheads="1"/>
          </p:cNvSpPr>
          <p:nvPr/>
        </p:nvSpPr>
        <p:spPr bwMode="auto">
          <a:xfrm>
            <a:off x="5448300" y="3141664"/>
            <a:ext cx="4465638" cy="2585323"/>
          </a:xfrm>
          <a:prstGeom prst="rect">
            <a:avLst/>
          </a:prstGeom>
          <a:solidFill>
            <a:schemeClr val="bg1"/>
          </a:solidFill>
          <a:ln w="9525">
            <a:solidFill>
              <a:srgbClr val="FF6600"/>
            </a:solidFill>
            <a:miter lim="800000"/>
          </a:ln>
        </p:spPr>
        <p:txBody>
          <a:bodyPr>
            <a:spAutoFit/>
          </a:bodyPr>
          <a:lstStyle/>
          <a:p>
            <a:pPr marL="342900" indent="-342900">
              <a:buClr>
                <a:srgbClr val="0000FF"/>
              </a:buClr>
              <a:buFont typeface="Wingdings" panose="05000000000000000000" pitchFamily="2" charset="2"/>
              <a:buChar char="l"/>
            </a:pPr>
            <a:r>
              <a:rPr lang="zh-CN" altLang="en-US" b="1">
                <a:solidFill>
                  <a:srgbClr val="4D009A"/>
                </a:solidFill>
                <a:latin typeface="Tahoma" panose="020B0604030504040204" pitchFamily="34" charset="0"/>
              </a:rPr>
              <a:t>以上两例，命令行中用到了等号“</a:t>
            </a:r>
            <a:r>
              <a:rPr lang="en-US" altLang="zh-CN" b="1">
                <a:solidFill>
                  <a:srgbClr val="4D009A"/>
                </a:solidFill>
                <a:latin typeface="Tahoma" panose="020B0604030504040204" pitchFamily="34" charset="0"/>
              </a:rPr>
              <a:t>=”</a:t>
            </a:r>
            <a:r>
              <a:rPr lang="zh-CN" altLang="en-US" b="1">
                <a:solidFill>
                  <a:srgbClr val="4D009A"/>
                </a:solidFill>
                <a:latin typeface="Tahoma" panose="020B0604030504040204" pitchFamily="34" charset="0"/>
              </a:rPr>
              <a:t>。</a:t>
            </a:r>
            <a:endParaRPr lang="zh-CN" altLang="en-US" b="1">
              <a:solidFill>
                <a:srgbClr val="4D009A"/>
              </a:solidFill>
              <a:latin typeface="Tahoma" panose="020B0604030504040204" pitchFamily="34" charset="0"/>
            </a:endParaRPr>
          </a:p>
          <a:p>
            <a:pPr marL="342900" indent="-342900">
              <a:buClr>
                <a:srgbClr val="0000FF"/>
              </a:buClr>
              <a:buFont typeface="Wingdings" panose="05000000000000000000" pitchFamily="2" charset="2"/>
              <a:buChar char="l"/>
            </a:pPr>
            <a:r>
              <a:rPr lang="zh-CN" altLang="en-US" b="1">
                <a:solidFill>
                  <a:srgbClr val="4D009A"/>
                </a:solidFill>
                <a:latin typeface="Tahoma" panose="020B0604030504040204" pitchFamily="34" charset="0"/>
              </a:rPr>
              <a:t>计算结果不再赋给“</a:t>
            </a:r>
            <a:r>
              <a:rPr lang="en-US" altLang="zh-CN" b="1">
                <a:solidFill>
                  <a:srgbClr val="4D009A"/>
                </a:solidFill>
                <a:latin typeface="Tahoma" panose="020B0604030504040204" pitchFamily="34" charset="0"/>
              </a:rPr>
              <a:t>ans”</a:t>
            </a:r>
            <a:r>
              <a:rPr lang="zh-CN" altLang="en-US" b="1">
                <a:solidFill>
                  <a:srgbClr val="4D009A"/>
                </a:solidFill>
                <a:latin typeface="Tahoma" panose="020B0604030504040204" pitchFamily="34" charset="0"/>
              </a:rPr>
              <a:t>，而是赋给用户指定的变量</a:t>
            </a:r>
            <a:r>
              <a:rPr lang="en-US" altLang="zh-CN" b="1">
                <a:solidFill>
                  <a:srgbClr val="4D009A"/>
                </a:solidFill>
                <a:latin typeface="Tahoma" panose="020B0604030504040204" pitchFamily="34" charset="0"/>
              </a:rPr>
              <a:t>y</a:t>
            </a:r>
            <a:r>
              <a:rPr lang="zh-CN" altLang="en-US" b="1">
                <a:solidFill>
                  <a:srgbClr val="4D009A"/>
                </a:solidFill>
                <a:latin typeface="Tahoma" panose="020B0604030504040204" pitchFamily="34" charset="0"/>
              </a:rPr>
              <a:t>、</a:t>
            </a:r>
            <a:r>
              <a:rPr lang="en-US" altLang="zh-CN" b="1">
                <a:solidFill>
                  <a:srgbClr val="4D009A"/>
                </a:solidFill>
                <a:latin typeface="Tahoma" panose="020B0604030504040204" pitchFamily="34" charset="0"/>
              </a:rPr>
              <a:t>area</a:t>
            </a:r>
            <a:r>
              <a:rPr lang="zh-CN" altLang="en-US" b="1">
                <a:solidFill>
                  <a:srgbClr val="4D009A"/>
                </a:solidFill>
                <a:latin typeface="Tahoma" panose="020B0604030504040204" pitchFamily="34" charset="0"/>
              </a:rPr>
              <a:t>、</a:t>
            </a:r>
            <a:r>
              <a:rPr lang="en-US" altLang="zh-CN" b="1">
                <a:solidFill>
                  <a:srgbClr val="4D009A"/>
                </a:solidFill>
                <a:latin typeface="Tahoma" panose="020B0604030504040204" pitchFamily="34" charset="0"/>
              </a:rPr>
              <a:t>circle_len</a:t>
            </a:r>
            <a:r>
              <a:rPr lang="zh-CN" altLang="en-US" b="1">
                <a:solidFill>
                  <a:srgbClr val="4D009A"/>
                </a:solidFill>
                <a:latin typeface="Tahoma" panose="020B0604030504040204" pitchFamily="34" charset="0"/>
              </a:rPr>
              <a:t>。</a:t>
            </a:r>
            <a:endParaRPr lang="zh-CN" altLang="en-US" b="1">
              <a:solidFill>
                <a:srgbClr val="4D009A"/>
              </a:solidFill>
              <a:latin typeface="Tahoma" panose="020B0604030504040204" pitchFamily="34" charset="0"/>
            </a:endParaRPr>
          </a:p>
          <a:p>
            <a:pPr marL="342900" indent="-342900">
              <a:buClr>
                <a:srgbClr val="0000FF"/>
              </a:buClr>
              <a:buFont typeface="Wingdings" panose="05000000000000000000" pitchFamily="2" charset="2"/>
              <a:buChar char="l"/>
            </a:pPr>
            <a:r>
              <a:rPr lang="zh-CN" altLang="en-US" b="1">
                <a:solidFill>
                  <a:srgbClr val="4D009A"/>
                </a:solidFill>
                <a:latin typeface="Tahoma" panose="020B0604030504040204" pitchFamily="34" charset="0"/>
              </a:rPr>
              <a:t>无论是预定义变量还是用户自定义变量都被存储在系统的工作空间内，即系统定义的一个存储窗口变量的内存空间。</a:t>
            </a:r>
            <a:endParaRPr lang="zh-CN" altLang="en-US" b="1">
              <a:solidFill>
                <a:srgbClr val="4D009A"/>
              </a:solidFill>
              <a:latin typeface="Tahoma" panose="020B0604030504040204" pitchFamily="34" charset="0"/>
            </a:endParaRPr>
          </a:p>
          <a:p>
            <a:pPr marL="342900" indent="-342900">
              <a:buClr>
                <a:srgbClr val="0000FF"/>
              </a:buClr>
              <a:buFont typeface="Wingdings" panose="05000000000000000000" pitchFamily="2" charset="2"/>
              <a:buChar char="l"/>
            </a:pPr>
            <a:r>
              <a:rPr lang="en-US" altLang="zh-CN" b="1">
                <a:solidFill>
                  <a:srgbClr val="4D009A"/>
                </a:solidFill>
                <a:latin typeface="Tahoma" panose="020B0604030504040204" pitchFamily="34" charset="0"/>
              </a:rPr>
              <a:t>Who</a:t>
            </a:r>
            <a:r>
              <a:rPr lang="zh-CN" altLang="en-US" b="1">
                <a:solidFill>
                  <a:srgbClr val="4D009A"/>
                </a:solidFill>
                <a:latin typeface="Tahoma" panose="020B0604030504040204" pitchFamily="34" charset="0"/>
              </a:rPr>
              <a:t>、</a:t>
            </a:r>
            <a:r>
              <a:rPr lang="en-US" altLang="zh-CN" b="1">
                <a:solidFill>
                  <a:srgbClr val="4D009A"/>
                </a:solidFill>
                <a:latin typeface="Tahoma" panose="020B0604030504040204" pitchFamily="34" charset="0"/>
              </a:rPr>
              <a:t>whos</a:t>
            </a:r>
            <a:r>
              <a:rPr lang="zh-CN" altLang="en-US" b="1">
                <a:solidFill>
                  <a:srgbClr val="4D009A"/>
                </a:solidFill>
                <a:latin typeface="Tahoma" panose="020B0604030504040204" pitchFamily="34" charset="0"/>
              </a:rPr>
              <a:t>命令用来显示工作空间的变量</a:t>
            </a:r>
            <a:endParaRPr lang="zh-CN" altLang="en-US" b="1">
              <a:solidFill>
                <a:srgbClr val="4D009A"/>
              </a:solidFill>
              <a:latin typeface="Tahoma" panose="020B0604030504040204" pitchFamily="34" charset="0"/>
            </a:endParaRPr>
          </a:p>
          <a:p>
            <a:pPr marL="342900" indent="-342900">
              <a:buClr>
                <a:srgbClr val="0000FF"/>
              </a:buClr>
              <a:buFont typeface="Wingdings" panose="05000000000000000000" pitchFamily="2" charset="2"/>
              <a:buChar char="l"/>
            </a:pPr>
            <a:r>
              <a:rPr lang="en-US" altLang="zh-CN" b="1">
                <a:solidFill>
                  <a:srgbClr val="4D009A"/>
                </a:solidFill>
                <a:latin typeface="Tahoma" panose="020B0604030504040204" pitchFamily="34" charset="0"/>
              </a:rPr>
              <a:t>clear</a:t>
            </a:r>
            <a:r>
              <a:rPr lang="zh-CN" altLang="en-US" b="1">
                <a:solidFill>
                  <a:srgbClr val="4D009A"/>
                </a:solidFill>
                <a:latin typeface="Tahoma" panose="020B0604030504040204" pitchFamily="34" charset="0"/>
              </a:rPr>
              <a:t>命令用来清除工作空间的变量。</a:t>
            </a:r>
            <a:endParaRPr lang="zh-CN" altLang="en-US" b="1">
              <a:solidFill>
                <a:srgbClr val="4D009A"/>
              </a:solidFill>
              <a:latin typeface="Tahoma" panose="020B0604030504040204" pitchFamily="34" charset="0"/>
            </a:endParaRPr>
          </a:p>
        </p:txBody>
      </p:sp>
      <p:sp>
        <p:nvSpPr>
          <p:cNvPr id="28677"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832C741B-E8C7-46B7-B8B4-4390730214B0}" type="datetime1">
              <a:rPr lang="zh-CN" altLang="en-US" smtClean="0">
                <a:solidFill>
                  <a:srgbClr val="45516B"/>
                </a:solidFill>
              </a:rPr>
            </a:fld>
            <a:endParaRPr lang="zh-CN" altLang="en-US">
              <a:solidFill>
                <a:srgbClr val="45516B"/>
              </a:solidFill>
            </a:endParaRPr>
          </a:p>
        </p:txBody>
      </p:sp>
      <p:sp>
        <p:nvSpPr>
          <p:cNvPr id="28678"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34824" name="灯片编号占位符 3"/>
          <p:cNvSpPr>
            <a:spLocks noGrp="1" noChangeArrowheads="1"/>
          </p:cNvSpPr>
          <p:nvPr>
            <p:ph type="sldNum" sz="quarter" idx="12"/>
          </p:nvPr>
        </p:nvSpPr>
        <p:spPr bwMode="auto">
          <a:noFill/>
          <a:ln>
            <a:miter lim="800000"/>
          </a:ln>
        </p:spPr>
        <p:txBody>
          <a:bodyPr/>
          <a:lstStyle/>
          <a:p>
            <a:fld id="{1936FBCC-EC6E-4407-8D88-CF94AB12274C}"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6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61441"/>
          <p:cNvSpPr>
            <a:spLocks noGrp="1" noChangeArrowheads="1"/>
          </p:cNvSpPr>
          <p:nvPr>
            <p:ph type="title"/>
          </p:nvPr>
        </p:nvSpPr>
        <p:spPr>
          <a:xfrm>
            <a:off x="2640014" y="1"/>
            <a:ext cx="7793037" cy="982663"/>
          </a:xfrm>
        </p:spPr>
        <p:txBody>
          <a:bodyPr/>
          <a:lstStyle/>
          <a:p>
            <a:pPr marL="838200" indent="-838200"/>
            <a:r>
              <a:rPr lang="en-US" altLang="zh-CN" sz="3200" b="1" dirty="0">
                <a:solidFill>
                  <a:srgbClr val="4D009A"/>
                </a:solidFill>
                <a:latin typeface="华文楷体" panose="02010600040101010101" pitchFamily="2" charset="-122"/>
                <a:ea typeface="华文楷体" panose="02010600040101010101" pitchFamily="2" charset="-122"/>
              </a:rPr>
              <a:t>1.2 </a:t>
            </a:r>
            <a:r>
              <a:rPr lang="zh-CN" altLang="en-US" sz="3200" b="1" dirty="0">
                <a:solidFill>
                  <a:srgbClr val="4D009A"/>
                </a:solidFill>
                <a:latin typeface="华文楷体" panose="02010600040101010101" pitchFamily="2" charset="-122"/>
                <a:ea typeface="华文楷体" panose="02010600040101010101" pitchFamily="2" charset="-122"/>
              </a:rPr>
              <a:t>命令窗口 </a:t>
            </a:r>
            <a:r>
              <a:rPr lang="zh-CN" altLang="en-US" sz="2600" b="1" dirty="0">
                <a:solidFill>
                  <a:srgbClr val="4D009A"/>
                </a:solidFill>
                <a:latin typeface="华文楷体" panose="02010600040101010101" pitchFamily="2" charset="-122"/>
                <a:ea typeface="华文楷体" panose="02010600040101010101" pitchFamily="2" charset="-122"/>
              </a:rPr>
              <a:t>（续）</a:t>
            </a:r>
            <a:endParaRPr lang="zh-CN" altLang="en-US" sz="2600" b="1" dirty="0">
              <a:solidFill>
                <a:srgbClr val="4D009A"/>
              </a:solidFill>
              <a:latin typeface="华文楷体" panose="02010600040101010101" pitchFamily="2" charset="-122"/>
              <a:ea typeface="华文楷体" panose="02010600040101010101" pitchFamily="2" charset="-122"/>
            </a:endParaRPr>
          </a:p>
        </p:txBody>
      </p:sp>
      <p:sp>
        <p:nvSpPr>
          <p:cNvPr id="35843" name="文本占位符 61442"/>
          <p:cNvSpPr>
            <a:spLocks noGrp="1" noChangeArrowheads="1"/>
          </p:cNvSpPr>
          <p:nvPr>
            <p:ph idx="1"/>
          </p:nvPr>
        </p:nvSpPr>
        <p:spPr>
          <a:xfrm>
            <a:off x="2351089" y="1412876"/>
            <a:ext cx="7127875" cy="576263"/>
          </a:xfrm>
        </p:spPr>
        <p:txBody>
          <a:bodyPr/>
          <a:lstStyle/>
          <a:p>
            <a:pPr eaLnBrk="1" hangingPunct="1">
              <a:buFont typeface="Wingdings" panose="05000000000000000000" pitchFamily="2" charset="2"/>
              <a:buNone/>
            </a:pPr>
            <a:r>
              <a:rPr lang="en-US" altLang="zh-CN" sz="2600" b="1">
                <a:solidFill>
                  <a:srgbClr val="4D009A"/>
                </a:solidFill>
                <a:latin typeface="Times New Roman" panose="02020603050405020304" pitchFamily="18" charset="0"/>
              </a:rPr>
              <a:t>&gt;&gt;who</a:t>
            </a:r>
            <a:endParaRPr lang="en-US" altLang="zh-CN" sz="2600" b="1">
              <a:solidFill>
                <a:srgbClr val="4D009A"/>
              </a:solidFill>
              <a:latin typeface="Times New Roman" panose="02020603050405020304" pitchFamily="18" charset="0"/>
            </a:endParaRPr>
          </a:p>
        </p:txBody>
      </p:sp>
      <p:sp>
        <p:nvSpPr>
          <p:cNvPr id="61444" name="矩形 61443"/>
          <p:cNvSpPr>
            <a:spLocks noChangeArrowheads="1"/>
          </p:cNvSpPr>
          <p:nvPr/>
        </p:nvSpPr>
        <p:spPr bwMode="auto">
          <a:xfrm>
            <a:off x="2351089" y="3140076"/>
            <a:ext cx="7127875" cy="576263"/>
          </a:xfrm>
          <a:prstGeom prst="rect">
            <a:avLst/>
          </a:prstGeom>
          <a:noFill/>
          <a:ln w="9525">
            <a:noFill/>
            <a:miter lim="800000"/>
          </a:ln>
        </p:spPr>
        <p:txBody>
          <a:bodyPr/>
          <a:lstStyle/>
          <a:p>
            <a:pPr marL="609600" indent="-609600">
              <a:lnSpc>
                <a:spcPct val="80000"/>
              </a:lnSpc>
              <a:buClr>
                <a:srgbClr val="4D009A"/>
              </a:buClr>
            </a:pPr>
            <a:r>
              <a:rPr lang="en-US" altLang="zh-CN" sz="2600" b="1">
                <a:solidFill>
                  <a:srgbClr val="4D009A"/>
                </a:solidFill>
                <a:latin typeface="Times New Roman" panose="02020603050405020304" pitchFamily="18" charset="0"/>
              </a:rPr>
              <a:t>&gt;&gt;whos</a:t>
            </a:r>
            <a:endParaRPr lang="en-US" altLang="zh-CN" sz="2600" b="1">
              <a:solidFill>
                <a:srgbClr val="4D009A"/>
              </a:solidFill>
              <a:latin typeface="Times New Roman" panose="02020603050405020304" pitchFamily="18" charset="0"/>
            </a:endParaRPr>
          </a:p>
        </p:txBody>
      </p:sp>
      <p:sp>
        <p:nvSpPr>
          <p:cNvPr id="61445" name="矩形 61444"/>
          <p:cNvSpPr>
            <a:spLocks noChangeArrowheads="1"/>
          </p:cNvSpPr>
          <p:nvPr/>
        </p:nvSpPr>
        <p:spPr bwMode="auto">
          <a:xfrm>
            <a:off x="2424113" y="1844675"/>
            <a:ext cx="7200900" cy="1225550"/>
          </a:xfrm>
          <a:prstGeom prst="rect">
            <a:avLst/>
          </a:prstGeom>
          <a:noFill/>
          <a:ln w="9525">
            <a:noFill/>
            <a:miter lim="800000"/>
          </a:ln>
        </p:spPr>
        <p:txBody>
          <a:bodyPr/>
          <a:lstStyle/>
          <a:p>
            <a:pPr marL="609600" indent="-609600">
              <a:spcBef>
                <a:spcPct val="0"/>
              </a:spcBef>
              <a:buClr>
                <a:srgbClr val="4D009A"/>
              </a:buClr>
            </a:pPr>
            <a:r>
              <a:rPr lang="en-US" altLang="zh-CN" sz="2200" b="1">
                <a:solidFill>
                  <a:srgbClr val="003300"/>
                </a:solidFill>
                <a:latin typeface="Tahoma" panose="020B0604030504040204" pitchFamily="34" charset="0"/>
              </a:rPr>
              <a:t>Your variables are:</a:t>
            </a:r>
            <a:endParaRPr lang="en-US" altLang="zh-CN" sz="2200" b="1">
              <a:solidFill>
                <a:srgbClr val="003300"/>
              </a:solidFill>
              <a:latin typeface="Tahoma" panose="020B0604030504040204" pitchFamily="34" charset="0"/>
            </a:endParaRPr>
          </a:p>
          <a:p>
            <a:pPr marL="609600" indent="-609600">
              <a:spcBef>
                <a:spcPct val="0"/>
              </a:spcBef>
              <a:buClr>
                <a:srgbClr val="4D009A"/>
              </a:buClr>
            </a:pPr>
            <a:r>
              <a:rPr lang="en-US" altLang="zh-CN" sz="2200" b="1">
                <a:solidFill>
                  <a:srgbClr val="003300"/>
                </a:solidFill>
                <a:latin typeface="Tahoma" panose="020B0604030504040204" pitchFamily="34" charset="0"/>
              </a:rPr>
              <a:t>ans         circle_len    y    </a:t>
            </a:r>
            <a:endParaRPr lang="en-US" altLang="zh-CN" sz="2200" b="1">
              <a:solidFill>
                <a:srgbClr val="003300"/>
              </a:solidFill>
              <a:latin typeface="Tahoma" panose="020B0604030504040204" pitchFamily="34" charset="0"/>
            </a:endParaRPr>
          </a:p>
          <a:p>
            <a:pPr marL="609600" indent="-609600">
              <a:spcBef>
                <a:spcPct val="0"/>
              </a:spcBef>
              <a:buClr>
                <a:srgbClr val="4D009A"/>
              </a:buClr>
            </a:pPr>
            <a:r>
              <a:rPr lang="en-US" altLang="zh-CN" sz="2200" b="1">
                <a:solidFill>
                  <a:srgbClr val="003300"/>
                </a:solidFill>
                <a:latin typeface="Tahoma" panose="020B0604030504040204" pitchFamily="34" charset="0"/>
              </a:rPr>
              <a:t>area        radius</a:t>
            </a:r>
            <a:r>
              <a:rPr lang="en-US" altLang="zh-CN" sz="3200" b="1">
                <a:latin typeface="Tahoma" panose="020B0604030504040204" pitchFamily="34" charset="0"/>
              </a:rPr>
              <a:t> </a:t>
            </a:r>
            <a:endParaRPr lang="en-US" altLang="zh-CN" sz="3200" b="1">
              <a:latin typeface="Tahoma" panose="020B0604030504040204" pitchFamily="34" charset="0"/>
            </a:endParaRPr>
          </a:p>
        </p:txBody>
      </p:sp>
      <p:sp>
        <p:nvSpPr>
          <p:cNvPr id="61446" name="矩形 61445"/>
          <p:cNvSpPr>
            <a:spLocks noChangeArrowheads="1"/>
          </p:cNvSpPr>
          <p:nvPr/>
        </p:nvSpPr>
        <p:spPr bwMode="auto">
          <a:xfrm>
            <a:off x="2422526" y="3573463"/>
            <a:ext cx="7129463" cy="2665412"/>
          </a:xfrm>
          <a:prstGeom prst="rect">
            <a:avLst/>
          </a:prstGeom>
          <a:noFill/>
          <a:ln w="9525">
            <a:noFill/>
            <a:miter lim="800000"/>
          </a:ln>
        </p:spPr>
        <p:txBody>
          <a:bodyPr/>
          <a:lstStyle/>
          <a:p>
            <a:pPr marL="609600" indent="-609600">
              <a:buClr>
                <a:srgbClr val="4D009A"/>
              </a:buClr>
            </a:pPr>
            <a:r>
              <a:rPr lang="en-US" altLang="zh-CN" sz="2000" b="1">
                <a:solidFill>
                  <a:srgbClr val="003300"/>
                </a:solidFill>
                <a:latin typeface="Tahoma" panose="020B0604030504040204" pitchFamily="34" charset="0"/>
              </a:rPr>
              <a:t>Name             Size                    Bytes      Class</a:t>
            </a:r>
            <a:endParaRPr lang="en-US" altLang="zh-CN" sz="2000" b="1">
              <a:solidFill>
                <a:srgbClr val="003300"/>
              </a:solidFill>
              <a:latin typeface="Tahoma" panose="020B0604030504040204" pitchFamily="34" charset="0"/>
            </a:endParaRPr>
          </a:p>
          <a:p>
            <a:pPr marL="609600" indent="-609600">
              <a:buClr>
                <a:srgbClr val="4D009A"/>
              </a:buClr>
            </a:pPr>
            <a:r>
              <a:rPr lang="en-US" altLang="zh-CN" sz="2000" b="1">
                <a:solidFill>
                  <a:srgbClr val="003300"/>
                </a:solidFill>
                <a:latin typeface="Tahoma" panose="020B0604030504040204" pitchFamily="34" charset="0"/>
              </a:rPr>
              <a:t>  ans              1x1                         8    double array</a:t>
            </a:r>
            <a:endParaRPr lang="en-US" altLang="zh-CN" sz="2000" b="1">
              <a:solidFill>
                <a:srgbClr val="003300"/>
              </a:solidFill>
              <a:latin typeface="Tahoma" panose="020B0604030504040204" pitchFamily="34" charset="0"/>
            </a:endParaRPr>
          </a:p>
          <a:p>
            <a:pPr marL="609600" indent="-609600">
              <a:buClr>
                <a:srgbClr val="4D009A"/>
              </a:buClr>
            </a:pPr>
            <a:r>
              <a:rPr lang="en-US" altLang="zh-CN" sz="2000" b="1">
                <a:solidFill>
                  <a:srgbClr val="003300"/>
                </a:solidFill>
                <a:latin typeface="Tahoma" panose="020B0604030504040204" pitchFamily="34" charset="0"/>
              </a:rPr>
              <a:t>  area             1x1                         8    double array</a:t>
            </a:r>
            <a:endParaRPr lang="en-US" altLang="zh-CN" sz="2000" b="1">
              <a:solidFill>
                <a:srgbClr val="003300"/>
              </a:solidFill>
              <a:latin typeface="Tahoma" panose="020B0604030504040204" pitchFamily="34" charset="0"/>
            </a:endParaRPr>
          </a:p>
          <a:p>
            <a:pPr marL="609600" indent="-609600">
              <a:buClr>
                <a:srgbClr val="4D009A"/>
              </a:buClr>
            </a:pPr>
            <a:r>
              <a:rPr lang="en-US" altLang="zh-CN" sz="2000" b="1">
                <a:solidFill>
                  <a:srgbClr val="003300"/>
                </a:solidFill>
                <a:latin typeface="Tahoma" panose="020B0604030504040204" pitchFamily="34" charset="0"/>
              </a:rPr>
              <a:t>  circle_len      1x1                         8    double array</a:t>
            </a:r>
            <a:endParaRPr lang="en-US" altLang="zh-CN" sz="2000" b="1">
              <a:solidFill>
                <a:srgbClr val="003300"/>
              </a:solidFill>
              <a:latin typeface="Tahoma" panose="020B0604030504040204" pitchFamily="34" charset="0"/>
            </a:endParaRPr>
          </a:p>
          <a:p>
            <a:pPr marL="609600" indent="-609600">
              <a:buClr>
                <a:srgbClr val="4D009A"/>
              </a:buClr>
            </a:pPr>
            <a:r>
              <a:rPr lang="en-US" altLang="zh-CN" sz="2000" b="1">
                <a:solidFill>
                  <a:srgbClr val="003300"/>
                </a:solidFill>
                <a:latin typeface="Tahoma" panose="020B0604030504040204" pitchFamily="34" charset="0"/>
              </a:rPr>
              <a:t>  radius           1x1                         8    double array</a:t>
            </a:r>
            <a:endParaRPr lang="en-US" altLang="zh-CN" sz="2000" b="1">
              <a:solidFill>
                <a:srgbClr val="003300"/>
              </a:solidFill>
              <a:latin typeface="Tahoma" panose="020B0604030504040204" pitchFamily="34" charset="0"/>
            </a:endParaRPr>
          </a:p>
          <a:p>
            <a:pPr marL="609600" indent="-609600">
              <a:buClr>
                <a:srgbClr val="4D009A"/>
              </a:buClr>
            </a:pPr>
            <a:r>
              <a:rPr lang="en-US" altLang="zh-CN" sz="2000" b="1">
                <a:solidFill>
                  <a:srgbClr val="003300"/>
                </a:solidFill>
                <a:latin typeface="Tahoma" panose="020B0604030504040204" pitchFamily="34" charset="0"/>
              </a:rPr>
              <a:t>  y                  1x1                         8    double array</a:t>
            </a:r>
            <a:endParaRPr lang="en-US" altLang="zh-CN" sz="2000" b="1">
              <a:solidFill>
                <a:srgbClr val="003300"/>
              </a:solidFill>
              <a:latin typeface="Tahoma" panose="020B0604030504040204" pitchFamily="34" charset="0"/>
            </a:endParaRPr>
          </a:p>
          <a:p>
            <a:pPr marL="609600" indent="-609600">
              <a:buClr>
                <a:srgbClr val="4D009A"/>
              </a:buClr>
            </a:pPr>
            <a:r>
              <a:rPr lang="en-US" altLang="zh-CN" sz="2000" b="1">
                <a:solidFill>
                  <a:srgbClr val="003300"/>
                </a:solidFill>
                <a:latin typeface="Tahoma" panose="020B0604030504040204" pitchFamily="34" charset="0"/>
              </a:rPr>
              <a:t>Grand total is 5 elements using 40 bytes</a:t>
            </a:r>
            <a:endParaRPr lang="en-US" altLang="zh-CN" sz="2000" b="1">
              <a:solidFill>
                <a:srgbClr val="003300"/>
              </a:solidFill>
              <a:latin typeface="Tahoma" panose="020B0604030504040204" pitchFamily="34" charset="0"/>
            </a:endParaRPr>
          </a:p>
        </p:txBody>
      </p:sp>
      <p:sp>
        <p:nvSpPr>
          <p:cNvPr id="29702"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577E78B0-04CE-4D89-8AFA-AF5B59C1429D}" type="datetime1">
              <a:rPr lang="zh-CN" altLang="en-US" smtClean="0">
                <a:solidFill>
                  <a:srgbClr val="45516B"/>
                </a:solidFill>
              </a:rPr>
            </a:fld>
            <a:endParaRPr lang="zh-CN" altLang="en-US">
              <a:solidFill>
                <a:srgbClr val="45516B"/>
              </a:solidFill>
            </a:endParaRPr>
          </a:p>
        </p:txBody>
      </p:sp>
      <p:sp>
        <p:nvSpPr>
          <p:cNvPr id="29703"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35849" name="灯片编号占位符 3"/>
          <p:cNvSpPr>
            <a:spLocks noGrp="1" noChangeArrowheads="1"/>
          </p:cNvSpPr>
          <p:nvPr>
            <p:ph type="sldNum" sz="quarter" idx="12"/>
          </p:nvPr>
        </p:nvSpPr>
        <p:spPr bwMode="auto">
          <a:noFill/>
          <a:ln>
            <a:miter lim="800000"/>
          </a:ln>
        </p:spPr>
        <p:txBody>
          <a:bodyPr/>
          <a:lstStyle/>
          <a:p>
            <a:fld id="{1112D4E6-1B35-4949-B80D-473212AE68AC}"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4" grpId="0"/>
      <p:bldP spid="61445" grpId="0"/>
      <p:bldP spid="6144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68609"/>
          <p:cNvSpPr>
            <a:spLocks noGrp="1" noChangeArrowheads="1"/>
          </p:cNvSpPr>
          <p:nvPr>
            <p:ph type="title"/>
          </p:nvPr>
        </p:nvSpPr>
        <p:spPr>
          <a:xfrm>
            <a:off x="2640014" y="1"/>
            <a:ext cx="7793037" cy="982663"/>
          </a:xfrm>
        </p:spPr>
        <p:txBody>
          <a:bodyPr/>
          <a:lstStyle/>
          <a:p>
            <a:pPr marL="838200" indent="-838200"/>
            <a:r>
              <a:rPr lang="en-US" altLang="zh-CN" sz="3200" b="1" dirty="0">
                <a:solidFill>
                  <a:srgbClr val="4D009A"/>
                </a:solidFill>
                <a:latin typeface="华文楷体" panose="02010600040101010101" pitchFamily="2" charset="-122"/>
                <a:ea typeface="华文楷体" panose="02010600040101010101" pitchFamily="2" charset="-122"/>
              </a:rPr>
              <a:t>1.2 </a:t>
            </a:r>
            <a:r>
              <a:rPr lang="zh-CN" altLang="en-US" sz="3200" b="1" dirty="0">
                <a:solidFill>
                  <a:srgbClr val="4D009A"/>
                </a:solidFill>
                <a:latin typeface="华文楷体" panose="02010600040101010101" pitchFamily="2" charset="-122"/>
                <a:ea typeface="华文楷体" panose="02010600040101010101" pitchFamily="2" charset="-122"/>
              </a:rPr>
              <a:t>命令窗口</a:t>
            </a:r>
            <a:r>
              <a:rPr lang="zh-CN" altLang="en-US" sz="3600" b="1" dirty="0">
                <a:solidFill>
                  <a:srgbClr val="4D009A"/>
                </a:solidFill>
                <a:latin typeface="华文楷体" panose="02010600040101010101" pitchFamily="2" charset="-122"/>
                <a:ea typeface="华文楷体" panose="02010600040101010101" pitchFamily="2" charset="-122"/>
              </a:rPr>
              <a:t> </a:t>
            </a:r>
            <a:r>
              <a:rPr lang="zh-CN" altLang="en-US" sz="2600" b="1" dirty="0">
                <a:solidFill>
                  <a:srgbClr val="4D009A"/>
                </a:solidFill>
                <a:latin typeface="华文楷体" panose="02010600040101010101" pitchFamily="2" charset="-122"/>
                <a:ea typeface="华文楷体" panose="02010600040101010101" pitchFamily="2" charset="-122"/>
              </a:rPr>
              <a:t>（续）</a:t>
            </a:r>
            <a:endParaRPr lang="zh-CN" altLang="en-US" sz="2600" b="1" dirty="0">
              <a:solidFill>
                <a:srgbClr val="4D009A"/>
              </a:solidFill>
              <a:latin typeface="华文楷体" panose="02010600040101010101" pitchFamily="2" charset="-122"/>
              <a:ea typeface="华文楷体" panose="02010600040101010101" pitchFamily="2" charset="-122"/>
            </a:endParaRPr>
          </a:p>
        </p:txBody>
      </p:sp>
      <p:sp>
        <p:nvSpPr>
          <p:cNvPr id="36867" name="文本占位符 68610"/>
          <p:cNvSpPr>
            <a:spLocks noGrp="1" noChangeArrowheads="1"/>
          </p:cNvSpPr>
          <p:nvPr>
            <p:ph idx="1"/>
          </p:nvPr>
        </p:nvSpPr>
        <p:spPr>
          <a:xfrm>
            <a:off x="2706688" y="1341439"/>
            <a:ext cx="7061200" cy="935037"/>
          </a:xfrm>
        </p:spPr>
        <p:txBody>
          <a:bodyPr/>
          <a:lstStyle/>
          <a:p>
            <a:pPr eaLnBrk="1" hangingPunct="1">
              <a:lnSpc>
                <a:spcPct val="90000"/>
              </a:lnSpc>
              <a:buFont typeface="Wingdings" panose="05000000000000000000" pitchFamily="2" charset="2"/>
              <a:buNone/>
            </a:pPr>
            <a:r>
              <a:rPr lang="en-US" altLang="zh-CN" sz="2600" b="1">
                <a:solidFill>
                  <a:srgbClr val="4D009A"/>
                </a:solidFill>
                <a:latin typeface="Times New Roman" panose="02020603050405020304" pitchFamily="18" charset="0"/>
              </a:rPr>
              <a:t>&gt;&gt;clear y</a:t>
            </a:r>
            <a:endParaRPr lang="en-US" altLang="zh-CN" sz="2600" b="1">
              <a:solidFill>
                <a:srgbClr val="4D009A"/>
              </a:solidFill>
              <a:latin typeface="Times New Roman" panose="02020603050405020304" pitchFamily="18" charset="0"/>
            </a:endParaRPr>
          </a:p>
          <a:p>
            <a:pPr eaLnBrk="1" hangingPunct="1">
              <a:lnSpc>
                <a:spcPct val="90000"/>
              </a:lnSpc>
              <a:buFont typeface="Wingdings" panose="05000000000000000000" pitchFamily="2" charset="2"/>
              <a:buNone/>
            </a:pPr>
            <a:r>
              <a:rPr lang="en-US" altLang="zh-CN" sz="2600" b="1">
                <a:solidFill>
                  <a:srgbClr val="4D009A"/>
                </a:solidFill>
                <a:latin typeface="Times New Roman" panose="02020603050405020304" pitchFamily="18" charset="0"/>
              </a:rPr>
              <a:t>&gt;&gt;who</a:t>
            </a:r>
            <a:endParaRPr lang="en-US" altLang="zh-CN" sz="2600" b="1">
              <a:solidFill>
                <a:srgbClr val="4D009A"/>
              </a:solidFill>
              <a:latin typeface="Times New Roman" panose="02020603050405020304" pitchFamily="18" charset="0"/>
            </a:endParaRPr>
          </a:p>
        </p:txBody>
      </p:sp>
      <p:sp>
        <p:nvSpPr>
          <p:cNvPr id="68612" name="矩形 68611"/>
          <p:cNvSpPr>
            <a:spLocks noChangeArrowheads="1"/>
          </p:cNvSpPr>
          <p:nvPr/>
        </p:nvSpPr>
        <p:spPr bwMode="auto">
          <a:xfrm>
            <a:off x="2779713" y="2205038"/>
            <a:ext cx="7061200" cy="1295400"/>
          </a:xfrm>
          <a:prstGeom prst="rect">
            <a:avLst/>
          </a:prstGeom>
          <a:noFill/>
          <a:ln w="9525">
            <a:noFill/>
            <a:miter lim="800000"/>
          </a:ln>
        </p:spPr>
        <p:txBody>
          <a:bodyPr/>
          <a:lstStyle/>
          <a:p>
            <a:pPr marL="609600" indent="-609600">
              <a:buClr>
                <a:srgbClr val="4D009A"/>
              </a:buClr>
            </a:pPr>
            <a:r>
              <a:rPr lang="en-US" altLang="zh-CN" sz="2200" b="1">
                <a:solidFill>
                  <a:srgbClr val="003300"/>
                </a:solidFill>
                <a:latin typeface="Tahoma" panose="020B0604030504040204" pitchFamily="34" charset="0"/>
              </a:rPr>
              <a:t>Your variables are:</a:t>
            </a:r>
            <a:endParaRPr lang="en-US" altLang="zh-CN" sz="2200" b="1">
              <a:solidFill>
                <a:srgbClr val="003300"/>
              </a:solidFill>
              <a:latin typeface="Tahoma" panose="020B0604030504040204" pitchFamily="34" charset="0"/>
            </a:endParaRPr>
          </a:p>
          <a:p>
            <a:pPr marL="609600" indent="-609600">
              <a:spcBef>
                <a:spcPct val="0"/>
              </a:spcBef>
              <a:buClr>
                <a:srgbClr val="4D009A"/>
              </a:buClr>
            </a:pPr>
            <a:r>
              <a:rPr lang="en-US" altLang="zh-CN" sz="2200" b="1">
                <a:solidFill>
                  <a:srgbClr val="003300"/>
                </a:solidFill>
                <a:latin typeface="Tahoma" panose="020B0604030504040204" pitchFamily="34" charset="0"/>
              </a:rPr>
              <a:t>ans         circle_len  </a:t>
            </a:r>
            <a:endParaRPr lang="en-US" altLang="zh-CN" sz="2200" b="1">
              <a:solidFill>
                <a:srgbClr val="003300"/>
              </a:solidFill>
              <a:latin typeface="Tahoma" panose="020B0604030504040204" pitchFamily="34" charset="0"/>
            </a:endParaRPr>
          </a:p>
          <a:p>
            <a:pPr marL="609600" indent="-609600">
              <a:spcBef>
                <a:spcPct val="0"/>
              </a:spcBef>
              <a:buClr>
                <a:srgbClr val="4D009A"/>
              </a:buClr>
            </a:pPr>
            <a:r>
              <a:rPr lang="en-US" altLang="zh-CN" sz="2200" b="1">
                <a:solidFill>
                  <a:srgbClr val="003300"/>
                </a:solidFill>
                <a:latin typeface="Tahoma" panose="020B0604030504040204" pitchFamily="34" charset="0"/>
              </a:rPr>
              <a:t>area        radius</a:t>
            </a:r>
            <a:r>
              <a:rPr lang="en-US" altLang="zh-CN" sz="3200" b="1">
                <a:latin typeface="Tahoma" panose="020B0604030504040204" pitchFamily="34" charset="0"/>
              </a:rPr>
              <a:t> </a:t>
            </a:r>
            <a:endParaRPr lang="en-US" altLang="zh-CN" sz="3200" b="1">
              <a:latin typeface="Tahoma" panose="020B0604030504040204" pitchFamily="34" charset="0"/>
            </a:endParaRPr>
          </a:p>
        </p:txBody>
      </p:sp>
      <p:sp>
        <p:nvSpPr>
          <p:cNvPr id="68613" name="矩形 68612"/>
          <p:cNvSpPr>
            <a:spLocks noChangeArrowheads="1"/>
          </p:cNvSpPr>
          <p:nvPr/>
        </p:nvSpPr>
        <p:spPr bwMode="auto">
          <a:xfrm>
            <a:off x="2711450" y="3357563"/>
            <a:ext cx="7061200" cy="1295400"/>
          </a:xfrm>
          <a:prstGeom prst="rect">
            <a:avLst/>
          </a:prstGeom>
          <a:noFill/>
          <a:ln w="9525">
            <a:noFill/>
            <a:miter lim="800000"/>
          </a:ln>
        </p:spPr>
        <p:txBody>
          <a:bodyPr/>
          <a:lstStyle/>
          <a:p>
            <a:pPr marL="609600" indent="-609600">
              <a:buClr>
                <a:srgbClr val="4D009A"/>
              </a:buClr>
            </a:pPr>
            <a:r>
              <a:rPr lang="en-US" altLang="zh-CN" sz="2600" b="1">
                <a:solidFill>
                  <a:srgbClr val="4D009A"/>
                </a:solidFill>
                <a:latin typeface="Times New Roman" panose="02020603050405020304" pitchFamily="18" charset="0"/>
              </a:rPr>
              <a:t>&gt;&gt;clear ans area</a:t>
            </a:r>
            <a:endParaRPr lang="en-US" altLang="zh-CN" sz="2600" b="1">
              <a:solidFill>
                <a:srgbClr val="4D009A"/>
              </a:solidFill>
              <a:latin typeface="Times New Roman" panose="02020603050405020304" pitchFamily="18" charset="0"/>
            </a:endParaRPr>
          </a:p>
          <a:p>
            <a:pPr marL="609600" indent="-609600">
              <a:buClr>
                <a:srgbClr val="4D009A"/>
              </a:buClr>
            </a:pPr>
            <a:r>
              <a:rPr lang="en-US" altLang="zh-CN" sz="2600" b="1">
                <a:solidFill>
                  <a:srgbClr val="4D009A"/>
                </a:solidFill>
                <a:latin typeface="Times New Roman" panose="02020603050405020304" pitchFamily="18" charset="0"/>
              </a:rPr>
              <a:t>&gt;&gt;whos</a:t>
            </a:r>
            <a:endParaRPr lang="en-US" altLang="zh-CN" sz="2600" b="1">
              <a:solidFill>
                <a:srgbClr val="4D009A"/>
              </a:solidFill>
              <a:latin typeface="Times New Roman" panose="02020603050405020304" pitchFamily="18" charset="0"/>
            </a:endParaRPr>
          </a:p>
        </p:txBody>
      </p:sp>
      <p:sp>
        <p:nvSpPr>
          <p:cNvPr id="68614" name="矩形 68613"/>
          <p:cNvSpPr>
            <a:spLocks noChangeArrowheads="1"/>
          </p:cNvSpPr>
          <p:nvPr/>
        </p:nvSpPr>
        <p:spPr bwMode="auto">
          <a:xfrm>
            <a:off x="2711451" y="4365626"/>
            <a:ext cx="7129463" cy="1871663"/>
          </a:xfrm>
          <a:prstGeom prst="rect">
            <a:avLst/>
          </a:prstGeom>
          <a:noFill/>
          <a:ln w="9525">
            <a:noFill/>
            <a:miter lim="800000"/>
          </a:ln>
        </p:spPr>
        <p:txBody>
          <a:bodyPr/>
          <a:lstStyle/>
          <a:p>
            <a:pPr marL="609600" indent="-609600">
              <a:buClr>
                <a:srgbClr val="4D009A"/>
              </a:buClr>
            </a:pPr>
            <a:r>
              <a:rPr lang="en-US" altLang="zh-CN" sz="2200" b="1">
                <a:solidFill>
                  <a:srgbClr val="003300"/>
                </a:solidFill>
                <a:latin typeface="Tahoma" panose="020B0604030504040204" pitchFamily="34" charset="0"/>
              </a:rPr>
              <a:t>Your variables are:</a:t>
            </a:r>
            <a:endParaRPr lang="en-US" altLang="zh-CN" sz="2200" b="1">
              <a:solidFill>
                <a:srgbClr val="003300"/>
              </a:solidFill>
              <a:latin typeface="Tahoma" panose="020B0604030504040204" pitchFamily="34" charset="0"/>
            </a:endParaRPr>
          </a:p>
          <a:p>
            <a:pPr marL="609600" indent="-609600">
              <a:buClr>
                <a:srgbClr val="4D009A"/>
              </a:buClr>
            </a:pPr>
            <a:r>
              <a:rPr lang="en-US" altLang="zh-CN" sz="2000" b="1">
                <a:solidFill>
                  <a:srgbClr val="003300"/>
                </a:solidFill>
                <a:latin typeface="Tahoma" panose="020B0604030504040204" pitchFamily="34" charset="0"/>
              </a:rPr>
              <a:t>Name             Size                    Bytes   Class</a:t>
            </a:r>
            <a:endParaRPr lang="en-US" altLang="zh-CN" sz="2000" b="1">
              <a:solidFill>
                <a:srgbClr val="003300"/>
              </a:solidFill>
              <a:latin typeface="Tahoma" panose="020B0604030504040204" pitchFamily="34" charset="0"/>
            </a:endParaRPr>
          </a:p>
          <a:p>
            <a:pPr marL="609600" indent="-609600">
              <a:buClr>
                <a:srgbClr val="4D009A"/>
              </a:buClr>
            </a:pPr>
            <a:r>
              <a:rPr lang="en-US" altLang="zh-CN" sz="2000" b="1">
                <a:solidFill>
                  <a:srgbClr val="003300"/>
                </a:solidFill>
                <a:latin typeface="Tahoma" panose="020B0604030504040204" pitchFamily="34" charset="0"/>
              </a:rPr>
              <a:t>  circle_len       1x1                         8   double array</a:t>
            </a:r>
            <a:endParaRPr lang="en-US" altLang="zh-CN" sz="2000" b="1">
              <a:solidFill>
                <a:srgbClr val="003300"/>
              </a:solidFill>
              <a:latin typeface="Tahoma" panose="020B0604030504040204" pitchFamily="34" charset="0"/>
            </a:endParaRPr>
          </a:p>
          <a:p>
            <a:pPr marL="609600" indent="-609600">
              <a:buClr>
                <a:srgbClr val="4D009A"/>
              </a:buClr>
            </a:pPr>
            <a:r>
              <a:rPr lang="en-US" altLang="zh-CN" sz="2000" b="1">
                <a:solidFill>
                  <a:srgbClr val="003300"/>
                </a:solidFill>
                <a:latin typeface="Tahoma" panose="020B0604030504040204" pitchFamily="34" charset="0"/>
              </a:rPr>
              <a:t>  radius            1x1                         8   double array</a:t>
            </a:r>
            <a:endParaRPr lang="en-US" altLang="zh-CN" sz="2000" b="1">
              <a:solidFill>
                <a:srgbClr val="003300"/>
              </a:solidFill>
              <a:latin typeface="Tahoma" panose="020B0604030504040204" pitchFamily="34" charset="0"/>
            </a:endParaRPr>
          </a:p>
          <a:p>
            <a:pPr marL="609600" indent="-609600">
              <a:buClr>
                <a:srgbClr val="4D009A"/>
              </a:buClr>
            </a:pPr>
            <a:r>
              <a:rPr lang="en-US" altLang="zh-CN" sz="2000" b="1">
                <a:solidFill>
                  <a:srgbClr val="003300"/>
                </a:solidFill>
                <a:latin typeface="Tahoma" panose="020B0604030504040204" pitchFamily="34" charset="0"/>
              </a:rPr>
              <a:t>Grand total is 2 elements using 16 bytes</a:t>
            </a:r>
            <a:endParaRPr lang="en-US" altLang="zh-CN" sz="2000" b="1">
              <a:solidFill>
                <a:srgbClr val="003300"/>
              </a:solidFill>
              <a:latin typeface="Tahoma" panose="020B0604030504040204" pitchFamily="34" charset="0"/>
            </a:endParaRPr>
          </a:p>
        </p:txBody>
      </p:sp>
      <p:sp>
        <p:nvSpPr>
          <p:cNvPr id="30726"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7EE01CFC-5D06-4ABF-9965-134AED4ECF06}" type="datetime1">
              <a:rPr lang="zh-CN" altLang="en-US" smtClean="0">
                <a:solidFill>
                  <a:srgbClr val="45516B"/>
                </a:solidFill>
              </a:rPr>
            </a:fld>
            <a:endParaRPr lang="zh-CN" altLang="en-US">
              <a:solidFill>
                <a:srgbClr val="45516B"/>
              </a:solidFill>
            </a:endParaRPr>
          </a:p>
        </p:txBody>
      </p:sp>
      <p:sp>
        <p:nvSpPr>
          <p:cNvPr id="30727"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36873" name="灯片编号占位符 3"/>
          <p:cNvSpPr>
            <a:spLocks noGrp="1" noChangeArrowheads="1"/>
          </p:cNvSpPr>
          <p:nvPr>
            <p:ph type="sldNum" sz="quarter" idx="12"/>
          </p:nvPr>
        </p:nvSpPr>
        <p:spPr bwMode="auto">
          <a:noFill/>
          <a:ln>
            <a:miter lim="800000"/>
          </a:ln>
        </p:spPr>
        <p:txBody>
          <a:bodyPr/>
          <a:lstStyle/>
          <a:p>
            <a:fld id="{FE19D99C-F78E-4CB1-9205-5550B1D95076}"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6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86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86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p:bldP spid="68613" grpId="0"/>
      <p:bldP spid="686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75777"/>
          <p:cNvSpPr>
            <a:spLocks noGrp="1" noChangeArrowheads="1"/>
          </p:cNvSpPr>
          <p:nvPr>
            <p:ph type="title"/>
          </p:nvPr>
        </p:nvSpPr>
        <p:spPr>
          <a:xfrm>
            <a:off x="2640014" y="1"/>
            <a:ext cx="7793037" cy="982663"/>
          </a:xfrm>
        </p:spPr>
        <p:txBody>
          <a:bodyPr/>
          <a:lstStyle/>
          <a:p>
            <a:pPr marL="838200" indent="-838200"/>
            <a:r>
              <a:rPr lang="en-US" altLang="zh-CN" sz="3600" b="1" dirty="0">
                <a:solidFill>
                  <a:srgbClr val="4D009A"/>
                </a:solidFill>
                <a:latin typeface="华文楷体" panose="02010600040101010101" pitchFamily="2" charset="-122"/>
                <a:ea typeface="华文楷体" panose="02010600040101010101" pitchFamily="2" charset="-122"/>
              </a:rPr>
              <a:t>1.2 </a:t>
            </a:r>
            <a:r>
              <a:rPr lang="zh-CN" altLang="en-US" sz="3600" b="1" dirty="0">
                <a:solidFill>
                  <a:srgbClr val="4D009A"/>
                </a:solidFill>
                <a:latin typeface="华文楷体" panose="02010600040101010101" pitchFamily="2" charset="-122"/>
                <a:ea typeface="华文楷体" panose="02010600040101010101" pitchFamily="2" charset="-122"/>
              </a:rPr>
              <a:t>命令窗口</a:t>
            </a:r>
            <a:r>
              <a:rPr lang="zh-CN" altLang="en-US" sz="4000" b="1" dirty="0">
                <a:solidFill>
                  <a:srgbClr val="4D009A"/>
                </a:solidFill>
                <a:latin typeface="华文楷体" panose="02010600040101010101" pitchFamily="2" charset="-122"/>
                <a:ea typeface="华文楷体" panose="02010600040101010101" pitchFamily="2" charset="-122"/>
              </a:rPr>
              <a:t> </a:t>
            </a:r>
            <a:r>
              <a:rPr lang="zh-CN" altLang="en-US" sz="3000" b="1" dirty="0">
                <a:solidFill>
                  <a:srgbClr val="4D009A"/>
                </a:solidFill>
                <a:latin typeface="华文楷体" panose="02010600040101010101" pitchFamily="2" charset="-122"/>
                <a:ea typeface="华文楷体" panose="02010600040101010101" pitchFamily="2" charset="-122"/>
              </a:rPr>
              <a:t>（续）</a:t>
            </a:r>
            <a:endParaRPr lang="zh-CN" altLang="en-US" sz="3000" b="1" dirty="0">
              <a:solidFill>
                <a:srgbClr val="4D009A"/>
              </a:solidFill>
              <a:latin typeface="华文楷体" panose="02010600040101010101" pitchFamily="2" charset="-122"/>
              <a:ea typeface="华文楷体" panose="02010600040101010101" pitchFamily="2" charset="-122"/>
            </a:endParaRPr>
          </a:p>
        </p:txBody>
      </p:sp>
      <p:sp>
        <p:nvSpPr>
          <p:cNvPr id="75779" name="内容占位符 75778"/>
          <p:cNvSpPr>
            <a:spLocks noGrp="1" noChangeArrowheads="1"/>
          </p:cNvSpPr>
          <p:nvPr>
            <p:ph idx="1"/>
          </p:nvPr>
        </p:nvSpPr>
        <p:spPr>
          <a:xfrm>
            <a:off x="2706689" y="1341438"/>
            <a:ext cx="7566025" cy="4895850"/>
          </a:xfrm>
        </p:spPr>
        <p:txBody>
          <a:bodyPr/>
          <a:lstStyle/>
          <a:p>
            <a:pPr eaLnBrk="1" hangingPunct="1">
              <a:lnSpc>
                <a:spcPct val="80000"/>
              </a:lnSpc>
            </a:pPr>
            <a:r>
              <a:rPr lang="zh-CN" altLang="en-US" sz="2600" b="1">
                <a:solidFill>
                  <a:srgbClr val="4D009A"/>
                </a:solidFill>
                <a:latin typeface="华文楷体" panose="02010600040101010101" pitchFamily="2" charset="-122"/>
                <a:ea typeface="华文楷体" panose="02010600040101010101" pitchFamily="2" charset="-122"/>
              </a:rPr>
              <a:t>数值显示格式设置</a:t>
            </a:r>
            <a:endParaRPr lang="zh-CN" altLang="en-US" sz="2600" b="1">
              <a:solidFill>
                <a:srgbClr val="4D009A"/>
              </a:solidFill>
              <a:latin typeface="华文楷体" panose="02010600040101010101" pitchFamily="2" charset="-122"/>
              <a:ea typeface="华文楷体" panose="02010600040101010101" pitchFamily="2" charset="-122"/>
            </a:endParaRPr>
          </a:p>
          <a:p>
            <a:pPr lvl="1" eaLnBrk="1" hangingPunct="1">
              <a:lnSpc>
                <a:spcPct val="80000"/>
              </a:lnSpc>
            </a:pPr>
            <a:r>
              <a:rPr lang="zh-CN" altLang="en-US" sz="2000" b="1">
                <a:solidFill>
                  <a:srgbClr val="0000FF"/>
                </a:solidFill>
                <a:latin typeface="华文楷体" panose="02010600040101010101" pitchFamily="2" charset="-122"/>
                <a:ea typeface="华文楷体" panose="02010600040101010101" pitchFamily="2" charset="-122"/>
              </a:rPr>
              <a:t>缺省显示格式：简洁的短（</a:t>
            </a:r>
            <a:r>
              <a:rPr lang="en-US" altLang="zh-CN" sz="2000" b="1">
                <a:solidFill>
                  <a:srgbClr val="0000FF"/>
                </a:solidFill>
                <a:latin typeface="华文楷体" panose="02010600040101010101" pitchFamily="2" charset="-122"/>
                <a:ea typeface="华文楷体" panose="02010600040101010101" pitchFamily="2" charset="-122"/>
              </a:rPr>
              <a:t>short g</a:t>
            </a:r>
            <a:r>
              <a:rPr lang="zh-CN" altLang="en-US" sz="2000" b="1">
                <a:solidFill>
                  <a:srgbClr val="0000FF"/>
                </a:solidFill>
                <a:latin typeface="华文楷体" panose="02010600040101010101" pitchFamily="2" charset="-122"/>
                <a:ea typeface="华文楷体" panose="02010600040101010101" pitchFamily="2" charset="-122"/>
              </a:rPr>
              <a:t>）格式</a:t>
            </a:r>
            <a:endParaRPr lang="zh-CN" altLang="en-US" sz="2000" b="1">
              <a:solidFill>
                <a:srgbClr val="0000FF"/>
              </a:solidFill>
              <a:latin typeface="华文楷体" panose="02010600040101010101" pitchFamily="2" charset="-122"/>
              <a:ea typeface="华文楷体" panose="02010600040101010101" pitchFamily="2" charset="-122"/>
            </a:endParaRPr>
          </a:p>
          <a:p>
            <a:pPr lvl="1" eaLnBrk="1" hangingPunct="1">
              <a:lnSpc>
                <a:spcPct val="80000"/>
              </a:lnSpc>
            </a:pPr>
            <a:r>
              <a:rPr lang="zh-CN" altLang="en-US" sz="2000" b="1">
                <a:solidFill>
                  <a:srgbClr val="0000FF"/>
                </a:solidFill>
                <a:latin typeface="华文楷体" panose="02010600040101010101" pitchFamily="2" charset="-122"/>
                <a:ea typeface="华文楷体" panose="02010600040101010101" pitchFamily="2" charset="-122"/>
              </a:rPr>
              <a:t>窗口命令及语法格式：</a:t>
            </a:r>
            <a:r>
              <a:rPr lang="en-US" altLang="zh-CN" sz="2000" b="1">
                <a:solidFill>
                  <a:srgbClr val="0000FF"/>
                </a:solidFill>
                <a:latin typeface="华文楷体" panose="02010600040101010101" pitchFamily="2" charset="-122"/>
                <a:ea typeface="华文楷体" panose="02010600040101010101" pitchFamily="2" charset="-122"/>
              </a:rPr>
              <a:t>format  </a:t>
            </a:r>
            <a:r>
              <a:rPr lang="zh-CN" altLang="en-US" sz="2000" b="1">
                <a:solidFill>
                  <a:srgbClr val="0000FF"/>
                </a:solidFill>
                <a:latin typeface="华文楷体" panose="02010600040101010101" pitchFamily="2" charset="-122"/>
                <a:ea typeface="华文楷体" panose="02010600040101010101" pitchFamily="2" charset="-122"/>
              </a:rPr>
              <a:t>显示格式关键字</a:t>
            </a:r>
            <a:endParaRPr lang="zh-CN" altLang="en-US" sz="2000" b="1">
              <a:solidFill>
                <a:srgbClr val="0000FF"/>
              </a:solidFill>
              <a:latin typeface="华文楷体" panose="02010600040101010101" pitchFamily="2" charset="-122"/>
              <a:ea typeface="华文楷体" panose="02010600040101010101" pitchFamily="2" charset="-122"/>
            </a:endParaRPr>
          </a:p>
          <a:p>
            <a:pPr lvl="1" eaLnBrk="1" hangingPunct="1">
              <a:lnSpc>
                <a:spcPct val="80000"/>
              </a:lnSpc>
              <a:buFont typeface="Wingdings" panose="05000000000000000000" pitchFamily="2" charset="2"/>
              <a:buNone/>
            </a:pPr>
            <a:r>
              <a:rPr lang="zh-CN" altLang="en-US" sz="2000" b="1">
                <a:solidFill>
                  <a:srgbClr val="0000FF"/>
                </a:solidFill>
                <a:latin typeface="华文楷体" panose="02010600040101010101" pitchFamily="2" charset="-122"/>
                <a:ea typeface="华文楷体" panose="02010600040101010101" pitchFamily="2" charset="-122"/>
              </a:rPr>
              <a:t>       如：</a:t>
            </a:r>
            <a:r>
              <a:rPr lang="en-US" altLang="zh-CN" sz="2000" b="1">
                <a:solidFill>
                  <a:srgbClr val="0000FF"/>
                </a:solidFill>
                <a:latin typeface="华文楷体" panose="02010600040101010101" pitchFamily="2" charset="-122"/>
                <a:ea typeface="华文楷体" panose="02010600040101010101" pitchFamily="2" charset="-122"/>
              </a:rPr>
              <a:t>format long   %15</a:t>
            </a:r>
            <a:r>
              <a:rPr lang="zh-CN" altLang="en-US" sz="2000" b="1">
                <a:solidFill>
                  <a:srgbClr val="0000FF"/>
                </a:solidFill>
                <a:latin typeface="华文楷体" panose="02010600040101010101" pitchFamily="2" charset="-122"/>
                <a:ea typeface="华文楷体" panose="02010600040101010101" pitchFamily="2" charset="-122"/>
              </a:rPr>
              <a:t>位数字显示</a:t>
            </a:r>
            <a:endParaRPr lang="zh-CN" altLang="en-US" sz="2000" b="1">
              <a:solidFill>
                <a:srgbClr val="0000FF"/>
              </a:solidFill>
              <a:latin typeface="华文楷体" panose="02010600040101010101" pitchFamily="2" charset="-122"/>
              <a:ea typeface="华文楷体" panose="02010600040101010101" pitchFamily="2" charset="-122"/>
            </a:endParaRPr>
          </a:p>
          <a:p>
            <a:pPr eaLnBrk="1" hangingPunct="1">
              <a:lnSpc>
                <a:spcPct val="80000"/>
              </a:lnSpc>
              <a:spcBef>
                <a:spcPct val="45000"/>
              </a:spcBef>
            </a:pPr>
            <a:r>
              <a:rPr lang="zh-CN" altLang="en-US" sz="2600" b="1">
                <a:solidFill>
                  <a:srgbClr val="4D009A"/>
                </a:solidFill>
                <a:latin typeface="华文楷体" panose="02010600040101010101" pitchFamily="2" charset="-122"/>
                <a:ea typeface="华文楷体" panose="02010600040101010101" pitchFamily="2" charset="-122"/>
              </a:rPr>
              <a:t>常见通用命令</a:t>
            </a:r>
            <a:endParaRPr lang="zh-CN" altLang="en-US" sz="2600" b="1">
              <a:solidFill>
                <a:srgbClr val="4D009A"/>
              </a:solidFill>
              <a:latin typeface="华文楷体" panose="02010600040101010101" pitchFamily="2" charset="-122"/>
              <a:ea typeface="华文楷体" panose="02010600040101010101" pitchFamily="2" charset="-122"/>
            </a:endParaRPr>
          </a:p>
          <a:p>
            <a:pPr lvl="1" eaLnBrk="1" hangingPunct="1">
              <a:lnSpc>
                <a:spcPct val="80000"/>
              </a:lnSpc>
              <a:buFont typeface="Wingdings" panose="05000000000000000000" pitchFamily="2" charset="2"/>
              <a:buNone/>
            </a:pPr>
            <a:r>
              <a:rPr lang="zh-CN" altLang="en-US" sz="2000" b="1">
                <a:solidFill>
                  <a:srgbClr val="0000FF"/>
                </a:solidFill>
                <a:latin typeface="华文楷体" panose="02010600040101010101" pitchFamily="2" charset="-122"/>
                <a:ea typeface="华文楷体" panose="02010600040101010101" pitchFamily="2" charset="-122"/>
              </a:rPr>
              <a:t>命令			含义</a:t>
            </a:r>
            <a:endParaRPr lang="zh-CN" altLang="en-US" sz="2000" b="1">
              <a:solidFill>
                <a:srgbClr val="0000FF"/>
              </a:solidFill>
              <a:latin typeface="华文楷体" panose="02010600040101010101" pitchFamily="2" charset="-122"/>
              <a:ea typeface="华文楷体" panose="02010600040101010101" pitchFamily="2" charset="-122"/>
            </a:endParaRPr>
          </a:p>
          <a:p>
            <a:pPr lvl="1" eaLnBrk="1" hangingPunct="1">
              <a:lnSpc>
                <a:spcPct val="80000"/>
              </a:lnSpc>
              <a:buFont typeface="Wingdings" panose="05000000000000000000" pitchFamily="2" charset="2"/>
              <a:buNone/>
            </a:pPr>
            <a:r>
              <a:rPr lang="en-US" altLang="zh-CN" sz="2000" b="1">
                <a:solidFill>
                  <a:srgbClr val="0000FF"/>
                </a:solidFill>
                <a:latin typeface="华文楷体" panose="02010600040101010101" pitchFamily="2" charset="-122"/>
                <a:ea typeface="华文楷体" panose="02010600040101010101" pitchFamily="2" charset="-122"/>
              </a:rPr>
              <a:t>clc			</a:t>
            </a:r>
            <a:r>
              <a:rPr lang="zh-CN" altLang="en-US" sz="2000" b="1">
                <a:solidFill>
                  <a:srgbClr val="0000FF"/>
                </a:solidFill>
                <a:latin typeface="华文楷体" panose="02010600040101010101" pitchFamily="2" charset="-122"/>
                <a:ea typeface="华文楷体" panose="02010600040101010101" pitchFamily="2" charset="-122"/>
              </a:rPr>
              <a:t>清除命令窗口的显示内容</a:t>
            </a:r>
            <a:endParaRPr lang="zh-CN" altLang="en-US" sz="2000" b="1">
              <a:solidFill>
                <a:srgbClr val="0000FF"/>
              </a:solidFill>
              <a:latin typeface="华文楷体" panose="02010600040101010101" pitchFamily="2" charset="-122"/>
              <a:ea typeface="华文楷体" panose="02010600040101010101" pitchFamily="2" charset="-122"/>
            </a:endParaRPr>
          </a:p>
          <a:p>
            <a:pPr lvl="1" eaLnBrk="1" hangingPunct="1">
              <a:lnSpc>
                <a:spcPct val="80000"/>
              </a:lnSpc>
              <a:buFont typeface="Wingdings" panose="05000000000000000000" pitchFamily="2" charset="2"/>
              <a:buNone/>
            </a:pPr>
            <a:r>
              <a:rPr lang="en-US" altLang="zh-CN" sz="2000" b="1">
                <a:solidFill>
                  <a:srgbClr val="0000FF"/>
                </a:solidFill>
                <a:latin typeface="华文楷体" panose="02010600040101010101" pitchFamily="2" charset="-122"/>
                <a:ea typeface="华文楷体" panose="02010600040101010101" pitchFamily="2" charset="-122"/>
              </a:rPr>
              <a:t>clear		              </a:t>
            </a:r>
            <a:r>
              <a:rPr lang="zh-CN" altLang="en-US" sz="2000" b="1">
                <a:solidFill>
                  <a:srgbClr val="0000FF"/>
                </a:solidFill>
                <a:latin typeface="华文楷体" panose="02010600040101010101" pitchFamily="2" charset="-122"/>
                <a:ea typeface="华文楷体" panose="02010600040101010101" pitchFamily="2" charset="-122"/>
              </a:rPr>
              <a:t>清除</a:t>
            </a:r>
            <a:r>
              <a:rPr lang="en-US" altLang="zh-CN" sz="2000" b="1">
                <a:solidFill>
                  <a:srgbClr val="0000FF"/>
                </a:solidFill>
                <a:latin typeface="华文楷体" panose="02010600040101010101" pitchFamily="2" charset="-122"/>
                <a:ea typeface="华文楷体" panose="02010600040101010101" pitchFamily="2" charset="-122"/>
              </a:rPr>
              <a:t>Matlab</a:t>
            </a:r>
            <a:r>
              <a:rPr lang="zh-CN" altLang="en-US" sz="2000" b="1">
                <a:solidFill>
                  <a:srgbClr val="0000FF"/>
                </a:solidFill>
                <a:latin typeface="华文楷体" panose="02010600040101010101" pitchFamily="2" charset="-122"/>
                <a:ea typeface="华文楷体" panose="02010600040101010101" pitchFamily="2" charset="-122"/>
              </a:rPr>
              <a:t>工作空间中保存的变量</a:t>
            </a:r>
            <a:endParaRPr lang="zh-CN" altLang="en-US" sz="2000" b="1">
              <a:solidFill>
                <a:srgbClr val="0000FF"/>
              </a:solidFill>
              <a:latin typeface="华文楷体" panose="02010600040101010101" pitchFamily="2" charset="-122"/>
              <a:ea typeface="华文楷体" panose="02010600040101010101" pitchFamily="2" charset="-122"/>
            </a:endParaRPr>
          </a:p>
          <a:p>
            <a:pPr lvl="1" eaLnBrk="1" hangingPunct="1">
              <a:lnSpc>
                <a:spcPct val="80000"/>
              </a:lnSpc>
              <a:buFont typeface="Wingdings" panose="05000000000000000000" pitchFamily="2" charset="2"/>
              <a:buNone/>
            </a:pPr>
            <a:r>
              <a:rPr lang="en-US" altLang="zh-CN" sz="2000" b="1">
                <a:solidFill>
                  <a:srgbClr val="0000FF"/>
                </a:solidFill>
                <a:latin typeface="华文楷体" panose="02010600040101010101" pitchFamily="2" charset="-122"/>
                <a:ea typeface="华文楷体" panose="02010600040101010101" pitchFamily="2" charset="-122"/>
              </a:rPr>
              <a:t>who</a:t>
            </a:r>
            <a:r>
              <a:rPr lang="zh-CN" altLang="en-US" sz="2000" b="1">
                <a:solidFill>
                  <a:srgbClr val="0000FF"/>
                </a:solidFill>
                <a:latin typeface="华文楷体" panose="02010600040101010101" pitchFamily="2" charset="-122"/>
                <a:ea typeface="华文楷体" panose="02010600040101010101" pitchFamily="2" charset="-122"/>
              </a:rPr>
              <a:t>或</a:t>
            </a:r>
            <a:r>
              <a:rPr lang="en-US" altLang="zh-CN" sz="2000" b="1">
                <a:solidFill>
                  <a:srgbClr val="0000FF"/>
                </a:solidFill>
                <a:latin typeface="华文楷体" panose="02010600040101010101" pitchFamily="2" charset="-122"/>
                <a:ea typeface="华文楷体" panose="02010600040101010101" pitchFamily="2" charset="-122"/>
              </a:rPr>
              <a:t>whos		</a:t>
            </a:r>
            <a:r>
              <a:rPr lang="zh-CN" altLang="en-US" sz="2000" b="1">
                <a:solidFill>
                  <a:srgbClr val="0000FF"/>
                </a:solidFill>
                <a:latin typeface="华文楷体" panose="02010600040101010101" pitchFamily="2" charset="-122"/>
                <a:ea typeface="华文楷体" panose="02010600040101010101" pitchFamily="2" charset="-122"/>
              </a:rPr>
              <a:t>显示</a:t>
            </a:r>
            <a:r>
              <a:rPr lang="en-US" altLang="zh-CN" sz="2000" b="1">
                <a:solidFill>
                  <a:srgbClr val="0000FF"/>
                </a:solidFill>
                <a:latin typeface="华文楷体" panose="02010600040101010101" pitchFamily="2" charset="-122"/>
                <a:ea typeface="华文楷体" panose="02010600040101010101" pitchFamily="2" charset="-122"/>
              </a:rPr>
              <a:t>Matlab</a:t>
            </a:r>
            <a:r>
              <a:rPr lang="zh-CN" altLang="en-US" sz="2000" b="1">
                <a:solidFill>
                  <a:srgbClr val="0000FF"/>
                </a:solidFill>
                <a:latin typeface="华文楷体" panose="02010600040101010101" pitchFamily="2" charset="-122"/>
                <a:ea typeface="华文楷体" panose="02010600040101010101" pitchFamily="2" charset="-122"/>
              </a:rPr>
              <a:t>工作空间中的变量信息</a:t>
            </a:r>
            <a:endParaRPr lang="zh-CN" altLang="en-US" sz="2000" b="1">
              <a:solidFill>
                <a:srgbClr val="0000FF"/>
              </a:solidFill>
              <a:latin typeface="华文楷体" panose="02010600040101010101" pitchFamily="2" charset="-122"/>
              <a:ea typeface="华文楷体" panose="02010600040101010101" pitchFamily="2" charset="-122"/>
            </a:endParaRPr>
          </a:p>
          <a:p>
            <a:pPr lvl="1" eaLnBrk="1" hangingPunct="1">
              <a:lnSpc>
                <a:spcPct val="80000"/>
              </a:lnSpc>
              <a:buFont typeface="Wingdings" panose="05000000000000000000" pitchFamily="2" charset="2"/>
              <a:buNone/>
            </a:pPr>
            <a:r>
              <a:rPr lang="en-US" altLang="zh-CN" sz="2000" b="1">
                <a:solidFill>
                  <a:srgbClr val="0000FF"/>
                </a:solidFill>
                <a:latin typeface="华文楷体" panose="02010600040101010101" pitchFamily="2" charset="-122"/>
                <a:ea typeface="华文楷体" panose="02010600040101010101" pitchFamily="2" charset="-122"/>
              </a:rPr>
              <a:t>dir			</a:t>
            </a:r>
            <a:r>
              <a:rPr lang="zh-CN" altLang="en-US" sz="2000" b="1">
                <a:solidFill>
                  <a:srgbClr val="0000FF"/>
                </a:solidFill>
                <a:latin typeface="华文楷体" panose="02010600040101010101" pitchFamily="2" charset="-122"/>
                <a:ea typeface="华文楷体" panose="02010600040101010101" pitchFamily="2" charset="-122"/>
              </a:rPr>
              <a:t>显示当前工作目录的文件和子目录清单</a:t>
            </a:r>
            <a:endParaRPr lang="zh-CN" altLang="en-US" sz="2000" b="1">
              <a:solidFill>
                <a:srgbClr val="0000FF"/>
              </a:solidFill>
              <a:latin typeface="华文楷体" panose="02010600040101010101" pitchFamily="2" charset="-122"/>
              <a:ea typeface="华文楷体" panose="02010600040101010101" pitchFamily="2" charset="-122"/>
            </a:endParaRPr>
          </a:p>
          <a:p>
            <a:pPr lvl="1" eaLnBrk="1" hangingPunct="1">
              <a:lnSpc>
                <a:spcPct val="80000"/>
              </a:lnSpc>
              <a:buFont typeface="Wingdings" panose="05000000000000000000" pitchFamily="2" charset="2"/>
              <a:buNone/>
            </a:pPr>
            <a:r>
              <a:rPr lang="en-US" altLang="zh-CN" sz="2000" b="1">
                <a:solidFill>
                  <a:srgbClr val="0000FF"/>
                </a:solidFill>
                <a:latin typeface="华文楷体" panose="02010600040101010101" pitchFamily="2" charset="-122"/>
                <a:ea typeface="华文楷体" panose="02010600040101010101" pitchFamily="2" charset="-122"/>
              </a:rPr>
              <a:t>cd			</a:t>
            </a:r>
            <a:r>
              <a:rPr lang="zh-CN" altLang="en-US" sz="2000" b="1">
                <a:solidFill>
                  <a:srgbClr val="0000FF"/>
                </a:solidFill>
                <a:latin typeface="华文楷体" panose="02010600040101010101" pitchFamily="2" charset="-122"/>
                <a:ea typeface="华文楷体" panose="02010600040101010101" pitchFamily="2" charset="-122"/>
              </a:rPr>
              <a:t>显示或设置当前工作目录</a:t>
            </a:r>
            <a:endParaRPr lang="zh-CN" altLang="en-US" sz="2000" b="1">
              <a:solidFill>
                <a:srgbClr val="0000FF"/>
              </a:solidFill>
              <a:latin typeface="华文楷体" panose="02010600040101010101" pitchFamily="2" charset="-122"/>
              <a:ea typeface="华文楷体" panose="02010600040101010101" pitchFamily="2" charset="-122"/>
            </a:endParaRPr>
          </a:p>
          <a:p>
            <a:pPr lvl="1" eaLnBrk="1" hangingPunct="1">
              <a:lnSpc>
                <a:spcPct val="80000"/>
              </a:lnSpc>
              <a:buFont typeface="Wingdings" panose="05000000000000000000" pitchFamily="2" charset="2"/>
              <a:buNone/>
            </a:pPr>
            <a:r>
              <a:rPr lang="en-US" altLang="zh-CN" sz="2000" b="1">
                <a:solidFill>
                  <a:srgbClr val="0000FF"/>
                </a:solidFill>
                <a:latin typeface="华文楷体" panose="02010600040101010101" pitchFamily="2" charset="-122"/>
                <a:ea typeface="华文楷体" panose="02010600040101010101" pitchFamily="2" charset="-122"/>
              </a:rPr>
              <a:t>type			</a:t>
            </a:r>
            <a:r>
              <a:rPr lang="zh-CN" altLang="en-US" sz="2000" b="1">
                <a:solidFill>
                  <a:srgbClr val="0000FF"/>
                </a:solidFill>
                <a:latin typeface="华文楷体" panose="02010600040101010101" pitchFamily="2" charset="-122"/>
                <a:ea typeface="华文楷体" panose="02010600040101010101" pitchFamily="2" charset="-122"/>
              </a:rPr>
              <a:t>显示指定</a:t>
            </a:r>
            <a:r>
              <a:rPr lang="en-US" altLang="zh-CN" sz="2000" b="1">
                <a:solidFill>
                  <a:srgbClr val="0000FF"/>
                </a:solidFill>
                <a:latin typeface="华文楷体" panose="02010600040101010101" pitchFamily="2" charset="-122"/>
                <a:ea typeface="华文楷体" panose="02010600040101010101" pitchFamily="2" charset="-122"/>
              </a:rPr>
              <a:t>m</a:t>
            </a:r>
            <a:r>
              <a:rPr lang="zh-CN" altLang="en-US" sz="2000" b="1">
                <a:solidFill>
                  <a:srgbClr val="0000FF"/>
                </a:solidFill>
                <a:latin typeface="华文楷体" panose="02010600040101010101" pitchFamily="2" charset="-122"/>
                <a:ea typeface="华文楷体" panose="02010600040101010101" pitchFamily="2" charset="-122"/>
              </a:rPr>
              <a:t>文件的内容</a:t>
            </a:r>
            <a:endParaRPr lang="zh-CN" altLang="en-US" sz="2000" b="1">
              <a:solidFill>
                <a:srgbClr val="0000FF"/>
              </a:solidFill>
              <a:latin typeface="华文楷体" panose="02010600040101010101" pitchFamily="2" charset="-122"/>
              <a:ea typeface="华文楷体" panose="02010600040101010101" pitchFamily="2" charset="-122"/>
            </a:endParaRPr>
          </a:p>
          <a:p>
            <a:pPr lvl="1" eaLnBrk="1" hangingPunct="1">
              <a:lnSpc>
                <a:spcPct val="80000"/>
              </a:lnSpc>
              <a:buFont typeface="Wingdings" panose="05000000000000000000" pitchFamily="2" charset="2"/>
              <a:buNone/>
            </a:pPr>
            <a:r>
              <a:rPr lang="en-US" altLang="zh-CN" sz="2000" b="1">
                <a:solidFill>
                  <a:srgbClr val="0000FF"/>
                </a:solidFill>
                <a:latin typeface="华文楷体" panose="02010600040101010101" pitchFamily="2" charset="-122"/>
                <a:ea typeface="华文楷体" panose="02010600040101010101" pitchFamily="2" charset="-122"/>
              </a:rPr>
              <a:t>help</a:t>
            </a:r>
            <a:r>
              <a:rPr lang="zh-CN" altLang="en-US" sz="2000" b="1">
                <a:solidFill>
                  <a:srgbClr val="0000FF"/>
                </a:solidFill>
                <a:latin typeface="华文楷体" panose="02010600040101010101" pitchFamily="2" charset="-122"/>
                <a:ea typeface="华文楷体" panose="02010600040101010101" pitchFamily="2" charset="-122"/>
              </a:rPr>
              <a:t>或</a:t>
            </a:r>
            <a:r>
              <a:rPr lang="en-US" altLang="zh-CN" sz="2000" b="1">
                <a:solidFill>
                  <a:srgbClr val="0000FF"/>
                </a:solidFill>
                <a:latin typeface="华文楷体" panose="02010600040101010101" pitchFamily="2" charset="-122"/>
                <a:ea typeface="华文楷体" panose="02010600040101010101" pitchFamily="2" charset="-122"/>
              </a:rPr>
              <a:t>doc		</a:t>
            </a:r>
            <a:r>
              <a:rPr lang="zh-CN" altLang="en-US" sz="2000" b="1">
                <a:solidFill>
                  <a:srgbClr val="0000FF"/>
                </a:solidFill>
                <a:latin typeface="华文楷体" panose="02010600040101010101" pitchFamily="2" charset="-122"/>
                <a:ea typeface="华文楷体" panose="02010600040101010101" pitchFamily="2" charset="-122"/>
              </a:rPr>
              <a:t>获取在线帮助</a:t>
            </a:r>
            <a:endParaRPr lang="zh-CN" altLang="en-US" sz="2000" b="1">
              <a:solidFill>
                <a:srgbClr val="0000FF"/>
              </a:solidFill>
              <a:latin typeface="华文楷体" panose="02010600040101010101" pitchFamily="2" charset="-122"/>
              <a:ea typeface="华文楷体" panose="02010600040101010101" pitchFamily="2" charset="-122"/>
            </a:endParaRPr>
          </a:p>
          <a:p>
            <a:pPr lvl="1" eaLnBrk="1" hangingPunct="1">
              <a:lnSpc>
                <a:spcPct val="80000"/>
              </a:lnSpc>
              <a:buFont typeface="Wingdings" panose="05000000000000000000" pitchFamily="2" charset="2"/>
              <a:buNone/>
            </a:pPr>
            <a:r>
              <a:rPr lang="en-US" altLang="zh-CN" sz="2000" b="1">
                <a:solidFill>
                  <a:srgbClr val="0000FF"/>
                </a:solidFill>
                <a:latin typeface="华文楷体" panose="02010600040101010101" pitchFamily="2" charset="-122"/>
                <a:ea typeface="华文楷体" panose="02010600040101010101" pitchFamily="2" charset="-122"/>
              </a:rPr>
              <a:t>quit</a:t>
            </a:r>
            <a:r>
              <a:rPr lang="zh-CN" altLang="en-US" sz="2000" b="1">
                <a:solidFill>
                  <a:srgbClr val="0000FF"/>
                </a:solidFill>
                <a:latin typeface="华文楷体" panose="02010600040101010101" pitchFamily="2" charset="-122"/>
                <a:ea typeface="华文楷体" panose="02010600040101010101" pitchFamily="2" charset="-122"/>
              </a:rPr>
              <a:t>或</a:t>
            </a:r>
            <a:r>
              <a:rPr lang="en-US" altLang="zh-CN" sz="2000" b="1">
                <a:solidFill>
                  <a:srgbClr val="0000FF"/>
                </a:solidFill>
                <a:latin typeface="华文楷体" panose="02010600040101010101" pitchFamily="2" charset="-122"/>
                <a:ea typeface="华文楷体" panose="02010600040101010101" pitchFamily="2" charset="-122"/>
              </a:rPr>
              <a:t>exit		</a:t>
            </a:r>
            <a:r>
              <a:rPr lang="zh-CN" altLang="en-US" sz="2000" b="1">
                <a:solidFill>
                  <a:srgbClr val="0000FF"/>
                </a:solidFill>
                <a:latin typeface="华文楷体" panose="02010600040101010101" pitchFamily="2" charset="-122"/>
                <a:ea typeface="华文楷体" panose="02010600040101010101" pitchFamily="2" charset="-122"/>
              </a:rPr>
              <a:t>关闭</a:t>
            </a:r>
            <a:r>
              <a:rPr lang="en-US" altLang="zh-CN" sz="2000" b="1">
                <a:solidFill>
                  <a:srgbClr val="0000FF"/>
                </a:solidFill>
                <a:latin typeface="华文楷体" panose="02010600040101010101" pitchFamily="2" charset="-122"/>
                <a:ea typeface="华文楷体" panose="02010600040101010101" pitchFamily="2" charset="-122"/>
              </a:rPr>
              <a:t>/</a:t>
            </a:r>
            <a:r>
              <a:rPr lang="zh-CN" altLang="en-US" sz="2000" b="1">
                <a:solidFill>
                  <a:srgbClr val="0000FF"/>
                </a:solidFill>
                <a:latin typeface="华文楷体" panose="02010600040101010101" pitchFamily="2" charset="-122"/>
                <a:ea typeface="华文楷体" panose="02010600040101010101" pitchFamily="2" charset="-122"/>
              </a:rPr>
              <a:t>推出</a:t>
            </a:r>
            <a:r>
              <a:rPr lang="en-US" altLang="zh-CN" sz="2000" b="1">
                <a:solidFill>
                  <a:srgbClr val="0000FF"/>
                </a:solidFill>
                <a:latin typeface="华文楷体" panose="02010600040101010101" pitchFamily="2" charset="-122"/>
                <a:ea typeface="华文楷体" panose="02010600040101010101" pitchFamily="2" charset="-122"/>
              </a:rPr>
              <a:t>MATALB</a:t>
            </a:r>
            <a:endParaRPr lang="en-US" altLang="zh-CN" sz="2000" b="1">
              <a:solidFill>
                <a:srgbClr val="0000FF"/>
              </a:solidFill>
              <a:latin typeface="华文楷体" panose="02010600040101010101" pitchFamily="2" charset="-122"/>
              <a:ea typeface="华文楷体" panose="02010600040101010101" pitchFamily="2" charset="-122"/>
            </a:endParaRPr>
          </a:p>
        </p:txBody>
      </p:sp>
      <p:sp>
        <p:nvSpPr>
          <p:cNvPr id="31747"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1933A4FB-FBF9-4110-9CDE-0CE4A2F690D8}" type="datetime1">
              <a:rPr lang="zh-CN" altLang="en-US" smtClean="0">
                <a:solidFill>
                  <a:srgbClr val="45516B"/>
                </a:solidFill>
              </a:rPr>
            </a:fld>
            <a:endParaRPr lang="zh-CN" altLang="en-US">
              <a:solidFill>
                <a:srgbClr val="45516B"/>
              </a:solidFill>
            </a:endParaRPr>
          </a:p>
        </p:txBody>
      </p:sp>
      <p:sp>
        <p:nvSpPr>
          <p:cNvPr id="31748"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37894" name="灯片编号占位符 3"/>
          <p:cNvSpPr>
            <a:spLocks noGrp="1" noChangeArrowheads="1"/>
          </p:cNvSpPr>
          <p:nvPr>
            <p:ph type="sldNum" sz="quarter" idx="12"/>
          </p:nvPr>
        </p:nvSpPr>
        <p:spPr bwMode="auto">
          <a:noFill/>
          <a:ln>
            <a:miter lim="800000"/>
          </a:ln>
        </p:spPr>
        <p:txBody>
          <a:bodyPr/>
          <a:lstStyle/>
          <a:p>
            <a:fld id="{0D8E5FB7-600F-4D01-B6E5-0253D0C43DE3}"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animEffect transition="in" filter="blinds(horizontal)">
                                      <p:cBhvr>
                                        <p:cTn id="7" dur="500"/>
                                        <p:tgtEl>
                                          <p:spTgt spid="7577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5779">
                                            <p:txEl>
                                              <p:pRg st="1" end="1"/>
                                            </p:txEl>
                                          </p:spTgt>
                                        </p:tgtEl>
                                        <p:attrNameLst>
                                          <p:attrName>style.visibility</p:attrName>
                                        </p:attrNameLst>
                                      </p:cBhvr>
                                      <p:to>
                                        <p:strVal val="visible"/>
                                      </p:to>
                                    </p:set>
                                    <p:animEffect transition="in" filter="blinds(horizontal)">
                                      <p:cBhvr>
                                        <p:cTn id="10" dur="500"/>
                                        <p:tgtEl>
                                          <p:spTgt spid="75779">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5779">
                                            <p:txEl>
                                              <p:pRg st="2" end="2"/>
                                            </p:txEl>
                                          </p:spTgt>
                                        </p:tgtEl>
                                        <p:attrNameLst>
                                          <p:attrName>style.visibility</p:attrName>
                                        </p:attrNameLst>
                                      </p:cBhvr>
                                      <p:to>
                                        <p:strVal val="visible"/>
                                      </p:to>
                                    </p:set>
                                    <p:animEffect transition="in" filter="blinds(horizontal)">
                                      <p:cBhvr>
                                        <p:cTn id="13" dur="500"/>
                                        <p:tgtEl>
                                          <p:spTgt spid="75779">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75779">
                                            <p:txEl>
                                              <p:pRg st="3" end="3"/>
                                            </p:txEl>
                                          </p:spTgt>
                                        </p:tgtEl>
                                        <p:attrNameLst>
                                          <p:attrName>style.visibility</p:attrName>
                                        </p:attrNameLst>
                                      </p:cBhvr>
                                      <p:to>
                                        <p:strVal val="visible"/>
                                      </p:to>
                                    </p:set>
                                    <p:animEffect transition="in" filter="blinds(horizontal)">
                                      <p:cBhvr>
                                        <p:cTn id="16" dur="500"/>
                                        <p:tgtEl>
                                          <p:spTgt spid="75779">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75779">
                                            <p:txEl>
                                              <p:pRg st="4" end="4"/>
                                            </p:txEl>
                                          </p:spTgt>
                                        </p:tgtEl>
                                        <p:attrNameLst>
                                          <p:attrName>style.visibility</p:attrName>
                                        </p:attrNameLst>
                                      </p:cBhvr>
                                      <p:to>
                                        <p:strVal val="visible"/>
                                      </p:to>
                                    </p:set>
                                    <p:animEffect transition="in" filter="blinds(horizontal)">
                                      <p:cBhvr>
                                        <p:cTn id="21" dur="500"/>
                                        <p:tgtEl>
                                          <p:spTgt spid="75779">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75779">
                                            <p:txEl>
                                              <p:pRg st="5" end="5"/>
                                            </p:txEl>
                                          </p:spTgt>
                                        </p:tgtEl>
                                        <p:attrNameLst>
                                          <p:attrName>style.visibility</p:attrName>
                                        </p:attrNameLst>
                                      </p:cBhvr>
                                      <p:to>
                                        <p:strVal val="visible"/>
                                      </p:to>
                                    </p:set>
                                    <p:animEffect transition="in" filter="blinds(horizontal)">
                                      <p:cBhvr>
                                        <p:cTn id="24" dur="500"/>
                                        <p:tgtEl>
                                          <p:spTgt spid="75779">
                                            <p:txEl>
                                              <p:pRg st="5" end="5"/>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75779">
                                            <p:txEl>
                                              <p:pRg st="6" end="6"/>
                                            </p:txEl>
                                          </p:spTgt>
                                        </p:tgtEl>
                                        <p:attrNameLst>
                                          <p:attrName>style.visibility</p:attrName>
                                        </p:attrNameLst>
                                      </p:cBhvr>
                                      <p:to>
                                        <p:strVal val="visible"/>
                                      </p:to>
                                    </p:set>
                                    <p:animEffect transition="in" filter="blinds(horizontal)">
                                      <p:cBhvr>
                                        <p:cTn id="27" dur="500"/>
                                        <p:tgtEl>
                                          <p:spTgt spid="75779">
                                            <p:txEl>
                                              <p:pRg st="6" end="6"/>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75779">
                                            <p:txEl>
                                              <p:pRg st="7" end="7"/>
                                            </p:txEl>
                                          </p:spTgt>
                                        </p:tgtEl>
                                        <p:attrNameLst>
                                          <p:attrName>style.visibility</p:attrName>
                                        </p:attrNameLst>
                                      </p:cBhvr>
                                      <p:to>
                                        <p:strVal val="visible"/>
                                      </p:to>
                                    </p:set>
                                    <p:animEffect transition="in" filter="blinds(horizontal)">
                                      <p:cBhvr>
                                        <p:cTn id="30" dur="500"/>
                                        <p:tgtEl>
                                          <p:spTgt spid="75779">
                                            <p:txEl>
                                              <p:pRg st="7" end="7"/>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75779">
                                            <p:txEl>
                                              <p:pRg st="8" end="8"/>
                                            </p:txEl>
                                          </p:spTgt>
                                        </p:tgtEl>
                                        <p:attrNameLst>
                                          <p:attrName>style.visibility</p:attrName>
                                        </p:attrNameLst>
                                      </p:cBhvr>
                                      <p:to>
                                        <p:strVal val="visible"/>
                                      </p:to>
                                    </p:set>
                                    <p:animEffect transition="in" filter="blinds(horizontal)">
                                      <p:cBhvr>
                                        <p:cTn id="33" dur="500"/>
                                        <p:tgtEl>
                                          <p:spTgt spid="75779">
                                            <p:txEl>
                                              <p:pRg st="8" end="8"/>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75779">
                                            <p:txEl>
                                              <p:pRg st="9" end="9"/>
                                            </p:txEl>
                                          </p:spTgt>
                                        </p:tgtEl>
                                        <p:attrNameLst>
                                          <p:attrName>style.visibility</p:attrName>
                                        </p:attrNameLst>
                                      </p:cBhvr>
                                      <p:to>
                                        <p:strVal val="visible"/>
                                      </p:to>
                                    </p:set>
                                    <p:animEffect transition="in" filter="blinds(horizontal)">
                                      <p:cBhvr>
                                        <p:cTn id="36" dur="500"/>
                                        <p:tgtEl>
                                          <p:spTgt spid="75779">
                                            <p:txEl>
                                              <p:pRg st="9" end="9"/>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75779">
                                            <p:txEl>
                                              <p:pRg st="10" end="10"/>
                                            </p:txEl>
                                          </p:spTgt>
                                        </p:tgtEl>
                                        <p:attrNameLst>
                                          <p:attrName>style.visibility</p:attrName>
                                        </p:attrNameLst>
                                      </p:cBhvr>
                                      <p:to>
                                        <p:strVal val="visible"/>
                                      </p:to>
                                    </p:set>
                                    <p:animEffect transition="in" filter="blinds(horizontal)">
                                      <p:cBhvr>
                                        <p:cTn id="39" dur="500"/>
                                        <p:tgtEl>
                                          <p:spTgt spid="75779">
                                            <p:txEl>
                                              <p:pRg st="10" end="10"/>
                                            </p:txEl>
                                          </p:spTgt>
                                        </p:tgtEl>
                                      </p:cBhvr>
                                    </p:animEffect>
                                  </p:childTnLst>
                                </p:cTn>
                              </p:par>
                              <p:par>
                                <p:cTn id="40" presetID="3" presetClass="entr" presetSubtype="10" fill="hold" nodeType="withEffect">
                                  <p:stCondLst>
                                    <p:cond delay="0"/>
                                  </p:stCondLst>
                                  <p:childTnLst>
                                    <p:set>
                                      <p:cBhvr>
                                        <p:cTn id="41" dur="1" fill="hold">
                                          <p:stCondLst>
                                            <p:cond delay="0"/>
                                          </p:stCondLst>
                                        </p:cTn>
                                        <p:tgtEl>
                                          <p:spTgt spid="75779">
                                            <p:txEl>
                                              <p:pRg st="11" end="11"/>
                                            </p:txEl>
                                          </p:spTgt>
                                        </p:tgtEl>
                                        <p:attrNameLst>
                                          <p:attrName>style.visibility</p:attrName>
                                        </p:attrNameLst>
                                      </p:cBhvr>
                                      <p:to>
                                        <p:strVal val="visible"/>
                                      </p:to>
                                    </p:set>
                                    <p:animEffect transition="in" filter="blinds(horizontal)">
                                      <p:cBhvr>
                                        <p:cTn id="42" dur="500"/>
                                        <p:tgtEl>
                                          <p:spTgt spid="75779">
                                            <p:txEl>
                                              <p:pRg st="11" end="11"/>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75779">
                                            <p:txEl>
                                              <p:pRg st="12" end="12"/>
                                            </p:txEl>
                                          </p:spTgt>
                                        </p:tgtEl>
                                        <p:attrNameLst>
                                          <p:attrName>style.visibility</p:attrName>
                                        </p:attrNameLst>
                                      </p:cBhvr>
                                      <p:to>
                                        <p:strVal val="visible"/>
                                      </p:to>
                                    </p:set>
                                    <p:animEffect transition="in" filter="blinds(horizontal)">
                                      <p:cBhvr>
                                        <p:cTn id="45" dur="500"/>
                                        <p:tgtEl>
                                          <p:spTgt spid="75779">
                                            <p:txEl>
                                              <p:pRg st="12" end="12"/>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75779">
                                            <p:txEl>
                                              <p:pRg st="13" end="13"/>
                                            </p:txEl>
                                          </p:spTgt>
                                        </p:tgtEl>
                                        <p:attrNameLst>
                                          <p:attrName>style.visibility</p:attrName>
                                        </p:attrNameLst>
                                      </p:cBhvr>
                                      <p:to>
                                        <p:strVal val="visible"/>
                                      </p:to>
                                    </p:set>
                                    <p:animEffect transition="in" filter="blinds(horizontal)">
                                      <p:cBhvr>
                                        <p:cTn id="48" dur="500"/>
                                        <p:tgtEl>
                                          <p:spTgt spid="75779">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98305"/>
          <p:cNvSpPr>
            <a:spLocks noGrp="1" noChangeArrowheads="1"/>
          </p:cNvSpPr>
          <p:nvPr>
            <p:ph type="title"/>
          </p:nvPr>
        </p:nvSpPr>
        <p:spPr>
          <a:xfrm>
            <a:off x="2640014" y="1"/>
            <a:ext cx="7793037" cy="982663"/>
          </a:xfrm>
        </p:spPr>
        <p:txBody>
          <a:bodyPr/>
          <a:lstStyle/>
          <a:p>
            <a:pPr eaLnBrk="1" hangingPunct="1"/>
            <a:r>
              <a:rPr lang="en-US" altLang="zh-CN" sz="3600" b="1" dirty="0">
                <a:solidFill>
                  <a:srgbClr val="4D009A"/>
                </a:solidFill>
                <a:latin typeface="华文楷体" panose="02010600040101010101" pitchFamily="2" charset="-122"/>
                <a:ea typeface="华文楷体" panose="02010600040101010101" pitchFamily="2" charset="-122"/>
              </a:rPr>
              <a:t>1.3   </a:t>
            </a:r>
            <a:r>
              <a:rPr lang="zh-CN" altLang="en-US" sz="3600" b="1" dirty="0">
                <a:solidFill>
                  <a:srgbClr val="4D009A"/>
                </a:solidFill>
                <a:latin typeface="华文楷体" panose="02010600040101010101" pitchFamily="2" charset="-122"/>
                <a:ea typeface="华文楷体" panose="02010600040101010101" pitchFamily="2" charset="-122"/>
              </a:rPr>
              <a:t>工作空间</a:t>
            </a:r>
            <a:endParaRPr lang="zh-CN" altLang="en-US" sz="3600" b="1" dirty="0">
              <a:solidFill>
                <a:srgbClr val="4D009A"/>
              </a:solidFill>
              <a:latin typeface="华文楷体" panose="02010600040101010101" pitchFamily="2" charset="-122"/>
              <a:ea typeface="华文楷体" panose="02010600040101010101" pitchFamily="2" charset="-122"/>
            </a:endParaRPr>
          </a:p>
        </p:txBody>
      </p:sp>
      <p:sp>
        <p:nvSpPr>
          <p:cNvPr id="98307" name="内容占位符 98306"/>
          <p:cNvSpPr>
            <a:spLocks noGrp="1" noChangeArrowheads="1"/>
          </p:cNvSpPr>
          <p:nvPr>
            <p:ph idx="1"/>
          </p:nvPr>
        </p:nvSpPr>
        <p:spPr>
          <a:xfrm>
            <a:off x="2351088" y="1341439"/>
            <a:ext cx="7561262" cy="4791075"/>
          </a:xfrm>
        </p:spPr>
        <p:txBody>
          <a:bodyPr/>
          <a:lstStyle/>
          <a:p>
            <a:pPr eaLnBrk="1" hangingPunct="1"/>
            <a:r>
              <a:rPr lang="zh-CN" altLang="en-US" sz="2600" b="1">
                <a:solidFill>
                  <a:srgbClr val="4D009A"/>
                </a:solidFill>
                <a:latin typeface="华文楷体" panose="02010600040101010101" pitchFamily="2" charset="-122"/>
                <a:ea typeface="华文楷体" panose="02010600040101010101" pitchFamily="2" charset="-122"/>
              </a:rPr>
              <a:t>查看工作空间内存变量，可以由</a:t>
            </a:r>
            <a:r>
              <a:rPr lang="en-US" altLang="zh-CN" sz="2600" b="1">
                <a:solidFill>
                  <a:srgbClr val="4D009A"/>
                </a:solidFill>
                <a:latin typeface="华文楷体" panose="02010600040101010101" pitchFamily="2" charset="-122"/>
                <a:ea typeface="华文楷体" panose="02010600040101010101" pitchFamily="2" charset="-122"/>
              </a:rPr>
              <a:t>who</a:t>
            </a:r>
            <a:r>
              <a:rPr lang="zh-CN" altLang="en-US" sz="2600" b="1">
                <a:solidFill>
                  <a:srgbClr val="4D009A"/>
                </a:solidFill>
                <a:latin typeface="华文楷体" panose="02010600040101010101" pitchFamily="2" charset="-122"/>
                <a:ea typeface="华文楷体" panose="02010600040101010101" pitchFamily="2" charset="-122"/>
              </a:rPr>
              <a:t>、</a:t>
            </a:r>
            <a:r>
              <a:rPr lang="en-US" altLang="zh-CN" sz="2600" b="1">
                <a:solidFill>
                  <a:srgbClr val="4D009A"/>
                </a:solidFill>
                <a:latin typeface="华文楷体" panose="02010600040101010101" pitchFamily="2" charset="-122"/>
                <a:ea typeface="华文楷体" panose="02010600040101010101" pitchFamily="2" charset="-122"/>
              </a:rPr>
              <a:t>whos </a:t>
            </a:r>
            <a:r>
              <a:rPr lang="zh-CN" altLang="en-US" sz="2600" b="1">
                <a:solidFill>
                  <a:srgbClr val="4D009A"/>
                </a:solidFill>
                <a:latin typeface="华文楷体" panose="02010600040101010101" pitchFamily="2" charset="-122"/>
                <a:ea typeface="华文楷体" panose="02010600040101010101" pitchFamily="2" charset="-122"/>
              </a:rPr>
              <a:t>。</a:t>
            </a:r>
            <a:endParaRPr lang="zh-CN" altLang="en-US" sz="2600" b="1">
              <a:solidFill>
                <a:srgbClr val="4D009A"/>
              </a:solidFill>
              <a:latin typeface="华文楷体" panose="02010600040101010101" pitchFamily="2" charset="-122"/>
              <a:ea typeface="华文楷体" panose="02010600040101010101" pitchFamily="2" charset="-122"/>
            </a:endParaRPr>
          </a:p>
          <a:p>
            <a:pPr eaLnBrk="1" hangingPunct="1"/>
            <a:r>
              <a:rPr lang="zh-CN" altLang="en-US" sz="2600" b="1">
                <a:solidFill>
                  <a:srgbClr val="4D009A"/>
                </a:solidFill>
                <a:latin typeface="华文楷体" panose="02010600040101010101" pitchFamily="2" charset="-122"/>
                <a:ea typeface="华文楷体" panose="02010600040101010101" pitchFamily="2" charset="-122"/>
              </a:rPr>
              <a:t>命名新变量。</a:t>
            </a:r>
            <a:endParaRPr lang="zh-CN" altLang="en-US" sz="2600" b="1">
              <a:solidFill>
                <a:srgbClr val="4D009A"/>
              </a:solidFill>
              <a:latin typeface="华文楷体" panose="02010600040101010101" pitchFamily="2" charset="-122"/>
              <a:ea typeface="华文楷体" panose="02010600040101010101" pitchFamily="2" charset="-122"/>
            </a:endParaRPr>
          </a:p>
          <a:p>
            <a:pPr eaLnBrk="1" hangingPunct="1"/>
            <a:r>
              <a:rPr lang="zh-CN" altLang="en-US" sz="2600" b="1">
                <a:solidFill>
                  <a:srgbClr val="4D009A"/>
                </a:solidFill>
                <a:latin typeface="华文楷体" panose="02010600040101010101" pitchFamily="2" charset="-122"/>
                <a:ea typeface="华文楷体" panose="02010600040101010101" pitchFamily="2" charset="-122"/>
              </a:rPr>
              <a:t>修改变量名</a:t>
            </a:r>
            <a:endParaRPr lang="zh-CN" altLang="en-US" sz="2600" b="1">
              <a:solidFill>
                <a:srgbClr val="4D009A"/>
              </a:solidFill>
              <a:latin typeface="华文楷体" panose="02010600040101010101" pitchFamily="2" charset="-122"/>
              <a:ea typeface="华文楷体" panose="02010600040101010101" pitchFamily="2" charset="-122"/>
            </a:endParaRPr>
          </a:p>
          <a:p>
            <a:pPr eaLnBrk="1" hangingPunct="1"/>
            <a:r>
              <a:rPr lang="zh-CN" altLang="en-US" sz="2600" b="1">
                <a:solidFill>
                  <a:srgbClr val="4D009A"/>
                </a:solidFill>
                <a:latin typeface="华文楷体" panose="02010600040101010101" pitchFamily="2" charset="-122"/>
                <a:ea typeface="华文楷体" panose="02010600040101010101" pitchFamily="2" charset="-122"/>
              </a:rPr>
              <a:t>删除变量</a:t>
            </a:r>
            <a:endParaRPr lang="zh-CN" altLang="en-US" sz="2600" b="1">
              <a:solidFill>
                <a:srgbClr val="4D009A"/>
              </a:solidFill>
              <a:latin typeface="华文楷体" panose="02010600040101010101" pitchFamily="2" charset="-122"/>
              <a:ea typeface="华文楷体" panose="02010600040101010101" pitchFamily="2" charset="-122"/>
            </a:endParaRPr>
          </a:p>
          <a:p>
            <a:pPr eaLnBrk="1" hangingPunct="1"/>
            <a:r>
              <a:rPr lang="zh-CN" altLang="en-US" sz="2600" b="1">
                <a:solidFill>
                  <a:srgbClr val="4D009A"/>
                </a:solidFill>
                <a:latin typeface="华文楷体" panose="02010600040101010101" pitchFamily="2" charset="-122"/>
                <a:ea typeface="华文楷体" panose="02010600040101010101" pitchFamily="2" charset="-122"/>
              </a:rPr>
              <a:t>绘图</a:t>
            </a:r>
            <a:endParaRPr lang="zh-CN" altLang="en-US" sz="2600" b="1">
              <a:solidFill>
                <a:srgbClr val="4D009A"/>
              </a:solidFill>
              <a:latin typeface="华文楷体" panose="02010600040101010101" pitchFamily="2" charset="-122"/>
              <a:ea typeface="华文楷体" panose="02010600040101010101" pitchFamily="2" charset="-122"/>
            </a:endParaRPr>
          </a:p>
          <a:p>
            <a:pPr eaLnBrk="1" hangingPunct="1"/>
            <a:r>
              <a:rPr lang="zh-CN" altLang="en-US" sz="2600" b="1">
                <a:solidFill>
                  <a:srgbClr val="4D009A"/>
                </a:solidFill>
                <a:latin typeface="华文楷体" panose="02010600040101010101" pitchFamily="2" charset="-122"/>
                <a:ea typeface="华文楷体" panose="02010600040101010101" pitchFamily="2" charset="-122"/>
              </a:rPr>
              <a:t>保存变量数据</a:t>
            </a:r>
            <a:endParaRPr lang="zh-CN" altLang="en-US" sz="2600" b="1">
              <a:solidFill>
                <a:srgbClr val="4D009A"/>
              </a:solidFill>
              <a:latin typeface="华文楷体" panose="02010600040101010101" pitchFamily="2" charset="-122"/>
              <a:ea typeface="华文楷体" panose="02010600040101010101" pitchFamily="2" charset="-122"/>
            </a:endParaRPr>
          </a:p>
          <a:p>
            <a:pPr eaLnBrk="1" hangingPunct="1"/>
            <a:r>
              <a:rPr lang="zh-CN" altLang="en-US" sz="2600" b="1">
                <a:solidFill>
                  <a:srgbClr val="4D009A"/>
                </a:solidFill>
                <a:latin typeface="华文楷体" panose="02010600040101010101" pitchFamily="2" charset="-122"/>
                <a:ea typeface="华文楷体" panose="02010600040101010101" pitchFamily="2" charset="-122"/>
              </a:rPr>
              <a:t>装入数据</a:t>
            </a:r>
            <a:endParaRPr lang="zh-CN" altLang="en-US" sz="2600" b="1">
              <a:solidFill>
                <a:srgbClr val="4D009A"/>
              </a:solidFill>
              <a:latin typeface="华文楷体" panose="02010600040101010101" pitchFamily="2" charset="-122"/>
              <a:ea typeface="华文楷体" panose="02010600040101010101" pitchFamily="2" charset="-122"/>
            </a:endParaRPr>
          </a:p>
          <a:p>
            <a:pPr eaLnBrk="1" hangingPunct="1"/>
            <a:endParaRPr lang="zh-CN" altLang="en-US" sz="2600" b="1">
              <a:solidFill>
                <a:srgbClr val="4D009A"/>
              </a:solidFill>
              <a:latin typeface="华文楷体" panose="02010600040101010101" pitchFamily="2" charset="-122"/>
              <a:ea typeface="华文楷体" panose="02010600040101010101" pitchFamily="2" charset="-122"/>
            </a:endParaRPr>
          </a:p>
        </p:txBody>
      </p:sp>
      <p:pic>
        <p:nvPicPr>
          <p:cNvPr id="98308" name="图片 98307"/>
          <p:cNvPicPr>
            <a:picLocks noChangeAspect="1" noChangeArrowheads="1"/>
          </p:cNvPicPr>
          <p:nvPr/>
        </p:nvPicPr>
        <p:blipFill>
          <a:blip r:embed="rId1" cstate="print"/>
          <a:srcRect/>
          <a:stretch>
            <a:fillRect/>
          </a:stretch>
        </p:blipFill>
        <p:spPr bwMode="auto">
          <a:xfrm>
            <a:off x="5591176" y="2565401"/>
            <a:ext cx="4392613" cy="3032125"/>
          </a:xfrm>
          <a:prstGeom prst="rect">
            <a:avLst/>
          </a:prstGeom>
          <a:noFill/>
          <a:ln w="9525">
            <a:noFill/>
            <a:miter lim="800000"/>
            <a:headEnd/>
            <a:tailEnd/>
          </a:ln>
        </p:spPr>
      </p:pic>
      <p:sp>
        <p:nvSpPr>
          <p:cNvPr id="32772"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EBF460A6-6DC8-4D63-88B6-0E6AA26B8D23}" type="datetime1">
              <a:rPr lang="zh-CN" altLang="en-US" smtClean="0">
                <a:solidFill>
                  <a:srgbClr val="45516B"/>
                </a:solidFill>
              </a:rPr>
            </a:fld>
            <a:endParaRPr lang="zh-CN" altLang="en-US">
              <a:solidFill>
                <a:srgbClr val="45516B"/>
              </a:solidFill>
            </a:endParaRPr>
          </a:p>
        </p:txBody>
      </p:sp>
      <p:sp>
        <p:nvSpPr>
          <p:cNvPr id="32773"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38919" name="灯片编号占位符 3"/>
          <p:cNvSpPr>
            <a:spLocks noGrp="1" noChangeArrowheads="1"/>
          </p:cNvSpPr>
          <p:nvPr>
            <p:ph type="sldNum" sz="quarter" idx="12"/>
          </p:nvPr>
        </p:nvSpPr>
        <p:spPr bwMode="auto">
          <a:noFill/>
          <a:ln>
            <a:miter lim="800000"/>
          </a:ln>
        </p:spPr>
        <p:txBody>
          <a:bodyPr/>
          <a:lstStyle/>
          <a:p>
            <a:fld id="{5CA51D66-3325-4E73-B3A5-B3A5DD646D2D}"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8307">
                                            <p:txEl>
                                              <p:pRg st="0" end="0"/>
                                            </p:txEl>
                                          </p:spTgt>
                                        </p:tgtEl>
                                        <p:attrNameLst>
                                          <p:attrName>style.visibility</p:attrName>
                                        </p:attrNameLst>
                                      </p:cBhvr>
                                      <p:to>
                                        <p:strVal val="visible"/>
                                      </p:to>
                                    </p:set>
                                    <p:animEffect transition="in" filter="blinds(horizontal)">
                                      <p:cBhvr>
                                        <p:cTn id="7" dur="500"/>
                                        <p:tgtEl>
                                          <p:spTgt spid="98307">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8307">
                                            <p:txEl>
                                              <p:pRg st="1" end="1"/>
                                            </p:txEl>
                                          </p:spTgt>
                                        </p:tgtEl>
                                        <p:attrNameLst>
                                          <p:attrName>style.visibility</p:attrName>
                                        </p:attrNameLst>
                                      </p:cBhvr>
                                      <p:to>
                                        <p:strVal val="visible"/>
                                      </p:to>
                                    </p:set>
                                    <p:animEffect transition="in" filter="blinds(horizontal)">
                                      <p:cBhvr>
                                        <p:cTn id="10" dur="500"/>
                                        <p:tgtEl>
                                          <p:spTgt spid="98307">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98307">
                                            <p:txEl>
                                              <p:pRg st="2" end="2"/>
                                            </p:txEl>
                                          </p:spTgt>
                                        </p:tgtEl>
                                        <p:attrNameLst>
                                          <p:attrName>style.visibility</p:attrName>
                                        </p:attrNameLst>
                                      </p:cBhvr>
                                      <p:to>
                                        <p:strVal val="visible"/>
                                      </p:to>
                                    </p:set>
                                    <p:animEffect transition="in" filter="blinds(horizontal)">
                                      <p:cBhvr>
                                        <p:cTn id="13" dur="500"/>
                                        <p:tgtEl>
                                          <p:spTgt spid="98307">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98307">
                                            <p:txEl>
                                              <p:pRg st="3" end="3"/>
                                            </p:txEl>
                                          </p:spTgt>
                                        </p:tgtEl>
                                        <p:attrNameLst>
                                          <p:attrName>style.visibility</p:attrName>
                                        </p:attrNameLst>
                                      </p:cBhvr>
                                      <p:to>
                                        <p:strVal val="visible"/>
                                      </p:to>
                                    </p:set>
                                    <p:animEffect transition="in" filter="blinds(horizontal)">
                                      <p:cBhvr>
                                        <p:cTn id="16" dur="500"/>
                                        <p:tgtEl>
                                          <p:spTgt spid="98307">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98307">
                                            <p:txEl>
                                              <p:pRg st="4" end="4"/>
                                            </p:txEl>
                                          </p:spTgt>
                                        </p:tgtEl>
                                        <p:attrNameLst>
                                          <p:attrName>style.visibility</p:attrName>
                                        </p:attrNameLst>
                                      </p:cBhvr>
                                      <p:to>
                                        <p:strVal val="visible"/>
                                      </p:to>
                                    </p:set>
                                    <p:animEffect transition="in" filter="blinds(horizontal)">
                                      <p:cBhvr>
                                        <p:cTn id="19" dur="500"/>
                                        <p:tgtEl>
                                          <p:spTgt spid="98307">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98307">
                                            <p:txEl>
                                              <p:pRg st="5" end="5"/>
                                            </p:txEl>
                                          </p:spTgt>
                                        </p:tgtEl>
                                        <p:attrNameLst>
                                          <p:attrName>style.visibility</p:attrName>
                                        </p:attrNameLst>
                                      </p:cBhvr>
                                      <p:to>
                                        <p:strVal val="visible"/>
                                      </p:to>
                                    </p:set>
                                    <p:animEffect transition="in" filter="blinds(horizontal)">
                                      <p:cBhvr>
                                        <p:cTn id="22" dur="500"/>
                                        <p:tgtEl>
                                          <p:spTgt spid="98307">
                                            <p:txEl>
                                              <p:pRg st="5" end="5"/>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98307">
                                            <p:txEl>
                                              <p:pRg st="6" end="6"/>
                                            </p:txEl>
                                          </p:spTgt>
                                        </p:tgtEl>
                                        <p:attrNameLst>
                                          <p:attrName>style.visibility</p:attrName>
                                        </p:attrNameLst>
                                      </p:cBhvr>
                                      <p:to>
                                        <p:strVal val="visible"/>
                                      </p:to>
                                    </p:set>
                                    <p:animEffect transition="in" filter="blinds(horizontal)">
                                      <p:cBhvr>
                                        <p:cTn id="25" dur="500"/>
                                        <p:tgtEl>
                                          <p:spTgt spid="98307">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98308"/>
                                        </p:tgtEl>
                                        <p:attrNameLst>
                                          <p:attrName>style.visibility</p:attrName>
                                        </p:attrNameLst>
                                      </p:cBhvr>
                                      <p:to>
                                        <p:strVal val="visible"/>
                                      </p:to>
                                    </p:set>
                                    <p:animEffect transition="in" filter="blinds(horizontal)">
                                      <p:cBhvr>
                                        <p:cTn id="30" dur="500"/>
                                        <p:tgtEl>
                                          <p:spTgt spid="98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97281"/>
          <p:cNvSpPr>
            <a:spLocks noGrp="1" noChangeArrowheads="1"/>
          </p:cNvSpPr>
          <p:nvPr>
            <p:ph type="title"/>
          </p:nvPr>
        </p:nvSpPr>
        <p:spPr>
          <a:xfrm>
            <a:off x="2640014" y="1"/>
            <a:ext cx="7793037" cy="982663"/>
          </a:xfrm>
        </p:spPr>
        <p:txBody>
          <a:bodyPr/>
          <a:lstStyle/>
          <a:p>
            <a:pPr marL="838200" indent="-838200"/>
            <a:r>
              <a:rPr lang="en-US" altLang="zh-CN" sz="3200" b="1" dirty="0">
                <a:solidFill>
                  <a:srgbClr val="4D009A"/>
                </a:solidFill>
                <a:latin typeface="华文楷体" panose="02010600040101010101" pitchFamily="2" charset="-122"/>
                <a:ea typeface="华文楷体" panose="02010600040101010101" pitchFamily="2" charset="-122"/>
              </a:rPr>
              <a:t>1.4 </a:t>
            </a:r>
            <a:r>
              <a:rPr lang="zh-CN" altLang="en-US" sz="3200" b="1" dirty="0">
                <a:solidFill>
                  <a:srgbClr val="4D009A"/>
                </a:solidFill>
                <a:latin typeface="华文楷体" panose="02010600040101010101" pitchFamily="2" charset="-122"/>
                <a:ea typeface="华文楷体" panose="02010600040101010101" pitchFamily="2" charset="-122"/>
              </a:rPr>
              <a:t>历史窗口</a:t>
            </a:r>
            <a:endParaRPr lang="zh-CN" altLang="en-US" sz="2600" b="1" dirty="0">
              <a:solidFill>
                <a:srgbClr val="4D009A"/>
              </a:solidFill>
              <a:latin typeface="华文楷体" panose="02010600040101010101" pitchFamily="2" charset="-122"/>
              <a:ea typeface="华文楷体" panose="02010600040101010101" pitchFamily="2" charset="-122"/>
            </a:endParaRPr>
          </a:p>
        </p:txBody>
      </p:sp>
      <p:sp>
        <p:nvSpPr>
          <p:cNvPr id="97283" name="矩形 97282"/>
          <p:cNvSpPr>
            <a:spLocks noChangeArrowheads="1"/>
          </p:cNvSpPr>
          <p:nvPr/>
        </p:nvSpPr>
        <p:spPr bwMode="auto">
          <a:xfrm>
            <a:off x="2279650" y="1341438"/>
            <a:ext cx="7200900" cy="3776662"/>
          </a:xfrm>
          <a:prstGeom prst="rect">
            <a:avLst/>
          </a:prstGeom>
          <a:noFill/>
          <a:ln w="9525">
            <a:noFill/>
            <a:miter lim="800000"/>
          </a:ln>
        </p:spPr>
        <p:txBody>
          <a:bodyPr anchor="ctr">
            <a:spAutoFit/>
          </a:bodyPr>
          <a:lstStyle/>
          <a:p>
            <a:pPr>
              <a:lnSpc>
                <a:spcPct val="110000"/>
              </a:lnSpc>
              <a:spcBef>
                <a:spcPct val="0"/>
              </a:spcBef>
              <a:buFont typeface="Wingdings" panose="05000000000000000000" pitchFamily="2" charset="2"/>
              <a:buChar char="n"/>
            </a:pPr>
            <a:r>
              <a:rPr lang="zh-CN" altLang="en-US" sz="2600" b="1">
                <a:solidFill>
                  <a:srgbClr val="4D009A"/>
                </a:solidFill>
                <a:latin typeface="华文楷体" panose="02010600040101010101" pitchFamily="2" charset="-122"/>
                <a:ea typeface="华文楷体" panose="02010600040101010101" pitchFamily="2" charset="-122"/>
              </a:rPr>
              <a:t>历史窗口：</a:t>
            </a:r>
            <a:endParaRPr lang="zh-CN" altLang="en-US" sz="2600" b="1">
              <a:solidFill>
                <a:srgbClr val="4D009A"/>
              </a:solidFill>
              <a:latin typeface="华文楷体" panose="02010600040101010101" pitchFamily="2" charset="-122"/>
              <a:ea typeface="华文楷体" panose="02010600040101010101" pitchFamily="2" charset="-122"/>
            </a:endParaRPr>
          </a:p>
          <a:p>
            <a:pPr lvl="1">
              <a:lnSpc>
                <a:spcPct val="110000"/>
              </a:lnSpc>
              <a:spcBef>
                <a:spcPct val="0"/>
              </a:spcBef>
              <a:buFont typeface="Wingdings" panose="05000000000000000000" pitchFamily="2" charset="2"/>
              <a:buChar char="n"/>
            </a:pPr>
            <a:r>
              <a:rPr lang="zh-CN" altLang="en-US" sz="2400" b="1">
                <a:solidFill>
                  <a:srgbClr val="0000FF"/>
                </a:solidFill>
                <a:latin typeface="华文楷体" panose="02010600040101010101" pitchFamily="2" charset="-122"/>
                <a:ea typeface="华文楷体" panose="02010600040101010101" pitchFamily="2" charset="-122"/>
              </a:rPr>
              <a:t>首先</a:t>
            </a:r>
            <a:r>
              <a:rPr lang="zh-CN" altLang="en-US" sz="2400" b="1">
                <a:solidFill>
                  <a:schemeClr val="hlink"/>
                </a:solidFill>
                <a:latin typeface="华文楷体" panose="02010600040101010101" pitchFamily="2" charset="-122"/>
                <a:ea typeface="华文楷体" panose="02010600040101010101" pitchFamily="2" charset="-122"/>
              </a:rPr>
              <a:t>记录每次启动时间</a:t>
            </a:r>
            <a:endParaRPr lang="zh-CN" altLang="en-US" sz="2400" b="1">
              <a:solidFill>
                <a:srgbClr val="0000FF"/>
              </a:solidFill>
              <a:latin typeface="华文楷体" panose="02010600040101010101" pitchFamily="2" charset="-122"/>
              <a:ea typeface="华文楷体" panose="02010600040101010101" pitchFamily="2" charset="-122"/>
            </a:endParaRPr>
          </a:p>
          <a:p>
            <a:pPr lvl="1">
              <a:lnSpc>
                <a:spcPct val="110000"/>
              </a:lnSpc>
              <a:spcBef>
                <a:spcPct val="0"/>
              </a:spcBef>
              <a:buFont typeface="Wingdings" panose="05000000000000000000" pitchFamily="2" charset="2"/>
              <a:buChar char="n"/>
            </a:pPr>
            <a:r>
              <a:rPr lang="zh-CN" altLang="en-US" sz="2400" b="1">
                <a:solidFill>
                  <a:srgbClr val="0000FF"/>
                </a:solidFill>
                <a:latin typeface="华文楷体" panose="02010600040101010101" pitchFamily="2" charset="-122"/>
                <a:ea typeface="华文楷体" panose="02010600040101010101" pitchFamily="2" charset="-122"/>
              </a:rPr>
              <a:t>并</a:t>
            </a:r>
            <a:r>
              <a:rPr lang="zh-CN" altLang="en-US" sz="2400" b="1">
                <a:solidFill>
                  <a:schemeClr val="hlink"/>
                </a:solidFill>
                <a:latin typeface="华文楷体" panose="02010600040101010101" pitchFamily="2" charset="-122"/>
                <a:ea typeface="华文楷体" panose="02010600040101010101" pitchFamily="2" charset="-122"/>
              </a:rPr>
              <a:t>记录在命令窗口输入命令</a:t>
            </a:r>
            <a:r>
              <a:rPr lang="zh-CN" altLang="en-US" sz="2400" b="1">
                <a:solidFill>
                  <a:srgbClr val="0000FF"/>
                </a:solidFill>
                <a:latin typeface="华文楷体" panose="02010600040101010101" pitchFamily="2" charset="-122"/>
                <a:ea typeface="华文楷体" panose="02010600040101010101" pitchFamily="2" charset="-122"/>
              </a:rPr>
              <a:t>，此次运行期间，输入的所有命令被记录为一组，并以此次启动时间为标志。</a:t>
            </a:r>
            <a:endParaRPr lang="zh-CN" altLang="en-US" sz="2400" b="1">
              <a:solidFill>
                <a:srgbClr val="0000FF"/>
              </a:solidFill>
              <a:latin typeface="华文楷体" panose="02010600040101010101" pitchFamily="2" charset="-122"/>
              <a:ea typeface="华文楷体" panose="02010600040101010101" pitchFamily="2" charset="-122"/>
            </a:endParaRPr>
          </a:p>
          <a:p>
            <a:pPr>
              <a:lnSpc>
                <a:spcPct val="110000"/>
              </a:lnSpc>
              <a:spcBef>
                <a:spcPct val="0"/>
              </a:spcBef>
              <a:buFont typeface="Wingdings" panose="05000000000000000000" pitchFamily="2" charset="2"/>
              <a:buChar char="n"/>
            </a:pPr>
            <a:r>
              <a:rPr lang="zh-CN" altLang="en-US" sz="2600" b="1">
                <a:solidFill>
                  <a:srgbClr val="4D009A"/>
                </a:solidFill>
                <a:latin typeface="华文楷体" panose="02010600040101010101" pitchFamily="2" charset="-122"/>
                <a:ea typeface="华文楷体" panose="02010600040101010101" pitchFamily="2" charset="-122"/>
              </a:rPr>
              <a:t>使用历史窗口：</a:t>
            </a:r>
            <a:endParaRPr lang="zh-CN" altLang="en-US" sz="2600" b="1">
              <a:solidFill>
                <a:srgbClr val="4D009A"/>
              </a:solidFill>
              <a:latin typeface="华文楷体" panose="02010600040101010101" pitchFamily="2" charset="-122"/>
              <a:ea typeface="华文楷体" panose="02010600040101010101" pitchFamily="2" charset="-122"/>
            </a:endParaRPr>
          </a:p>
          <a:p>
            <a:pPr lvl="1">
              <a:lnSpc>
                <a:spcPct val="110000"/>
              </a:lnSpc>
              <a:spcBef>
                <a:spcPct val="0"/>
              </a:spcBef>
              <a:buFont typeface="Wingdings" panose="05000000000000000000" pitchFamily="2" charset="2"/>
              <a:buChar char="n"/>
            </a:pPr>
            <a:r>
              <a:rPr lang="zh-CN" altLang="en-US" sz="2400" b="1">
                <a:solidFill>
                  <a:srgbClr val="0000FF"/>
                </a:solidFill>
                <a:latin typeface="华文楷体" panose="02010600040101010101" pitchFamily="2" charset="-122"/>
                <a:ea typeface="华文楷体" panose="02010600040101010101" pitchFamily="2" charset="-122"/>
              </a:rPr>
              <a:t>可以查看命令窗口输入过的命令或语句</a:t>
            </a:r>
            <a:endParaRPr lang="zh-CN" altLang="en-US" sz="2400" b="1">
              <a:solidFill>
                <a:srgbClr val="0000FF"/>
              </a:solidFill>
              <a:latin typeface="华文楷体" panose="02010600040101010101" pitchFamily="2" charset="-122"/>
              <a:ea typeface="华文楷体" panose="02010600040101010101" pitchFamily="2" charset="-122"/>
            </a:endParaRPr>
          </a:p>
          <a:p>
            <a:pPr lvl="1">
              <a:lnSpc>
                <a:spcPct val="110000"/>
              </a:lnSpc>
              <a:spcBef>
                <a:spcPct val="0"/>
              </a:spcBef>
              <a:buFont typeface="Wingdings" panose="05000000000000000000" pitchFamily="2" charset="2"/>
              <a:buChar char="n"/>
            </a:pPr>
            <a:r>
              <a:rPr lang="zh-CN" altLang="en-US" sz="2400" b="1">
                <a:solidFill>
                  <a:srgbClr val="0000FF"/>
                </a:solidFill>
                <a:latin typeface="华文楷体" panose="02010600040101010101" pitchFamily="2" charset="-122"/>
                <a:ea typeface="华文楷体" panose="02010600040101010101" pitchFamily="2" charset="-122"/>
              </a:rPr>
              <a:t>可以选择一条或多条命令执行拷贝、执行、创建</a:t>
            </a:r>
            <a:r>
              <a:rPr lang="en-US" altLang="zh-CN" sz="2400" b="1">
                <a:solidFill>
                  <a:srgbClr val="0000FF"/>
                </a:solidFill>
                <a:latin typeface="华文楷体" panose="02010600040101010101" pitchFamily="2" charset="-122"/>
                <a:ea typeface="华文楷体" panose="02010600040101010101" pitchFamily="2" charset="-122"/>
              </a:rPr>
              <a:t>M</a:t>
            </a:r>
            <a:r>
              <a:rPr lang="zh-CN" altLang="en-US" sz="2400" b="1">
                <a:solidFill>
                  <a:srgbClr val="0000FF"/>
                </a:solidFill>
                <a:latin typeface="华文楷体" panose="02010600040101010101" pitchFamily="2" charset="-122"/>
                <a:ea typeface="华文楷体" panose="02010600040101010101" pitchFamily="2" charset="-122"/>
              </a:rPr>
              <a:t>文件等。 </a:t>
            </a:r>
            <a:endParaRPr lang="zh-CN" altLang="en-US" sz="2400" b="1">
              <a:solidFill>
                <a:srgbClr val="0000FF"/>
              </a:solidFill>
              <a:latin typeface="华文楷体" panose="02010600040101010101" pitchFamily="2" charset="-122"/>
              <a:ea typeface="华文楷体" panose="02010600040101010101" pitchFamily="2" charset="-122"/>
            </a:endParaRPr>
          </a:p>
        </p:txBody>
      </p:sp>
      <p:sp>
        <p:nvSpPr>
          <p:cNvPr id="39940" name="文本框 97284"/>
          <p:cNvSpPr txBox="1">
            <a:spLocks noChangeArrowheads="1"/>
          </p:cNvSpPr>
          <p:nvPr/>
        </p:nvSpPr>
        <p:spPr bwMode="auto">
          <a:xfrm>
            <a:off x="2243138" y="5300664"/>
            <a:ext cx="8424862" cy="830997"/>
          </a:xfrm>
          <a:prstGeom prst="rect">
            <a:avLst/>
          </a:prstGeom>
          <a:noFill/>
          <a:ln w="9525">
            <a:noFill/>
            <a:miter lim="800000"/>
          </a:ln>
        </p:spPr>
        <p:txBody>
          <a:bodyPr>
            <a:spAutoFit/>
          </a:bodyPr>
          <a:lstStyle/>
          <a:p>
            <a:pPr>
              <a:spcBef>
                <a:spcPct val="50000"/>
              </a:spcBef>
              <a:buFont typeface="Wingdings" panose="05000000000000000000" pitchFamily="2" charset="2"/>
              <a:buNone/>
            </a:pPr>
            <a:r>
              <a:rPr lang="zh-CN" altLang="en-US" sz="2400" b="1">
                <a:solidFill>
                  <a:schemeClr val="hlink"/>
                </a:solidFill>
                <a:latin typeface="Times New Roman" panose="02020603050405020304" pitchFamily="18" charset="0"/>
                <a:ea typeface="华文楷体" panose="02010600040101010101" pitchFamily="2" charset="-122"/>
              </a:rPr>
              <a:t>要清除历史记录，可以选择</a:t>
            </a:r>
            <a:r>
              <a:rPr lang="en-US" altLang="zh-CN" sz="2400" b="1">
                <a:solidFill>
                  <a:schemeClr val="hlink"/>
                </a:solidFill>
                <a:latin typeface="Times New Roman" panose="02020603050405020304" pitchFamily="18" charset="0"/>
                <a:ea typeface="华文楷体" panose="02010600040101010101" pitchFamily="2" charset="-122"/>
              </a:rPr>
              <a:t>Edit</a:t>
            </a:r>
            <a:r>
              <a:rPr lang="zh-CN" altLang="en-US" sz="2400" b="1">
                <a:solidFill>
                  <a:schemeClr val="hlink"/>
                </a:solidFill>
                <a:latin typeface="Times New Roman" panose="02020603050405020304" pitchFamily="18" charset="0"/>
                <a:ea typeface="华文楷体" panose="02010600040101010101" pitchFamily="2" charset="-122"/>
              </a:rPr>
              <a:t>菜单中的</a:t>
            </a:r>
            <a:r>
              <a:rPr lang="en-US" altLang="zh-CN" sz="2400" b="1">
                <a:solidFill>
                  <a:schemeClr val="hlink"/>
                </a:solidFill>
                <a:latin typeface="Times New Roman" panose="02020603050405020304" pitchFamily="18" charset="0"/>
                <a:ea typeface="华文楷体" panose="02010600040101010101" pitchFamily="2" charset="-122"/>
              </a:rPr>
              <a:t>Clear Command History </a:t>
            </a:r>
            <a:r>
              <a:rPr lang="zh-CN" altLang="en-US" sz="2400" b="1">
                <a:solidFill>
                  <a:schemeClr val="hlink"/>
                </a:solidFill>
                <a:latin typeface="Times New Roman" panose="02020603050405020304" pitchFamily="18" charset="0"/>
                <a:ea typeface="华文楷体" panose="02010600040101010101" pitchFamily="2" charset="-122"/>
              </a:rPr>
              <a:t>命令</a:t>
            </a:r>
            <a:endParaRPr lang="zh-CN" altLang="en-US" sz="2400" b="1">
              <a:solidFill>
                <a:schemeClr val="hlink"/>
              </a:solidFill>
              <a:latin typeface="Times New Roman" panose="02020603050405020304" pitchFamily="18" charset="0"/>
              <a:ea typeface="华文楷体" panose="02010600040101010101" pitchFamily="2" charset="-122"/>
            </a:endParaRPr>
          </a:p>
        </p:txBody>
      </p:sp>
      <p:sp>
        <p:nvSpPr>
          <p:cNvPr id="33796"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710D9D3B-F748-4201-8E61-BE8D40ECFC69}" type="datetime1">
              <a:rPr lang="zh-CN" altLang="en-US" smtClean="0">
                <a:solidFill>
                  <a:srgbClr val="45516B"/>
                </a:solidFill>
              </a:rPr>
            </a:fld>
            <a:endParaRPr lang="zh-CN" altLang="en-US">
              <a:solidFill>
                <a:srgbClr val="45516B"/>
              </a:solidFill>
            </a:endParaRPr>
          </a:p>
        </p:txBody>
      </p:sp>
      <p:sp>
        <p:nvSpPr>
          <p:cNvPr id="33797"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39943" name="灯片编号占位符 3"/>
          <p:cNvSpPr>
            <a:spLocks noGrp="1" noChangeArrowheads="1"/>
          </p:cNvSpPr>
          <p:nvPr>
            <p:ph type="sldNum" sz="quarter" idx="12"/>
          </p:nvPr>
        </p:nvSpPr>
        <p:spPr bwMode="auto">
          <a:noFill/>
          <a:ln>
            <a:miter lim="800000"/>
          </a:ln>
        </p:spPr>
        <p:txBody>
          <a:bodyPr/>
          <a:lstStyle/>
          <a:p>
            <a:fld id="{90FD5C2A-1818-408F-AB5D-F3F3BE3DA049}"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7283">
                                            <p:txEl>
                                              <p:pRg st="0" end="0"/>
                                            </p:txEl>
                                          </p:spTgt>
                                        </p:tgtEl>
                                        <p:attrNameLst>
                                          <p:attrName>style.visibility</p:attrName>
                                        </p:attrNameLst>
                                      </p:cBhvr>
                                      <p:to>
                                        <p:strVal val="visible"/>
                                      </p:to>
                                    </p:set>
                                    <p:animEffect transition="in" filter="blinds(horizontal)">
                                      <p:cBhvr>
                                        <p:cTn id="7" dur="500"/>
                                        <p:tgtEl>
                                          <p:spTgt spid="9728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7283">
                                            <p:txEl>
                                              <p:pRg st="1" end="1"/>
                                            </p:txEl>
                                          </p:spTgt>
                                        </p:tgtEl>
                                        <p:attrNameLst>
                                          <p:attrName>style.visibility</p:attrName>
                                        </p:attrNameLst>
                                      </p:cBhvr>
                                      <p:to>
                                        <p:strVal val="visible"/>
                                      </p:to>
                                    </p:set>
                                    <p:animEffect transition="in" filter="blinds(horizontal)">
                                      <p:cBhvr>
                                        <p:cTn id="10" dur="500"/>
                                        <p:tgtEl>
                                          <p:spTgt spid="9728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97283">
                                            <p:txEl>
                                              <p:pRg st="2" end="2"/>
                                            </p:txEl>
                                          </p:spTgt>
                                        </p:tgtEl>
                                        <p:attrNameLst>
                                          <p:attrName>style.visibility</p:attrName>
                                        </p:attrNameLst>
                                      </p:cBhvr>
                                      <p:to>
                                        <p:strVal val="visible"/>
                                      </p:to>
                                    </p:set>
                                    <p:animEffect transition="in" filter="blinds(horizontal)">
                                      <p:cBhvr>
                                        <p:cTn id="13" dur="500"/>
                                        <p:tgtEl>
                                          <p:spTgt spid="9728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97283">
                                            <p:txEl>
                                              <p:pRg st="3" end="3"/>
                                            </p:txEl>
                                          </p:spTgt>
                                        </p:tgtEl>
                                        <p:attrNameLst>
                                          <p:attrName>style.visibility</p:attrName>
                                        </p:attrNameLst>
                                      </p:cBhvr>
                                      <p:to>
                                        <p:strVal val="visible"/>
                                      </p:to>
                                    </p:set>
                                    <p:animEffect transition="in" filter="blinds(horizontal)">
                                      <p:cBhvr>
                                        <p:cTn id="18" dur="500"/>
                                        <p:tgtEl>
                                          <p:spTgt spid="97283">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97283">
                                            <p:txEl>
                                              <p:pRg st="4" end="4"/>
                                            </p:txEl>
                                          </p:spTgt>
                                        </p:tgtEl>
                                        <p:attrNameLst>
                                          <p:attrName>style.visibility</p:attrName>
                                        </p:attrNameLst>
                                      </p:cBhvr>
                                      <p:to>
                                        <p:strVal val="visible"/>
                                      </p:to>
                                    </p:set>
                                    <p:animEffect transition="in" filter="blinds(horizontal)">
                                      <p:cBhvr>
                                        <p:cTn id="21" dur="500"/>
                                        <p:tgtEl>
                                          <p:spTgt spid="97283">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97283">
                                            <p:txEl>
                                              <p:pRg st="5" end="5"/>
                                            </p:txEl>
                                          </p:spTgt>
                                        </p:tgtEl>
                                        <p:attrNameLst>
                                          <p:attrName>style.visibility</p:attrName>
                                        </p:attrNameLst>
                                      </p:cBhvr>
                                      <p:to>
                                        <p:strVal val="visible"/>
                                      </p:to>
                                    </p:set>
                                    <p:animEffect transition="in" filter="blinds(horizontal)">
                                      <p:cBhvr>
                                        <p:cTn id="24" dur="500"/>
                                        <p:tgtEl>
                                          <p:spTgt spid="9728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矩形 100355"/>
          <p:cNvSpPr>
            <a:spLocks noChangeArrowheads="1"/>
          </p:cNvSpPr>
          <p:nvPr/>
        </p:nvSpPr>
        <p:spPr bwMode="auto">
          <a:xfrm>
            <a:off x="2640014" y="1"/>
            <a:ext cx="7793037" cy="982663"/>
          </a:xfrm>
          <a:prstGeom prst="rect">
            <a:avLst/>
          </a:prstGeom>
          <a:noFill/>
          <a:ln w="9525">
            <a:noFill/>
            <a:miter lim="800000"/>
          </a:ln>
        </p:spPr>
        <p:txBody>
          <a:bodyPr anchor="b"/>
          <a:lstStyle/>
          <a:p>
            <a:pPr marL="838200" indent="-838200">
              <a:spcBef>
                <a:spcPct val="0"/>
              </a:spcBef>
            </a:pPr>
            <a:r>
              <a:rPr lang="en-US" altLang="zh-CN" sz="3200" b="1" dirty="0">
                <a:solidFill>
                  <a:srgbClr val="4D009A"/>
                </a:solidFill>
                <a:latin typeface="华文楷体" panose="02010600040101010101" pitchFamily="2" charset="-122"/>
                <a:ea typeface="华文楷体" panose="02010600040101010101" pitchFamily="2" charset="-122"/>
              </a:rPr>
              <a:t>1.5 </a:t>
            </a:r>
            <a:r>
              <a:rPr lang="zh-CN" altLang="en-US" sz="3200" b="1" dirty="0">
                <a:solidFill>
                  <a:srgbClr val="4D009A"/>
                </a:solidFill>
                <a:latin typeface="华文楷体" panose="02010600040101010101" pitchFamily="2" charset="-122"/>
                <a:ea typeface="华文楷体" panose="02010600040101010101" pitchFamily="2" charset="-122"/>
              </a:rPr>
              <a:t>当前目录窗口和搜索路径</a:t>
            </a:r>
            <a:endParaRPr lang="zh-CN" altLang="en-US" sz="2600" b="1" dirty="0">
              <a:solidFill>
                <a:srgbClr val="4D009A"/>
              </a:solidFill>
              <a:latin typeface="华文楷体" panose="02010600040101010101" pitchFamily="2" charset="-122"/>
              <a:ea typeface="华文楷体" panose="02010600040101010101" pitchFamily="2" charset="-122"/>
            </a:endParaRPr>
          </a:p>
        </p:txBody>
      </p:sp>
      <p:sp>
        <p:nvSpPr>
          <p:cNvPr id="40963" name="矩形 100356"/>
          <p:cNvSpPr>
            <a:spLocks noChangeArrowheads="1"/>
          </p:cNvSpPr>
          <p:nvPr/>
        </p:nvSpPr>
        <p:spPr bwMode="auto">
          <a:xfrm>
            <a:off x="2279651" y="1557339"/>
            <a:ext cx="7993063" cy="4752975"/>
          </a:xfrm>
          <a:prstGeom prst="rect">
            <a:avLst/>
          </a:prstGeom>
          <a:noFill/>
          <a:ln w="9525">
            <a:noFill/>
            <a:miter lim="800000"/>
          </a:ln>
        </p:spPr>
        <p:txBody>
          <a:bodyPr/>
          <a:lstStyle/>
          <a:p>
            <a:pPr marL="609600" indent="-609600">
              <a:lnSpc>
                <a:spcPct val="115000"/>
              </a:lnSpc>
              <a:buClr>
                <a:srgbClr val="4D009A"/>
              </a:buClr>
            </a:pPr>
            <a:r>
              <a:rPr lang="zh-CN" altLang="en-US" sz="2600" b="1">
                <a:solidFill>
                  <a:schemeClr val="hlink"/>
                </a:solidFill>
                <a:latin typeface="Times New Roman" panose="02020603050405020304" pitchFamily="18" charset="0"/>
                <a:ea typeface="华文楷体" panose="02010600040101010101" pitchFamily="2" charset="-122"/>
              </a:rPr>
              <a:t>当前目录窗口：</a:t>
            </a:r>
            <a:r>
              <a:rPr lang="zh-CN" altLang="en-US" sz="2600" b="1">
                <a:solidFill>
                  <a:srgbClr val="4D009A"/>
                </a:solidFill>
                <a:latin typeface="Times New Roman" panose="02020603050405020304" pitchFamily="18" charset="0"/>
                <a:ea typeface="华文楷体" panose="02010600040101010101" pitchFamily="2" charset="-122"/>
              </a:rPr>
              <a:t>指</a:t>
            </a:r>
            <a:r>
              <a:rPr lang="en-US" altLang="zh-CN" sz="2600" b="1">
                <a:solidFill>
                  <a:srgbClr val="4D009A"/>
                </a:solidFill>
                <a:latin typeface="Times New Roman" panose="02020603050405020304" pitchFamily="18" charset="0"/>
                <a:ea typeface="华文楷体" panose="02010600040101010101" pitchFamily="2" charset="-122"/>
              </a:rPr>
              <a:t>Matlab</a:t>
            </a:r>
            <a:r>
              <a:rPr lang="zh-CN" altLang="en-US" sz="2600" b="1">
                <a:solidFill>
                  <a:srgbClr val="4D009A"/>
                </a:solidFill>
                <a:latin typeface="Times New Roman" panose="02020603050405020304" pitchFamily="18" charset="0"/>
                <a:ea typeface="华文楷体" panose="02010600040101010101" pitchFamily="2" charset="-122"/>
              </a:rPr>
              <a:t>运行时的工作目录。</a:t>
            </a:r>
            <a:endParaRPr lang="zh-CN" altLang="en-US" sz="2600" b="1">
              <a:solidFill>
                <a:srgbClr val="4D009A"/>
              </a:solidFill>
              <a:latin typeface="Times New Roman" panose="02020603050405020304" pitchFamily="18" charset="0"/>
              <a:ea typeface="华文楷体" panose="02010600040101010101" pitchFamily="2" charset="-122"/>
            </a:endParaRPr>
          </a:p>
          <a:p>
            <a:pPr marL="609600" indent="-609600">
              <a:lnSpc>
                <a:spcPct val="115000"/>
              </a:lnSpc>
              <a:buClr>
                <a:srgbClr val="4D009A"/>
              </a:buClr>
              <a:buFont typeface="Wingdings" panose="05000000000000000000" pitchFamily="2" charset="2"/>
              <a:buChar char="l"/>
            </a:pPr>
            <a:r>
              <a:rPr lang="zh-CN" altLang="en-US" sz="2400" b="1">
                <a:solidFill>
                  <a:srgbClr val="0000FF"/>
                </a:solidFill>
                <a:latin typeface="Times New Roman" panose="02020603050405020304" pitchFamily="18" charset="0"/>
                <a:ea typeface="华文楷体" panose="02010600040101010101" pitchFamily="2" charset="-122"/>
              </a:rPr>
              <a:t>只有在当前目录和搜索路径下的文件、函数才可以被运行和调用。</a:t>
            </a:r>
            <a:endParaRPr lang="zh-CN" altLang="en-US" sz="2400" b="1">
              <a:solidFill>
                <a:srgbClr val="0000FF"/>
              </a:solidFill>
              <a:latin typeface="Times New Roman" panose="02020603050405020304" pitchFamily="18" charset="0"/>
              <a:ea typeface="华文楷体" panose="02010600040101010101" pitchFamily="2" charset="-122"/>
            </a:endParaRPr>
          </a:p>
          <a:p>
            <a:pPr marL="609600" indent="-609600">
              <a:lnSpc>
                <a:spcPct val="115000"/>
              </a:lnSpc>
              <a:buClr>
                <a:srgbClr val="4D009A"/>
              </a:buClr>
              <a:buFont typeface="Wingdings" panose="05000000000000000000" pitchFamily="2" charset="2"/>
              <a:buChar char="l"/>
            </a:pPr>
            <a:r>
              <a:rPr lang="zh-CN" altLang="en-US" sz="2400" b="1">
                <a:solidFill>
                  <a:srgbClr val="0000FF"/>
                </a:solidFill>
                <a:latin typeface="Times New Roman" panose="02020603050405020304" pitchFamily="18" charset="0"/>
                <a:ea typeface="华文楷体" panose="02010600040101010101" pitchFamily="2" charset="-122"/>
              </a:rPr>
              <a:t>如果没有特殊指明，数据文件也将存放在当前目录下；</a:t>
            </a:r>
            <a:endParaRPr lang="zh-CN" altLang="en-US" sz="2400" b="1">
              <a:solidFill>
                <a:srgbClr val="0000FF"/>
              </a:solidFill>
              <a:latin typeface="Times New Roman" panose="02020603050405020304" pitchFamily="18" charset="0"/>
              <a:ea typeface="华文楷体" panose="02010600040101010101" pitchFamily="2" charset="-122"/>
            </a:endParaRPr>
          </a:p>
          <a:p>
            <a:pPr marL="609600" indent="-609600">
              <a:lnSpc>
                <a:spcPct val="115000"/>
              </a:lnSpc>
              <a:buClr>
                <a:srgbClr val="4D009A"/>
              </a:buClr>
              <a:buFont typeface="Wingdings" panose="05000000000000000000" pitchFamily="2" charset="2"/>
              <a:buChar char="l"/>
            </a:pPr>
            <a:r>
              <a:rPr lang="zh-CN" altLang="en-US" sz="2400" b="1">
                <a:solidFill>
                  <a:srgbClr val="0000FF"/>
                </a:solidFill>
                <a:latin typeface="Times New Roman" panose="02020603050405020304" pitchFamily="18" charset="0"/>
                <a:ea typeface="华文楷体" panose="02010600040101010101" pitchFamily="2" charset="-122"/>
              </a:rPr>
              <a:t>用户可以将自己的工作目录设置成当前目录，从而使得所有操作都在当前目录中进行。</a:t>
            </a:r>
            <a:endParaRPr lang="zh-CN" altLang="en-US" sz="2400" b="1">
              <a:solidFill>
                <a:srgbClr val="0000FF"/>
              </a:solidFill>
              <a:latin typeface="Times New Roman" panose="02020603050405020304" pitchFamily="18" charset="0"/>
              <a:ea typeface="华文楷体" panose="02010600040101010101" pitchFamily="2" charset="-122"/>
            </a:endParaRPr>
          </a:p>
        </p:txBody>
      </p:sp>
      <p:sp>
        <p:nvSpPr>
          <p:cNvPr id="34819"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F176AE68-973C-4125-BEC1-DDEEB78C8DAF}" type="datetime1">
              <a:rPr lang="zh-CN" altLang="en-US" smtClean="0">
                <a:solidFill>
                  <a:srgbClr val="45516B"/>
                </a:solidFill>
              </a:rPr>
            </a:fld>
            <a:endParaRPr lang="zh-CN" altLang="en-US">
              <a:solidFill>
                <a:srgbClr val="45516B"/>
              </a:solidFill>
            </a:endParaRPr>
          </a:p>
        </p:txBody>
      </p:sp>
      <p:sp>
        <p:nvSpPr>
          <p:cNvPr id="34820"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40966" name="灯片编号占位符 3"/>
          <p:cNvSpPr>
            <a:spLocks noGrp="1" noChangeArrowheads="1"/>
          </p:cNvSpPr>
          <p:nvPr>
            <p:ph type="sldNum" sz="quarter" idx="12"/>
          </p:nvPr>
        </p:nvSpPr>
        <p:spPr bwMode="auto">
          <a:noFill/>
          <a:ln>
            <a:miter lim="800000"/>
          </a:ln>
        </p:spPr>
        <p:txBody>
          <a:bodyPr/>
          <a:lstStyle/>
          <a:p>
            <a:fld id="{F0B37063-6490-4A61-B8EC-9F1950E3DE12}"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矩形 101379"/>
          <p:cNvSpPr>
            <a:spLocks noChangeArrowheads="1"/>
          </p:cNvSpPr>
          <p:nvPr/>
        </p:nvSpPr>
        <p:spPr bwMode="auto">
          <a:xfrm>
            <a:off x="2351088" y="908051"/>
            <a:ext cx="7993062" cy="4752975"/>
          </a:xfrm>
          <a:prstGeom prst="rect">
            <a:avLst/>
          </a:prstGeom>
          <a:noFill/>
          <a:ln w="9525">
            <a:noFill/>
            <a:miter lim="800000"/>
          </a:ln>
        </p:spPr>
        <p:txBody>
          <a:bodyPr/>
          <a:lstStyle/>
          <a:p>
            <a:pPr marL="609600" indent="-609600">
              <a:lnSpc>
                <a:spcPct val="115000"/>
              </a:lnSpc>
              <a:buClr>
                <a:srgbClr val="4D009A"/>
              </a:buClr>
            </a:pPr>
            <a:r>
              <a:rPr lang="zh-CN" altLang="en-US" sz="2600" b="1">
                <a:solidFill>
                  <a:schemeClr val="hlink"/>
                </a:solidFill>
                <a:latin typeface="Times New Roman" panose="02020603050405020304" pitchFamily="18" charset="0"/>
                <a:ea typeface="华文楷体" panose="02010600040101010101" pitchFamily="2" charset="-122"/>
              </a:rPr>
              <a:t>搜索路径：</a:t>
            </a:r>
            <a:r>
              <a:rPr lang="zh-CN" altLang="en-US" sz="2600" b="1">
                <a:solidFill>
                  <a:srgbClr val="4D009A"/>
                </a:solidFill>
                <a:latin typeface="Times New Roman" panose="02020603050405020304" pitchFamily="18" charset="0"/>
                <a:ea typeface="华文楷体" panose="02010600040101010101" pitchFamily="2" charset="-122"/>
              </a:rPr>
              <a:t>指</a:t>
            </a:r>
            <a:r>
              <a:rPr lang="en-US" altLang="zh-CN" sz="2600" b="1">
                <a:solidFill>
                  <a:srgbClr val="4D009A"/>
                </a:solidFill>
                <a:latin typeface="Times New Roman" panose="02020603050405020304" pitchFamily="18" charset="0"/>
                <a:ea typeface="华文楷体" panose="02010600040101010101" pitchFamily="2" charset="-122"/>
              </a:rPr>
              <a:t>Matlab</a:t>
            </a:r>
            <a:r>
              <a:rPr lang="zh-CN" altLang="en-US" sz="2600" b="1">
                <a:solidFill>
                  <a:srgbClr val="4D009A"/>
                </a:solidFill>
                <a:latin typeface="Times New Roman" panose="02020603050405020304" pitchFamily="18" charset="0"/>
                <a:ea typeface="华文楷体" panose="02010600040101010101" pitchFamily="2" charset="-122"/>
              </a:rPr>
              <a:t>执行过程中对变量、函数和文件进行搜索的路径。</a:t>
            </a:r>
            <a:endParaRPr lang="zh-CN" altLang="en-US" sz="2600" b="1">
              <a:solidFill>
                <a:srgbClr val="4D009A"/>
              </a:solidFill>
              <a:latin typeface="Times New Roman" panose="02020603050405020304" pitchFamily="18" charset="0"/>
              <a:ea typeface="华文楷体" panose="02010600040101010101" pitchFamily="2" charset="-122"/>
            </a:endParaRPr>
          </a:p>
          <a:p>
            <a:pPr marL="609600" indent="-609600">
              <a:lnSpc>
                <a:spcPct val="115000"/>
              </a:lnSpc>
              <a:buClr>
                <a:srgbClr val="4D009A"/>
              </a:buClr>
              <a:buFont typeface="Wingdings" panose="05000000000000000000" pitchFamily="2" charset="2"/>
              <a:buChar char="l"/>
            </a:pPr>
            <a:r>
              <a:rPr lang="zh-CN" altLang="en-US" sz="2400" b="1">
                <a:solidFill>
                  <a:srgbClr val="0000FF"/>
                </a:solidFill>
                <a:latin typeface="Times New Roman" panose="02020603050405020304" pitchFamily="18" charset="0"/>
                <a:ea typeface="华文楷体" panose="02010600040101010101" pitchFamily="2" charset="-122"/>
              </a:rPr>
              <a:t>在</a:t>
            </a:r>
            <a:r>
              <a:rPr lang="en-US" altLang="zh-CN" sz="2400" b="1">
                <a:solidFill>
                  <a:srgbClr val="0000FF"/>
                </a:solidFill>
                <a:latin typeface="Times New Roman" panose="02020603050405020304" pitchFamily="18" charset="0"/>
                <a:ea typeface="华文楷体" panose="02010600040101010101" pitchFamily="2" charset="-122"/>
              </a:rPr>
              <a:t>File</a:t>
            </a:r>
            <a:r>
              <a:rPr lang="zh-CN" altLang="en-US" sz="2400" b="1">
                <a:solidFill>
                  <a:srgbClr val="0000FF"/>
                </a:solidFill>
                <a:latin typeface="Times New Roman" panose="02020603050405020304" pitchFamily="18" charset="0"/>
                <a:ea typeface="华文楷体" panose="02010600040101010101" pitchFamily="2" charset="-122"/>
              </a:rPr>
              <a:t>菜单中选择</a:t>
            </a:r>
            <a:r>
              <a:rPr lang="en-US" altLang="zh-CN" sz="2400" b="1">
                <a:solidFill>
                  <a:srgbClr val="0000FF"/>
                </a:solidFill>
                <a:latin typeface="Times New Roman" panose="02020603050405020304" pitchFamily="18" charset="0"/>
                <a:ea typeface="华文楷体" panose="02010600040101010101" pitchFamily="2" charset="-122"/>
              </a:rPr>
              <a:t>Set Path</a:t>
            </a:r>
            <a:r>
              <a:rPr lang="zh-CN" altLang="en-US" sz="2400" b="1">
                <a:solidFill>
                  <a:srgbClr val="0000FF"/>
                </a:solidFill>
                <a:latin typeface="Times New Roman" panose="02020603050405020304" pitchFamily="18" charset="0"/>
                <a:ea typeface="华文楷体" panose="02010600040101010101" pitchFamily="2" charset="-122"/>
              </a:rPr>
              <a:t>命令或在命令窗口输入</a:t>
            </a:r>
            <a:r>
              <a:rPr lang="en-US" altLang="zh-CN" sz="2400" b="1">
                <a:solidFill>
                  <a:srgbClr val="0000FF"/>
                </a:solidFill>
                <a:latin typeface="Times New Roman" panose="02020603050405020304" pitchFamily="18" charset="0"/>
                <a:ea typeface="华文楷体" panose="02010600040101010101" pitchFamily="2" charset="-122"/>
              </a:rPr>
              <a:t>pathtool</a:t>
            </a:r>
            <a:r>
              <a:rPr lang="zh-CN" altLang="en-US" sz="2400" b="1">
                <a:solidFill>
                  <a:srgbClr val="0000FF"/>
                </a:solidFill>
                <a:latin typeface="Times New Roman" panose="02020603050405020304" pitchFamily="18" charset="0"/>
                <a:ea typeface="华文楷体" panose="02010600040101010101" pitchFamily="2" charset="-122"/>
              </a:rPr>
              <a:t>命令，出现搜索路径设置对话框：</a:t>
            </a:r>
            <a:endParaRPr lang="zh-CN" altLang="en-US" sz="2400" b="1">
              <a:solidFill>
                <a:srgbClr val="0000FF"/>
              </a:solidFill>
              <a:latin typeface="Times New Roman" panose="02020603050405020304" pitchFamily="18" charset="0"/>
              <a:ea typeface="华文楷体" panose="02010600040101010101" pitchFamily="2" charset="-122"/>
            </a:endParaRPr>
          </a:p>
        </p:txBody>
      </p:sp>
      <p:pic>
        <p:nvPicPr>
          <p:cNvPr id="41987" name="图片 101381"/>
          <p:cNvPicPr>
            <a:picLocks noChangeAspect="1" noChangeArrowheads="1"/>
          </p:cNvPicPr>
          <p:nvPr/>
        </p:nvPicPr>
        <p:blipFill>
          <a:blip r:embed="rId1" cstate="print"/>
          <a:srcRect/>
          <a:stretch>
            <a:fillRect/>
          </a:stretch>
        </p:blipFill>
        <p:spPr bwMode="auto">
          <a:xfrm>
            <a:off x="3000376" y="2924176"/>
            <a:ext cx="3889375" cy="3095625"/>
          </a:xfrm>
          <a:prstGeom prst="rect">
            <a:avLst/>
          </a:prstGeom>
          <a:noFill/>
          <a:ln w="9525">
            <a:noFill/>
            <a:miter lim="800000"/>
            <a:headEnd/>
            <a:tailEnd/>
          </a:ln>
        </p:spPr>
      </p:pic>
      <p:sp>
        <p:nvSpPr>
          <p:cNvPr id="41988" name="文本框 101382"/>
          <p:cNvSpPr txBox="1">
            <a:spLocks noChangeArrowheads="1"/>
          </p:cNvSpPr>
          <p:nvPr/>
        </p:nvSpPr>
        <p:spPr bwMode="auto">
          <a:xfrm>
            <a:off x="7319963" y="4724401"/>
            <a:ext cx="2952750" cy="830997"/>
          </a:xfrm>
          <a:prstGeom prst="rect">
            <a:avLst/>
          </a:prstGeom>
          <a:noFill/>
          <a:ln w="9525">
            <a:noFill/>
            <a:miter lim="800000"/>
          </a:ln>
        </p:spPr>
        <p:txBody>
          <a:bodyPr>
            <a:spAutoFit/>
          </a:bodyPr>
          <a:lstStyle/>
          <a:p>
            <a:pPr>
              <a:spcBef>
                <a:spcPct val="50000"/>
              </a:spcBef>
              <a:buFont typeface="Wingdings" panose="05000000000000000000" pitchFamily="2" charset="2"/>
              <a:buNone/>
            </a:pPr>
            <a:r>
              <a:rPr lang="zh-CN" altLang="en-US" sz="2400" b="1">
                <a:solidFill>
                  <a:schemeClr val="hlink"/>
                </a:solidFill>
                <a:latin typeface="Tahoma" panose="020B0604030504040204" pitchFamily="34" charset="0"/>
                <a:ea typeface="华文楷体" panose="02010600040101010101" pitchFamily="2" charset="-122"/>
              </a:rPr>
              <a:t>！修改完搜索路径后，需要进行保存。</a:t>
            </a:r>
            <a:endParaRPr lang="zh-CN" altLang="en-US" sz="2400" b="1">
              <a:solidFill>
                <a:schemeClr val="hlink"/>
              </a:solidFill>
              <a:latin typeface="Tahoma" panose="020B0604030504040204" pitchFamily="34" charset="0"/>
              <a:ea typeface="华文楷体" panose="02010600040101010101" pitchFamily="2" charset="-122"/>
            </a:endParaRPr>
          </a:p>
        </p:txBody>
      </p:sp>
      <p:sp>
        <p:nvSpPr>
          <p:cNvPr id="35844"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06C429FE-FB73-4EDB-932E-A4D89F96133A}" type="datetime1">
              <a:rPr lang="zh-CN" altLang="en-US" smtClean="0">
                <a:solidFill>
                  <a:srgbClr val="45516B"/>
                </a:solidFill>
              </a:rPr>
            </a:fld>
            <a:endParaRPr lang="zh-CN" altLang="en-US">
              <a:solidFill>
                <a:srgbClr val="45516B"/>
              </a:solidFill>
            </a:endParaRPr>
          </a:p>
        </p:txBody>
      </p:sp>
      <p:sp>
        <p:nvSpPr>
          <p:cNvPr id="35845"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41991" name="灯片编号占位符 3"/>
          <p:cNvSpPr>
            <a:spLocks noGrp="1" noChangeArrowheads="1"/>
          </p:cNvSpPr>
          <p:nvPr>
            <p:ph type="sldNum" sz="quarter" idx="12"/>
          </p:nvPr>
        </p:nvSpPr>
        <p:spPr bwMode="auto">
          <a:noFill/>
          <a:ln>
            <a:miter lim="800000"/>
          </a:ln>
        </p:spPr>
        <p:txBody>
          <a:bodyPr/>
          <a:lstStyle/>
          <a:p>
            <a:fld id="{C69F257F-5CC0-4A90-9158-064E8119046E}"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99329"/>
          <p:cNvSpPr>
            <a:spLocks noGrp="1" noChangeArrowheads="1"/>
          </p:cNvSpPr>
          <p:nvPr>
            <p:ph type="title"/>
          </p:nvPr>
        </p:nvSpPr>
        <p:spPr>
          <a:xfrm>
            <a:off x="2640014" y="1"/>
            <a:ext cx="7793037" cy="982663"/>
          </a:xfrm>
        </p:spPr>
        <p:txBody>
          <a:bodyPr/>
          <a:lstStyle/>
          <a:p>
            <a:pPr eaLnBrk="1" hangingPunct="1"/>
            <a:r>
              <a:rPr lang="en-US" altLang="zh-CN" sz="3600" b="1" dirty="0">
                <a:solidFill>
                  <a:srgbClr val="4D009A"/>
                </a:solidFill>
                <a:latin typeface="Times New Roman" panose="02020603050405020304" pitchFamily="18" charset="0"/>
                <a:ea typeface="华文楷体" panose="02010600040101010101" pitchFamily="2" charset="-122"/>
              </a:rPr>
              <a:t>1.6  </a:t>
            </a:r>
            <a:r>
              <a:rPr lang="zh-CN" altLang="en-US" sz="3600" b="1" dirty="0">
                <a:solidFill>
                  <a:srgbClr val="4D009A"/>
                </a:solidFill>
                <a:latin typeface="Times New Roman" panose="02020603050405020304" pitchFamily="18" charset="0"/>
                <a:ea typeface="华文楷体" panose="02010600040101010101" pitchFamily="2" charset="-122"/>
              </a:rPr>
              <a:t>获取在线帮助</a:t>
            </a:r>
            <a:endParaRPr lang="zh-CN" altLang="en-US" sz="3600" b="1" dirty="0">
              <a:solidFill>
                <a:srgbClr val="4D009A"/>
              </a:solidFill>
              <a:latin typeface="Times New Roman" panose="02020603050405020304" pitchFamily="18" charset="0"/>
              <a:ea typeface="华文楷体" panose="02010600040101010101" pitchFamily="2" charset="-122"/>
            </a:endParaRPr>
          </a:p>
        </p:txBody>
      </p:sp>
      <p:sp>
        <p:nvSpPr>
          <p:cNvPr id="99331" name="内容占位符 99330"/>
          <p:cNvSpPr>
            <a:spLocks noGrp="1" noChangeArrowheads="1"/>
          </p:cNvSpPr>
          <p:nvPr>
            <p:ph idx="1"/>
          </p:nvPr>
        </p:nvSpPr>
        <p:spPr/>
        <p:txBody>
          <a:bodyPr/>
          <a:lstStyle/>
          <a:p>
            <a:pPr eaLnBrk="1" hangingPunct="1">
              <a:lnSpc>
                <a:spcPct val="120000"/>
              </a:lnSpc>
            </a:pPr>
            <a:r>
              <a:rPr lang="en-US" altLang="zh-CN" sz="2400" b="1">
                <a:solidFill>
                  <a:srgbClr val="4D009A"/>
                </a:solidFill>
                <a:latin typeface="Times New Roman" panose="02020603050405020304" pitchFamily="18" charset="0"/>
                <a:ea typeface="华文楷体" panose="02010600040101010101" pitchFamily="2" charset="-122"/>
              </a:rPr>
              <a:t>MATLAB</a:t>
            </a:r>
            <a:r>
              <a:rPr lang="zh-CN" altLang="en-US" sz="2400" b="1">
                <a:solidFill>
                  <a:srgbClr val="4D009A"/>
                </a:solidFill>
                <a:latin typeface="Times New Roman" panose="02020603050405020304" pitchFamily="18" charset="0"/>
                <a:ea typeface="华文楷体" panose="02010600040101010101" pitchFamily="2" charset="-122"/>
              </a:rPr>
              <a:t>提供的帮助信息有两类</a:t>
            </a:r>
            <a:endParaRPr lang="zh-CN" altLang="en-US" sz="2400" b="1">
              <a:solidFill>
                <a:srgbClr val="4D009A"/>
              </a:solidFill>
              <a:latin typeface="Times New Roman" panose="02020603050405020304" pitchFamily="18" charset="0"/>
              <a:ea typeface="华文楷体" panose="02010600040101010101" pitchFamily="2" charset="-122"/>
            </a:endParaRPr>
          </a:p>
          <a:p>
            <a:pPr lvl="1" eaLnBrk="1" hangingPunct="1">
              <a:lnSpc>
                <a:spcPct val="120000"/>
              </a:lnSpc>
            </a:pPr>
            <a:r>
              <a:rPr lang="zh-CN" altLang="en-US" b="1">
                <a:solidFill>
                  <a:srgbClr val="4D009A"/>
                </a:solidFill>
                <a:latin typeface="Times New Roman" panose="02020603050405020304" pitchFamily="18" charset="0"/>
                <a:ea typeface="华文楷体" panose="02010600040101010101" pitchFamily="2" charset="-122"/>
              </a:rPr>
              <a:t>简单纯文本帮助信息</a:t>
            </a:r>
            <a:endParaRPr lang="zh-CN" altLang="en-US" b="1">
              <a:solidFill>
                <a:srgbClr val="4D009A"/>
              </a:solidFill>
              <a:latin typeface="Times New Roman" panose="02020603050405020304" pitchFamily="18" charset="0"/>
              <a:ea typeface="华文楷体" panose="02010600040101010101" pitchFamily="2" charset="-122"/>
            </a:endParaRPr>
          </a:p>
          <a:p>
            <a:pPr lvl="2" eaLnBrk="1" hangingPunct="1">
              <a:lnSpc>
                <a:spcPct val="120000"/>
              </a:lnSpc>
            </a:pPr>
            <a:r>
              <a:rPr lang="en-US" altLang="zh-CN" b="1">
                <a:solidFill>
                  <a:srgbClr val="008000"/>
                </a:solidFill>
                <a:latin typeface="Times New Roman" panose="02020603050405020304" pitchFamily="18" charset="0"/>
                <a:ea typeface="华文楷体" panose="02010600040101010101" pitchFamily="2" charset="-122"/>
              </a:rPr>
              <a:t>help</a:t>
            </a:r>
            <a:endParaRPr lang="en-US" altLang="zh-CN" b="1">
              <a:solidFill>
                <a:srgbClr val="008000"/>
              </a:solidFill>
              <a:latin typeface="Times New Roman" panose="02020603050405020304" pitchFamily="18" charset="0"/>
              <a:ea typeface="华文楷体" panose="02010600040101010101" pitchFamily="2" charset="-122"/>
            </a:endParaRPr>
          </a:p>
          <a:p>
            <a:pPr lvl="2" eaLnBrk="1" hangingPunct="1">
              <a:lnSpc>
                <a:spcPct val="120000"/>
              </a:lnSpc>
            </a:pPr>
            <a:r>
              <a:rPr lang="en-US" altLang="zh-CN" b="1">
                <a:solidFill>
                  <a:srgbClr val="008000"/>
                </a:solidFill>
                <a:latin typeface="Times New Roman" panose="02020603050405020304" pitchFamily="18" charset="0"/>
                <a:ea typeface="华文楷体" panose="02010600040101010101" pitchFamily="2" charset="-122"/>
              </a:rPr>
              <a:t>lookfor</a:t>
            </a:r>
            <a:r>
              <a:rPr lang="zh-CN" altLang="en-US" b="1">
                <a:solidFill>
                  <a:srgbClr val="4D009A"/>
                </a:solidFill>
                <a:latin typeface="Times New Roman" panose="02020603050405020304" pitchFamily="18" charset="0"/>
                <a:ea typeface="华文楷体" panose="02010600040101010101" pitchFamily="2" charset="-122"/>
              </a:rPr>
              <a:t>（条件比较宽松）</a:t>
            </a:r>
            <a:r>
              <a:rPr lang="zh-CN" altLang="en-US" b="1">
                <a:solidFill>
                  <a:srgbClr val="008000"/>
                </a:solidFill>
                <a:latin typeface="Times New Roman" panose="02020603050405020304" pitchFamily="18" charset="0"/>
                <a:ea typeface="华文楷体" panose="02010600040101010101" pitchFamily="2" charset="-122"/>
              </a:rPr>
              <a:t>例：</a:t>
            </a:r>
            <a:r>
              <a:rPr lang="en-US" altLang="zh-CN" b="1">
                <a:solidFill>
                  <a:srgbClr val="008000"/>
                </a:solidFill>
                <a:latin typeface="Times New Roman" panose="02020603050405020304" pitchFamily="18" charset="0"/>
                <a:ea typeface="华文楷体" panose="02010600040101010101" pitchFamily="2" charset="-122"/>
              </a:rPr>
              <a:t>inverse</a:t>
            </a:r>
            <a:endParaRPr lang="en-US" altLang="zh-CN" b="1">
              <a:solidFill>
                <a:srgbClr val="008000"/>
              </a:solidFill>
              <a:latin typeface="Times New Roman" panose="02020603050405020304" pitchFamily="18" charset="0"/>
              <a:ea typeface="华文楷体" panose="02010600040101010101" pitchFamily="2" charset="-122"/>
            </a:endParaRPr>
          </a:p>
          <a:p>
            <a:pPr lvl="1" eaLnBrk="1" hangingPunct="1">
              <a:lnSpc>
                <a:spcPct val="120000"/>
              </a:lnSpc>
            </a:pPr>
            <a:r>
              <a:rPr lang="zh-CN" altLang="en-US" b="1">
                <a:solidFill>
                  <a:srgbClr val="4D009A"/>
                </a:solidFill>
                <a:latin typeface="Times New Roman" panose="02020603050405020304" pitchFamily="18" charset="0"/>
                <a:ea typeface="华文楷体" panose="02010600040101010101" pitchFamily="2" charset="-122"/>
              </a:rPr>
              <a:t>窗口式综合帮助信息（文字、公式、图形）</a:t>
            </a:r>
            <a:endParaRPr lang="zh-CN" altLang="en-US" b="1">
              <a:solidFill>
                <a:srgbClr val="4D009A"/>
              </a:solidFill>
              <a:latin typeface="Times New Roman" panose="02020603050405020304" pitchFamily="18" charset="0"/>
              <a:ea typeface="华文楷体" panose="02010600040101010101" pitchFamily="2" charset="-122"/>
            </a:endParaRPr>
          </a:p>
          <a:p>
            <a:pPr lvl="2" eaLnBrk="1" hangingPunct="1">
              <a:lnSpc>
                <a:spcPct val="120000"/>
              </a:lnSpc>
            </a:pPr>
            <a:r>
              <a:rPr lang="en-US" altLang="zh-CN" b="1">
                <a:solidFill>
                  <a:srgbClr val="4D009A"/>
                </a:solidFill>
                <a:latin typeface="Times New Roman" panose="02020603050405020304" pitchFamily="18" charset="0"/>
                <a:ea typeface="华文楷体" panose="02010600040101010101" pitchFamily="2" charset="-122"/>
              </a:rPr>
              <a:t>doc</a:t>
            </a:r>
            <a:endParaRPr lang="en-US" altLang="zh-CN" b="1">
              <a:solidFill>
                <a:srgbClr val="4D009A"/>
              </a:solidFill>
              <a:latin typeface="Times New Roman" panose="02020603050405020304" pitchFamily="18" charset="0"/>
              <a:ea typeface="华文楷体" panose="02010600040101010101" pitchFamily="2" charset="-122"/>
            </a:endParaRPr>
          </a:p>
          <a:p>
            <a:pPr lvl="2" eaLnBrk="1" hangingPunct="1">
              <a:lnSpc>
                <a:spcPct val="120000"/>
              </a:lnSpc>
            </a:pPr>
            <a:r>
              <a:rPr lang="en-US" altLang="zh-CN" b="1">
                <a:solidFill>
                  <a:srgbClr val="4D009A"/>
                </a:solidFill>
                <a:latin typeface="Times New Roman" panose="02020603050405020304" pitchFamily="18" charset="0"/>
                <a:ea typeface="华文楷体" panose="02010600040101010101" pitchFamily="2" charset="-122"/>
              </a:rPr>
              <a:t>helpwin</a:t>
            </a:r>
            <a:endParaRPr lang="en-US" altLang="zh-CN" b="1">
              <a:solidFill>
                <a:srgbClr val="4D009A"/>
              </a:solidFill>
              <a:latin typeface="Times New Roman" panose="02020603050405020304" pitchFamily="18" charset="0"/>
              <a:ea typeface="华文楷体" panose="02010600040101010101" pitchFamily="2" charset="-122"/>
            </a:endParaRPr>
          </a:p>
          <a:p>
            <a:pPr lvl="2" eaLnBrk="1" hangingPunct="1">
              <a:lnSpc>
                <a:spcPct val="120000"/>
              </a:lnSpc>
            </a:pPr>
            <a:endParaRPr lang="en-US" altLang="zh-CN" b="1">
              <a:solidFill>
                <a:srgbClr val="4D009A"/>
              </a:solidFill>
              <a:latin typeface="Times New Roman" panose="02020603050405020304" pitchFamily="18" charset="0"/>
              <a:ea typeface="华文楷体" panose="02010600040101010101" pitchFamily="2" charset="-122"/>
            </a:endParaRPr>
          </a:p>
        </p:txBody>
      </p:sp>
      <p:sp>
        <p:nvSpPr>
          <p:cNvPr id="36867"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29937F16-C249-4D06-9B76-1C4484B1376B}" type="datetime1">
              <a:rPr lang="zh-CN" altLang="en-US" smtClean="0">
                <a:solidFill>
                  <a:srgbClr val="45516B"/>
                </a:solidFill>
              </a:rPr>
            </a:fld>
            <a:endParaRPr lang="zh-CN" altLang="en-US">
              <a:solidFill>
                <a:srgbClr val="45516B"/>
              </a:solidFill>
            </a:endParaRPr>
          </a:p>
        </p:txBody>
      </p:sp>
      <p:sp>
        <p:nvSpPr>
          <p:cNvPr id="36868"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43014" name="灯片编号占位符 3"/>
          <p:cNvSpPr>
            <a:spLocks noGrp="1" noChangeArrowheads="1"/>
          </p:cNvSpPr>
          <p:nvPr>
            <p:ph type="sldNum" sz="quarter" idx="12"/>
          </p:nvPr>
        </p:nvSpPr>
        <p:spPr bwMode="auto">
          <a:noFill/>
          <a:ln>
            <a:miter lim="800000"/>
          </a:ln>
        </p:spPr>
        <p:txBody>
          <a:bodyPr/>
          <a:lstStyle/>
          <a:p>
            <a:fld id="{7F5003B7-10C8-41C8-ACF3-2401D521E52F}"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Effect transition="in" filter="blinds(horizontal)">
                                      <p:cBhvr>
                                        <p:cTn id="7" dur="500"/>
                                        <p:tgtEl>
                                          <p:spTgt spid="99331">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9331">
                                            <p:txEl>
                                              <p:pRg st="1" end="1"/>
                                            </p:txEl>
                                          </p:spTgt>
                                        </p:tgtEl>
                                        <p:attrNameLst>
                                          <p:attrName>style.visibility</p:attrName>
                                        </p:attrNameLst>
                                      </p:cBhvr>
                                      <p:to>
                                        <p:strVal val="visible"/>
                                      </p:to>
                                    </p:set>
                                    <p:animEffect transition="in" filter="blinds(horizontal)">
                                      <p:cBhvr>
                                        <p:cTn id="10" dur="500"/>
                                        <p:tgtEl>
                                          <p:spTgt spid="99331">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99331">
                                            <p:txEl>
                                              <p:pRg st="2" end="2"/>
                                            </p:txEl>
                                          </p:spTgt>
                                        </p:tgtEl>
                                        <p:attrNameLst>
                                          <p:attrName>style.visibility</p:attrName>
                                        </p:attrNameLst>
                                      </p:cBhvr>
                                      <p:to>
                                        <p:strVal val="visible"/>
                                      </p:to>
                                    </p:set>
                                    <p:animEffect transition="in" filter="blinds(horizontal)">
                                      <p:cBhvr>
                                        <p:cTn id="13" dur="500"/>
                                        <p:tgtEl>
                                          <p:spTgt spid="99331">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99331">
                                            <p:txEl>
                                              <p:pRg st="3" end="3"/>
                                            </p:txEl>
                                          </p:spTgt>
                                        </p:tgtEl>
                                        <p:attrNameLst>
                                          <p:attrName>style.visibility</p:attrName>
                                        </p:attrNameLst>
                                      </p:cBhvr>
                                      <p:to>
                                        <p:strVal val="visible"/>
                                      </p:to>
                                    </p:set>
                                    <p:animEffect transition="in" filter="blinds(horizontal)">
                                      <p:cBhvr>
                                        <p:cTn id="16" dur="500"/>
                                        <p:tgtEl>
                                          <p:spTgt spid="99331">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99331">
                                            <p:txEl>
                                              <p:pRg st="4" end="4"/>
                                            </p:txEl>
                                          </p:spTgt>
                                        </p:tgtEl>
                                        <p:attrNameLst>
                                          <p:attrName>style.visibility</p:attrName>
                                        </p:attrNameLst>
                                      </p:cBhvr>
                                      <p:to>
                                        <p:strVal val="visible"/>
                                      </p:to>
                                    </p:set>
                                    <p:animEffect transition="in" filter="blinds(horizontal)">
                                      <p:cBhvr>
                                        <p:cTn id="19" dur="500"/>
                                        <p:tgtEl>
                                          <p:spTgt spid="99331">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99331">
                                            <p:txEl>
                                              <p:pRg st="5" end="5"/>
                                            </p:txEl>
                                          </p:spTgt>
                                        </p:tgtEl>
                                        <p:attrNameLst>
                                          <p:attrName>style.visibility</p:attrName>
                                        </p:attrNameLst>
                                      </p:cBhvr>
                                      <p:to>
                                        <p:strVal val="visible"/>
                                      </p:to>
                                    </p:set>
                                    <p:animEffect transition="in" filter="blinds(horizontal)">
                                      <p:cBhvr>
                                        <p:cTn id="22" dur="500"/>
                                        <p:tgtEl>
                                          <p:spTgt spid="99331">
                                            <p:txEl>
                                              <p:pRg st="5" end="5"/>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99331">
                                            <p:txEl>
                                              <p:pRg st="6" end="6"/>
                                            </p:txEl>
                                          </p:spTgt>
                                        </p:tgtEl>
                                        <p:attrNameLst>
                                          <p:attrName>style.visibility</p:attrName>
                                        </p:attrNameLst>
                                      </p:cBhvr>
                                      <p:to>
                                        <p:strVal val="visible"/>
                                      </p:to>
                                    </p:set>
                                    <p:animEffect transition="in" filter="blinds(horizontal)">
                                      <p:cBhvr>
                                        <p:cTn id="25" dur="500"/>
                                        <p:tgtEl>
                                          <p:spTgt spid="9933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67585"/>
          <p:cNvSpPr>
            <a:spLocks noGrp="1" noChangeArrowheads="1"/>
          </p:cNvSpPr>
          <p:nvPr>
            <p:ph type="title"/>
          </p:nvPr>
        </p:nvSpPr>
        <p:spPr>
          <a:xfrm>
            <a:off x="2711450" y="1"/>
            <a:ext cx="7793038" cy="982663"/>
          </a:xfrm>
        </p:spPr>
        <p:txBody>
          <a:bodyPr/>
          <a:lstStyle/>
          <a:p>
            <a:pPr marL="838200" indent="-838200"/>
            <a:r>
              <a:rPr lang="en-US" altLang="zh-CN" sz="3600" dirty="0">
                <a:solidFill>
                  <a:srgbClr val="4D009A"/>
                </a:solidFill>
                <a:latin typeface="华文楷体" panose="02010600040101010101" pitchFamily="2" charset="-122"/>
                <a:ea typeface="华文楷体" panose="02010600040101010101" pitchFamily="2" charset="-122"/>
              </a:rPr>
              <a:t>1.3 </a:t>
            </a:r>
            <a:r>
              <a:rPr lang="zh-CN" altLang="en-US" sz="3600" dirty="0">
                <a:solidFill>
                  <a:srgbClr val="4D009A"/>
                </a:solidFill>
                <a:latin typeface="华文楷体" panose="02010600040101010101" pitchFamily="2" charset="-122"/>
                <a:ea typeface="华文楷体" panose="02010600040101010101" pitchFamily="2" charset="-122"/>
              </a:rPr>
              <a:t>数值表示、变量及表达式</a:t>
            </a:r>
            <a:endParaRPr lang="zh-CN" altLang="en-US" sz="3600" dirty="0">
              <a:solidFill>
                <a:srgbClr val="4D009A"/>
              </a:solidFill>
              <a:latin typeface="华文楷体" panose="02010600040101010101" pitchFamily="2" charset="-122"/>
              <a:ea typeface="华文楷体" panose="02010600040101010101" pitchFamily="2" charset="-122"/>
            </a:endParaRPr>
          </a:p>
        </p:txBody>
      </p:sp>
      <p:sp>
        <p:nvSpPr>
          <p:cNvPr id="67587" name="内容占位符 67586"/>
          <p:cNvSpPr>
            <a:spLocks noGrp="1" noChangeArrowheads="1"/>
          </p:cNvSpPr>
          <p:nvPr>
            <p:ph idx="1"/>
          </p:nvPr>
        </p:nvSpPr>
        <p:spPr/>
        <p:txBody>
          <a:bodyPr>
            <a:normAutofit lnSpcReduction="10000"/>
          </a:bodyPr>
          <a:lstStyle/>
          <a:p>
            <a:pPr eaLnBrk="1" hangingPunct="1">
              <a:lnSpc>
                <a:spcPct val="90000"/>
              </a:lnSpc>
            </a:pPr>
            <a:r>
              <a:rPr lang="zh-CN" altLang="en-US" sz="3100" b="1">
                <a:solidFill>
                  <a:srgbClr val="4D009A"/>
                </a:solidFill>
                <a:latin typeface="华文楷体" panose="02010600040101010101" pitchFamily="2" charset="-122"/>
                <a:ea typeface="华文楷体" panose="02010600040101010101" pitchFamily="2" charset="-122"/>
              </a:rPr>
              <a:t>数值的记述</a:t>
            </a:r>
            <a:endParaRPr lang="zh-CN" altLang="en-US" sz="3100" b="1">
              <a:solidFill>
                <a:srgbClr val="4D009A"/>
              </a:solidFill>
              <a:latin typeface="华文楷体" panose="02010600040101010101" pitchFamily="2" charset="-122"/>
              <a:ea typeface="华文楷体" panose="02010600040101010101" pitchFamily="2" charset="-122"/>
            </a:endParaRPr>
          </a:p>
          <a:p>
            <a:pPr eaLnBrk="1" hangingPunct="1">
              <a:lnSpc>
                <a:spcPct val="90000"/>
              </a:lnSpc>
              <a:buFont typeface="Wingdings" panose="05000000000000000000" pitchFamily="2" charset="2"/>
              <a:buNone/>
            </a:pPr>
            <a:r>
              <a:rPr lang="zh-CN" altLang="en-US" sz="3100" b="1">
                <a:solidFill>
                  <a:srgbClr val="4D009A"/>
                </a:solidFill>
                <a:latin typeface="华文楷体" panose="02010600040101010101" pitchFamily="2" charset="-122"/>
                <a:ea typeface="华文楷体" panose="02010600040101010101" pitchFamily="2" charset="-122"/>
              </a:rPr>
              <a:t>      </a:t>
            </a:r>
            <a:r>
              <a:rPr lang="en-US" altLang="zh-CN" sz="2400" b="1">
                <a:solidFill>
                  <a:srgbClr val="4D009A"/>
                </a:solidFill>
                <a:latin typeface="华文楷体" panose="02010600040101010101" pitchFamily="2" charset="-122"/>
                <a:ea typeface="华文楷体" panose="02010600040101010101" pitchFamily="2" charset="-122"/>
              </a:rPr>
              <a:t>Matlab</a:t>
            </a:r>
            <a:r>
              <a:rPr lang="zh-CN" altLang="en-US" sz="2400" b="1">
                <a:solidFill>
                  <a:srgbClr val="4D009A"/>
                </a:solidFill>
                <a:latin typeface="华文楷体" panose="02010600040101010101" pitchFamily="2" charset="-122"/>
                <a:ea typeface="华文楷体" panose="02010600040101010101" pitchFamily="2" charset="-122"/>
              </a:rPr>
              <a:t>的数只采用习惯的十进制表示，可以带小数点和负号</a:t>
            </a:r>
            <a:r>
              <a:rPr lang="en-US" altLang="zh-CN" sz="2400" b="1">
                <a:solidFill>
                  <a:srgbClr val="4D009A"/>
                </a:solidFill>
                <a:latin typeface="华文楷体" panose="02010600040101010101" pitchFamily="2" charset="-122"/>
                <a:ea typeface="华文楷体" panose="02010600040101010101" pitchFamily="2" charset="-122"/>
              </a:rPr>
              <a:t>;</a:t>
            </a:r>
            <a:r>
              <a:rPr lang="zh-CN" altLang="en-US" sz="2400" b="1">
                <a:solidFill>
                  <a:srgbClr val="4D009A"/>
                </a:solidFill>
                <a:latin typeface="华文楷体" panose="02010600040101010101" pitchFamily="2" charset="-122"/>
                <a:ea typeface="华文楷体" panose="02010600040101010101" pitchFamily="2" charset="-122"/>
              </a:rPr>
              <a:t>其缺省的数据类型为双精度浮点型（</a:t>
            </a:r>
            <a:r>
              <a:rPr lang="en-US" altLang="zh-CN" sz="2400" b="1">
                <a:solidFill>
                  <a:srgbClr val="4D009A"/>
                </a:solidFill>
                <a:latin typeface="华文楷体" panose="02010600040101010101" pitchFamily="2" charset="-122"/>
                <a:ea typeface="华文楷体" panose="02010600040101010101" pitchFamily="2" charset="-122"/>
              </a:rPr>
              <a:t>double</a:t>
            </a:r>
            <a:r>
              <a:rPr lang="zh-CN" altLang="en-US" sz="2400" b="1">
                <a:solidFill>
                  <a:srgbClr val="4D009A"/>
                </a:solidFill>
                <a:latin typeface="华文楷体" panose="02010600040101010101" pitchFamily="2" charset="-122"/>
                <a:ea typeface="华文楷体" panose="02010600040101010101" pitchFamily="2" charset="-122"/>
              </a:rPr>
              <a:t>）。</a:t>
            </a:r>
            <a:endParaRPr lang="zh-CN" altLang="en-US" sz="2400" b="1">
              <a:solidFill>
                <a:srgbClr val="4D009A"/>
              </a:solidFill>
              <a:latin typeface="华文楷体" panose="02010600040101010101" pitchFamily="2" charset="-122"/>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a:solidFill>
                  <a:srgbClr val="4D009A"/>
                </a:solidFill>
                <a:latin typeface="华文楷体" panose="02010600040101010101" pitchFamily="2" charset="-122"/>
                <a:ea typeface="华文楷体" panose="02010600040101010101" pitchFamily="2" charset="-122"/>
              </a:rPr>
              <a:t>     例如：</a:t>
            </a:r>
            <a:r>
              <a:rPr lang="en-US" altLang="zh-CN" sz="2400" b="1">
                <a:solidFill>
                  <a:srgbClr val="4D009A"/>
                </a:solidFill>
                <a:latin typeface="华文楷体" panose="02010600040101010101" pitchFamily="2" charset="-122"/>
                <a:ea typeface="华文楷体" panose="02010600040101010101" pitchFamily="2" charset="-122"/>
              </a:rPr>
              <a:t>3   -10   0.001    1.3e10    1.256e-6</a:t>
            </a:r>
            <a:endParaRPr lang="en-US" altLang="zh-CN" sz="2400" b="1">
              <a:solidFill>
                <a:srgbClr val="4D009A"/>
              </a:solidFill>
              <a:latin typeface="华文楷体" panose="02010600040101010101" pitchFamily="2" charset="-122"/>
              <a:ea typeface="华文楷体" panose="02010600040101010101" pitchFamily="2" charset="-122"/>
            </a:endParaRPr>
          </a:p>
          <a:p>
            <a:pPr eaLnBrk="1" hangingPunct="1">
              <a:lnSpc>
                <a:spcPct val="90000"/>
              </a:lnSpc>
            </a:pPr>
            <a:r>
              <a:rPr lang="zh-CN" altLang="en-US" sz="3100" b="1">
                <a:solidFill>
                  <a:srgbClr val="4D009A"/>
                </a:solidFill>
                <a:latin typeface="华文楷体" panose="02010600040101010101" pitchFamily="2" charset="-122"/>
                <a:ea typeface="华文楷体" panose="02010600040101010101" pitchFamily="2" charset="-122"/>
              </a:rPr>
              <a:t>变量命令规则</a:t>
            </a:r>
            <a:endParaRPr lang="zh-CN" altLang="en-US" sz="3100" b="1">
              <a:solidFill>
                <a:srgbClr val="4D009A"/>
              </a:solidFill>
              <a:latin typeface="华文楷体" panose="02010600040101010101" pitchFamily="2" charset="-122"/>
              <a:ea typeface="华文楷体" panose="02010600040101010101" pitchFamily="2" charset="-122"/>
            </a:endParaRPr>
          </a:p>
          <a:p>
            <a:pPr lvl="1" eaLnBrk="1" hangingPunct="1">
              <a:lnSpc>
                <a:spcPct val="90000"/>
              </a:lnSpc>
              <a:buFont typeface="Wingdings" panose="05000000000000000000" pitchFamily="2" charset="2"/>
              <a:buChar char="l"/>
            </a:pPr>
            <a:r>
              <a:rPr lang="zh-CN" altLang="en-US" b="1">
                <a:solidFill>
                  <a:srgbClr val="4D009A"/>
                </a:solidFill>
                <a:latin typeface="华文楷体" panose="02010600040101010101" pitchFamily="2" charset="-122"/>
                <a:ea typeface="华文楷体" panose="02010600040101010101" pitchFamily="2" charset="-122"/>
              </a:rPr>
              <a:t>变量名、函数名对字母的大小写是敏感的。如</a:t>
            </a:r>
            <a:r>
              <a:rPr lang="en-US" altLang="zh-CN" b="1">
                <a:solidFill>
                  <a:schemeClr val="hlink"/>
                </a:solidFill>
                <a:latin typeface="华文楷体" panose="02010600040101010101" pitchFamily="2" charset="-122"/>
                <a:ea typeface="华文楷体" panose="02010600040101010101" pitchFamily="2" charset="-122"/>
              </a:rPr>
              <a:t>myVar</a:t>
            </a:r>
            <a:r>
              <a:rPr lang="zh-CN" altLang="en-US" b="1">
                <a:solidFill>
                  <a:srgbClr val="4D009A"/>
                </a:solidFill>
                <a:latin typeface="华文楷体" panose="02010600040101010101" pitchFamily="2" charset="-122"/>
                <a:ea typeface="华文楷体" panose="02010600040101010101" pitchFamily="2" charset="-122"/>
              </a:rPr>
              <a:t>与</a:t>
            </a:r>
            <a:r>
              <a:rPr lang="en-US" altLang="zh-CN" b="1">
                <a:solidFill>
                  <a:schemeClr val="hlink"/>
                </a:solidFill>
                <a:latin typeface="华文楷体" panose="02010600040101010101" pitchFamily="2" charset="-122"/>
                <a:ea typeface="华文楷体" panose="02010600040101010101" pitchFamily="2" charset="-122"/>
              </a:rPr>
              <a:t>myvar</a:t>
            </a:r>
            <a:r>
              <a:rPr lang="zh-CN" altLang="en-US" b="1">
                <a:solidFill>
                  <a:srgbClr val="4D009A"/>
                </a:solidFill>
                <a:latin typeface="华文楷体" panose="02010600040101010101" pitchFamily="2" charset="-122"/>
                <a:ea typeface="华文楷体" panose="02010600040101010101" pitchFamily="2" charset="-122"/>
              </a:rPr>
              <a:t>表示两个不同的变量。</a:t>
            </a:r>
            <a:endParaRPr lang="zh-CN" altLang="en-US" b="1">
              <a:solidFill>
                <a:srgbClr val="4D009A"/>
              </a:solidFill>
              <a:latin typeface="华文楷体" panose="02010600040101010101" pitchFamily="2" charset="-122"/>
              <a:ea typeface="华文楷体" panose="02010600040101010101" pitchFamily="2" charset="-122"/>
            </a:endParaRPr>
          </a:p>
          <a:p>
            <a:pPr lvl="1" eaLnBrk="1" hangingPunct="1">
              <a:lnSpc>
                <a:spcPct val="90000"/>
              </a:lnSpc>
              <a:buFont typeface="Wingdings" panose="05000000000000000000" pitchFamily="2" charset="2"/>
              <a:buChar char="l"/>
            </a:pPr>
            <a:r>
              <a:rPr lang="zh-CN" altLang="en-US" b="1">
                <a:solidFill>
                  <a:srgbClr val="4D009A"/>
                </a:solidFill>
                <a:latin typeface="华文楷体" panose="02010600040101010101" pitchFamily="2" charset="-122"/>
                <a:ea typeface="华文楷体" panose="02010600040101010101" pitchFamily="2" charset="-122"/>
              </a:rPr>
              <a:t>变量名第一个字母必须是英文字母。</a:t>
            </a:r>
            <a:endParaRPr lang="zh-CN" altLang="en-US" b="1">
              <a:solidFill>
                <a:srgbClr val="4D009A"/>
              </a:solidFill>
              <a:latin typeface="华文楷体" panose="02010600040101010101" pitchFamily="2" charset="-122"/>
              <a:ea typeface="华文楷体" panose="02010600040101010101" pitchFamily="2" charset="-122"/>
            </a:endParaRPr>
          </a:p>
          <a:p>
            <a:pPr lvl="1" eaLnBrk="1" hangingPunct="1">
              <a:lnSpc>
                <a:spcPct val="90000"/>
              </a:lnSpc>
              <a:buFont typeface="Wingdings" panose="05000000000000000000" pitchFamily="2" charset="2"/>
              <a:buChar char="l"/>
            </a:pPr>
            <a:r>
              <a:rPr lang="zh-CN" altLang="en-US" b="1">
                <a:solidFill>
                  <a:srgbClr val="4D009A"/>
                </a:solidFill>
                <a:latin typeface="华文楷体" panose="02010600040101010101" pitchFamily="2" charset="-122"/>
                <a:ea typeface="华文楷体" panose="02010600040101010101" pitchFamily="2" charset="-122"/>
              </a:rPr>
              <a:t>变量名可以包含英文字母、下划线和数字。</a:t>
            </a:r>
            <a:endParaRPr lang="zh-CN" altLang="en-US" b="1">
              <a:solidFill>
                <a:srgbClr val="4D009A"/>
              </a:solidFill>
              <a:latin typeface="华文楷体" panose="02010600040101010101" pitchFamily="2" charset="-122"/>
              <a:ea typeface="华文楷体" panose="02010600040101010101" pitchFamily="2" charset="-122"/>
            </a:endParaRPr>
          </a:p>
          <a:p>
            <a:pPr lvl="1" eaLnBrk="1" hangingPunct="1">
              <a:lnSpc>
                <a:spcPct val="90000"/>
              </a:lnSpc>
              <a:buFont typeface="Wingdings" panose="05000000000000000000" pitchFamily="2" charset="2"/>
              <a:buChar char="l"/>
            </a:pPr>
            <a:r>
              <a:rPr lang="zh-CN" altLang="en-US" b="1">
                <a:solidFill>
                  <a:srgbClr val="4D009A"/>
                </a:solidFill>
                <a:latin typeface="华文楷体" panose="02010600040101010101" pitchFamily="2" charset="-122"/>
                <a:ea typeface="华文楷体" panose="02010600040101010101" pitchFamily="2" charset="-122"/>
              </a:rPr>
              <a:t>变量名不能包含空格、标点。</a:t>
            </a:r>
            <a:endParaRPr lang="zh-CN" altLang="en-US" b="1">
              <a:solidFill>
                <a:srgbClr val="4D009A"/>
              </a:solidFill>
              <a:latin typeface="华文楷体" panose="02010600040101010101" pitchFamily="2" charset="-122"/>
              <a:ea typeface="华文楷体" panose="02010600040101010101" pitchFamily="2" charset="-122"/>
            </a:endParaRPr>
          </a:p>
          <a:p>
            <a:pPr lvl="1" eaLnBrk="1" hangingPunct="1">
              <a:lnSpc>
                <a:spcPct val="90000"/>
              </a:lnSpc>
              <a:buFont typeface="Wingdings" panose="05000000000000000000" pitchFamily="2" charset="2"/>
              <a:buChar char="l"/>
            </a:pPr>
            <a:r>
              <a:rPr lang="zh-CN" altLang="en-US" b="1">
                <a:solidFill>
                  <a:srgbClr val="4D009A"/>
                </a:solidFill>
                <a:latin typeface="华文楷体" panose="02010600040101010101" pitchFamily="2" charset="-122"/>
                <a:ea typeface="华文楷体" panose="02010600040101010101" pitchFamily="2" charset="-122"/>
              </a:rPr>
              <a:t>变量名最多可包含</a:t>
            </a:r>
            <a:r>
              <a:rPr lang="en-US" altLang="zh-CN" b="1">
                <a:solidFill>
                  <a:srgbClr val="4D009A"/>
                </a:solidFill>
                <a:latin typeface="华文楷体" panose="02010600040101010101" pitchFamily="2" charset="-122"/>
                <a:ea typeface="华文楷体" panose="02010600040101010101" pitchFamily="2" charset="-122"/>
              </a:rPr>
              <a:t>63</a:t>
            </a:r>
            <a:r>
              <a:rPr lang="zh-CN" altLang="en-US" b="1">
                <a:solidFill>
                  <a:srgbClr val="4D009A"/>
                </a:solidFill>
                <a:latin typeface="华文楷体" panose="02010600040101010101" pitchFamily="2" charset="-122"/>
                <a:ea typeface="华文楷体" panose="02010600040101010101" pitchFamily="2" charset="-122"/>
              </a:rPr>
              <a:t>个字符（</a:t>
            </a:r>
            <a:r>
              <a:rPr lang="en-US" altLang="zh-CN" b="1">
                <a:solidFill>
                  <a:srgbClr val="4D009A"/>
                </a:solidFill>
                <a:latin typeface="华文楷体" panose="02010600040101010101" pitchFamily="2" charset="-122"/>
                <a:ea typeface="华文楷体" panose="02010600040101010101" pitchFamily="2" charset="-122"/>
              </a:rPr>
              <a:t>6.5</a:t>
            </a:r>
            <a:r>
              <a:rPr lang="zh-CN" altLang="en-US" b="1">
                <a:solidFill>
                  <a:srgbClr val="4D009A"/>
                </a:solidFill>
                <a:latin typeface="华文楷体" panose="02010600040101010101" pitchFamily="2" charset="-122"/>
                <a:ea typeface="华文楷体" panose="02010600040101010101" pitchFamily="2" charset="-122"/>
              </a:rPr>
              <a:t>及以后的版本）。</a:t>
            </a:r>
            <a:endParaRPr lang="zh-CN" altLang="en-US" b="1">
              <a:solidFill>
                <a:srgbClr val="4D009A"/>
              </a:solidFill>
              <a:latin typeface="华文楷体" panose="02010600040101010101" pitchFamily="2" charset="-122"/>
              <a:ea typeface="华文楷体" panose="02010600040101010101" pitchFamily="2" charset="-122"/>
            </a:endParaRPr>
          </a:p>
          <a:p>
            <a:pPr lvl="1" eaLnBrk="1" hangingPunct="1">
              <a:lnSpc>
                <a:spcPct val="90000"/>
              </a:lnSpc>
              <a:buFont typeface="Wingdings" panose="05000000000000000000" pitchFamily="2" charset="2"/>
              <a:buChar char="l"/>
            </a:pPr>
            <a:endParaRPr lang="zh-CN" altLang="en-US" sz="2000" b="1">
              <a:solidFill>
                <a:srgbClr val="4D009A"/>
              </a:solidFill>
              <a:latin typeface="华文楷体" panose="02010600040101010101" pitchFamily="2" charset="-122"/>
              <a:ea typeface="华文楷体" panose="02010600040101010101" pitchFamily="2" charset="-122"/>
            </a:endParaRPr>
          </a:p>
        </p:txBody>
      </p:sp>
      <p:sp>
        <p:nvSpPr>
          <p:cNvPr id="44035"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2A291D1C-F22E-4B10-B9B9-674828B9B3BD}" type="datetime1">
              <a:rPr lang="zh-CN" altLang="en-US" smtClean="0">
                <a:solidFill>
                  <a:srgbClr val="45516B"/>
                </a:solidFill>
              </a:rPr>
            </a:fld>
            <a:endParaRPr lang="zh-CN" altLang="en-US">
              <a:solidFill>
                <a:srgbClr val="45516B"/>
              </a:solidFill>
            </a:endParaRPr>
          </a:p>
        </p:txBody>
      </p:sp>
      <p:sp>
        <p:nvSpPr>
          <p:cNvPr id="44036"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46086" name="灯片编号占位符 3"/>
          <p:cNvSpPr>
            <a:spLocks noGrp="1" noChangeArrowheads="1"/>
          </p:cNvSpPr>
          <p:nvPr>
            <p:ph type="sldNum" sz="quarter" idx="12"/>
          </p:nvPr>
        </p:nvSpPr>
        <p:spPr bwMode="auto">
          <a:noFill/>
          <a:ln>
            <a:miter lim="800000"/>
          </a:ln>
        </p:spPr>
        <p:txBody>
          <a:bodyPr/>
          <a:lstStyle/>
          <a:p>
            <a:fld id="{67F3FF0B-0B33-4227-B944-55A5BBC686BA}"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animEffect transition="in" filter="wipe(up)">
                                      <p:cBhvr>
                                        <p:cTn id="7" dur="500"/>
                                        <p:tgtEl>
                                          <p:spTgt spid="67587">
                                            <p:txEl>
                                              <p:pRg st="0" end="0"/>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67587">
                                            <p:txEl>
                                              <p:pRg st="1" end="1"/>
                                            </p:txEl>
                                          </p:spTgt>
                                        </p:tgtEl>
                                        <p:attrNameLst>
                                          <p:attrName>style.visibility</p:attrName>
                                        </p:attrNameLst>
                                      </p:cBhvr>
                                      <p:to>
                                        <p:strVal val="visible"/>
                                      </p:to>
                                    </p:set>
                                    <p:animEffect transition="in" filter="wipe(up)">
                                      <p:cBhvr>
                                        <p:cTn id="10" dur="500"/>
                                        <p:tgtEl>
                                          <p:spTgt spid="67587">
                                            <p:txEl>
                                              <p:pRg st="1" end="1"/>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67587">
                                            <p:txEl>
                                              <p:pRg st="2" end="2"/>
                                            </p:txEl>
                                          </p:spTgt>
                                        </p:tgtEl>
                                        <p:attrNameLst>
                                          <p:attrName>style.visibility</p:attrName>
                                        </p:attrNameLst>
                                      </p:cBhvr>
                                      <p:to>
                                        <p:strVal val="visible"/>
                                      </p:to>
                                    </p:set>
                                    <p:animEffect transition="in" filter="wipe(up)">
                                      <p:cBhvr>
                                        <p:cTn id="13" dur="500"/>
                                        <p:tgtEl>
                                          <p:spTgt spid="67587">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67587">
                                            <p:txEl>
                                              <p:pRg st="3" end="3"/>
                                            </p:txEl>
                                          </p:spTgt>
                                        </p:tgtEl>
                                        <p:attrNameLst>
                                          <p:attrName>style.visibility</p:attrName>
                                        </p:attrNameLst>
                                      </p:cBhvr>
                                      <p:to>
                                        <p:strVal val="visible"/>
                                      </p:to>
                                    </p:set>
                                    <p:animEffect transition="in" filter="wipe(up)">
                                      <p:cBhvr>
                                        <p:cTn id="18" dur="500"/>
                                        <p:tgtEl>
                                          <p:spTgt spid="67587">
                                            <p:txEl>
                                              <p:pRg st="3" end="3"/>
                                            </p:txEl>
                                          </p:spTgt>
                                        </p:tgtEl>
                                      </p:cBhvr>
                                    </p:animEffect>
                                  </p:childTnLst>
                                </p:cTn>
                              </p:par>
                              <p:par>
                                <p:cTn id="19" presetID="22" presetClass="entr" presetSubtype="1" fill="hold" nodeType="withEffect">
                                  <p:stCondLst>
                                    <p:cond delay="0"/>
                                  </p:stCondLst>
                                  <p:childTnLst>
                                    <p:set>
                                      <p:cBhvr>
                                        <p:cTn id="20" dur="1" fill="hold">
                                          <p:stCondLst>
                                            <p:cond delay="0"/>
                                          </p:stCondLst>
                                        </p:cTn>
                                        <p:tgtEl>
                                          <p:spTgt spid="67587">
                                            <p:txEl>
                                              <p:pRg st="4" end="4"/>
                                            </p:txEl>
                                          </p:spTgt>
                                        </p:tgtEl>
                                        <p:attrNameLst>
                                          <p:attrName>style.visibility</p:attrName>
                                        </p:attrNameLst>
                                      </p:cBhvr>
                                      <p:to>
                                        <p:strVal val="visible"/>
                                      </p:to>
                                    </p:set>
                                    <p:animEffect transition="in" filter="wipe(up)">
                                      <p:cBhvr>
                                        <p:cTn id="21" dur="500"/>
                                        <p:tgtEl>
                                          <p:spTgt spid="67587">
                                            <p:txEl>
                                              <p:pRg st="4" end="4"/>
                                            </p:txEl>
                                          </p:spTgt>
                                        </p:tgtEl>
                                      </p:cBhvr>
                                    </p:animEffect>
                                  </p:childTnLst>
                                </p:cTn>
                              </p:par>
                              <p:par>
                                <p:cTn id="22" presetID="22" presetClass="entr" presetSubtype="1" fill="hold" nodeType="withEffect">
                                  <p:stCondLst>
                                    <p:cond delay="0"/>
                                  </p:stCondLst>
                                  <p:childTnLst>
                                    <p:set>
                                      <p:cBhvr>
                                        <p:cTn id="23" dur="1" fill="hold">
                                          <p:stCondLst>
                                            <p:cond delay="0"/>
                                          </p:stCondLst>
                                        </p:cTn>
                                        <p:tgtEl>
                                          <p:spTgt spid="67587">
                                            <p:txEl>
                                              <p:pRg st="5" end="5"/>
                                            </p:txEl>
                                          </p:spTgt>
                                        </p:tgtEl>
                                        <p:attrNameLst>
                                          <p:attrName>style.visibility</p:attrName>
                                        </p:attrNameLst>
                                      </p:cBhvr>
                                      <p:to>
                                        <p:strVal val="visible"/>
                                      </p:to>
                                    </p:set>
                                    <p:animEffect transition="in" filter="wipe(up)">
                                      <p:cBhvr>
                                        <p:cTn id="24" dur="500"/>
                                        <p:tgtEl>
                                          <p:spTgt spid="67587">
                                            <p:txEl>
                                              <p:pRg st="5" end="5"/>
                                            </p:txEl>
                                          </p:spTgt>
                                        </p:tgtEl>
                                      </p:cBhvr>
                                    </p:animEffect>
                                  </p:childTnLst>
                                </p:cTn>
                              </p:par>
                              <p:par>
                                <p:cTn id="25" presetID="22" presetClass="entr" presetSubtype="1" fill="hold" nodeType="withEffect">
                                  <p:stCondLst>
                                    <p:cond delay="0"/>
                                  </p:stCondLst>
                                  <p:childTnLst>
                                    <p:set>
                                      <p:cBhvr>
                                        <p:cTn id="26" dur="1" fill="hold">
                                          <p:stCondLst>
                                            <p:cond delay="0"/>
                                          </p:stCondLst>
                                        </p:cTn>
                                        <p:tgtEl>
                                          <p:spTgt spid="67587">
                                            <p:txEl>
                                              <p:pRg st="6" end="6"/>
                                            </p:txEl>
                                          </p:spTgt>
                                        </p:tgtEl>
                                        <p:attrNameLst>
                                          <p:attrName>style.visibility</p:attrName>
                                        </p:attrNameLst>
                                      </p:cBhvr>
                                      <p:to>
                                        <p:strVal val="visible"/>
                                      </p:to>
                                    </p:set>
                                    <p:animEffect transition="in" filter="wipe(up)">
                                      <p:cBhvr>
                                        <p:cTn id="27" dur="500"/>
                                        <p:tgtEl>
                                          <p:spTgt spid="67587">
                                            <p:txEl>
                                              <p:pRg st="6" end="6"/>
                                            </p:txEl>
                                          </p:spTgt>
                                        </p:tgtEl>
                                      </p:cBhvr>
                                    </p:animEffect>
                                  </p:childTnLst>
                                </p:cTn>
                              </p:par>
                              <p:par>
                                <p:cTn id="28" presetID="22" presetClass="entr" presetSubtype="1" fill="hold" nodeType="withEffect">
                                  <p:stCondLst>
                                    <p:cond delay="0"/>
                                  </p:stCondLst>
                                  <p:childTnLst>
                                    <p:set>
                                      <p:cBhvr>
                                        <p:cTn id="29" dur="1" fill="hold">
                                          <p:stCondLst>
                                            <p:cond delay="0"/>
                                          </p:stCondLst>
                                        </p:cTn>
                                        <p:tgtEl>
                                          <p:spTgt spid="67587">
                                            <p:txEl>
                                              <p:pRg st="7" end="7"/>
                                            </p:txEl>
                                          </p:spTgt>
                                        </p:tgtEl>
                                        <p:attrNameLst>
                                          <p:attrName>style.visibility</p:attrName>
                                        </p:attrNameLst>
                                      </p:cBhvr>
                                      <p:to>
                                        <p:strVal val="visible"/>
                                      </p:to>
                                    </p:set>
                                    <p:animEffect transition="in" filter="wipe(up)">
                                      <p:cBhvr>
                                        <p:cTn id="30" dur="500"/>
                                        <p:tgtEl>
                                          <p:spTgt spid="67587">
                                            <p:txEl>
                                              <p:pRg st="7" end="7"/>
                                            </p:txEl>
                                          </p:spTgt>
                                        </p:tgtEl>
                                      </p:cBhvr>
                                    </p:animEffect>
                                  </p:childTnLst>
                                </p:cTn>
                              </p:par>
                              <p:par>
                                <p:cTn id="31" presetID="22" presetClass="entr" presetSubtype="1" fill="hold" nodeType="withEffect">
                                  <p:stCondLst>
                                    <p:cond delay="0"/>
                                  </p:stCondLst>
                                  <p:childTnLst>
                                    <p:set>
                                      <p:cBhvr>
                                        <p:cTn id="32" dur="1" fill="hold">
                                          <p:stCondLst>
                                            <p:cond delay="0"/>
                                          </p:stCondLst>
                                        </p:cTn>
                                        <p:tgtEl>
                                          <p:spTgt spid="67587">
                                            <p:txEl>
                                              <p:pRg st="8" end="8"/>
                                            </p:txEl>
                                          </p:spTgt>
                                        </p:tgtEl>
                                        <p:attrNameLst>
                                          <p:attrName>style.visibility</p:attrName>
                                        </p:attrNameLst>
                                      </p:cBhvr>
                                      <p:to>
                                        <p:strVal val="visible"/>
                                      </p:to>
                                    </p:set>
                                    <p:animEffect transition="in" filter="wipe(up)">
                                      <p:cBhvr>
                                        <p:cTn id="33" dur="500"/>
                                        <p:tgtEl>
                                          <p:spTgt spid="6758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70657"/>
          <p:cNvSpPr>
            <a:spLocks noGrp="1" noChangeArrowheads="1"/>
          </p:cNvSpPr>
          <p:nvPr>
            <p:ph type="title"/>
          </p:nvPr>
        </p:nvSpPr>
        <p:spPr>
          <a:xfrm>
            <a:off x="2711450" y="1"/>
            <a:ext cx="7793038" cy="982663"/>
          </a:xfrm>
        </p:spPr>
        <p:txBody>
          <a:bodyPr/>
          <a:lstStyle/>
          <a:p>
            <a:pPr marL="838200" indent="-838200"/>
            <a:r>
              <a:rPr lang="en-US" altLang="zh-CN" sz="3200" b="1" dirty="0">
                <a:solidFill>
                  <a:srgbClr val="4D009A"/>
                </a:solidFill>
                <a:latin typeface="华文楷体" panose="02010600040101010101" pitchFamily="2" charset="-122"/>
                <a:ea typeface="华文楷体" panose="02010600040101010101" pitchFamily="2" charset="-122"/>
              </a:rPr>
              <a:t>1.3 </a:t>
            </a:r>
            <a:r>
              <a:rPr lang="zh-CN" altLang="en-US" sz="3200" b="1" dirty="0">
                <a:solidFill>
                  <a:srgbClr val="4D009A"/>
                </a:solidFill>
                <a:latin typeface="华文楷体" panose="02010600040101010101" pitchFamily="2" charset="-122"/>
                <a:ea typeface="华文楷体" panose="02010600040101010101" pitchFamily="2" charset="-122"/>
              </a:rPr>
              <a:t>数值表示、变量及表达式 </a:t>
            </a:r>
            <a:r>
              <a:rPr lang="zh-CN" altLang="en-US" sz="2600" b="1" dirty="0">
                <a:solidFill>
                  <a:srgbClr val="4D009A"/>
                </a:solidFill>
                <a:latin typeface="华文楷体" panose="02010600040101010101" pitchFamily="2" charset="-122"/>
                <a:ea typeface="华文楷体" panose="02010600040101010101" pitchFamily="2" charset="-122"/>
              </a:rPr>
              <a:t>（续）</a:t>
            </a:r>
            <a:endParaRPr lang="zh-CN" altLang="en-US" sz="2600" b="1" dirty="0">
              <a:solidFill>
                <a:srgbClr val="4D009A"/>
              </a:solidFill>
              <a:latin typeface="华文楷体" panose="02010600040101010101" pitchFamily="2" charset="-122"/>
              <a:ea typeface="华文楷体" panose="02010600040101010101" pitchFamily="2" charset="-122"/>
            </a:endParaRPr>
          </a:p>
        </p:txBody>
      </p:sp>
      <p:sp>
        <p:nvSpPr>
          <p:cNvPr id="47107" name="文本占位符 70658"/>
          <p:cNvSpPr>
            <a:spLocks noGrp="1" noChangeArrowheads="1"/>
          </p:cNvSpPr>
          <p:nvPr>
            <p:ph idx="1"/>
          </p:nvPr>
        </p:nvSpPr>
        <p:spPr>
          <a:xfrm>
            <a:off x="2706688" y="1268414"/>
            <a:ext cx="7421562" cy="574675"/>
          </a:xfrm>
        </p:spPr>
        <p:txBody>
          <a:bodyPr/>
          <a:lstStyle/>
          <a:p>
            <a:pPr eaLnBrk="1" hangingPunct="1"/>
            <a:r>
              <a:rPr lang="en-US" altLang="zh-CN" sz="2600" b="1">
                <a:latin typeface="华文楷体" panose="02010600040101010101" pitchFamily="2" charset="-122"/>
                <a:ea typeface="华文楷体" panose="02010600040101010101" pitchFamily="2" charset="-122"/>
              </a:rPr>
              <a:t>Matlab</a:t>
            </a:r>
            <a:r>
              <a:rPr lang="zh-CN" altLang="en-US" sz="2600" b="1">
                <a:latin typeface="华文楷体" panose="02010600040101010101" pitchFamily="2" charset="-122"/>
                <a:ea typeface="华文楷体" panose="02010600040101010101" pitchFamily="2" charset="-122"/>
              </a:rPr>
              <a:t>预定义的变量</a:t>
            </a:r>
            <a:endParaRPr lang="zh-CN" altLang="en-US" sz="2600" b="1">
              <a:latin typeface="华文楷体" panose="02010600040101010101" pitchFamily="2" charset="-122"/>
              <a:ea typeface="华文楷体" panose="02010600040101010101" pitchFamily="2" charset="-122"/>
            </a:endParaRPr>
          </a:p>
          <a:p>
            <a:pPr eaLnBrk="1" hangingPunct="1"/>
            <a:endParaRPr lang="zh-CN" altLang="en-US" sz="2600" b="1">
              <a:latin typeface="华文楷体" panose="02010600040101010101" pitchFamily="2" charset="-122"/>
              <a:ea typeface="华文楷体" panose="02010600040101010101" pitchFamily="2" charset="-122"/>
            </a:endParaRPr>
          </a:p>
          <a:p>
            <a:pPr eaLnBrk="1" hangingPunct="1"/>
            <a:endParaRPr lang="zh-CN" altLang="en-US" sz="2600">
              <a:solidFill>
                <a:srgbClr val="4D009A"/>
              </a:solidFill>
            </a:endParaRPr>
          </a:p>
        </p:txBody>
      </p:sp>
      <p:graphicFrame>
        <p:nvGraphicFramePr>
          <p:cNvPr id="70753" name="表格 70752"/>
          <p:cNvGraphicFramePr>
            <a:graphicFrameLocks noGrp="1"/>
          </p:cNvGraphicFramePr>
          <p:nvPr/>
        </p:nvGraphicFramePr>
        <p:xfrm>
          <a:off x="2782888" y="1773239"/>
          <a:ext cx="6985000" cy="2739073"/>
        </p:xfrm>
        <a:graphic>
          <a:graphicData uri="http://schemas.openxmlformats.org/drawingml/2006/table">
            <a:tbl>
              <a:tblPr/>
              <a:tblGrid>
                <a:gridCol w="1592262"/>
                <a:gridCol w="5392738"/>
              </a:tblGrid>
              <a:tr h="365125">
                <a:tc>
                  <a:txBody>
                    <a:bodyPr/>
                    <a:lstStyle/>
                    <a:p>
                      <a:pPr marL="0" marR="0" lvl="0" indent="0" algn="ctr" defTabSz="914400" rtl="0" eaLnBrk="1" fontAlgn="base" latinLnBrk="0" hangingPunct="1">
                        <a:lnSpc>
                          <a:spcPct val="90000"/>
                        </a:lnSpc>
                        <a:spcBef>
                          <a:spcPct val="0"/>
                        </a:spcBef>
                        <a:spcAft>
                          <a:spcPct val="0"/>
                        </a:spcAft>
                        <a:buClr>
                          <a:srgbClr val="000000"/>
                        </a:buClr>
                        <a:buSzTx/>
                        <a:buFont typeface="Wingdings" panose="05000000000000000000" pitchFamily="2" charset="2"/>
                        <a:buNone/>
                      </a:pPr>
                      <a:r>
                        <a:rPr kumimoji="0" lang="zh-CN" altLang="en-US" sz="2000" b="1" i="0" u="none" strike="noStrike" cap="none" normalizeH="0" baseline="0" dirty="0">
                          <a:ln>
                            <a:noFill/>
                          </a:ln>
                          <a:solidFill>
                            <a:srgbClr val="4D009A"/>
                          </a:solidFill>
                          <a:effectLst/>
                          <a:latin typeface="Times New Roman" panose="02020603050405020304" pitchFamily="18" charset="0"/>
                          <a:ea typeface="宋体" panose="02010600030101010101" pitchFamily="2" charset="-122"/>
                          <a:cs typeface="Times New Roman" panose="02020603050405020304" pitchFamily="18" charset="0"/>
                        </a:rPr>
                        <a:t>变量名</a:t>
                      </a:r>
                      <a:endParaRPr kumimoji="0" lang="zh-CN" altLang="en-US" sz="2000" b="1" i="0" u="none" strike="noStrike" cap="none" normalizeH="0" baseline="0" dirty="0">
                        <a:ln>
                          <a:noFill/>
                        </a:ln>
                        <a:solidFill>
                          <a:srgbClr val="4D009A"/>
                        </a:solidFill>
                        <a:effectLst/>
                        <a:latin typeface="Arial" panose="020B0604020202020204" pitchFamily="34"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rgbClr val="000000"/>
                        </a:buClr>
                        <a:buSzTx/>
                        <a:buFont typeface="Wingdings" panose="05000000000000000000" pitchFamily="2" charset="2"/>
                        <a:buNone/>
                      </a:pPr>
                      <a:r>
                        <a:rPr kumimoji="0" lang="zh-CN" altLang="en-US" sz="2000" b="1" i="0" u="none" strike="noStrike" cap="none" normalizeH="0" baseline="0">
                          <a:ln>
                            <a:noFill/>
                          </a:ln>
                          <a:solidFill>
                            <a:srgbClr val="4D009A"/>
                          </a:solidFill>
                          <a:effectLst/>
                          <a:latin typeface="Times New Roman" panose="02020603050405020304" pitchFamily="18" charset="0"/>
                          <a:ea typeface="宋体" panose="02010600030101010101" pitchFamily="2" charset="-122"/>
                          <a:cs typeface="Times New Roman" panose="02020603050405020304" pitchFamily="18" charset="0"/>
                        </a:rPr>
                        <a:t>意义</a:t>
                      </a:r>
                      <a:endParaRPr kumimoji="0" lang="zh-CN" altLang="en-US" sz="2000" b="1" i="0" u="none" strike="noStrike" cap="none" normalizeH="0" baseline="0">
                        <a:ln>
                          <a:noFill/>
                        </a:ln>
                        <a:solidFill>
                          <a:srgbClr val="4D009A"/>
                        </a:solidFill>
                        <a:effectLst/>
                        <a:latin typeface="Arial" panose="020B0604020202020204" pitchFamily="34"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90000"/>
                        </a:lnSpc>
                        <a:spcBef>
                          <a:spcPct val="0"/>
                        </a:spcBef>
                        <a:spcAft>
                          <a:spcPct val="0"/>
                        </a:spcAft>
                        <a:buClr>
                          <a:srgbClr val="000000"/>
                        </a:buClr>
                        <a:buSzTx/>
                        <a:buFont typeface="Wingdings" panose="05000000000000000000" pitchFamily="2" charset="2"/>
                        <a:buNone/>
                      </a:pPr>
                      <a:r>
                        <a:rPr kumimoji="0" lang="en-US" altLang="zh-CN" sz="2000" b="1" i="0" u="none" strike="noStrike" cap="none" normalizeH="0" baseline="0">
                          <a:ln>
                            <a:noFill/>
                          </a:ln>
                          <a:solidFill>
                            <a:srgbClr val="4D009A"/>
                          </a:solidFill>
                          <a:effectLst/>
                          <a:latin typeface="Times New Roman" panose="02020603050405020304" pitchFamily="18" charset="0"/>
                          <a:ea typeface="宋体" panose="02010600030101010101" pitchFamily="2" charset="-122"/>
                          <a:cs typeface="Times New Roman" panose="02020603050405020304" pitchFamily="18" charset="0"/>
                        </a:rPr>
                        <a:t>ans</a:t>
                      </a:r>
                      <a:endParaRPr kumimoji="0" lang="en-US" altLang="zh-CN" sz="2000" b="1" i="0" u="none" strike="noStrike" cap="none" normalizeH="0" baseline="0">
                        <a:ln>
                          <a:noFill/>
                        </a:ln>
                        <a:solidFill>
                          <a:srgbClr val="4D009A"/>
                        </a:solidFill>
                        <a:effectLst/>
                        <a:latin typeface="Arial" panose="020B0604020202020204" pitchFamily="34"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rgbClr val="000000"/>
                        </a:buClr>
                        <a:buSzTx/>
                        <a:buFont typeface="Wingdings" panose="05000000000000000000" pitchFamily="2" charset="2"/>
                        <a:buNone/>
                      </a:pPr>
                      <a:r>
                        <a:rPr kumimoji="0" lang="zh-CN" altLang="en-US" sz="2000" b="1" i="0" u="none" strike="noStrike" cap="none" normalizeH="0" baseline="0">
                          <a:ln>
                            <a:noFill/>
                          </a:ln>
                          <a:solidFill>
                            <a:srgbClr val="4D009A"/>
                          </a:solidFill>
                          <a:effectLst/>
                          <a:latin typeface="Times New Roman" panose="02020603050405020304" pitchFamily="18" charset="0"/>
                          <a:ea typeface="楷体_GB2312" pitchFamily="49" charset="-122"/>
                        </a:rPr>
                        <a:t>最近的计算结果的变量名</a:t>
                      </a:r>
                      <a:endParaRPr kumimoji="0" lang="zh-CN" altLang="en-US" sz="2000" b="1" i="0" u="none" strike="noStrike" cap="none" normalizeH="0" baseline="0">
                        <a:ln>
                          <a:noFill/>
                        </a:ln>
                        <a:solidFill>
                          <a:srgbClr val="4D009A"/>
                        </a:solidFill>
                        <a:effectLst/>
                        <a:latin typeface="Arial" panose="020B0604020202020204" pitchFamily="34" charset="0"/>
                        <a:ea typeface="楷体_GB2312" pitchFamily="49"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90000"/>
                        </a:lnSpc>
                        <a:spcBef>
                          <a:spcPct val="0"/>
                        </a:spcBef>
                        <a:spcAft>
                          <a:spcPct val="0"/>
                        </a:spcAft>
                        <a:buClr>
                          <a:srgbClr val="000000"/>
                        </a:buClr>
                        <a:buSzTx/>
                        <a:buFont typeface="Wingdings" panose="05000000000000000000" pitchFamily="2" charset="2"/>
                        <a:buNone/>
                      </a:pPr>
                      <a:r>
                        <a:rPr kumimoji="0" lang="en-US" altLang="zh-CN" sz="2000" b="1" i="0" u="none" strike="noStrike" cap="none" normalizeH="0" baseline="0">
                          <a:ln>
                            <a:noFill/>
                          </a:ln>
                          <a:solidFill>
                            <a:srgbClr val="4D009A"/>
                          </a:solidFill>
                          <a:effectLst/>
                          <a:latin typeface="Times New Roman" panose="02020603050405020304" pitchFamily="18" charset="0"/>
                          <a:ea typeface="宋体" panose="02010600030101010101" pitchFamily="2" charset="-122"/>
                          <a:cs typeface="Times New Roman" panose="02020603050405020304" pitchFamily="18" charset="0"/>
                        </a:rPr>
                        <a:t>eps</a:t>
                      </a:r>
                      <a:endParaRPr kumimoji="0" lang="en-US" altLang="zh-CN" sz="2000" b="1" i="0" u="none" strike="noStrike" cap="none" normalizeH="0" baseline="0">
                        <a:ln>
                          <a:noFill/>
                        </a:ln>
                        <a:solidFill>
                          <a:srgbClr val="4D009A"/>
                        </a:solidFill>
                        <a:effectLst/>
                        <a:latin typeface="Arial" panose="020B0604020202020204" pitchFamily="34"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rgbClr val="000000"/>
                        </a:buClr>
                        <a:buSzTx/>
                        <a:buFont typeface="Wingdings" panose="05000000000000000000" pitchFamily="2" charset="2"/>
                        <a:buNone/>
                      </a:pPr>
                      <a:r>
                        <a:rPr kumimoji="0" lang="en-US" altLang="zh-CN" sz="2000" b="1" i="0" u="none" strike="noStrike" cap="none" normalizeH="0" baseline="0" dirty="0">
                          <a:ln>
                            <a:noFill/>
                          </a:ln>
                          <a:solidFill>
                            <a:srgbClr val="4D009A"/>
                          </a:solidFill>
                          <a:effectLst/>
                          <a:latin typeface="Times New Roman" panose="02020603050405020304" pitchFamily="18" charset="0"/>
                          <a:ea typeface="楷体_GB2312" pitchFamily="49" charset="-122"/>
                        </a:rPr>
                        <a:t>MATLAB</a:t>
                      </a:r>
                      <a:r>
                        <a:rPr kumimoji="0" lang="zh-CN" altLang="en-US" sz="2000" b="1" i="0" u="none" strike="noStrike" cap="none" normalizeH="0" baseline="0" dirty="0">
                          <a:ln>
                            <a:noFill/>
                          </a:ln>
                          <a:solidFill>
                            <a:srgbClr val="4D009A"/>
                          </a:solidFill>
                          <a:effectLst/>
                          <a:latin typeface="Times New Roman" panose="02020603050405020304" pitchFamily="18" charset="0"/>
                          <a:ea typeface="楷体_GB2312" pitchFamily="49" charset="-122"/>
                        </a:rPr>
                        <a:t>定义的正的极小值</a:t>
                      </a:r>
                      <a:r>
                        <a:rPr kumimoji="0" lang="en-US" altLang="zh-CN" sz="2000" b="1" i="0" u="none" strike="noStrike" cap="none" normalizeH="0" baseline="0" dirty="0">
                          <a:ln>
                            <a:noFill/>
                          </a:ln>
                          <a:solidFill>
                            <a:srgbClr val="4D009A"/>
                          </a:solidFill>
                          <a:effectLst/>
                          <a:latin typeface="Times New Roman" panose="02020603050405020304" pitchFamily="18" charset="0"/>
                          <a:ea typeface="楷体_GB2312" pitchFamily="49" charset="-122"/>
                        </a:rPr>
                        <a:t>=1.2204e-16</a:t>
                      </a:r>
                      <a:endParaRPr kumimoji="0" lang="en-US" altLang="zh-CN" sz="2000" b="1" i="0" u="none" strike="noStrike" cap="none" normalizeH="0" baseline="0" dirty="0">
                        <a:ln>
                          <a:noFill/>
                        </a:ln>
                        <a:solidFill>
                          <a:srgbClr val="4D009A"/>
                        </a:solidFill>
                        <a:effectLst/>
                        <a:latin typeface="Arial" panose="020B0604020202020204" pitchFamily="34" charset="0"/>
                        <a:ea typeface="楷体_GB2312" pitchFamily="49"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90000"/>
                        </a:lnSpc>
                        <a:spcBef>
                          <a:spcPct val="0"/>
                        </a:spcBef>
                        <a:spcAft>
                          <a:spcPct val="0"/>
                        </a:spcAft>
                        <a:buClr>
                          <a:srgbClr val="000000"/>
                        </a:buClr>
                        <a:buSzTx/>
                        <a:buFont typeface="Wingdings" panose="05000000000000000000" pitchFamily="2" charset="2"/>
                        <a:buNone/>
                      </a:pPr>
                      <a:r>
                        <a:rPr kumimoji="0" lang="en-US" altLang="zh-CN" sz="2000" b="1" i="0" u="none" strike="noStrike" cap="none" normalizeH="0" baseline="0">
                          <a:ln>
                            <a:noFill/>
                          </a:ln>
                          <a:solidFill>
                            <a:srgbClr val="4D009A"/>
                          </a:solidFill>
                          <a:effectLst/>
                          <a:latin typeface="Times New Roman" panose="02020603050405020304" pitchFamily="18" charset="0"/>
                          <a:ea typeface="宋体" panose="02010600030101010101" pitchFamily="2" charset="-122"/>
                          <a:cs typeface="Times New Roman" panose="02020603050405020304" pitchFamily="18" charset="0"/>
                        </a:rPr>
                        <a:t>pi</a:t>
                      </a:r>
                      <a:endParaRPr kumimoji="0" lang="en-US" altLang="zh-CN" sz="2000" b="1" i="0" u="none" strike="noStrike" cap="none" normalizeH="0" baseline="0">
                        <a:ln>
                          <a:noFill/>
                        </a:ln>
                        <a:solidFill>
                          <a:srgbClr val="4D009A"/>
                        </a:solidFill>
                        <a:effectLst/>
                        <a:latin typeface="Arial" panose="020B0604020202020204" pitchFamily="34"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rgbClr val="000000"/>
                        </a:buClr>
                        <a:buSzTx/>
                        <a:buFont typeface="Wingdings" panose="05000000000000000000" pitchFamily="2" charset="2"/>
                        <a:buNone/>
                      </a:pPr>
                      <a:r>
                        <a:rPr kumimoji="0" lang="zh-CN" altLang="en-US" sz="2000" b="1" i="0" u="none" strike="noStrike" cap="none" normalizeH="0" baseline="0">
                          <a:ln>
                            <a:noFill/>
                          </a:ln>
                          <a:solidFill>
                            <a:srgbClr val="4D009A"/>
                          </a:solidFill>
                          <a:effectLst/>
                          <a:latin typeface="Times New Roman" panose="02020603050405020304" pitchFamily="18" charset="0"/>
                          <a:ea typeface="楷体_GB2312" pitchFamily="49" charset="-122"/>
                        </a:rPr>
                        <a:t>圆周率</a:t>
                      </a:r>
                      <a:r>
                        <a:rPr kumimoji="0" lang="en-US" altLang="zh-CN" sz="2000" b="1" i="0" u="none" strike="noStrike" cap="none" normalizeH="0" baseline="0">
                          <a:ln>
                            <a:noFill/>
                          </a:ln>
                          <a:solidFill>
                            <a:srgbClr val="4D009A"/>
                          </a:solidFill>
                          <a:effectLst/>
                          <a:latin typeface="Times New Roman" panose="02020603050405020304" pitchFamily="18" charset="0"/>
                          <a:ea typeface="楷体_GB2312" pitchFamily="49" charset="-122"/>
                        </a:rPr>
                        <a:t>π</a:t>
                      </a:r>
                      <a:endParaRPr kumimoji="0" lang="en-US" altLang="zh-CN" sz="2000" b="1" i="0" u="none" strike="noStrike" cap="none" normalizeH="0" baseline="0">
                        <a:ln>
                          <a:noFill/>
                        </a:ln>
                        <a:solidFill>
                          <a:srgbClr val="4D009A"/>
                        </a:solidFill>
                        <a:effectLst/>
                        <a:latin typeface="Arial" panose="020B0604020202020204" pitchFamily="34" charset="0"/>
                        <a:ea typeface="楷体_GB2312" pitchFamily="49"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90000"/>
                        </a:lnSpc>
                        <a:spcBef>
                          <a:spcPct val="0"/>
                        </a:spcBef>
                        <a:spcAft>
                          <a:spcPct val="0"/>
                        </a:spcAft>
                        <a:buClr>
                          <a:srgbClr val="000000"/>
                        </a:buClr>
                        <a:buSzTx/>
                        <a:buFont typeface="Wingdings" panose="05000000000000000000" pitchFamily="2" charset="2"/>
                        <a:buNone/>
                      </a:pPr>
                      <a:r>
                        <a:rPr kumimoji="0" lang="en-US" altLang="zh-CN" sz="2000" b="1" i="0" u="none" strike="noStrike" cap="none" normalizeH="0" baseline="0">
                          <a:ln>
                            <a:noFill/>
                          </a:ln>
                          <a:solidFill>
                            <a:srgbClr val="4D009A"/>
                          </a:solidFill>
                          <a:effectLst/>
                          <a:latin typeface="Times New Roman" panose="02020603050405020304" pitchFamily="18" charset="0"/>
                          <a:ea typeface="宋体" panose="02010600030101010101" pitchFamily="2" charset="-122"/>
                          <a:cs typeface="Times New Roman" panose="02020603050405020304" pitchFamily="18" charset="0"/>
                        </a:rPr>
                        <a:t>inf</a:t>
                      </a:r>
                      <a:endParaRPr kumimoji="0" lang="en-US" altLang="zh-CN" sz="2000" b="1" i="0" u="none" strike="noStrike" cap="none" normalizeH="0" baseline="0">
                        <a:ln>
                          <a:noFill/>
                        </a:ln>
                        <a:solidFill>
                          <a:srgbClr val="4D009A"/>
                        </a:solidFill>
                        <a:effectLst/>
                        <a:latin typeface="Arial" panose="020B0604020202020204" pitchFamily="34"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rgbClr val="000000"/>
                        </a:buClr>
                        <a:buSzTx/>
                        <a:buFont typeface="Wingdings" panose="05000000000000000000" pitchFamily="2" charset="2"/>
                        <a:buNone/>
                      </a:pPr>
                      <a:r>
                        <a:rPr kumimoji="0" lang="en-US" altLang="zh-CN" sz="2000" b="1" i="0" u="none" strike="noStrike" cap="none" normalizeH="0" baseline="0">
                          <a:ln>
                            <a:noFill/>
                          </a:ln>
                          <a:solidFill>
                            <a:srgbClr val="4D009A"/>
                          </a:solidFill>
                          <a:effectLst/>
                          <a:latin typeface="Times New Roman" panose="02020603050405020304" pitchFamily="18" charset="0"/>
                          <a:ea typeface="楷体_GB2312" pitchFamily="49" charset="-122"/>
                        </a:rPr>
                        <a:t>∞</a:t>
                      </a:r>
                      <a:r>
                        <a:rPr kumimoji="0" lang="zh-CN" altLang="en-US" sz="2000" b="1" i="0" u="none" strike="noStrike" cap="none" normalizeH="0" baseline="0">
                          <a:ln>
                            <a:noFill/>
                          </a:ln>
                          <a:solidFill>
                            <a:srgbClr val="4D009A"/>
                          </a:solidFill>
                          <a:effectLst/>
                          <a:latin typeface="Times New Roman" panose="02020603050405020304" pitchFamily="18" charset="0"/>
                          <a:ea typeface="楷体_GB2312" pitchFamily="49" charset="-122"/>
                        </a:rPr>
                        <a:t>值，无限大</a:t>
                      </a:r>
                      <a:endParaRPr kumimoji="0" lang="zh-CN" altLang="en-US" sz="2000" b="1" i="0" u="none" strike="noStrike" cap="none" normalizeH="0" baseline="0">
                        <a:ln>
                          <a:noFill/>
                        </a:ln>
                        <a:solidFill>
                          <a:srgbClr val="4D009A"/>
                        </a:solidFill>
                        <a:effectLst/>
                        <a:latin typeface="Arial" panose="020B0604020202020204" pitchFamily="34" charset="0"/>
                        <a:ea typeface="楷体_GB2312" pitchFamily="49"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544513">
                <a:tc>
                  <a:txBody>
                    <a:bodyPr/>
                    <a:lstStyle/>
                    <a:p>
                      <a:pPr marL="0" marR="0" lvl="0" indent="0" algn="ctr" defTabSz="914400" rtl="0" eaLnBrk="1" fontAlgn="base" latinLnBrk="0" hangingPunct="1">
                        <a:lnSpc>
                          <a:spcPct val="90000"/>
                        </a:lnSpc>
                        <a:spcBef>
                          <a:spcPct val="0"/>
                        </a:spcBef>
                        <a:spcAft>
                          <a:spcPct val="0"/>
                        </a:spcAft>
                        <a:buClr>
                          <a:srgbClr val="000000"/>
                        </a:buClr>
                        <a:buSzTx/>
                        <a:buFont typeface="Wingdings" panose="05000000000000000000" pitchFamily="2" charset="2"/>
                        <a:buNone/>
                      </a:pPr>
                      <a:r>
                        <a:rPr kumimoji="0" lang="en-US" altLang="zh-CN" sz="2000" b="1" i="0" u="none" strike="noStrike" cap="none" normalizeH="0" baseline="0">
                          <a:ln>
                            <a:noFill/>
                          </a:ln>
                          <a:solidFill>
                            <a:srgbClr val="4D009A"/>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0" lang="zh-CN" altLang="en-US" sz="2000" b="1" i="0" u="none" strike="noStrike" cap="none" normalizeH="0" baseline="0">
                          <a:ln>
                            <a:noFill/>
                          </a:ln>
                          <a:solidFill>
                            <a:srgbClr val="4D009A"/>
                          </a:solidFill>
                          <a:effectLst/>
                          <a:latin typeface="Times New Roman" panose="02020603050405020304" pitchFamily="18" charset="0"/>
                          <a:ea typeface="宋体" panose="02010600030101010101" pitchFamily="2" charset="-122"/>
                          <a:cs typeface="Times New Roman" panose="02020603050405020304" pitchFamily="18" charset="0"/>
                        </a:rPr>
                        <a:t>或</a:t>
                      </a:r>
                      <a:r>
                        <a:rPr kumimoji="0" lang="en-US" altLang="zh-CN" sz="2000" b="1" i="0" u="none" strike="noStrike" cap="none" normalizeH="0" baseline="0">
                          <a:ln>
                            <a:noFill/>
                          </a:ln>
                          <a:solidFill>
                            <a:srgbClr val="4D009A"/>
                          </a:solidFill>
                          <a:effectLst/>
                          <a:latin typeface="Times New Roman" panose="02020603050405020304" pitchFamily="18" charset="0"/>
                          <a:ea typeface="宋体" panose="02010600030101010101" pitchFamily="2" charset="-122"/>
                          <a:cs typeface="Times New Roman" panose="02020603050405020304" pitchFamily="18" charset="0"/>
                        </a:rPr>
                        <a:t>j</a:t>
                      </a:r>
                      <a:endParaRPr kumimoji="0" lang="en-US" altLang="zh-CN" sz="2000" b="1" i="0" u="none" strike="noStrike" cap="none" normalizeH="0" baseline="0">
                        <a:ln>
                          <a:noFill/>
                        </a:ln>
                        <a:solidFill>
                          <a:srgbClr val="4D009A"/>
                        </a:solidFill>
                        <a:effectLst/>
                        <a:latin typeface="Arial" panose="020B0604020202020204" pitchFamily="34"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rgbClr val="4D009A"/>
                        </a:buClr>
                        <a:buSzTx/>
                        <a:buFont typeface="Wingdings" panose="05000000000000000000" pitchFamily="2" charset="2"/>
                        <a:buNone/>
                      </a:pPr>
                      <a:r>
                        <a:rPr kumimoji="0" lang="zh-CN" altLang="en-US" sz="2000" b="1" i="0" u="none" strike="noStrike" cap="none" normalizeH="0" baseline="0">
                          <a:ln>
                            <a:noFill/>
                          </a:ln>
                          <a:solidFill>
                            <a:srgbClr val="4D009A"/>
                          </a:solidFill>
                          <a:effectLst/>
                          <a:latin typeface="Tahoma" panose="020B0604030504040204" pitchFamily="34" charset="0"/>
                          <a:ea typeface="宋体" panose="02010600030101010101" pitchFamily="2" charset="-122"/>
                        </a:rPr>
                        <a:t>虚数单元，</a:t>
                      </a:r>
                      <a:r>
                        <a:rPr kumimoji="0" lang="en-US" altLang="zh-CN" sz="2000" b="1" i="0" u="none" strike="noStrike" cap="none" normalizeH="0" baseline="0">
                          <a:ln>
                            <a:noFill/>
                          </a:ln>
                          <a:solidFill>
                            <a:srgbClr val="4D009A"/>
                          </a:solidFill>
                          <a:effectLst/>
                          <a:latin typeface="Tahoma" panose="020B0604030504040204" pitchFamily="34" charset="0"/>
                          <a:ea typeface="宋体" panose="02010600030101010101" pitchFamily="2" charset="-122"/>
                        </a:rPr>
                        <a:t>sqrt(-1)</a:t>
                      </a:r>
                      <a:endParaRPr kumimoji="0" lang="en-US" altLang="zh-CN" sz="2000" b="1" i="0" u="none" strike="noStrike" cap="none" normalizeH="0" baseline="0">
                        <a:ln>
                          <a:noFill/>
                        </a:ln>
                        <a:solidFill>
                          <a:srgbClr val="4D009A"/>
                        </a:solidFill>
                        <a:effectLst/>
                        <a:latin typeface="Tahoma" panose="020B0604030504040204" pitchFamily="34"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90000"/>
                        </a:lnSpc>
                        <a:spcBef>
                          <a:spcPct val="0"/>
                        </a:spcBef>
                        <a:spcAft>
                          <a:spcPct val="0"/>
                        </a:spcAft>
                        <a:buClr>
                          <a:srgbClr val="000000"/>
                        </a:buClr>
                        <a:buSzTx/>
                        <a:buFont typeface="Wingdings" panose="05000000000000000000" pitchFamily="2" charset="2"/>
                        <a:buNone/>
                      </a:pPr>
                      <a:r>
                        <a:rPr kumimoji="0" lang="en-US" altLang="zh-CN" sz="2000" b="1" i="0" u="none" strike="noStrike" cap="none" normalizeH="0" baseline="0">
                          <a:ln>
                            <a:noFill/>
                          </a:ln>
                          <a:solidFill>
                            <a:srgbClr val="4D009A"/>
                          </a:solidFill>
                          <a:effectLst/>
                          <a:latin typeface="Times New Roman" panose="02020603050405020304" pitchFamily="18" charset="0"/>
                          <a:ea typeface="宋体" panose="02010600030101010101" pitchFamily="2" charset="-122"/>
                          <a:cs typeface="Times New Roman" panose="02020603050405020304" pitchFamily="18" charset="0"/>
                        </a:rPr>
                        <a:t>NaN</a:t>
                      </a:r>
                      <a:endParaRPr kumimoji="0" lang="en-US" altLang="zh-CN" sz="2000" b="1" i="0" u="none" strike="noStrike" cap="none" normalizeH="0" baseline="0">
                        <a:ln>
                          <a:noFill/>
                        </a:ln>
                        <a:solidFill>
                          <a:srgbClr val="4D009A"/>
                        </a:solidFill>
                        <a:effectLst/>
                        <a:latin typeface="Arial" panose="020B0604020202020204" pitchFamily="34"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90000"/>
                        </a:lnSpc>
                        <a:spcBef>
                          <a:spcPct val="0"/>
                        </a:spcBef>
                        <a:spcAft>
                          <a:spcPct val="0"/>
                        </a:spcAft>
                        <a:buClr>
                          <a:srgbClr val="000000"/>
                        </a:buClr>
                        <a:buSzTx/>
                        <a:buFont typeface="Wingdings" panose="05000000000000000000" pitchFamily="2" charset="2"/>
                        <a:buNone/>
                      </a:pPr>
                      <a:r>
                        <a:rPr kumimoji="0" lang="zh-CN" altLang="en-US" sz="2000" b="1" i="0" u="none" strike="noStrike" cap="none" normalizeH="0" baseline="0">
                          <a:ln>
                            <a:noFill/>
                          </a:ln>
                          <a:solidFill>
                            <a:srgbClr val="4D009A"/>
                          </a:solidFill>
                          <a:effectLst/>
                          <a:latin typeface="Times New Roman" panose="02020603050405020304" pitchFamily="18" charset="0"/>
                          <a:ea typeface="楷体_GB2312" pitchFamily="49" charset="-122"/>
                        </a:rPr>
                        <a:t>非数，</a:t>
                      </a:r>
                      <a:r>
                        <a:rPr kumimoji="0" lang="en-US" altLang="zh-CN" sz="2000" b="1" i="0" u="none" strike="noStrike" cap="none" normalizeH="0" baseline="0">
                          <a:ln>
                            <a:noFill/>
                          </a:ln>
                          <a:solidFill>
                            <a:srgbClr val="4D009A"/>
                          </a:solidFill>
                          <a:effectLst/>
                          <a:latin typeface="Times New Roman" panose="02020603050405020304" pitchFamily="18" charset="0"/>
                          <a:ea typeface="楷体_GB2312" pitchFamily="49" charset="-122"/>
                        </a:rPr>
                        <a:t>0/0</a:t>
                      </a:r>
                      <a:r>
                        <a:rPr kumimoji="0" lang="zh-CN" altLang="en-US" sz="2000" b="1" i="0" u="none" strike="noStrike" cap="none" normalizeH="0" baseline="0">
                          <a:ln>
                            <a:noFill/>
                          </a:ln>
                          <a:solidFill>
                            <a:srgbClr val="4D009A"/>
                          </a:solidFill>
                          <a:effectLst/>
                          <a:latin typeface="Times New Roman" panose="02020603050405020304" pitchFamily="18" charset="0"/>
                          <a:ea typeface="楷体_GB2312" pitchFamily="49" charset="-122"/>
                        </a:rPr>
                        <a:t>、</a:t>
                      </a:r>
                      <a:r>
                        <a:rPr kumimoji="0" lang="en-US" altLang="zh-CN" sz="2000" b="1" i="0" u="none" strike="noStrike" cap="none" normalizeH="0" baseline="0">
                          <a:ln>
                            <a:noFill/>
                          </a:ln>
                          <a:solidFill>
                            <a:srgbClr val="4D009A"/>
                          </a:solidFill>
                          <a:effectLst/>
                          <a:latin typeface="Times New Roman" panose="02020603050405020304" pitchFamily="18" charset="0"/>
                          <a:ea typeface="楷体_GB2312" pitchFamily="49" charset="-122"/>
                        </a:rPr>
                        <a:t>∞/ </a:t>
                      </a:r>
                      <a:r>
                        <a:rPr kumimoji="0" lang="en-US" altLang="zh-CN" sz="1800" b="1" i="0" u="none" strike="noStrike" cap="none" normalizeH="0" baseline="0">
                          <a:ln>
                            <a:noFill/>
                          </a:ln>
                          <a:solidFill>
                            <a:srgbClr val="4D009A"/>
                          </a:solidFill>
                          <a:effectLst/>
                          <a:latin typeface="Tahoma" panose="020B0604030504040204" pitchFamily="34" charset="0"/>
                          <a:ea typeface="楷体_GB2312" pitchFamily="49" charset="-122"/>
                        </a:rPr>
                        <a:t>∞</a:t>
                      </a:r>
                      <a:endParaRPr kumimoji="0" lang="en-US" altLang="zh-CN" sz="1800" b="1" i="0" u="none" strike="noStrike" cap="none" normalizeH="0" baseline="0">
                        <a:ln>
                          <a:noFill/>
                        </a:ln>
                        <a:solidFill>
                          <a:srgbClr val="4D009A"/>
                        </a:solidFill>
                        <a:effectLst/>
                        <a:latin typeface="Tahoma" panose="020B0604030504040204" pitchFamily="34" charset="0"/>
                        <a:ea typeface="楷体_GB2312" pitchFamily="49"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70752" name="矩形 70751"/>
          <p:cNvSpPr>
            <a:spLocks noChangeArrowheads="1"/>
          </p:cNvSpPr>
          <p:nvPr/>
        </p:nvSpPr>
        <p:spPr bwMode="auto">
          <a:xfrm>
            <a:off x="2640013" y="4508500"/>
            <a:ext cx="7848600" cy="1512888"/>
          </a:xfrm>
          <a:prstGeom prst="rect">
            <a:avLst/>
          </a:prstGeom>
          <a:noFill/>
          <a:ln w="9525">
            <a:noFill/>
            <a:miter lim="800000"/>
          </a:ln>
        </p:spPr>
        <p:txBody>
          <a:bodyPr/>
          <a:lstStyle/>
          <a:p>
            <a:pPr marL="609600" indent="-609600"/>
            <a:r>
              <a:rPr lang="zh-CN" altLang="en-US" b="1">
                <a:solidFill>
                  <a:srgbClr val="4D009A"/>
                </a:solidFill>
                <a:latin typeface="华文楷体" panose="02010600040101010101" pitchFamily="2" charset="-122"/>
                <a:ea typeface="华文楷体" panose="02010600040101010101" pitchFamily="2" charset="-122"/>
              </a:rPr>
              <a:t>〖说明〗</a:t>
            </a:r>
            <a:endParaRPr lang="zh-CN" altLang="en-US" b="1">
              <a:solidFill>
                <a:srgbClr val="4D009A"/>
              </a:solidFill>
              <a:latin typeface="华文楷体" panose="02010600040101010101" pitchFamily="2" charset="-122"/>
              <a:ea typeface="华文楷体" panose="02010600040101010101" pitchFamily="2" charset="-122"/>
            </a:endParaRPr>
          </a:p>
          <a:p>
            <a:pPr marL="990600" lvl="1" indent="-533400">
              <a:buClr>
                <a:srgbClr val="0000FF"/>
              </a:buClr>
              <a:buFont typeface="Wingdings" panose="05000000000000000000" pitchFamily="2" charset="2"/>
              <a:buChar char="l"/>
            </a:pPr>
            <a:r>
              <a:rPr lang="zh-CN" altLang="en-US" sz="1600" b="1" i="1">
                <a:solidFill>
                  <a:srgbClr val="4D009A"/>
                </a:solidFill>
                <a:latin typeface="华文楷体" panose="02010600040101010101" pitchFamily="2" charset="-122"/>
                <a:ea typeface="华文楷体" panose="02010600040101010101" pitchFamily="2" charset="-122"/>
              </a:rPr>
              <a:t>每当</a:t>
            </a:r>
            <a:r>
              <a:rPr lang="en-US" altLang="zh-CN" sz="1600" b="1" i="1">
                <a:solidFill>
                  <a:srgbClr val="4D009A"/>
                </a:solidFill>
                <a:latin typeface="华文楷体" panose="02010600040101010101" pitchFamily="2" charset="-122"/>
                <a:ea typeface="华文楷体" panose="02010600040101010101" pitchFamily="2" charset="-122"/>
              </a:rPr>
              <a:t>MATLAB</a:t>
            </a:r>
            <a:r>
              <a:rPr lang="zh-CN" altLang="en-US" sz="1600" b="1" i="1">
                <a:solidFill>
                  <a:srgbClr val="4D009A"/>
                </a:solidFill>
                <a:latin typeface="华文楷体" panose="02010600040101010101" pitchFamily="2" charset="-122"/>
                <a:ea typeface="华文楷体" panose="02010600040101010101" pitchFamily="2" charset="-122"/>
              </a:rPr>
              <a:t>启动完成，这些变量就被产生。</a:t>
            </a:r>
            <a:endParaRPr lang="zh-CN" altLang="en-US" sz="1600" b="1" i="1">
              <a:solidFill>
                <a:srgbClr val="4D009A"/>
              </a:solidFill>
              <a:latin typeface="华文楷体" panose="02010600040101010101" pitchFamily="2" charset="-122"/>
              <a:ea typeface="华文楷体" panose="02010600040101010101" pitchFamily="2" charset="-122"/>
            </a:endParaRPr>
          </a:p>
          <a:p>
            <a:pPr marL="990600" lvl="1" indent="-533400">
              <a:buClr>
                <a:srgbClr val="0000FF"/>
              </a:buClr>
              <a:buFont typeface="Wingdings" panose="05000000000000000000" pitchFamily="2" charset="2"/>
              <a:buChar char="l"/>
            </a:pPr>
            <a:r>
              <a:rPr lang="en-US" altLang="zh-CN" sz="1600" b="1" i="1">
                <a:solidFill>
                  <a:srgbClr val="4D009A"/>
                </a:solidFill>
                <a:latin typeface="华文楷体" panose="02010600040101010101" pitchFamily="2" charset="-122"/>
                <a:ea typeface="华文楷体" panose="02010600040101010101" pitchFamily="2" charset="-122"/>
              </a:rPr>
              <a:t>MATLAB</a:t>
            </a:r>
            <a:r>
              <a:rPr lang="zh-CN" altLang="en-US" sz="1600" b="1" i="1">
                <a:solidFill>
                  <a:srgbClr val="4D009A"/>
                </a:solidFill>
                <a:latin typeface="华文楷体" panose="02010600040101010101" pitchFamily="2" charset="-122"/>
                <a:ea typeface="华文楷体" panose="02010600040101010101" pitchFamily="2" charset="-122"/>
              </a:rPr>
              <a:t>中，被</a:t>
            </a:r>
            <a:r>
              <a:rPr lang="en-US" altLang="zh-CN" sz="1600" b="1" i="1">
                <a:solidFill>
                  <a:srgbClr val="4D009A"/>
                </a:solidFill>
                <a:latin typeface="华文楷体" panose="02010600040101010101" pitchFamily="2" charset="-122"/>
                <a:ea typeface="华文楷体" panose="02010600040101010101" pitchFamily="2" charset="-122"/>
              </a:rPr>
              <a:t>0</a:t>
            </a:r>
            <a:r>
              <a:rPr lang="zh-CN" altLang="en-US" sz="1600" b="1" i="1">
                <a:solidFill>
                  <a:srgbClr val="4D009A"/>
                </a:solidFill>
                <a:latin typeface="华文楷体" panose="02010600040101010101" pitchFamily="2" charset="-122"/>
                <a:ea typeface="华文楷体" panose="02010600040101010101" pitchFamily="2" charset="-122"/>
              </a:rPr>
              <a:t>除不会引起程序中断，给出报警的同时用</a:t>
            </a:r>
            <a:r>
              <a:rPr lang="en-US" altLang="zh-CN" sz="1600" b="1" i="1">
                <a:solidFill>
                  <a:srgbClr val="4D009A"/>
                </a:solidFill>
                <a:latin typeface="华文楷体" panose="02010600040101010101" pitchFamily="2" charset="-122"/>
                <a:ea typeface="华文楷体" panose="02010600040101010101" pitchFamily="2" charset="-122"/>
              </a:rPr>
              <a:t>inf</a:t>
            </a:r>
            <a:r>
              <a:rPr lang="zh-CN" altLang="en-US" sz="1600" b="1" i="1">
                <a:solidFill>
                  <a:srgbClr val="4D009A"/>
                </a:solidFill>
                <a:latin typeface="华文楷体" panose="02010600040101010101" pitchFamily="2" charset="-122"/>
                <a:ea typeface="华文楷体" panose="02010600040101010101" pitchFamily="2" charset="-122"/>
              </a:rPr>
              <a:t>或</a:t>
            </a:r>
            <a:r>
              <a:rPr lang="en-US" altLang="zh-CN" sz="1600" b="1" i="1">
                <a:solidFill>
                  <a:srgbClr val="4D009A"/>
                </a:solidFill>
                <a:latin typeface="华文楷体" panose="02010600040101010101" pitchFamily="2" charset="-122"/>
                <a:ea typeface="华文楷体" panose="02010600040101010101" pitchFamily="2" charset="-122"/>
              </a:rPr>
              <a:t>NaN</a:t>
            </a:r>
            <a:r>
              <a:rPr lang="zh-CN" altLang="en-US" sz="1600" b="1" i="1">
                <a:solidFill>
                  <a:srgbClr val="4D009A"/>
                </a:solidFill>
                <a:latin typeface="华文楷体" panose="02010600040101010101" pitchFamily="2" charset="-122"/>
                <a:ea typeface="华文楷体" panose="02010600040101010101" pitchFamily="2" charset="-122"/>
              </a:rPr>
              <a:t>给出结果。</a:t>
            </a:r>
            <a:endParaRPr lang="zh-CN" altLang="en-US" sz="1600" b="1" i="1">
              <a:solidFill>
                <a:srgbClr val="4D009A"/>
              </a:solidFill>
              <a:latin typeface="华文楷体" panose="02010600040101010101" pitchFamily="2" charset="-122"/>
              <a:ea typeface="华文楷体" panose="02010600040101010101" pitchFamily="2" charset="-122"/>
            </a:endParaRPr>
          </a:p>
          <a:p>
            <a:pPr marL="990600" lvl="1" indent="-533400">
              <a:buClr>
                <a:srgbClr val="0000FF"/>
              </a:buClr>
              <a:buFont typeface="Wingdings" panose="05000000000000000000" pitchFamily="2" charset="2"/>
              <a:buChar char="l"/>
            </a:pPr>
            <a:r>
              <a:rPr lang="zh-CN" altLang="en-US" sz="1600" b="1" i="1">
                <a:solidFill>
                  <a:srgbClr val="4D009A"/>
                </a:solidFill>
                <a:latin typeface="华文楷体" panose="02010600040101010101" pitchFamily="2" charset="-122"/>
                <a:ea typeface="华文楷体" panose="02010600040101010101" pitchFamily="2" charset="-122"/>
              </a:rPr>
              <a:t>用户只能临时覆盖这些预定义变量的值，</a:t>
            </a:r>
            <a:r>
              <a:rPr lang="en-US" altLang="zh-CN" sz="1600" b="1" i="1">
                <a:solidFill>
                  <a:srgbClr val="4D009A"/>
                </a:solidFill>
                <a:latin typeface="华文楷体" panose="02010600040101010101" pitchFamily="2" charset="-122"/>
                <a:ea typeface="华文楷体" panose="02010600040101010101" pitchFamily="2" charset="-122"/>
              </a:rPr>
              <a:t>Clear</a:t>
            </a:r>
            <a:r>
              <a:rPr lang="zh-CN" altLang="en-US" sz="1600" b="1" i="1">
                <a:solidFill>
                  <a:srgbClr val="4D009A"/>
                </a:solidFill>
                <a:latin typeface="华文楷体" panose="02010600040101010101" pitchFamily="2" charset="-122"/>
                <a:ea typeface="华文楷体" panose="02010600040101010101" pitchFamily="2" charset="-122"/>
              </a:rPr>
              <a:t>或重启</a:t>
            </a:r>
            <a:r>
              <a:rPr lang="en-US" altLang="zh-CN" sz="1600" b="1" i="1">
                <a:solidFill>
                  <a:srgbClr val="4D009A"/>
                </a:solidFill>
                <a:latin typeface="华文楷体" panose="02010600040101010101" pitchFamily="2" charset="-122"/>
                <a:ea typeface="华文楷体" panose="02010600040101010101" pitchFamily="2" charset="-122"/>
              </a:rPr>
              <a:t>MATLAB</a:t>
            </a:r>
            <a:r>
              <a:rPr lang="zh-CN" altLang="en-US" sz="1600" b="1" i="1">
                <a:solidFill>
                  <a:srgbClr val="4D009A"/>
                </a:solidFill>
                <a:latin typeface="华文楷体" panose="02010600040101010101" pitchFamily="2" charset="-122"/>
                <a:ea typeface="华文楷体" panose="02010600040101010101" pitchFamily="2" charset="-122"/>
              </a:rPr>
              <a:t>可恢复其值。</a:t>
            </a:r>
            <a:endParaRPr lang="zh-CN" altLang="en-US" sz="1400" b="1" i="1">
              <a:solidFill>
                <a:srgbClr val="4D009A"/>
              </a:solidFill>
              <a:latin typeface="华文楷体" panose="02010600040101010101" pitchFamily="2" charset="-122"/>
              <a:ea typeface="华文楷体" panose="02010600040101010101" pitchFamily="2" charset="-122"/>
            </a:endParaRPr>
          </a:p>
        </p:txBody>
      </p:sp>
      <p:sp>
        <p:nvSpPr>
          <p:cNvPr id="45086"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40476432-4D2C-435F-9104-29F54D0C41F1}" type="datetime1">
              <a:rPr lang="zh-CN" altLang="en-US" smtClean="0">
                <a:solidFill>
                  <a:srgbClr val="45516B"/>
                </a:solidFill>
              </a:rPr>
            </a:fld>
            <a:endParaRPr lang="zh-CN" altLang="en-US">
              <a:solidFill>
                <a:srgbClr val="45516B"/>
              </a:solidFill>
            </a:endParaRPr>
          </a:p>
        </p:txBody>
      </p:sp>
      <p:sp>
        <p:nvSpPr>
          <p:cNvPr id="45087"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47137" name="灯片编号占位符 3"/>
          <p:cNvSpPr>
            <a:spLocks noGrp="1" noChangeArrowheads="1"/>
          </p:cNvSpPr>
          <p:nvPr>
            <p:ph type="sldNum" sz="quarter" idx="12"/>
          </p:nvPr>
        </p:nvSpPr>
        <p:spPr bwMode="auto">
          <a:noFill/>
          <a:ln>
            <a:miter lim="800000"/>
          </a:ln>
        </p:spPr>
        <p:txBody>
          <a:bodyPr/>
          <a:lstStyle/>
          <a:p>
            <a:fld id="{F02F40AE-010F-41A5-84F6-8806A5755290}"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0752">
                                            <p:txEl>
                                              <p:pRg st="0" end="0"/>
                                            </p:txEl>
                                          </p:spTgt>
                                        </p:tgtEl>
                                        <p:attrNameLst>
                                          <p:attrName>style.visibility</p:attrName>
                                        </p:attrNameLst>
                                      </p:cBhvr>
                                      <p:to>
                                        <p:strVal val="visible"/>
                                      </p:to>
                                    </p:set>
                                    <p:animEffect transition="in" filter="wipe(up)">
                                      <p:cBhvr>
                                        <p:cTn id="7" dur="500"/>
                                        <p:tgtEl>
                                          <p:spTgt spid="70752">
                                            <p:txEl>
                                              <p:pRg st="0" end="0"/>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70752">
                                            <p:txEl>
                                              <p:pRg st="1" end="1"/>
                                            </p:txEl>
                                          </p:spTgt>
                                        </p:tgtEl>
                                        <p:attrNameLst>
                                          <p:attrName>style.visibility</p:attrName>
                                        </p:attrNameLst>
                                      </p:cBhvr>
                                      <p:to>
                                        <p:strVal val="visible"/>
                                      </p:to>
                                    </p:set>
                                    <p:animEffect transition="in" filter="wipe(up)">
                                      <p:cBhvr>
                                        <p:cTn id="10" dur="500"/>
                                        <p:tgtEl>
                                          <p:spTgt spid="70752">
                                            <p:txEl>
                                              <p:pRg st="1" end="1"/>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70752">
                                            <p:txEl>
                                              <p:pRg st="2" end="2"/>
                                            </p:txEl>
                                          </p:spTgt>
                                        </p:tgtEl>
                                        <p:attrNameLst>
                                          <p:attrName>style.visibility</p:attrName>
                                        </p:attrNameLst>
                                      </p:cBhvr>
                                      <p:to>
                                        <p:strVal val="visible"/>
                                      </p:to>
                                    </p:set>
                                    <p:animEffect transition="in" filter="wipe(up)">
                                      <p:cBhvr>
                                        <p:cTn id="13" dur="500"/>
                                        <p:tgtEl>
                                          <p:spTgt spid="70752">
                                            <p:txEl>
                                              <p:pRg st="2" end="2"/>
                                            </p:txEl>
                                          </p:spTgt>
                                        </p:tgtEl>
                                      </p:cBhvr>
                                    </p:animEffect>
                                  </p:childTnLst>
                                </p:cTn>
                              </p:par>
                              <p:par>
                                <p:cTn id="14" presetID="22" presetClass="entr" presetSubtype="1" fill="hold" nodeType="withEffect">
                                  <p:stCondLst>
                                    <p:cond delay="0"/>
                                  </p:stCondLst>
                                  <p:childTnLst>
                                    <p:set>
                                      <p:cBhvr>
                                        <p:cTn id="15" dur="1" fill="hold">
                                          <p:stCondLst>
                                            <p:cond delay="0"/>
                                          </p:stCondLst>
                                        </p:cTn>
                                        <p:tgtEl>
                                          <p:spTgt spid="70752">
                                            <p:txEl>
                                              <p:pRg st="3" end="3"/>
                                            </p:txEl>
                                          </p:spTgt>
                                        </p:tgtEl>
                                        <p:attrNameLst>
                                          <p:attrName>style.visibility</p:attrName>
                                        </p:attrNameLst>
                                      </p:cBhvr>
                                      <p:to>
                                        <p:strVal val="visible"/>
                                      </p:to>
                                    </p:set>
                                    <p:animEffect transition="in" filter="wipe(up)">
                                      <p:cBhvr>
                                        <p:cTn id="16" dur="500"/>
                                        <p:tgtEl>
                                          <p:spTgt spid="7075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标题 54273"/>
          <p:cNvSpPr>
            <a:spLocks noGrp="1" noChangeArrowheads="1"/>
          </p:cNvSpPr>
          <p:nvPr>
            <p:ph type="title"/>
          </p:nvPr>
        </p:nvSpPr>
        <p:spPr>
          <a:xfrm>
            <a:off x="2711450" y="1"/>
            <a:ext cx="7793038" cy="982663"/>
          </a:xfrm>
        </p:spPr>
        <p:txBody>
          <a:bodyPr/>
          <a:lstStyle/>
          <a:p>
            <a:pPr marL="838200" indent="-838200"/>
            <a:r>
              <a:rPr lang="en-US" altLang="zh-CN" sz="3200" b="1" dirty="0">
                <a:solidFill>
                  <a:srgbClr val="4D009A"/>
                </a:solidFill>
                <a:latin typeface="华文楷体" panose="02010600040101010101" pitchFamily="2" charset="-122"/>
                <a:ea typeface="华文楷体" panose="02010600040101010101" pitchFamily="2" charset="-122"/>
              </a:rPr>
              <a:t>1.3 </a:t>
            </a:r>
            <a:r>
              <a:rPr lang="zh-CN" altLang="en-US" sz="3200" b="1" dirty="0">
                <a:solidFill>
                  <a:srgbClr val="4D009A"/>
                </a:solidFill>
                <a:latin typeface="华文楷体" panose="02010600040101010101" pitchFamily="2" charset="-122"/>
                <a:ea typeface="华文楷体" panose="02010600040101010101" pitchFamily="2" charset="-122"/>
              </a:rPr>
              <a:t>数值表示、变量及表达式</a:t>
            </a:r>
            <a:r>
              <a:rPr lang="zh-CN" altLang="en-US" sz="3600" b="1" dirty="0">
                <a:solidFill>
                  <a:srgbClr val="4D009A"/>
                </a:solidFill>
                <a:latin typeface="华文楷体" panose="02010600040101010101" pitchFamily="2" charset="-122"/>
                <a:ea typeface="华文楷体" panose="02010600040101010101" pitchFamily="2" charset="-122"/>
              </a:rPr>
              <a:t> </a:t>
            </a:r>
            <a:r>
              <a:rPr lang="zh-CN" altLang="en-US" sz="2600" b="1" dirty="0">
                <a:solidFill>
                  <a:srgbClr val="4D009A"/>
                </a:solidFill>
                <a:latin typeface="华文楷体" panose="02010600040101010101" pitchFamily="2" charset="-122"/>
                <a:ea typeface="华文楷体" panose="02010600040101010101" pitchFamily="2" charset="-122"/>
              </a:rPr>
              <a:t>（续）</a:t>
            </a:r>
            <a:endParaRPr lang="zh-CN" altLang="en-US" sz="2600" b="1" dirty="0">
              <a:solidFill>
                <a:srgbClr val="4D009A"/>
              </a:solidFill>
              <a:latin typeface="华文楷体" panose="02010600040101010101" pitchFamily="2" charset="-122"/>
              <a:ea typeface="华文楷体" panose="02010600040101010101" pitchFamily="2" charset="-122"/>
            </a:endParaRPr>
          </a:p>
        </p:txBody>
      </p:sp>
      <p:sp>
        <p:nvSpPr>
          <p:cNvPr id="8196" name="文本占位符 54274"/>
          <p:cNvSpPr>
            <a:spLocks noGrp="1" noChangeArrowheads="1"/>
          </p:cNvSpPr>
          <p:nvPr>
            <p:ph type="body" sz="half" idx="1"/>
          </p:nvPr>
        </p:nvSpPr>
        <p:spPr>
          <a:xfrm>
            <a:off x="2706688" y="1268414"/>
            <a:ext cx="7637462" cy="503237"/>
          </a:xfrm>
        </p:spPr>
        <p:txBody>
          <a:bodyPr>
            <a:normAutofit lnSpcReduction="10000"/>
          </a:bodyPr>
          <a:lstStyle/>
          <a:p>
            <a:pPr eaLnBrk="1" hangingPunct="1">
              <a:lnSpc>
                <a:spcPct val="90000"/>
              </a:lnSpc>
            </a:pPr>
            <a:r>
              <a:rPr lang="zh-CN" altLang="en-US" sz="3000" b="1">
                <a:solidFill>
                  <a:srgbClr val="4D009A"/>
                </a:solidFill>
                <a:ea typeface="华文楷体" panose="02010600040101010101" pitchFamily="2" charset="-122"/>
              </a:rPr>
              <a:t>运算符和表达式</a:t>
            </a:r>
            <a:endParaRPr lang="zh-CN" altLang="en-US" sz="3000" b="1">
              <a:solidFill>
                <a:srgbClr val="4D009A"/>
              </a:solidFill>
              <a:ea typeface="华文楷体" panose="02010600040101010101" pitchFamily="2" charset="-122"/>
            </a:endParaRPr>
          </a:p>
        </p:txBody>
      </p:sp>
      <p:graphicFrame>
        <p:nvGraphicFramePr>
          <p:cNvPr id="54402" name="内容占位符 54401"/>
          <p:cNvGraphicFramePr>
            <a:graphicFrameLocks noGrp="1"/>
          </p:cNvGraphicFramePr>
          <p:nvPr>
            <p:ph sz="quarter" idx="2"/>
          </p:nvPr>
        </p:nvGraphicFramePr>
        <p:xfrm>
          <a:off x="3359151" y="1844675"/>
          <a:ext cx="6697663" cy="2011680"/>
        </p:xfrm>
        <a:graphic>
          <a:graphicData uri="http://schemas.openxmlformats.org/drawingml/2006/table">
            <a:tbl>
              <a:tblPr/>
              <a:tblGrid>
                <a:gridCol w="1673225"/>
                <a:gridCol w="1676400"/>
                <a:gridCol w="1674813"/>
                <a:gridCol w="1673225"/>
              </a:tblGrid>
              <a:tr h="334963">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zh-CN" altLang="en-US" sz="1600" b="1" dirty="0">
                          <a:solidFill>
                            <a:srgbClr val="4D009A"/>
                          </a:solidFill>
                        </a:rPr>
                        <a:t>运算</a:t>
                      </a:r>
                      <a:endParaRPr lang="zh-CN" altLang="en-US" sz="1600" b="1" dirty="0">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zh-CN" altLang="en-US" sz="1600" b="1" dirty="0">
                          <a:solidFill>
                            <a:srgbClr val="4D009A"/>
                          </a:solidFill>
                        </a:rPr>
                        <a:t>数学表达式</a:t>
                      </a:r>
                      <a:endParaRPr lang="zh-CN" altLang="en-US" sz="1600" b="1">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1600" b="1" dirty="0">
                          <a:solidFill>
                            <a:srgbClr val="4D009A"/>
                          </a:solidFill>
                        </a:rPr>
                        <a:t>MATLAB</a:t>
                      </a:r>
                      <a:r>
                        <a:rPr lang="zh-CN" altLang="en-US" sz="1600" b="1" dirty="0">
                          <a:solidFill>
                            <a:srgbClr val="4D009A"/>
                          </a:solidFill>
                        </a:rPr>
                        <a:t>运算符</a:t>
                      </a:r>
                      <a:endParaRPr lang="zh-CN" altLang="en-US" sz="1600" b="1" dirty="0">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533400" lvl="0" indent="-533400" algn="ctr">
                        <a:buNone/>
                      </a:pPr>
                      <a:r>
                        <a:rPr lang="en-US" altLang="zh-CN" sz="1600" b="1" dirty="0">
                          <a:solidFill>
                            <a:srgbClr val="4D009A"/>
                          </a:solidFill>
                        </a:rPr>
                        <a:t>MATLAB</a:t>
                      </a:r>
                      <a:r>
                        <a:rPr lang="zh-CN" altLang="en-US" sz="1600" b="1" dirty="0">
                          <a:solidFill>
                            <a:srgbClr val="4D009A"/>
                          </a:solidFill>
                        </a:rPr>
                        <a:t>表达式</a:t>
                      </a:r>
                      <a:endParaRPr lang="zh-CN" altLang="en-US" sz="1600" b="1" dirty="0">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r>
              <a:tr h="334962">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zh-CN" altLang="en-US" sz="1600" b="1" dirty="0">
                          <a:solidFill>
                            <a:srgbClr val="4D009A"/>
                          </a:solidFill>
                        </a:rPr>
                        <a:t>加</a:t>
                      </a:r>
                      <a:endParaRPr lang="zh-CN" altLang="en-US" sz="1600" b="1" dirty="0">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1600" b="1" dirty="0" err="1">
                          <a:solidFill>
                            <a:srgbClr val="4D009A"/>
                          </a:solidFill>
                        </a:rPr>
                        <a:t>a+b</a:t>
                      </a:r>
                      <a:endParaRPr lang="en-US" altLang="zh-CN" sz="1600" b="1">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1600" b="1">
                          <a:solidFill>
                            <a:srgbClr val="4D009A"/>
                          </a:solidFill>
                        </a:rPr>
                        <a:t>+</a:t>
                      </a:r>
                      <a:endParaRPr lang="en-US" altLang="zh-CN" sz="1600" b="1">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1600" b="1" dirty="0" err="1">
                          <a:solidFill>
                            <a:srgbClr val="4D009A"/>
                          </a:solidFill>
                        </a:rPr>
                        <a:t>a+b</a:t>
                      </a:r>
                      <a:endParaRPr lang="en-US" altLang="zh-CN" sz="1600" b="1">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r>
              <a:tr h="334963">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zh-CN" altLang="en-US" sz="1600" b="1" dirty="0">
                          <a:solidFill>
                            <a:srgbClr val="4D009A"/>
                          </a:solidFill>
                        </a:rPr>
                        <a:t>减</a:t>
                      </a:r>
                      <a:endParaRPr lang="zh-CN" altLang="en-US" sz="1600" b="1" dirty="0">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533400" lvl="0" indent="-533400" algn="ctr">
                        <a:buNone/>
                      </a:pPr>
                      <a:r>
                        <a:rPr lang="en-US" altLang="zh-CN" sz="1600" b="1">
                          <a:solidFill>
                            <a:srgbClr val="4D009A"/>
                          </a:solidFill>
                        </a:rPr>
                        <a:t>a-b</a:t>
                      </a:r>
                      <a:endParaRPr lang="en-US" altLang="zh-CN" sz="1600" b="1">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1600" b="1">
                          <a:solidFill>
                            <a:srgbClr val="4D009A"/>
                          </a:solidFill>
                        </a:rPr>
                        <a:t>-</a:t>
                      </a:r>
                      <a:endParaRPr lang="en-US" altLang="zh-CN" sz="1600" b="1">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1600" b="1">
                          <a:solidFill>
                            <a:srgbClr val="4D009A"/>
                          </a:solidFill>
                        </a:rPr>
                        <a:t>a-b</a:t>
                      </a:r>
                      <a:endParaRPr lang="en-US" altLang="zh-CN" sz="1600" b="1">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r>
              <a:tr h="334962">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zh-CN" altLang="en-US" sz="1600" b="1" dirty="0">
                          <a:solidFill>
                            <a:srgbClr val="4D009A"/>
                          </a:solidFill>
                        </a:rPr>
                        <a:t>乘</a:t>
                      </a:r>
                      <a:endParaRPr lang="zh-CN" altLang="en-US" sz="1600" b="1" dirty="0">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1600" b="1" dirty="0" err="1">
                          <a:solidFill>
                            <a:srgbClr val="4D009A"/>
                          </a:solidFill>
                        </a:rPr>
                        <a:t>axb</a:t>
                      </a:r>
                      <a:endParaRPr lang="en-US" altLang="zh-CN" sz="1600" b="1">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1600" b="1" dirty="0">
                          <a:solidFill>
                            <a:srgbClr val="4D009A"/>
                          </a:solidFill>
                        </a:rPr>
                        <a:t>*</a:t>
                      </a:r>
                      <a:endParaRPr lang="en-US" altLang="zh-CN" sz="1600" b="1" dirty="0">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1600" b="1">
                          <a:solidFill>
                            <a:srgbClr val="4D009A"/>
                          </a:solidFill>
                        </a:rPr>
                        <a:t>a*b</a:t>
                      </a:r>
                      <a:endParaRPr lang="en-US" altLang="zh-CN" sz="1600" b="1">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r>
              <a:tr h="334963">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zh-CN" altLang="en-US" sz="1600" b="1" dirty="0">
                          <a:solidFill>
                            <a:srgbClr val="4D009A"/>
                          </a:solidFill>
                        </a:rPr>
                        <a:t>除</a:t>
                      </a:r>
                      <a:endParaRPr lang="zh-CN" altLang="en-US" sz="1600" b="1" dirty="0">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1600" b="1" dirty="0">
                          <a:solidFill>
                            <a:srgbClr val="4D009A"/>
                          </a:solidFill>
                        </a:rPr>
                        <a:t>a/b</a:t>
                      </a:r>
                      <a:r>
                        <a:rPr lang="zh-CN" altLang="en-US" sz="1600" b="1" dirty="0">
                          <a:solidFill>
                            <a:srgbClr val="4D009A"/>
                          </a:solidFill>
                        </a:rPr>
                        <a:t>或</a:t>
                      </a:r>
                      <a:r>
                        <a:rPr lang="en-US" altLang="zh-CN" sz="1600" b="1">
                          <a:solidFill>
                            <a:srgbClr val="4D009A"/>
                          </a:solidFill>
                        </a:rPr>
                        <a:t>a\b</a:t>
                      </a:r>
                      <a:endParaRPr lang="en-US" altLang="zh-CN" sz="1600" b="1">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1600" b="1" dirty="0">
                          <a:solidFill>
                            <a:srgbClr val="4D009A"/>
                          </a:solidFill>
                        </a:rPr>
                        <a:t>/</a:t>
                      </a:r>
                      <a:r>
                        <a:rPr lang="zh-CN" altLang="en-US" sz="1600" b="1" dirty="0">
                          <a:solidFill>
                            <a:srgbClr val="4D009A"/>
                          </a:solidFill>
                        </a:rPr>
                        <a:t>或</a:t>
                      </a:r>
                      <a:r>
                        <a:rPr lang="en-US" altLang="zh-CN" sz="1600" b="1">
                          <a:solidFill>
                            <a:srgbClr val="4D009A"/>
                          </a:solidFill>
                        </a:rPr>
                        <a:t>\</a:t>
                      </a:r>
                      <a:endParaRPr lang="en-US" altLang="zh-CN" sz="1600" b="1">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1600" b="1" dirty="0">
                          <a:solidFill>
                            <a:srgbClr val="4D009A"/>
                          </a:solidFill>
                        </a:rPr>
                        <a:t>a/b</a:t>
                      </a:r>
                      <a:r>
                        <a:rPr lang="zh-CN" altLang="en-US" sz="1600" b="1" dirty="0">
                          <a:solidFill>
                            <a:srgbClr val="4D009A"/>
                          </a:solidFill>
                        </a:rPr>
                        <a:t>或</a:t>
                      </a:r>
                      <a:r>
                        <a:rPr lang="en-US" altLang="zh-CN" sz="1600" b="1">
                          <a:solidFill>
                            <a:srgbClr val="4D009A"/>
                          </a:solidFill>
                        </a:rPr>
                        <a:t>a\b</a:t>
                      </a:r>
                      <a:endParaRPr lang="en-US" altLang="zh-CN" sz="1600" b="1">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r>
              <a:tr h="334962">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zh-CN" altLang="en-US" sz="1600" b="1" dirty="0">
                          <a:solidFill>
                            <a:srgbClr val="4D009A"/>
                          </a:solidFill>
                        </a:rPr>
                        <a:t>幂</a:t>
                      </a:r>
                      <a:endParaRPr lang="zh-CN" altLang="en-US" sz="1600" b="1" dirty="0">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endParaRPr sz="1600" b="1" dirty="0">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1600" b="1">
                          <a:solidFill>
                            <a:srgbClr val="4D009A"/>
                          </a:solidFill>
                        </a:rPr>
                        <a:t>^</a:t>
                      </a:r>
                      <a:endParaRPr lang="en-US" altLang="zh-CN" sz="1600" b="1">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1600" b="1" dirty="0" err="1">
                          <a:solidFill>
                            <a:srgbClr val="4D009A"/>
                          </a:solidFill>
                        </a:rPr>
                        <a:t>a^b</a:t>
                      </a:r>
                      <a:endParaRPr lang="en-US" altLang="zh-CN" sz="1600" b="1">
                        <a:solidFill>
                          <a:srgbClr val="4D009A"/>
                        </a:solidFill>
                      </a:endParaRPr>
                    </a:p>
                  </a:txBody>
                  <a:tcPr>
                    <a:lnL w="12700" cap="flat" cmpd="sng">
                      <a:solidFill>
                        <a:srgbClr val="0000FF"/>
                      </a:solidFill>
                      <a:prstDash val="solid"/>
                      <a:headEnd type="none" w="med" len="med"/>
                      <a:tailEnd type="none" w="med" len="med"/>
                    </a:lnL>
                    <a:lnR w="12700" cap="flat" cmpd="sng">
                      <a:solidFill>
                        <a:srgbClr val="0000FF"/>
                      </a:solidFill>
                      <a:prstDash val="solid"/>
                      <a:headEnd type="none" w="med" len="med"/>
                      <a:tailEnd type="none" w="med" len="med"/>
                    </a:lnR>
                    <a:lnT w="12700" cap="flat" cmpd="sng">
                      <a:solidFill>
                        <a:srgbClr val="0000FF"/>
                      </a:solidFill>
                      <a:prstDash val="solid"/>
                      <a:headEnd type="none" w="med" len="med"/>
                      <a:tailEnd type="none" w="med" len="med"/>
                    </a:lnT>
                    <a:lnB w="12700" cap="flat" cmpd="sng">
                      <a:solidFill>
                        <a:srgbClr val="0000FF"/>
                      </a:solidFill>
                      <a:prstDash val="solid"/>
                      <a:headEnd type="none" w="med" len="med"/>
                      <a:tailEnd type="none" w="med" len="med"/>
                    </a:lnB>
                    <a:lnTlToBr>
                      <a:noFill/>
                    </a:lnTlToBr>
                    <a:lnBlToTr>
                      <a:noFill/>
                    </a:lnBlToTr>
                    <a:noFill/>
                  </a:tcPr>
                </a:tc>
              </a:tr>
            </a:tbl>
          </a:graphicData>
        </a:graphic>
      </p:graphicFrame>
      <p:graphicFrame>
        <p:nvGraphicFramePr>
          <p:cNvPr id="8194" name="内容占位符 54377"/>
          <p:cNvGraphicFramePr>
            <a:graphicFrameLocks noGrp="1"/>
          </p:cNvGraphicFramePr>
          <p:nvPr>
            <p:ph sz="quarter" idx="3"/>
          </p:nvPr>
        </p:nvGraphicFramePr>
        <p:xfrm>
          <a:off x="5735639" y="3500439"/>
          <a:ext cx="352425" cy="407987"/>
        </p:xfrm>
        <a:graphic>
          <a:graphicData uri="http://schemas.openxmlformats.org/presentationml/2006/ole">
            <mc:AlternateContent xmlns:mc="http://schemas.openxmlformats.org/markup-compatibility/2006">
              <mc:Choice xmlns:v="urn:schemas-microsoft-com:vml" Requires="v">
                <p:oleObj spid="_x0000_s2" name="" r:id="rId1" imgW="3962400" imgH="4572000" progId="Equation.DSMT4">
                  <p:embed/>
                </p:oleObj>
              </mc:Choice>
              <mc:Fallback>
                <p:oleObj name="" r:id="rId1" imgW="3962400" imgH="4572000" progId="Equation.DSMT4">
                  <p:embed/>
                  <p:pic>
                    <p:nvPicPr>
                      <p:cNvPr id="0" name="内容占位符 54377"/>
                      <p:cNvPicPr>
                        <a:picLocks noGrp="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5639" y="3500439"/>
                        <a:ext cx="352425"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4398" name="矩形 54397"/>
          <p:cNvSpPr>
            <a:spLocks noChangeArrowheads="1"/>
          </p:cNvSpPr>
          <p:nvPr/>
        </p:nvSpPr>
        <p:spPr bwMode="auto">
          <a:xfrm>
            <a:off x="2566988" y="4076701"/>
            <a:ext cx="7777162" cy="2232025"/>
          </a:xfrm>
          <a:prstGeom prst="rect">
            <a:avLst/>
          </a:prstGeom>
          <a:noFill/>
          <a:ln w="9525">
            <a:noFill/>
            <a:miter lim="800000"/>
          </a:ln>
        </p:spPr>
        <p:txBody>
          <a:bodyPr/>
          <a:lstStyle/>
          <a:p>
            <a:pPr marL="609600" indent="-609600">
              <a:buClr>
                <a:srgbClr val="4D009A"/>
              </a:buClr>
            </a:pPr>
            <a:r>
              <a:rPr lang="zh-CN" altLang="en-US" sz="1600" b="1">
                <a:solidFill>
                  <a:srgbClr val="4D009A"/>
                </a:solidFill>
                <a:latin typeface="楷体_GB2312" pitchFamily="49" charset="-122"/>
                <a:ea typeface="楷体_GB2312" pitchFamily="49" charset="-122"/>
              </a:rPr>
              <a:t>〖说明〗</a:t>
            </a:r>
            <a:endParaRPr lang="zh-CN" altLang="en-US" sz="1600" b="1">
              <a:solidFill>
                <a:srgbClr val="4D009A"/>
              </a:solidFill>
              <a:latin typeface="楷体_GB2312" pitchFamily="49" charset="-122"/>
              <a:ea typeface="楷体_GB2312" pitchFamily="49" charset="-122"/>
            </a:endParaRPr>
          </a:p>
          <a:p>
            <a:pPr marL="990600" lvl="1" indent="-533400">
              <a:buFont typeface="Wingdings" panose="05000000000000000000" pitchFamily="2" charset="2"/>
              <a:buChar char="l"/>
            </a:pPr>
            <a:r>
              <a:rPr lang="en-US" altLang="zh-CN" sz="1600" b="1">
                <a:solidFill>
                  <a:srgbClr val="4D009A"/>
                </a:solidFill>
                <a:latin typeface="楷体_GB2312" pitchFamily="49" charset="-122"/>
                <a:ea typeface="楷体_GB2312" pitchFamily="49" charset="-122"/>
              </a:rPr>
              <a:t>Matlab</a:t>
            </a:r>
            <a:r>
              <a:rPr lang="zh-CN" altLang="en-US" sz="1600" b="1">
                <a:solidFill>
                  <a:srgbClr val="4D009A"/>
                </a:solidFill>
                <a:latin typeface="楷体_GB2312" pitchFamily="49" charset="-122"/>
                <a:ea typeface="楷体_GB2312" pitchFamily="49" charset="-122"/>
              </a:rPr>
              <a:t>用“</a:t>
            </a:r>
            <a:r>
              <a:rPr lang="en-US" altLang="zh-CN" sz="1600" b="1">
                <a:solidFill>
                  <a:srgbClr val="4D009A"/>
                </a:solidFill>
                <a:latin typeface="楷体_GB2312" pitchFamily="49" charset="-122"/>
                <a:ea typeface="楷体_GB2312" pitchFamily="49" charset="-122"/>
              </a:rPr>
              <a:t>\”</a:t>
            </a:r>
            <a:r>
              <a:rPr lang="zh-CN" altLang="en-US" sz="1600" b="1">
                <a:solidFill>
                  <a:srgbClr val="4D009A"/>
                </a:solidFill>
                <a:latin typeface="楷体_GB2312" pitchFamily="49" charset="-122"/>
                <a:ea typeface="楷体_GB2312" pitchFamily="49" charset="-122"/>
              </a:rPr>
              <a:t>和”</a:t>
            </a:r>
            <a:r>
              <a:rPr lang="en-US" altLang="zh-CN" sz="1600" b="1">
                <a:solidFill>
                  <a:srgbClr val="4D009A"/>
                </a:solidFill>
                <a:latin typeface="楷体_GB2312" pitchFamily="49" charset="-122"/>
                <a:ea typeface="楷体_GB2312" pitchFamily="49" charset="-122"/>
              </a:rPr>
              <a:t>/”</a:t>
            </a:r>
            <a:r>
              <a:rPr lang="zh-CN" altLang="en-US" sz="1600" b="1">
                <a:solidFill>
                  <a:srgbClr val="4D009A"/>
                </a:solidFill>
                <a:latin typeface="楷体_GB2312" pitchFamily="49" charset="-122"/>
                <a:ea typeface="楷体_GB2312" pitchFamily="49" charset="-122"/>
              </a:rPr>
              <a:t>分别表示“左除”和“右除”。对标量而言，两者没有区别。对矩阵产生不同影响。</a:t>
            </a:r>
            <a:endParaRPr lang="zh-CN" altLang="en-US" sz="1600" b="1">
              <a:solidFill>
                <a:srgbClr val="4D009A"/>
              </a:solidFill>
              <a:latin typeface="楷体_GB2312" pitchFamily="49" charset="-122"/>
              <a:ea typeface="楷体_GB2312" pitchFamily="49" charset="-122"/>
            </a:endParaRPr>
          </a:p>
          <a:p>
            <a:pPr marL="990600" lvl="1" indent="-533400">
              <a:buFont typeface="Wingdings" panose="05000000000000000000" pitchFamily="2" charset="2"/>
              <a:buChar char="l"/>
            </a:pPr>
            <a:r>
              <a:rPr lang="en-US" altLang="zh-CN" sz="1600" b="1">
                <a:solidFill>
                  <a:srgbClr val="4D009A"/>
                </a:solidFill>
                <a:latin typeface="楷体_GB2312" pitchFamily="49" charset="-122"/>
                <a:ea typeface="楷体_GB2312" pitchFamily="49" charset="-122"/>
              </a:rPr>
              <a:t>MATLAB</a:t>
            </a:r>
            <a:r>
              <a:rPr lang="zh-CN" altLang="en-US" sz="1600" b="1">
                <a:solidFill>
                  <a:srgbClr val="4D009A"/>
                </a:solidFill>
                <a:latin typeface="楷体_GB2312" pitchFamily="49" charset="-122"/>
                <a:ea typeface="楷体_GB2312" pitchFamily="49" charset="-122"/>
              </a:rPr>
              <a:t>表达式的书写规则与“手写方式”几乎完全相同。</a:t>
            </a:r>
            <a:endParaRPr lang="zh-CN" altLang="en-US" sz="1600" b="1">
              <a:solidFill>
                <a:srgbClr val="4D009A"/>
              </a:solidFill>
              <a:latin typeface="楷体_GB2312" pitchFamily="49" charset="-122"/>
              <a:ea typeface="楷体_GB2312" pitchFamily="49" charset="-122"/>
            </a:endParaRPr>
          </a:p>
          <a:p>
            <a:pPr marL="990600" lvl="1" indent="-533400">
              <a:buFont typeface="Wingdings" panose="05000000000000000000" pitchFamily="2" charset="2"/>
              <a:buChar char="l"/>
            </a:pPr>
            <a:r>
              <a:rPr lang="zh-CN" altLang="en-US" sz="1600" b="1">
                <a:solidFill>
                  <a:srgbClr val="4D009A"/>
                </a:solidFill>
                <a:latin typeface="楷体_GB2312" pitchFamily="49" charset="-122"/>
                <a:ea typeface="楷体_GB2312" pitchFamily="49" charset="-122"/>
              </a:rPr>
              <a:t>表达式按与常规相同的优先级自左至右执行运算。</a:t>
            </a:r>
            <a:endParaRPr lang="zh-CN" altLang="en-US" sz="1600" b="1">
              <a:solidFill>
                <a:srgbClr val="4D009A"/>
              </a:solidFill>
              <a:latin typeface="楷体_GB2312" pitchFamily="49" charset="-122"/>
              <a:ea typeface="楷体_GB2312" pitchFamily="49" charset="-122"/>
            </a:endParaRPr>
          </a:p>
          <a:p>
            <a:pPr marL="990600" lvl="1" indent="-533400">
              <a:buFont typeface="Wingdings" panose="05000000000000000000" pitchFamily="2" charset="2"/>
              <a:buChar char="l"/>
            </a:pPr>
            <a:r>
              <a:rPr lang="zh-CN" altLang="en-US" sz="1600" b="1">
                <a:solidFill>
                  <a:srgbClr val="4D009A"/>
                </a:solidFill>
                <a:latin typeface="楷体_GB2312" pitchFamily="49" charset="-122"/>
                <a:ea typeface="楷体_GB2312" pitchFamily="49" charset="-122"/>
              </a:rPr>
              <a:t>优先级：指数运算级别最高，乘除次之，加减最低。</a:t>
            </a:r>
            <a:endParaRPr lang="zh-CN" altLang="en-US" sz="1600" b="1">
              <a:solidFill>
                <a:srgbClr val="4D009A"/>
              </a:solidFill>
              <a:latin typeface="楷体_GB2312" pitchFamily="49" charset="-122"/>
              <a:ea typeface="楷体_GB2312" pitchFamily="49" charset="-122"/>
            </a:endParaRPr>
          </a:p>
          <a:p>
            <a:pPr marL="990600" lvl="1" indent="-533400">
              <a:buFont typeface="Wingdings" panose="05000000000000000000" pitchFamily="2" charset="2"/>
              <a:buChar char="l"/>
            </a:pPr>
            <a:r>
              <a:rPr lang="zh-CN" altLang="en-US" sz="1600" b="1">
                <a:solidFill>
                  <a:srgbClr val="4D009A"/>
                </a:solidFill>
                <a:latin typeface="楷体_GB2312" pitchFamily="49" charset="-122"/>
                <a:ea typeface="楷体_GB2312" pitchFamily="49" charset="-122"/>
              </a:rPr>
              <a:t>括号改变运算的次序。</a:t>
            </a:r>
            <a:endParaRPr lang="zh-CN" altLang="en-US" sz="1600" b="1">
              <a:solidFill>
                <a:srgbClr val="4D009A"/>
              </a:solidFill>
              <a:latin typeface="楷体_GB2312" pitchFamily="49" charset="-122"/>
              <a:ea typeface="楷体_GB2312" pitchFamily="49" charset="-122"/>
            </a:endParaRPr>
          </a:p>
        </p:txBody>
      </p:sp>
      <p:sp>
        <p:nvSpPr>
          <p:cNvPr id="46122"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161FBCC7-3E7B-47B2-9F0A-E41B25D3A048}" type="datetime1">
              <a:rPr lang="zh-CN" altLang="en-US" smtClean="0">
                <a:solidFill>
                  <a:srgbClr val="45516B"/>
                </a:solidFill>
              </a:rPr>
            </a:fld>
            <a:endParaRPr lang="zh-CN" altLang="en-US">
              <a:solidFill>
                <a:srgbClr val="45516B"/>
              </a:solidFill>
            </a:endParaRPr>
          </a:p>
        </p:txBody>
      </p:sp>
      <p:sp>
        <p:nvSpPr>
          <p:cNvPr id="46123"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8237" name="灯片编号占位符 3"/>
          <p:cNvSpPr>
            <a:spLocks noGrp="1" noChangeArrowheads="1"/>
          </p:cNvSpPr>
          <p:nvPr>
            <p:ph type="sldNum" sz="quarter" idx="12"/>
          </p:nvPr>
        </p:nvSpPr>
        <p:spPr bwMode="auto">
          <a:noFill/>
          <a:ln>
            <a:miter lim="800000"/>
          </a:ln>
        </p:spPr>
        <p:txBody>
          <a:bodyPr/>
          <a:lstStyle/>
          <a:p>
            <a:fld id="{D5051BA8-E973-4A8C-8F91-545D9A17DFE8}"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4398">
                                            <p:txEl>
                                              <p:pRg st="0" end="0"/>
                                            </p:txEl>
                                          </p:spTgt>
                                        </p:tgtEl>
                                        <p:attrNameLst>
                                          <p:attrName>style.visibility</p:attrName>
                                        </p:attrNameLst>
                                      </p:cBhvr>
                                      <p:to>
                                        <p:strVal val="visible"/>
                                      </p:to>
                                    </p:set>
                                    <p:animEffect transition="in" filter="blinds(horizontal)">
                                      <p:cBhvr>
                                        <p:cTn id="7" dur="500"/>
                                        <p:tgtEl>
                                          <p:spTgt spid="54398">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4398">
                                            <p:txEl>
                                              <p:pRg st="1" end="1"/>
                                            </p:txEl>
                                          </p:spTgt>
                                        </p:tgtEl>
                                        <p:attrNameLst>
                                          <p:attrName>style.visibility</p:attrName>
                                        </p:attrNameLst>
                                      </p:cBhvr>
                                      <p:to>
                                        <p:strVal val="visible"/>
                                      </p:to>
                                    </p:set>
                                    <p:animEffect transition="in" filter="blinds(horizontal)">
                                      <p:cBhvr>
                                        <p:cTn id="10" dur="500"/>
                                        <p:tgtEl>
                                          <p:spTgt spid="54398">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4398">
                                            <p:txEl>
                                              <p:pRg st="2" end="2"/>
                                            </p:txEl>
                                          </p:spTgt>
                                        </p:tgtEl>
                                        <p:attrNameLst>
                                          <p:attrName>style.visibility</p:attrName>
                                        </p:attrNameLst>
                                      </p:cBhvr>
                                      <p:to>
                                        <p:strVal val="visible"/>
                                      </p:to>
                                    </p:set>
                                    <p:animEffect transition="in" filter="blinds(horizontal)">
                                      <p:cBhvr>
                                        <p:cTn id="13" dur="500"/>
                                        <p:tgtEl>
                                          <p:spTgt spid="54398">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4398">
                                            <p:txEl>
                                              <p:pRg st="3" end="3"/>
                                            </p:txEl>
                                          </p:spTgt>
                                        </p:tgtEl>
                                        <p:attrNameLst>
                                          <p:attrName>style.visibility</p:attrName>
                                        </p:attrNameLst>
                                      </p:cBhvr>
                                      <p:to>
                                        <p:strVal val="visible"/>
                                      </p:to>
                                    </p:set>
                                    <p:animEffect transition="in" filter="blinds(horizontal)">
                                      <p:cBhvr>
                                        <p:cTn id="16" dur="500"/>
                                        <p:tgtEl>
                                          <p:spTgt spid="54398">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54398">
                                            <p:txEl>
                                              <p:pRg st="4" end="4"/>
                                            </p:txEl>
                                          </p:spTgt>
                                        </p:tgtEl>
                                        <p:attrNameLst>
                                          <p:attrName>style.visibility</p:attrName>
                                        </p:attrNameLst>
                                      </p:cBhvr>
                                      <p:to>
                                        <p:strVal val="visible"/>
                                      </p:to>
                                    </p:set>
                                    <p:animEffect transition="in" filter="blinds(horizontal)">
                                      <p:cBhvr>
                                        <p:cTn id="19" dur="500"/>
                                        <p:tgtEl>
                                          <p:spTgt spid="54398">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54398">
                                            <p:txEl>
                                              <p:pRg st="5" end="5"/>
                                            </p:txEl>
                                          </p:spTgt>
                                        </p:tgtEl>
                                        <p:attrNameLst>
                                          <p:attrName>style.visibility</p:attrName>
                                        </p:attrNameLst>
                                      </p:cBhvr>
                                      <p:to>
                                        <p:strVal val="visible"/>
                                      </p:to>
                                    </p:set>
                                    <p:animEffect transition="in" filter="blinds(horizontal)">
                                      <p:cBhvr>
                                        <p:cTn id="22" dur="500"/>
                                        <p:tgtEl>
                                          <p:spTgt spid="5439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内容占位符 55300"/>
          <p:cNvGraphicFramePr>
            <a:graphicFrameLocks noGrp="1"/>
          </p:cNvGraphicFramePr>
          <p:nvPr/>
        </p:nvGraphicFramePr>
        <p:xfrm>
          <a:off x="8401051" y="2420939"/>
          <a:ext cx="646113" cy="676275"/>
        </p:xfrm>
        <a:graphic>
          <a:graphicData uri="http://schemas.openxmlformats.org/presentationml/2006/ole">
            <mc:AlternateContent xmlns:mc="http://schemas.openxmlformats.org/markup-compatibility/2006">
              <mc:Choice xmlns:v="urn:schemas-microsoft-com:vml" Requires="v">
                <p:oleObj spid="_x0000_s9222" name="" r:id="rId1" imgW="6400800" imgH="6705600" progId="Equation.DSMT4">
                  <p:embed/>
                </p:oleObj>
              </mc:Choice>
              <mc:Fallback>
                <p:oleObj name="" r:id="rId1" imgW="6400800" imgH="6705600" progId="Equation.DSMT4">
                  <p:embed/>
                  <p:pic>
                    <p:nvPicPr>
                      <p:cNvPr id="0" name="内容占位符 55300"/>
                      <p:cNvPicPr>
                        <a:picLocks noGrp="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1051" y="2420939"/>
                        <a:ext cx="646113"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220" name="标题 55297"/>
          <p:cNvSpPr>
            <a:spLocks noGrp="1" noChangeArrowheads="1"/>
          </p:cNvSpPr>
          <p:nvPr>
            <p:ph type="title"/>
          </p:nvPr>
        </p:nvSpPr>
        <p:spPr>
          <a:xfrm>
            <a:off x="2640014" y="1"/>
            <a:ext cx="7793037" cy="982663"/>
          </a:xfrm>
        </p:spPr>
        <p:txBody>
          <a:bodyPr/>
          <a:lstStyle/>
          <a:p>
            <a:pPr marL="838200" indent="-838200"/>
            <a:r>
              <a:rPr lang="en-US" altLang="zh-CN" sz="3200" b="1" dirty="0">
                <a:solidFill>
                  <a:srgbClr val="4D009A"/>
                </a:solidFill>
                <a:latin typeface="华文楷体" panose="02010600040101010101" pitchFamily="2" charset="-122"/>
                <a:ea typeface="华文楷体" panose="02010600040101010101" pitchFamily="2" charset="-122"/>
              </a:rPr>
              <a:t>1.3 </a:t>
            </a:r>
            <a:r>
              <a:rPr lang="zh-CN" altLang="en-US" sz="3200" b="1" dirty="0">
                <a:solidFill>
                  <a:srgbClr val="4D009A"/>
                </a:solidFill>
                <a:latin typeface="华文楷体" panose="02010600040101010101" pitchFamily="2" charset="-122"/>
                <a:ea typeface="华文楷体" panose="02010600040101010101" pitchFamily="2" charset="-122"/>
              </a:rPr>
              <a:t>数值表示、变量及表达式</a:t>
            </a:r>
            <a:r>
              <a:rPr lang="zh-CN" altLang="en-US" sz="4000" b="1" dirty="0">
                <a:solidFill>
                  <a:srgbClr val="4D009A"/>
                </a:solidFill>
                <a:latin typeface="华文楷体" panose="02010600040101010101" pitchFamily="2" charset="-122"/>
                <a:ea typeface="华文楷体" panose="02010600040101010101" pitchFamily="2" charset="-122"/>
              </a:rPr>
              <a:t> </a:t>
            </a:r>
            <a:r>
              <a:rPr lang="zh-CN" altLang="en-US" sz="2600" b="1" dirty="0">
                <a:solidFill>
                  <a:srgbClr val="4D009A"/>
                </a:solidFill>
                <a:latin typeface="华文楷体" panose="02010600040101010101" pitchFamily="2" charset="-122"/>
                <a:ea typeface="华文楷体" panose="02010600040101010101" pitchFamily="2" charset="-122"/>
              </a:rPr>
              <a:t>（续）</a:t>
            </a:r>
            <a:endParaRPr lang="zh-CN" altLang="en-US" sz="2600" b="1" dirty="0">
              <a:solidFill>
                <a:srgbClr val="4D009A"/>
              </a:solidFill>
              <a:latin typeface="华文楷体" panose="02010600040101010101" pitchFamily="2" charset="-122"/>
              <a:ea typeface="华文楷体" panose="02010600040101010101" pitchFamily="2" charset="-122"/>
            </a:endParaRPr>
          </a:p>
        </p:txBody>
      </p:sp>
      <p:sp>
        <p:nvSpPr>
          <p:cNvPr id="9221" name="文本占位符 55298"/>
          <p:cNvSpPr>
            <a:spLocks noGrp="1" noChangeArrowheads="1"/>
          </p:cNvSpPr>
          <p:nvPr>
            <p:ph type="body" sz="half" idx="1"/>
          </p:nvPr>
        </p:nvSpPr>
        <p:spPr>
          <a:xfrm>
            <a:off x="2706689" y="1341438"/>
            <a:ext cx="7350125" cy="1223962"/>
          </a:xfrm>
        </p:spPr>
        <p:txBody>
          <a:bodyPr/>
          <a:lstStyle/>
          <a:p>
            <a:pPr eaLnBrk="1" hangingPunct="1"/>
            <a:r>
              <a:rPr lang="zh-CN" altLang="en-US" sz="2600" b="1" dirty="0">
                <a:solidFill>
                  <a:srgbClr val="4D009A"/>
                </a:solidFill>
                <a:latin typeface="华文楷体" panose="02010600040101010101" pitchFamily="2" charset="-122"/>
                <a:ea typeface="华文楷体" panose="02010600040101010101" pitchFamily="2" charset="-122"/>
              </a:rPr>
              <a:t>复数及其运算</a:t>
            </a:r>
            <a:endParaRPr lang="zh-CN" altLang="en-US" sz="2600" b="1" dirty="0">
              <a:solidFill>
                <a:srgbClr val="4D009A"/>
              </a:solidFill>
              <a:latin typeface="华文楷体" panose="02010600040101010101" pitchFamily="2" charset="-122"/>
              <a:ea typeface="华文楷体" panose="02010600040101010101" pitchFamily="2" charset="-122"/>
            </a:endParaRPr>
          </a:p>
          <a:p>
            <a:pPr lvl="1" eaLnBrk="1" hangingPunct="1"/>
            <a:r>
              <a:rPr lang="en-US" altLang="zh-CN" sz="1800" b="1" dirty="0">
                <a:solidFill>
                  <a:srgbClr val="4D009A"/>
                </a:solidFill>
                <a:latin typeface="华文楷体" panose="02010600040101010101" pitchFamily="2" charset="-122"/>
                <a:ea typeface="华文楷体" panose="02010600040101010101" pitchFamily="2" charset="-122"/>
              </a:rPr>
              <a:t>MATLAB</a:t>
            </a:r>
            <a:r>
              <a:rPr lang="zh-CN" altLang="en-US" sz="1800" b="1" dirty="0">
                <a:solidFill>
                  <a:srgbClr val="4D009A"/>
                </a:solidFill>
                <a:latin typeface="华文楷体" panose="02010600040101010101" pitchFamily="2" charset="-122"/>
                <a:ea typeface="华文楷体" panose="02010600040101010101" pitchFamily="2" charset="-122"/>
              </a:rPr>
              <a:t>中复数的表达：</a:t>
            </a:r>
            <a:r>
              <a:rPr lang="en-US" altLang="zh-CN" sz="1800" b="1" dirty="0">
                <a:solidFill>
                  <a:srgbClr val="4D009A"/>
                </a:solidFill>
                <a:latin typeface="华文楷体" panose="02010600040101010101" pitchFamily="2" charset="-122"/>
                <a:ea typeface="华文楷体" panose="02010600040101010101" pitchFamily="2" charset="-122"/>
              </a:rPr>
              <a:t>z=</a:t>
            </a:r>
            <a:r>
              <a:rPr lang="en-US" altLang="zh-CN" sz="1800" b="1" dirty="0" err="1">
                <a:solidFill>
                  <a:srgbClr val="4D009A"/>
                </a:solidFill>
                <a:latin typeface="华文楷体" panose="02010600040101010101" pitchFamily="2" charset="-122"/>
                <a:ea typeface="华文楷体" panose="02010600040101010101" pitchFamily="2" charset="-122"/>
              </a:rPr>
              <a:t>a+bi</a:t>
            </a:r>
            <a:r>
              <a:rPr lang="zh-CN" altLang="en-US" sz="1800" b="1" dirty="0">
                <a:solidFill>
                  <a:srgbClr val="4D009A"/>
                </a:solidFill>
                <a:latin typeface="华文楷体" panose="02010600040101010101" pitchFamily="2" charset="-122"/>
                <a:ea typeface="华文楷体" panose="02010600040101010101" pitchFamily="2" charset="-122"/>
              </a:rPr>
              <a:t>，其中</a:t>
            </a:r>
            <a:r>
              <a:rPr lang="en-US" altLang="zh-CN" sz="1800" b="1" dirty="0">
                <a:solidFill>
                  <a:srgbClr val="4D009A"/>
                </a:solidFill>
                <a:latin typeface="华文楷体" panose="02010600040101010101" pitchFamily="2" charset="-122"/>
                <a:ea typeface="华文楷体" panose="02010600040101010101" pitchFamily="2" charset="-122"/>
              </a:rPr>
              <a:t>a</a:t>
            </a:r>
            <a:r>
              <a:rPr lang="zh-CN" altLang="en-US" sz="1800" b="1" dirty="0">
                <a:solidFill>
                  <a:srgbClr val="4D009A"/>
                </a:solidFill>
                <a:latin typeface="华文楷体" panose="02010600040101010101" pitchFamily="2" charset="-122"/>
                <a:ea typeface="华文楷体" panose="02010600040101010101" pitchFamily="2" charset="-122"/>
              </a:rPr>
              <a:t>、</a:t>
            </a:r>
            <a:r>
              <a:rPr lang="en-US" altLang="zh-CN" sz="1800" b="1" dirty="0">
                <a:solidFill>
                  <a:srgbClr val="4D009A"/>
                </a:solidFill>
                <a:latin typeface="华文楷体" panose="02010600040101010101" pitchFamily="2" charset="-122"/>
                <a:ea typeface="华文楷体" panose="02010600040101010101" pitchFamily="2" charset="-122"/>
              </a:rPr>
              <a:t>b</a:t>
            </a:r>
            <a:r>
              <a:rPr lang="zh-CN" altLang="en-US" sz="1800" b="1" dirty="0">
                <a:solidFill>
                  <a:srgbClr val="4D009A"/>
                </a:solidFill>
                <a:latin typeface="华文楷体" panose="02010600040101010101" pitchFamily="2" charset="-122"/>
                <a:ea typeface="华文楷体" panose="02010600040101010101" pitchFamily="2" charset="-122"/>
              </a:rPr>
              <a:t>为实数。</a:t>
            </a:r>
            <a:endParaRPr lang="zh-CN" altLang="en-US" sz="1800" b="1" dirty="0">
              <a:solidFill>
                <a:srgbClr val="4D009A"/>
              </a:solidFill>
              <a:latin typeface="华文楷体" panose="02010600040101010101" pitchFamily="2" charset="-122"/>
              <a:ea typeface="华文楷体" panose="02010600040101010101" pitchFamily="2" charset="-122"/>
            </a:endParaRPr>
          </a:p>
          <a:p>
            <a:pPr lvl="1" eaLnBrk="1" hangingPunct="1"/>
            <a:r>
              <a:rPr lang="en-US" altLang="zh-CN" sz="1800" b="1" dirty="0">
                <a:solidFill>
                  <a:srgbClr val="4D009A"/>
                </a:solidFill>
                <a:latin typeface="华文楷体" panose="02010600040101010101" pitchFamily="2" charset="-122"/>
                <a:ea typeface="华文楷体" panose="02010600040101010101" pitchFamily="2" charset="-122"/>
              </a:rPr>
              <a:t>MATLAB</a:t>
            </a:r>
            <a:r>
              <a:rPr lang="zh-CN" altLang="en-US" sz="1800" b="1" dirty="0">
                <a:solidFill>
                  <a:srgbClr val="4D009A"/>
                </a:solidFill>
                <a:latin typeface="华文楷体" panose="02010600040101010101" pitchFamily="2" charset="-122"/>
                <a:ea typeface="华文楷体" panose="02010600040101010101" pitchFamily="2" charset="-122"/>
              </a:rPr>
              <a:t>把复数作为一个整体，象计算实数一样计算复数。</a:t>
            </a:r>
            <a:endParaRPr lang="zh-CN" altLang="en-US" sz="1800" b="1" dirty="0">
              <a:solidFill>
                <a:srgbClr val="4D009A"/>
              </a:solidFill>
              <a:latin typeface="华文楷体" panose="02010600040101010101" pitchFamily="2" charset="-122"/>
              <a:ea typeface="华文楷体" panose="02010600040101010101" pitchFamily="2" charset="-122"/>
            </a:endParaRPr>
          </a:p>
          <a:p>
            <a:pPr lvl="1" eaLnBrk="1" hangingPunct="1"/>
            <a:endParaRPr lang="zh-CN" altLang="en-US" sz="1800" b="1" dirty="0">
              <a:solidFill>
                <a:srgbClr val="4D009A"/>
              </a:solidFill>
              <a:latin typeface="华文楷体" panose="02010600040101010101" pitchFamily="2" charset="-122"/>
              <a:ea typeface="华文楷体" panose="02010600040101010101" pitchFamily="2" charset="-122"/>
            </a:endParaRPr>
          </a:p>
          <a:p>
            <a:pPr lvl="1" eaLnBrk="1" hangingPunct="1"/>
            <a:endParaRPr lang="zh-CN" altLang="en-US" sz="2000" b="1" dirty="0">
              <a:solidFill>
                <a:srgbClr val="4D009A"/>
              </a:solidFill>
              <a:latin typeface="华文楷体" panose="02010600040101010101" pitchFamily="2" charset="-122"/>
              <a:ea typeface="华文楷体" panose="02010600040101010101" pitchFamily="2" charset="-122"/>
            </a:endParaRPr>
          </a:p>
        </p:txBody>
      </p:sp>
      <p:grpSp>
        <p:nvGrpSpPr>
          <p:cNvPr id="2" name="组合 55306"/>
          <p:cNvGrpSpPr/>
          <p:nvPr/>
        </p:nvGrpSpPr>
        <p:grpSpPr bwMode="auto">
          <a:xfrm>
            <a:off x="2640013" y="2420939"/>
            <a:ext cx="7637462" cy="1512887"/>
            <a:chOff x="703" y="1525"/>
            <a:chExt cx="4811" cy="953"/>
          </a:xfrm>
        </p:grpSpPr>
        <p:sp>
          <p:nvSpPr>
            <p:cNvPr id="9229" name="矩形 55299"/>
            <p:cNvSpPr>
              <a:spLocks noChangeArrowheads="1"/>
            </p:cNvSpPr>
            <p:nvPr/>
          </p:nvSpPr>
          <p:spPr bwMode="auto">
            <a:xfrm>
              <a:off x="703" y="1662"/>
              <a:ext cx="4811" cy="816"/>
            </a:xfrm>
            <a:prstGeom prst="rect">
              <a:avLst/>
            </a:prstGeom>
            <a:noFill/>
            <a:ln w="9525">
              <a:noFill/>
              <a:miter lim="800000"/>
            </a:ln>
          </p:spPr>
          <p:txBody>
            <a:bodyPr/>
            <a:lstStyle/>
            <a:p>
              <a:pPr marL="609600" indent="-609600"/>
              <a:r>
                <a:rPr lang="zh-CN" altLang="en-US" sz="2600" b="1" dirty="0">
                  <a:solidFill>
                    <a:srgbClr val="4D009A"/>
                  </a:solidFill>
                  <a:latin typeface="Times New Roman" panose="02020603050405020304" pitchFamily="18" charset="0"/>
                  <a:ea typeface="华文楷体" panose="02010600040101010101" pitchFamily="2" charset="-122"/>
                </a:rPr>
                <a:t>【例</a:t>
              </a:r>
              <a:r>
                <a:rPr lang="en-US" altLang="zh-CN" sz="2600" b="1" dirty="0">
                  <a:solidFill>
                    <a:srgbClr val="4D009A"/>
                  </a:solidFill>
                  <a:latin typeface="Times New Roman" panose="02020603050405020304" pitchFamily="18" charset="0"/>
                  <a:ea typeface="华文楷体" panose="02010600040101010101" pitchFamily="2" charset="-122"/>
                </a:rPr>
                <a:t>1.3-1</a:t>
              </a:r>
              <a:r>
                <a:rPr lang="zh-CN" altLang="en-US" sz="2600" b="1" dirty="0">
                  <a:solidFill>
                    <a:srgbClr val="4D009A"/>
                  </a:solidFill>
                  <a:latin typeface="Times New Roman" panose="02020603050405020304" pitchFamily="18" charset="0"/>
                  <a:ea typeface="华文楷体" panose="02010600040101010101" pitchFamily="2" charset="-122"/>
                </a:rPr>
                <a:t>】复数</a:t>
              </a:r>
              <a:r>
                <a:rPr lang="en-US" altLang="zh-CN" sz="2600" b="1" dirty="0">
                  <a:solidFill>
                    <a:srgbClr val="4D009A"/>
                  </a:solidFill>
                  <a:latin typeface="Times New Roman" panose="02020603050405020304" pitchFamily="18" charset="0"/>
                  <a:ea typeface="华文楷体" panose="02010600040101010101" pitchFamily="2" charset="-122"/>
                </a:rPr>
                <a:t>z1=3+4i</a:t>
              </a:r>
              <a:r>
                <a:rPr lang="zh-CN" altLang="en-US" sz="2600" b="1" dirty="0">
                  <a:solidFill>
                    <a:srgbClr val="4D009A"/>
                  </a:solidFill>
                  <a:latin typeface="Times New Roman" panose="02020603050405020304" pitchFamily="18" charset="0"/>
                  <a:ea typeface="华文楷体" panose="02010600040101010101" pitchFamily="2" charset="-122"/>
                </a:rPr>
                <a:t>，</a:t>
              </a:r>
              <a:r>
                <a:rPr lang="en-US" altLang="zh-CN" sz="2600" b="1" dirty="0">
                  <a:solidFill>
                    <a:srgbClr val="4D009A"/>
                  </a:solidFill>
                  <a:latin typeface="Times New Roman" panose="02020603050405020304" pitchFamily="18" charset="0"/>
                  <a:ea typeface="华文楷体" panose="02010600040101010101" pitchFamily="2" charset="-122"/>
                </a:rPr>
                <a:t>z2=1+2i, z3=</a:t>
              </a:r>
              <a:endParaRPr lang="en-US" altLang="zh-CN" sz="2600" b="1" dirty="0">
                <a:solidFill>
                  <a:srgbClr val="4D009A"/>
                </a:solidFill>
                <a:latin typeface="Times New Roman" panose="02020603050405020304" pitchFamily="18" charset="0"/>
                <a:ea typeface="华文楷体" panose="02010600040101010101" pitchFamily="2" charset="-122"/>
              </a:endParaRPr>
            </a:p>
            <a:p>
              <a:pPr marL="609600" indent="-609600"/>
              <a:r>
                <a:rPr lang="en-US" altLang="zh-CN" sz="2600" b="1" dirty="0">
                  <a:solidFill>
                    <a:srgbClr val="4D009A"/>
                  </a:solidFill>
                  <a:latin typeface="Times New Roman" panose="02020603050405020304" pitchFamily="18" charset="0"/>
                  <a:ea typeface="华文楷体" panose="02010600040101010101" pitchFamily="2" charset="-122"/>
                </a:rPr>
                <a:t>                 </a:t>
              </a:r>
              <a:r>
                <a:rPr lang="zh-CN" altLang="en-US" sz="2600" b="1" dirty="0">
                  <a:solidFill>
                    <a:srgbClr val="4D009A"/>
                  </a:solidFill>
                  <a:latin typeface="Times New Roman" panose="02020603050405020304" pitchFamily="18" charset="0"/>
                  <a:ea typeface="华文楷体" panose="02010600040101010101" pitchFamily="2" charset="-122"/>
                </a:rPr>
                <a:t>计算</a:t>
              </a:r>
              <a:endParaRPr lang="zh-CN" altLang="en-US" sz="2600" b="1" dirty="0">
                <a:solidFill>
                  <a:srgbClr val="4D009A"/>
                </a:solidFill>
                <a:latin typeface="Times New Roman" panose="02020603050405020304" pitchFamily="18" charset="0"/>
                <a:ea typeface="华文楷体" panose="02010600040101010101" pitchFamily="2" charset="-122"/>
              </a:endParaRPr>
            </a:p>
          </p:txBody>
        </p:sp>
        <p:graphicFrame>
          <p:nvGraphicFramePr>
            <p:cNvPr id="9219" name="对象 55302"/>
            <p:cNvGraphicFramePr/>
            <p:nvPr/>
          </p:nvGraphicFramePr>
          <p:xfrm>
            <a:off x="2245" y="1888"/>
            <a:ext cx="549" cy="459"/>
          </p:xfrm>
          <a:graphic>
            <a:graphicData uri="http://schemas.openxmlformats.org/presentationml/2006/ole">
              <mc:AlternateContent xmlns:mc="http://schemas.openxmlformats.org/markup-compatibility/2006">
                <mc:Choice xmlns:v="urn:schemas-microsoft-com:vml" Requires="v">
                  <p:oleObj spid="_x0000_s9223" name="" r:id="rId3" imgW="11277600" imgH="9448800" progId="Equation.DSMT4">
                    <p:embed/>
                  </p:oleObj>
                </mc:Choice>
                <mc:Fallback>
                  <p:oleObj name="" r:id="rId3" imgW="11277600" imgH="9448800" progId="Equation.DSMT4">
                    <p:embed/>
                    <p:pic>
                      <p:nvPicPr>
                        <p:cNvPr id="0" name="对象 5530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5" y="1888"/>
                          <a:ext cx="549"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55304" name="矩形 55303"/>
          <p:cNvSpPr>
            <a:spLocks noChangeArrowheads="1"/>
          </p:cNvSpPr>
          <p:nvPr/>
        </p:nvSpPr>
        <p:spPr bwMode="auto">
          <a:xfrm>
            <a:off x="2640014" y="3933825"/>
            <a:ext cx="8027987" cy="647700"/>
          </a:xfrm>
          <a:prstGeom prst="rect">
            <a:avLst/>
          </a:prstGeom>
          <a:noFill/>
          <a:ln w="9525">
            <a:noFill/>
            <a:miter lim="800000"/>
          </a:ln>
        </p:spPr>
        <p:txBody>
          <a:bodyPr/>
          <a:lstStyle/>
          <a:p>
            <a:pPr marL="609600" indent="-609600"/>
            <a:r>
              <a:rPr lang="en-US" altLang="zh-CN" sz="2600" b="1">
                <a:solidFill>
                  <a:srgbClr val="4D009A"/>
                </a:solidFill>
                <a:latin typeface="华文楷体" panose="02010600040101010101" pitchFamily="2" charset="-122"/>
                <a:ea typeface="华文楷体" panose="02010600040101010101" pitchFamily="2" charset="-122"/>
              </a:rPr>
              <a:t>&gt;&gt;z1=3+4*i, z2=1+2*i, z3=2*exp(i*pi/6), z=z1*z2/z3</a:t>
            </a:r>
            <a:endParaRPr lang="en-US" altLang="zh-CN" sz="2600" b="1">
              <a:solidFill>
                <a:srgbClr val="4D009A"/>
              </a:solidFill>
              <a:latin typeface="华文楷体" panose="02010600040101010101" pitchFamily="2" charset="-122"/>
              <a:ea typeface="华文楷体" panose="02010600040101010101" pitchFamily="2" charset="-122"/>
            </a:endParaRPr>
          </a:p>
        </p:txBody>
      </p:sp>
      <p:sp>
        <p:nvSpPr>
          <p:cNvPr id="55305" name="矩形 55304"/>
          <p:cNvSpPr>
            <a:spLocks noChangeArrowheads="1"/>
          </p:cNvSpPr>
          <p:nvPr/>
        </p:nvSpPr>
        <p:spPr bwMode="auto">
          <a:xfrm>
            <a:off x="2640014" y="4508500"/>
            <a:ext cx="8027987" cy="647700"/>
          </a:xfrm>
          <a:prstGeom prst="rect">
            <a:avLst/>
          </a:prstGeom>
          <a:noFill/>
          <a:ln w="9525">
            <a:noFill/>
            <a:miter lim="800000"/>
          </a:ln>
        </p:spPr>
        <p:txBody>
          <a:bodyPr/>
          <a:lstStyle/>
          <a:p>
            <a:pPr marL="609600" indent="-609600"/>
            <a:r>
              <a:rPr lang="en-US" altLang="zh-CN" sz="2600" b="1">
                <a:solidFill>
                  <a:srgbClr val="4D009A"/>
                </a:solidFill>
                <a:latin typeface="华文楷体" panose="02010600040101010101" pitchFamily="2" charset="-122"/>
                <a:ea typeface="华文楷体" panose="02010600040101010101" pitchFamily="2" charset="-122"/>
              </a:rPr>
              <a:t>&gt;&gt;z_real=real(z), z_image=imag(z),</a:t>
            </a:r>
            <a:endParaRPr lang="en-US" altLang="zh-CN" sz="2600" b="1">
              <a:solidFill>
                <a:srgbClr val="4D009A"/>
              </a:solidFill>
              <a:latin typeface="华文楷体" panose="02010600040101010101" pitchFamily="2" charset="-122"/>
              <a:ea typeface="华文楷体" panose="02010600040101010101" pitchFamily="2" charset="-122"/>
            </a:endParaRPr>
          </a:p>
        </p:txBody>
      </p:sp>
      <p:sp>
        <p:nvSpPr>
          <p:cNvPr id="55306" name="矩形 55305"/>
          <p:cNvSpPr>
            <a:spLocks noChangeArrowheads="1"/>
          </p:cNvSpPr>
          <p:nvPr/>
        </p:nvSpPr>
        <p:spPr bwMode="auto">
          <a:xfrm>
            <a:off x="2640014" y="5084763"/>
            <a:ext cx="8027987" cy="647700"/>
          </a:xfrm>
          <a:prstGeom prst="rect">
            <a:avLst/>
          </a:prstGeom>
          <a:noFill/>
          <a:ln w="9525">
            <a:noFill/>
            <a:miter lim="800000"/>
          </a:ln>
        </p:spPr>
        <p:txBody>
          <a:bodyPr/>
          <a:lstStyle/>
          <a:p>
            <a:pPr marL="609600" indent="-609600"/>
            <a:r>
              <a:rPr lang="en-US" altLang="zh-CN" sz="2600" b="1">
                <a:solidFill>
                  <a:srgbClr val="4D009A"/>
                </a:solidFill>
                <a:latin typeface="华文楷体" panose="02010600040101010101" pitchFamily="2" charset="-122"/>
                <a:ea typeface="华文楷体" panose="02010600040101010101" pitchFamily="2" charset="-122"/>
              </a:rPr>
              <a:t>&gt;&gt;z_angle=angle(z), z_length=abs(z),</a:t>
            </a:r>
            <a:endParaRPr lang="en-US" altLang="zh-CN" sz="2600" b="1">
              <a:solidFill>
                <a:srgbClr val="4D009A"/>
              </a:solidFill>
              <a:latin typeface="华文楷体" panose="02010600040101010101" pitchFamily="2" charset="-122"/>
              <a:ea typeface="华文楷体" panose="02010600040101010101" pitchFamily="2" charset="-122"/>
            </a:endParaRPr>
          </a:p>
        </p:txBody>
      </p:sp>
      <p:sp>
        <p:nvSpPr>
          <p:cNvPr id="47114"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F4057D85-780D-4A86-ADF9-57414EE2EDF5}" type="datetime1">
              <a:rPr lang="zh-CN" altLang="en-US" smtClean="0">
                <a:solidFill>
                  <a:srgbClr val="45516B"/>
                </a:solidFill>
              </a:rPr>
            </a:fld>
            <a:endParaRPr lang="zh-CN" altLang="en-US">
              <a:solidFill>
                <a:srgbClr val="45516B"/>
              </a:solidFill>
            </a:endParaRPr>
          </a:p>
        </p:txBody>
      </p:sp>
      <p:sp>
        <p:nvSpPr>
          <p:cNvPr id="47115"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9228" name="灯片编号占位符 3"/>
          <p:cNvSpPr>
            <a:spLocks noGrp="1" noChangeArrowheads="1"/>
          </p:cNvSpPr>
          <p:nvPr>
            <p:ph type="sldNum" sz="quarter" idx="12"/>
          </p:nvPr>
        </p:nvSpPr>
        <p:spPr bwMode="auto">
          <a:noFill/>
          <a:ln>
            <a:miter lim="800000"/>
          </a:ln>
        </p:spPr>
        <p:txBody>
          <a:bodyPr/>
          <a:lstStyle/>
          <a:p>
            <a:fld id="{E4ECC906-F29B-48EE-BFBA-DB95B5087579}"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5304"/>
                                        </p:tgtEl>
                                        <p:attrNameLst>
                                          <p:attrName>style.visibility</p:attrName>
                                        </p:attrNameLst>
                                      </p:cBhvr>
                                      <p:to>
                                        <p:strVal val="visible"/>
                                      </p:to>
                                    </p:set>
                                    <p:animEffect transition="in" filter="blinds(horizontal)">
                                      <p:cBhvr>
                                        <p:cTn id="12" dur="500"/>
                                        <p:tgtEl>
                                          <p:spTgt spid="5530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5305"/>
                                        </p:tgtEl>
                                        <p:attrNameLst>
                                          <p:attrName>style.visibility</p:attrName>
                                        </p:attrNameLst>
                                      </p:cBhvr>
                                      <p:to>
                                        <p:strVal val="visible"/>
                                      </p:to>
                                    </p:set>
                                    <p:animEffect transition="in" filter="blinds(horizontal)">
                                      <p:cBhvr>
                                        <p:cTn id="17" dur="500"/>
                                        <p:tgtEl>
                                          <p:spTgt spid="5530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5306"/>
                                        </p:tgtEl>
                                        <p:attrNameLst>
                                          <p:attrName>style.visibility</p:attrName>
                                        </p:attrNameLst>
                                      </p:cBhvr>
                                      <p:to>
                                        <p:strVal val="visible"/>
                                      </p:to>
                                    </p:set>
                                    <p:animEffect transition="in" filter="blinds(horizontal)">
                                      <p:cBhvr>
                                        <p:cTn id="22" dur="500"/>
                                        <p:tgtEl>
                                          <p:spTgt spid="55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4" grpId="0"/>
      <p:bldP spid="55305" grpId="0"/>
      <p:bldP spid="5530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26977"/>
          <p:cNvSpPr>
            <a:spLocks noGrp="1" noChangeArrowheads="1"/>
          </p:cNvSpPr>
          <p:nvPr>
            <p:ph type="title"/>
          </p:nvPr>
        </p:nvSpPr>
        <p:spPr>
          <a:xfrm>
            <a:off x="2874964" y="333375"/>
            <a:ext cx="7793037" cy="647700"/>
          </a:xfrm>
        </p:spPr>
        <p:txBody>
          <a:bodyPr/>
          <a:lstStyle/>
          <a:p>
            <a:pPr marL="685800" indent="-685800"/>
            <a:r>
              <a:rPr lang="en-US" altLang="zh-CN" sz="4000" b="1" dirty="0">
                <a:solidFill>
                  <a:srgbClr val="0000FF"/>
                </a:solidFill>
                <a:latin typeface="Times New Roman" panose="02020603050405020304" pitchFamily="18" charset="0"/>
                <a:ea typeface="华文楷体" panose="02010600040101010101" pitchFamily="2" charset="-122"/>
              </a:rPr>
              <a:t>1.1.1. </a:t>
            </a:r>
            <a:r>
              <a:rPr lang="zh-CN" altLang="en-US" sz="4000" b="1" dirty="0">
                <a:solidFill>
                  <a:srgbClr val="0000FF"/>
                </a:solidFill>
                <a:latin typeface="Times New Roman" panose="02020603050405020304" pitchFamily="18" charset="0"/>
                <a:ea typeface="华文楷体" panose="02010600040101010101" pitchFamily="2" charset="-122"/>
              </a:rPr>
              <a:t>数组</a:t>
            </a:r>
            <a:r>
              <a:rPr lang="en-US" altLang="zh-CN" sz="4000" b="1" dirty="0">
                <a:solidFill>
                  <a:srgbClr val="0000FF"/>
                </a:solidFill>
                <a:latin typeface="Times New Roman" panose="02020603050405020304" pitchFamily="18" charset="0"/>
                <a:ea typeface="华文楷体" panose="02010600040101010101" pitchFamily="2" charset="-122"/>
              </a:rPr>
              <a:t>(array)</a:t>
            </a:r>
            <a:r>
              <a:rPr lang="zh-CN" altLang="en-US" sz="4000" b="1" dirty="0">
                <a:solidFill>
                  <a:srgbClr val="0000FF"/>
                </a:solidFill>
                <a:latin typeface="Times New Roman" panose="02020603050405020304" pitchFamily="18" charset="0"/>
                <a:ea typeface="华文楷体" panose="02010600040101010101" pitchFamily="2" charset="-122"/>
              </a:rPr>
              <a:t>的概念</a:t>
            </a:r>
            <a:endParaRPr lang="zh-CN" altLang="en-US" sz="4000" b="1" dirty="0">
              <a:solidFill>
                <a:srgbClr val="0000FF"/>
              </a:solidFill>
              <a:latin typeface="Times New Roman" panose="02020603050405020304" pitchFamily="18" charset="0"/>
              <a:ea typeface="华文楷体" panose="02010600040101010101" pitchFamily="2" charset="-122"/>
            </a:endParaRPr>
          </a:p>
        </p:txBody>
      </p:sp>
      <p:sp>
        <p:nvSpPr>
          <p:cNvPr id="126979" name="文本占位符 126978"/>
          <p:cNvSpPr>
            <a:spLocks noGrp="1" noChangeArrowheads="1"/>
          </p:cNvSpPr>
          <p:nvPr>
            <p:ph type="body" sz="half" idx="1"/>
          </p:nvPr>
        </p:nvSpPr>
        <p:spPr>
          <a:xfrm>
            <a:off x="2135188" y="765176"/>
            <a:ext cx="7277100" cy="4791075"/>
          </a:xfrm>
        </p:spPr>
        <p:txBody>
          <a:bodyPr/>
          <a:lstStyle/>
          <a:p>
            <a:pPr eaLnBrk="1" hangingPunct="1"/>
            <a:r>
              <a:rPr lang="zh-CN" altLang="en-US" b="1">
                <a:solidFill>
                  <a:srgbClr val="4D009A"/>
                </a:solidFill>
                <a:latin typeface="Times New Roman" panose="02020603050405020304" pitchFamily="18" charset="0"/>
                <a:ea typeface="华文楷体" panose="02010600040101010101" pitchFamily="2" charset="-122"/>
              </a:rPr>
              <a:t>数组定义：</a:t>
            </a:r>
            <a:endParaRPr lang="zh-CN" altLang="en-US" b="1">
              <a:solidFill>
                <a:srgbClr val="4D009A"/>
              </a:solidFill>
              <a:latin typeface="Times New Roman" panose="02020603050405020304" pitchFamily="18" charset="0"/>
              <a:ea typeface="华文楷体" panose="02010600040101010101" pitchFamily="2" charset="-122"/>
            </a:endParaRPr>
          </a:p>
          <a:p>
            <a:pPr lvl="1" eaLnBrk="1" hangingPunct="1">
              <a:spcBef>
                <a:spcPct val="45000"/>
              </a:spcBef>
              <a:buFont typeface="Wingdings" panose="05000000000000000000" pitchFamily="2" charset="2"/>
              <a:buNone/>
            </a:pPr>
            <a:r>
              <a:rPr lang="zh-CN" altLang="en-US" sz="2600" b="1">
                <a:solidFill>
                  <a:srgbClr val="4D009A"/>
                </a:solidFill>
                <a:latin typeface="Times New Roman" panose="02020603050405020304" pitchFamily="18" charset="0"/>
                <a:ea typeface="华文楷体" panose="02010600040101010101" pitchFamily="2" charset="-122"/>
              </a:rPr>
              <a:t>      按</a:t>
            </a:r>
            <a:r>
              <a:rPr lang="zh-CN" altLang="en-US" sz="2600" b="1">
                <a:solidFill>
                  <a:schemeClr val="hlink"/>
                </a:solidFill>
                <a:latin typeface="Times New Roman" panose="02020603050405020304" pitchFamily="18" charset="0"/>
                <a:ea typeface="华文楷体" panose="02010600040101010101" pitchFamily="2" charset="-122"/>
              </a:rPr>
              <a:t>行</a:t>
            </a:r>
            <a:r>
              <a:rPr lang="en-US" altLang="zh-CN" sz="2600" b="1">
                <a:solidFill>
                  <a:schemeClr val="hlink"/>
                </a:solidFill>
                <a:latin typeface="Times New Roman" panose="02020603050405020304" pitchFamily="18" charset="0"/>
                <a:ea typeface="华文楷体" panose="02010600040101010101" pitchFamily="2" charset="-122"/>
              </a:rPr>
              <a:t>(row)</a:t>
            </a:r>
            <a:r>
              <a:rPr lang="zh-CN" altLang="en-US" sz="2600" b="1">
                <a:solidFill>
                  <a:srgbClr val="4D009A"/>
                </a:solidFill>
                <a:latin typeface="Times New Roman" panose="02020603050405020304" pitchFamily="18" charset="0"/>
                <a:ea typeface="华文楷体" panose="02010600040101010101" pitchFamily="2" charset="-122"/>
              </a:rPr>
              <a:t>和</a:t>
            </a:r>
            <a:r>
              <a:rPr lang="zh-CN" altLang="en-US" sz="2600" b="1">
                <a:solidFill>
                  <a:schemeClr val="hlink"/>
                </a:solidFill>
                <a:latin typeface="Times New Roman" panose="02020603050405020304" pitchFamily="18" charset="0"/>
                <a:ea typeface="华文楷体" panose="02010600040101010101" pitchFamily="2" charset="-122"/>
              </a:rPr>
              <a:t>列</a:t>
            </a:r>
            <a:r>
              <a:rPr lang="en-US" altLang="zh-CN" sz="2600" b="1">
                <a:solidFill>
                  <a:schemeClr val="hlink"/>
                </a:solidFill>
                <a:latin typeface="Times New Roman" panose="02020603050405020304" pitchFamily="18" charset="0"/>
                <a:ea typeface="华文楷体" panose="02010600040101010101" pitchFamily="2" charset="-122"/>
              </a:rPr>
              <a:t>(column)</a:t>
            </a:r>
            <a:r>
              <a:rPr lang="zh-CN" altLang="en-US" sz="2600" b="1">
                <a:solidFill>
                  <a:srgbClr val="4D009A"/>
                </a:solidFill>
                <a:latin typeface="Times New Roman" panose="02020603050405020304" pitchFamily="18" charset="0"/>
                <a:ea typeface="华文楷体" panose="02010600040101010101" pitchFamily="2" charset="-122"/>
              </a:rPr>
              <a:t>顺序排列的实数或复数的有序集，被称为</a:t>
            </a:r>
            <a:r>
              <a:rPr lang="zh-CN" altLang="en-US" sz="2600" b="1">
                <a:solidFill>
                  <a:srgbClr val="0000FF"/>
                </a:solidFill>
                <a:latin typeface="Times New Roman" panose="02020603050405020304" pitchFamily="18" charset="0"/>
                <a:ea typeface="华文楷体" panose="02010600040101010101" pitchFamily="2" charset="-122"/>
              </a:rPr>
              <a:t>数组</a:t>
            </a:r>
            <a:r>
              <a:rPr lang="zh-CN" altLang="en-US" sz="2600" b="1">
                <a:solidFill>
                  <a:srgbClr val="4D009A"/>
                </a:solidFill>
                <a:latin typeface="Times New Roman" panose="02020603050405020304" pitchFamily="18" charset="0"/>
                <a:ea typeface="华文楷体" panose="02010600040101010101" pitchFamily="2" charset="-122"/>
              </a:rPr>
              <a:t>。 数组中的任何一个数都被称为这个数组的</a:t>
            </a:r>
            <a:r>
              <a:rPr lang="zh-CN" altLang="en-US" sz="2600" b="1">
                <a:solidFill>
                  <a:schemeClr val="hlink"/>
                </a:solidFill>
                <a:latin typeface="Times New Roman" panose="02020603050405020304" pitchFamily="18" charset="0"/>
                <a:ea typeface="华文楷体" panose="02010600040101010101" pitchFamily="2" charset="-122"/>
              </a:rPr>
              <a:t>元素</a:t>
            </a:r>
            <a:r>
              <a:rPr lang="zh-CN" altLang="en-US" sz="2600" b="1">
                <a:solidFill>
                  <a:srgbClr val="4D009A"/>
                </a:solidFill>
                <a:latin typeface="Times New Roman" panose="02020603050405020304" pitchFamily="18" charset="0"/>
                <a:ea typeface="华文楷体" panose="02010600040101010101" pitchFamily="2" charset="-122"/>
              </a:rPr>
              <a:t>，由其所在的行和列标识，这个标识也称为数组元素的</a:t>
            </a:r>
            <a:r>
              <a:rPr lang="zh-CN" altLang="en-US" sz="2600" b="1">
                <a:solidFill>
                  <a:schemeClr val="hlink"/>
                </a:solidFill>
                <a:latin typeface="Times New Roman" panose="02020603050405020304" pitchFamily="18" charset="0"/>
                <a:ea typeface="华文楷体" panose="02010600040101010101" pitchFamily="2" charset="-122"/>
              </a:rPr>
              <a:t>下标或索引</a:t>
            </a:r>
            <a:r>
              <a:rPr lang="zh-CN" altLang="en-US" sz="2600" b="1">
                <a:solidFill>
                  <a:srgbClr val="4D009A"/>
                </a:solidFill>
                <a:latin typeface="Times New Roman" panose="02020603050405020304" pitchFamily="18" charset="0"/>
                <a:ea typeface="华文楷体" panose="02010600040101010101" pitchFamily="2" charset="-122"/>
              </a:rPr>
              <a:t>。</a:t>
            </a:r>
            <a:r>
              <a:rPr lang="en-US" altLang="zh-CN" sz="2600" b="1">
                <a:solidFill>
                  <a:srgbClr val="4D009A"/>
                </a:solidFill>
                <a:latin typeface="Times New Roman" panose="02020603050405020304" pitchFamily="18" charset="0"/>
                <a:ea typeface="华文楷体" panose="02010600040101010101" pitchFamily="2" charset="-122"/>
              </a:rPr>
              <a:t>Matlab</a:t>
            </a:r>
            <a:r>
              <a:rPr lang="zh-CN" altLang="en-US" sz="2600" b="1">
                <a:solidFill>
                  <a:srgbClr val="4D009A"/>
                </a:solidFill>
                <a:latin typeface="Times New Roman" panose="02020603050405020304" pitchFamily="18" charset="0"/>
                <a:ea typeface="华文楷体" panose="02010600040101010101" pitchFamily="2" charset="-122"/>
              </a:rPr>
              <a:t>将</a:t>
            </a:r>
            <a:r>
              <a:rPr lang="zh-CN" altLang="en-US" sz="2600" b="1">
                <a:solidFill>
                  <a:schemeClr val="hlink"/>
                </a:solidFill>
                <a:latin typeface="Times New Roman" panose="02020603050405020304" pitchFamily="18" charset="0"/>
                <a:ea typeface="华文楷体" panose="02010600040101010101" pitchFamily="2" charset="-122"/>
              </a:rPr>
              <a:t>标量</a:t>
            </a:r>
            <a:r>
              <a:rPr lang="zh-CN" altLang="en-US" sz="2600" b="1">
                <a:solidFill>
                  <a:srgbClr val="4D009A"/>
                </a:solidFill>
                <a:latin typeface="Times New Roman" panose="02020603050405020304" pitchFamily="18" charset="0"/>
                <a:ea typeface="华文楷体" panose="02010600040101010101" pitchFamily="2" charset="-122"/>
              </a:rPr>
              <a:t>视为</a:t>
            </a:r>
            <a:r>
              <a:rPr lang="en-US" altLang="zh-CN" b="1">
                <a:solidFill>
                  <a:srgbClr val="4D009A"/>
                </a:solidFill>
                <a:latin typeface="Times New Roman" panose="02020603050405020304" pitchFamily="18" charset="0"/>
                <a:ea typeface="华文楷体" panose="02010600040101010101" pitchFamily="2" charset="-122"/>
              </a:rPr>
              <a:t>1×1</a:t>
            </a:r>
            <a:r>
              <a:rPr lang="zh-CN" altLang="en-US" b="1">
                <a:solidFill>
                  <a:srgbClr val="4D009A"/>
                </a:solidFill>
                <a:latin typeface="Times New Roman" panose="02020603050405020304" pitchFamily="18" charset="0"/>
                <a:ea typeface="华文楷体" panose="02010600040101010101" pitchFamily="2" charset="-122"/>
              </a:rPr>
              <a:t>的数组。</a:t>
            </a:r>
            <a:r>
              <a:rPr lang="zh-CN" altLang="en-US" sz="2600" b="1">
                <a:solidFill>
                  <a:srgbClr val="4D009A"/>
                </a:solidFill>
                <a:latin typeface="Times New Roman" panose="02020603050405020304" pitchFamily="18" charset="0"/>
                <a:ea typeface="华文楷体" panose="02010600040101010101" pitchFamily="2" charset="-122"/>
              </a:rPr>
              <a:t>对</a:t>
            </a:r>
            <a:r>
              <a:rPr lang="en-US" altLang="zh-CN" sz="2600" b="1">
                <a:solidFill>
                  <a:srgbClr val="4D009A"/>
                </a:solidFill>
                <a:latin typeface="Times New Roman" panose="02020603050405020304" pitchFamily="18" charset="0"/>
                <a:ea typeface="华文楷体" panose="02010600040101010101" pitchFamily="2" charset="-122"/>
              </a:rPr>
              <a:t>m</a:t>
            </a:r>
            <a:r>
              <a:rPr lang="zh-CN" altLang="en-US" sz="2600" b="1">
                <a:solidFill>
                  <a:srgbClr val="4D009A"/>
                </a:solidFill>
                <a:latin typeface="Times New Roman" panose="02020603050405020304" pitchFamily="18" charset="0"/>
                <a:ea typeface="华文楷体" panose="02010600040101010101" pitchFamily="2" charset="-122"/>
              </a:rPr>
              <a:t>行、</a:t>
            </a:r>
            <a:r>
              <a:rPr lang="en-US" altLang="zh-CN" sz="2600" b="1">
                <a:solidFill>
                  <a:srgbClr val="4D009A"/>
                </a:solidFill>
                <a:latin typeface="Times New Roman" panose="02020603050405020304" pitchFamily="18" charset="0"/>
                <a:ea typeface="华文楷体" panose="02010600040101010101" pitchFamily="2" charset="-122"/>
              </a:rPr>
              <a:t>n</a:t>
            </a:r>
            <a:r>
              <a:rPr lang="zh-CN" altLang="en-US" sz="2600" b="1">
                <a:solidFill>
                  <a:srgbClr val="4D009A"/>
                </a:solidFill>
                <a:latin typeface="Times New Roman" panose="02020603050405020304" pitchFamily="18" charset="0"/>
                <a:ea typeface="华文楷体" panose="02010600040101010101" pitchFamily="2" charset="-122"/>
              </a:rPr>
              <a:t>列的</a:t>
            </a:r>
            <a:r>
              <a:rPr lang="en-US" altLang="zh-CN" sz="2600" b="1">
                <a:solidFill>
                  <a:srgbClr val="4D009A"/>
                </a:solidFill>
                <a:latin typeface="Times New Roman" panose="02020603050405020304" pitchFamily="18" charset="0"/>
                <a:ea typeface="华文楷体" panose="02010600040101010101" pitchFamily="2" charset="-122"/>
              </a:rPr>
              <a:t>2</a:t>
            </a:r>
            <a:r>
              <a:rPr lang="zh-CN" altLang="en-US" sz="2600" b="1">
                <a:solidFill>
                  <a:srgbClr val="4D009A"/>
                </a:solidFill>
                <a:latin typeface="Times New Roman" panose="02020603050405020304" pitchFamily="18" charset="0"/>
                <a:ea typeface="华文楷体" panose="02010600040101010101" pitchFamily="2" charset="-122"/>
              </a:rPr>
              <a:t>维数组</a:t>
            </a:r>
            <a:r>
              <a:rPr lang="en-US" altLang="zh-CN" sz="2600" b="1">
                <a:solidFill>
                  <a:srgbClr val="4D009A"/>
                </a:solidFill>
                <a:latin typeface="Times New Roman" panose="02020603050405020304" pitchFamily="18" charset="0"/>
                <a:ea typeface="华文楷体" panose="02010600040101010101" pitchFamily="2" charset="-122"/>
              </a:rPr>
              <a:t>a</a:t>
            </a:r>
            <a:r>
              <a:rPr lang="zh-CN" altLang="en-US" sz="2600" b="1">
                <a:solidFill>
                  <a:srgbClr val="4D009A"/>
                </a:solidFill>
                <a:latin typeface="Times New Roman" panose="02020603050405020304" pitchFamily="18" charset="0"/>
                <a:ea typeface="华文楷体" panose="02010600040101010101" pitchFamily="2" charset="-122"/>
              </a:rPr>
              <a:t>：</a:t>
            </a:r>
            <a:endParaRPr lang="zh-CN" altLang="en-US" sz="2600" b="1">
              <a:solidFill>
                <a:srgbClr val="4D009A"/>
              </a:solidFill>
              <a:latin typeface="Times New Roman" panose="02020603050405020304" pitchFamily="18" charset="0"/>
              <a:ea typeface="华文楷体" panose="02010600040101010101" pitchFamily="2" charset="-122"/>
            </a:endParaRPr>
          </a:p>
          <a:p>
            <a:pPr lvl="2" eaLnBrk="1" hangingPunct="1">
              <a:spcBef>
                <a:spcPct val="60000"/>
              </a:spcBef>
              <a:buFont typeface="Wingdings" panose="05000000000000000000" pitchFamily="2" charset="2"/>
              <a:buNone/>
            </a:pPr>
            <a:r>
              <a:rPr lang="zh-CN" altLang="en-US" b="1">
                <a:solidFill>
                  <a:srgbClr val="4D009A"/>
                </a:solidFill>
                <a:latin typeface="Times New Roman" panose="02020603050405020304" pitchFamily="18" charset="0"/>
                <a:ea typeface="华文楷体" panose="02010600040101010101" pitchFamily="2" charset="-122"/>
              </a:rPr>
              <a:t>计为</a:t>
            </a:r>
            <a:r>
              <a:rPr lang="en-US" altLang="zh-CN" b="1">
                <a:solidFill>
                  <a:srgbClr val="4D009A"/>
                </a:solidFill>
                <a:latin typeface="Times New Roman" panose="02020603050405020304" pitchFamily="18" charset="0"/>
                <a:ea typeface="华文楷体" panose="02010600040101010101" pitchFamily="2" charset="-122"/>
              </a:rPr>
              <a:t>m×n</a:t>
            </a:r>
            <a:r>
              <a:rPr lang="zh-CN" altLang="en-US" b="1">
                <a:solidFill>
                  <a:srgbClr val="4D009A"/>
                </a:solidFill>
                <a:latin typeface="Times New Roman" panose="02020603050405020304" pitchFamily="18" charset="0"/>
                <a:ea typeface="华文楷体" panose="02010600040101010101" pitchFamily="2" charset="-122"/>
              </a:rPr>
              <a:t>的数组</a:t>
            </a:r>
            <a:r>
              <a:rPr lang="en-US" altLang="zh-CN" b="1">
                <a:solidFill>
                  <a:srgbClr val="4D009A"/>
                </a:solidFill>
                <a:latin typeface="Times New Roman" panose="02020603050405020304" pitchFamily="18" charset="0"/>
                <a:ea typeface="华文楷体" panose="02010600040101010101" pitchFamily="2" charset="-122"/>
              </a:rPr>
              <a:t>a</a:t>
            </a:r>
            <a:r>
              <a:rPr lang="zh-CN" altLang="en-US" b="1">
                <a:solidFill>
                  <a:srgbClr val="4D009A"/>
                </a:solidFill>
                <a:latin typeface="Times New Roman" panose="02020603050405020304" pitchFamily="18" charset="0"/>
                <a:ea typeface="华文楷体" panose="02010600040101010101" pitchFamily="2" charset="-122"/>
              </a:rPr>
              <a:t>；</a:t>
            </a:r>
            <a:endParaRPr lang="zh-CN" altLang="en-US" b="1">
              <a:solidFill>
                <a:srgbClr val="4D009A"/>
              </a:solidFill>
              <a:latin typeface="Times New Roman" panose="02020603050405020304" pitchFamily="18" charset="0"/>
              <a:ea typeface="华文楷体" panose="02010600040101010101" pitchFamily="2" charset="-122"/>
            </a:endParaRPr>
          </a:p>
          <a:p>
            <a:pPr lvl="2" eaLnBrk="1" hangingPunct="1">
              <a:spcBef>
                <a:spcPct val="25000"/>
              </a:spcBef>
              <a:buFont typeface="Wingdings" panose="05000000000000000000" pitchFamily="2" charset="2"/>
              <a:buNone/>
            </a:pPr>
            <a:r>
              <a:rPr lang="en-US" altLang="zh-CN" b="1">
                <a:solidFill>
                  <a:schemeClr val="hlink"/>
                </a:solidFill>
                <a:latin typeface="Times New Roman" panose="02020603050405020304" pitchFamily="18" charset="0"/>
                <a:ea typeface="华文楷体" panose="02010600040101010101" pitchFamily="2" charset="-122"/>
              </a:rPr>
              <a:t>*</a:t>
            </a:r>
            <a:r>
              <a:rPr lang="zh-CN" altLang="en-US" b="1">
                <a:solidFill>
                  <a:srgbClr val="4D009A"/>
                </a:solidFill>
                <a:latin typeface="Times New Roman" panose="02020603050405020304" pitchFamily="18" charset="0"/>
                <a:ea typeface="华文楷体" panose="02010600040101010101" pitchFamily="2" charset="-122"/>
              </a:rPr>
              <a:t>行标识、列标识均从</a:t>
            </a:r>
            <a:r>
              <a:rPr lang="en-US" altLang="zh-CN" b="1">
                <a:solidFill>
                  <a:schemeClr val="hlink"/>
                </a:solidFill>
                <a:latin typeface="Times New Roman" panose="02020603050405020304" pitchFamily="18" charset="0"/>
                <a:ea typeface="华文楷体" panose="02010600040101010101" pitchFamily="2" charset="-122"/>
              </a:rPr>
              <a:t>1</a:t>
            </a:r>
            <a:r>
              <a:rPr lang="zh-CN" altLang="en-US" b="1">
                <a:solidFill>
                  <a:srgbClr val="4D009A"/>
                </a:solidFill>
                <a:latin typeface="Times New Roman" panose="02020603050405020304" pitchFamily="18" charset="0"/>
                <a:ea typeface="华文楷体" panose="02010600040101010101" pitchFamily="2" charset="-122"/>
              </a:rPr>
              <a:t>开始；</a:t>
            </a:r>
            <a:endParaRPr lang="zh-CN" altLang="en-US" b="1">
              <a:solidFill>
                <a:srgbClr val="4D009A"/>
              </a:solidFill>
              <a:latin typeface="Times New Roman" panose="02020603050405020304" pitchFamily="18" charset="0"/>
              <a:ea typeface="华文楷体" panose="02010600040101010101" pitchFamily="2" charset="-122"/>
            </a:endParaRPr>
          </a:p>
          <a:p>
            <a:pPr lvl="2" eaLnBrk="1" hangingPunct="1">
              <a:spcBef>
                <a:spcPct val="25000"/>
              </a:spcBef>
              <a:buFont typeface="Wingdings" panose="05000000000000000000" pitchFamily="2" charset="2"/>
              <a:buNone/>
            </a:pPr>
            <a:r>
              <a:rPr lang="zh-CN" altLang="en-US" b="1">
                <a:solidFill>
                  <a:srgbClr val="4D009A"/>
                </a:solidFill>
                <a:latin typeface="Times New Roman" panose="02020603050405020304" pitchFamily="18" charset="0"/>
                <a:ea typeface="华文楷体" panose="02010600040101010101" pitchFamily="2" charset="-122"/>
              </a:rPr>
              <a:t>行标识从上到下递增；</a:t>
            </a:r>
            <a:endParaRPr lang="zh-CN" altLang="en-US" b="1">
              <a:solidFill>
                <a:srgbClr val="4D009A"/>
              </a:solidFill>
              <a:latin typeface="Times New Roman" panose="02020603050405020304" pitchFamily="18" charset="0"/>
              <a:ea typeface="华文楷体" panose="02010600040101010101" pitchFamily="2" charset="-122"/>
            </a:endParaRPr>
          </a:p>
          <a:p>
            <a:pPr lvl="2" eaLnBrk="1" hangingPunct="1">
              <a:spcBef>
                <a:spcPct val="25000"/>
              </a:spcBef>
              <a:buFont typeface="Wingdings" panose="05000000000000000000" pitchFamily="2" charset="2"/>
              <a:buNone/>
            </a:pPr>
            <a:r>
              <a:rPr lang="zh-CN" altLang="en-US" b="1">
                <a:solidFill>
                  <a:srgbClr val="4D009A"/>
                </a:solidFill>
                <a:latin typeface="Times New Roman" panose="02020603050405020304" pitchFamily="18" charset="0"/>
                <a:ea typeface="华文楷体" panose="02010600040101010101" pitchFamily="2" charset="-122"/>
              </a:rPr>
              <a:t>列标识从左到右递增。</a:t>
            </a:r>
            <a:endParaRPr lang="zh-CN" altLang="en-US" b="1">
              <a:solidFill>
                <a:srgbClr val="4D009A"/>
              </a:solidFill>
              <a:latin typeface="Times New Roman" panose="02020603050405020304" pitchFamily="18" charset="0"/>
              <a:ea typeface="华文楷体" panose="02010600040101010101" pitchFamily="2" charset="-122"/>
            </a:endParaRPr>
          </a:p>
        </p:txBody>
      </p:sp>
      <p:graphicFrame>
        <p:nvGraphicFramePr>
          <p:cNvPr id="127016" name="内容占位符 127015"/>
          <p:cNvGraphicFramePr>
            <a:graphicFrameLocks noGrp="1"/>
          </p:cNvGraphicFramePr>
          <p:nvPr>
            <p:ph sz="half" idx="2"/>
          </p:nvPr>
        </p:nvGraphicFramePr>
        <p:xfrm>
          <a:off x="7464426" y="4221163"/>
          <a:ext cx="2663825" cy="1626552"/>
        </p:xfrm>
        <a:graphic>
          <a:graphicData uri="http://schemas.openxmlformats.org/drawingml/2006/table">
            <a:tbl>
              <a:tblPr/>
              <a:tblGrid>
                <a:gridCol w="533400"/>
                <a:gridCol w="530225"/>
                <a:gridCol w="536575"/>
                <a:gridCol w="530225"/>
                <a:gridCol w="533400"/>
              </a:tblGrid>
              <a:tr h="395288">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2000">
                          <a:solidFill>
                            <a:srgbClr val="0000FF"/>
                          </a:solidFill>
                        </a:rPr>
                        <a:t>1</a:t>
                      </a:r>
                      <a:endParaRPr lang="en-US" altLang="zh-CN" sz="2000">
                        <a:solidFill>
                          <a:srgbClr val="0000FF"/>
                        </a:solidFill>
                      </a:endParaRPr>
                    </a:p>
                  </a:txBody>
                  <a:tcPr>
                    <a:lnL w="12700" cap="flat" cmpd="sng">
                      <a:solidFill>
                        <a:srgbClr val="3039E8"/>
                      </a:solidFill>
                      <a:prstDash val="sysDashDot"/>
                      <a:headEnd type="none" w="med" len="med"/>
                      <a:tailEnd type="none" w="med" len="med"/>
                    </a:lnL>
                    <a:lnR w="12700" cap="flat" cmpd="sng">
                      <a:solidFill>
                        <a:srgbClr val="3039E8"/>
                      </a:solidFill>
                      <a:prstDash val="sysDashDot"/>
                      <a:headEnd type="none" w="med" len="med"/>
                      <a:tailEnd type="none" w="med" len="med"/>
                    </a:lnR>
                    <a:lnT w="12700" cap="flat" cmpd="sng">
                      <a:solidFill>
                        <a:srgbClr val="3039E8"/>
                      </a:solidFill>
                      <a:prstDash val="sysDashDot"/>
                      <a:headEnd type="none" w="med" len="med"/>
                      <a:tailEnd type="none" w="med" len="med"/>
                    </a:lnT>
                    <a:lnB w="12700" cap="flat" cmpd="sng">
                      <a:solidFill>
                        <a:srgbClr val="3039E8"/>
                      </a:solidFill>
                      <a:prstDash val="sysDashDot"/>
                      <a:headEnd type="none" w="med" len="med"/>
                      <a:tailEnd type="none" w="med" len="med"/>
                    </a:lnB>
                    <a:lnTlToBr>
                      <a:noFill/>
                    </a:lnTlToBr>
                    <a:lnBlToTr>
                      <a:noFill/>
                    </a:lnBlToTr>
                    <a:solidFill>
                      <a:srgbClr val="42E109"/>
                    </a:solid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2000">
                          <a:solidFill>
                            <a:srgbClr val="0000FF"/>
                          </a:solidFill>
                        </a:rPr>
                        <a:t>2</a:t>
                      </a:r>
                      <a:endParaRPr lang="en-US" altLang="zh-CN" sz="2000">
                        <a:solidFill>
                          <a:srgbClr val="0000FF"/>
                        </a:solidFill>
                      </a:endParaRPr>
                    </a:p>
                  </a:txBody>
                  <a:tcPr>
                    <a:lnL w="12700" cap="flat" cmpd="sng">
                      <a:solidFill>
                        <a:srgbClr val="3039E8"/>
                      </a:solidFill>
                      <a:prstDash val="sysDashDot"/>
                      <a:headEnd type="none" w="med" len="med"/>
                      <a:tailEnd type="none" w="med" len="med"/>
                    </a:lnL>
                    <a:lnR w="12700" cap="flat" cmpd="sng">
                      <a:solidFill>
                        <a:srgbClr val="3039E8"/>
                      </a:solidFill>
                      <a:prstDash val="sysDashDot"/>
                      <a:headEnd type="none" w="med" len="med"/>
                      <a:tailEnd type="none" w="med" len="med"/>
                    </a:lnR>
                    <a:lnT w="12700" cap="flat" cmpd="sng">
                      <a:solidFill>
                        <a:srgbClr val="3039E8"/>
                      </a:solidFill>
                      <a:prstDash val="sysDashDot"/>
                      <a:headEnd type="none" w="med" len="med"/>
                      <a:tailEnd type="none" w="med" len="med"/>
                    </a:lnT>
                    <a:lnB w="12700" cap="flat" cmpd="sng">
                      <a:solidFill>
                        <a:srgbClr val="3039E8"/>
                      </a:solidFill>
                      <a:prstDash val="sysDashDot"/>
                      <a:headEnd type="none" w="med" len="med"/>
                      <a:tailEnd type="none" w="med" len="med"/>
                    </a:lnB>
                    <a:lnTlToBr>
                      <a:noFill/>
                    </a:lnTlToBr>
                    <a:lnBlToTr>
                      <a:noFill/>
                    </a:lnBlToTr>
                    <a:solidFill>
                      <a:schemeClr val="accent1"/>
                    </a:solid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2000">
                          <a:solidFill>
                            <a:srgbClr val="0000FF"/>
                          </a:solidFill>
                        </a:rPr>
                        <a:t>3</a:t>
                      </a:r>
                      <a:endParaRPr lang="en-US" altLang="zh-CN" sz="2000">
                        <a:solidFill>
                          <a:srgbClr val="0000FF"/>
                        </a:solidFill>
                      </a:endParaRPr>
                    </a:p>
                  </a:txBody>
                  <a:tcPr>
                    <a:lnL w="12700" cap="flat" cmpd="sng">
                      <a:solidFill>
                        <a:srgbClr val="3039E8"/>
                      </a:solidFill>
                      <a:prstDash val="sysDashDot"/>
                      <a:headEnd type="none" w="med" len="med"/>
                      <a:tailEnd type="none" w="med" len="med"/>
                    </a:lnL>
                    <a:lnR w="12700" cap="flat" cmpd="sng">
                      <a:solidFill>
                        <a:srgbClr val="3039E8"/>
                      </a:solidFill>
                      <a:prstDash val="sysDashDot"/>
                      <a:headEnd type="none" w="med" len="med"/>
                      <a:tailEnd type="none" w="med" len="med"/>
                    </a:lnR>
                    <a:lnT w="12700" cap="flat" cmpd="sng">
                      <a:solidFill>
                        <a:srgbClr val="3039E8"/>
                      </a:solidFill>
                      <a:prstDash val="sysDashDot"/>
                      <a:headEnd type="none" w="med" len="med"/>
                      <a:tailEnd type="none" w="med" len="med"/>
                    </a:lnT>
                    <a:lnB w="12700" cap="flat" cmpd="sng">
                      <a:solidFill>
                        <a:srgbClr val="3039E8"/>
                      </a:solidFill>
                      <a:prstDash val="sysDashDot"/>
                      <a:headEnd type="none" w="med" len="med"/>
                      <a:tailEnd type="none" w="med" len="med"/>
                    </a:lnB>
                    <a:lnTlToBr>
                      <a:noFill/>
                    </a:lnTlToBr>
                    <a:lnBlToTr>
                      <a:noFill/>
                    </a:lnBlToTr>
                    <a:solidFill>
                      <a:schemeClr val="accent1"/>
                    </a:solid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2000">
                          <a:solidFill>
                            <a:srgbClr val="0000FF"/>
                          </a:solidFill>
                        </a:rPr>
                        <a:t>4</a:t>
                      </a:r>
                      <a:endParaRPr lang="en-US" altLang="zh-CN" sz="2000">
                        <a:solidFill>
                          <a:srgbClr val="0000FF"/>
                        </a:solidFill>
                      </a:endParaRPr>
                    </a:p>
                  </a:txBody>
                  <a:tcPr>
                    <a:lnL w="12700" cap="flat" cmpd="sng">
                      <a:solidFill>
                        <a:srgbClr val="3039E8"/>
                      </a:solidFill>
                      <a:prstDash val="sysDashDot"/>
                      <a:headEnd type="none" w="med" len="med"/>
                      <a:tailEnd type="none" w="med" len="med"/>
                    </a:lnL>
                    <a:lnR w="12700" cap="flat" cmpd="sng">
                      <a:solidFill>
                        <a:srgbClr val="3039E8"/>
                      </a:solidFill>
                      <a:prstDash val="sysDashDot"/>
                      <a:headEnd type="none" w="med" len="med"/>
                      <a:tailEnd type="none" w="med" len="med"/>
                    </a:lnR>
                    <a:lnT w="12700" cap="flat" cmpd="sng">
                      <a:solidFill>
                        <a:srgbClr val="3039E8"/>
                      </a:solidFill>
                      <a:prstDash val="sysDashDot"/>
                      <a:headEnd type="none" w="med" len="med"/>
                      <a:tailEnd type="none" w="med" len="med"/>
                    </a:lnT>
                    <a:lnB w="12700" cap="flat" cmpd="sng">
                      <a:solidFill>
                        <a:srgbClr val="3039E8"/>
                      </a:solidFill>
                      <a:prstDash val="sysDashDot"/>
                      <a:headEnd type="none" w="med" len="med"/>
                      <a:tailEnd type="none" w="med" len="med"/>
                    </a:lnB>
                    <a:lnTlToBr>
                      <a:noFill/>
                    </a:lnTlToBr>
                    <a:lnBlToTr>
                      <a:noFill/>
                    </a:lnBlToTr>
                    <a:solidFill>
                      <a:schemeClr val="accent1"/>
                    </a:solid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2000">
                          <a:solidFill>
                            <a:srgbClr val="0000FF"/>
                          </a:solidFill>
                        </a:rPr>
                        <a:t>5</a:t>
                      </a:r>
                      <a:endParaRPr lang="en-US" altLang="zh-CN" sz="2000">
                        <a:solidFill>
                          <a:srgbClr val="0000FF"/>
                        </a:solidFill>
                      </a:endParaRPr>
                    </a:p>
                  </a:txBody>
                  <a:tcPr>
                    <a:lnL w="12700" cap="flat" cmpd="sng">
                      <a:solidFill>
                        <a:srgbClr val="3039E8"/>
                      </a:solidFill>
                      <a:prstDash val="sysDashDot"/>
                      <a:headEnd type="none" w="med" len="med"/>
                      <a:tailEnd type="none" w="med" len="med"/>
                    </a:lnL>
                    <a:lnR w="12700" cap="flat" cmpd="sng">
                      <a:solidFill>
                        <a:srgbClr val="3039E8"/>
                      </a:solidFill>
                      <a:prstDash val="sysDashDot"/>
                      <a:headEnd type="none" w="med" len="med"/>
                      <a:tailEnd type="none" w="med" len="med"/>
                    </a:lnR>
                    <a:lnT w="12700" cap="flat" cmpd="sng">
                      <a:solidFill>
                        <a:srgbClr val="3039E8"/>
                      </a:solidFill>
                      <a:prstDash val="sysDashDot"/>
                      <a:headEnd type="none" w="med" len="med"/>
                      <a:tailEnd type="none" w="med" len="med"/>
                    </a:lnT>
                    <a:lnB w="12700" cap="flat" cmpd="sng">
                      <a:solidFill>
                        <a:srgbClr val="3039E8"/>
                      </a:solidFill>
                      <a:prstDash val="sysDashDot"/>
                      <a:headEnd type="none" w="med" len="med"/>
                      <a:tailEnd type="none" w="med" len="med"/>
                    </a:lnB>
                    <a:lnTlToBr>
                      <a:noFill/>
                    </a:lnTlToBr>
                    <a:lnBlToTr>
                      <a:noFill/>
                    </a:lnBlToTr>
                    <a:solidFill>
                      <a:schemeClr val="accent1"/>
                    </a:solidFill>
                  </a:tcPr>
                </a:tc>
              </a:tr>
              <a:tr h="409575">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2000">
                          <a:solidFill>
                            <a:srgbClr val="0000FF"/>
                          </a:solidFill>
                        </a:rPr>
                        <a:t>2</a:t>
                      </a:r>
                      <a:endParaRPr lang="en-US" altLang="zh-CN" sz="2000">
                        <a:solidFill>
                          <a:srgbClr val="0000FF"/>
                        </a:solidFill>
                      </a:endParaRPr>
                    </a:p>
                  </a:txBody>
                  <a:tcPr>
                    <a:lnL w="12700" cap="flat" cmpd="sng">
                      <a:solidFill>
                        <a:srgbClr val="3039E8"/>
                      </a:solidFill>
                      <a:prstDash val="sysDashDot"/>
                      <a:headEnd type="none" w="med" len="med"/>
                      <a:tailEnd type="none" w="med" len="med"/>
                    </a:lnL>
                    <a:lnR w="12700" cap="flat" cmpd="sng">
                      <a:solidFill>
                        <a:srgbClr val="3039E8"/>
                      </a:solidFill>
                      <a:prstDash val="sysDashDot"/>
                      <a:headEnd type="none" w="med" len="med"/>
                      <a:tailEnd type="none" w="med" len="med"/>
                    </a:lnR>
                    <a:lnT w="12700" cap="flat" cmpd="sng">
                      <a:solidFill>
                        <a:srgbClr val="3039E8"/>
                      </a:solidFill>
                      <a:prstDash val="sysDashDot"/>
                      <a:headEnd type="none" w="med" len="med"/>
                      <a:tailEnd type="none" w="med" len="med"/>
                    </a:lnT>
                    <a:lnB w="12700" cap="flat" cmpd="sng">
                      <a:solidFill>
                        <a:srgbClr val="3039E8"/>
                      </a:solidFill>
                      <a:prstDash val="sysDashDot"/>
                      <a:headEnd type="none" w="med" len="med"/>
                      <a:tailEnd type="none" w="med" len="med"/>
                    </a:lnB>
                    <a:lnTlToBr>
                      <a:noFill/>
                    </a:lnTlToBr>
                    <a:lnBlToTr>
                      <a:noFill/>
                    </a:lnBlToTr>
                    <a:solidFill>
                      <a:schemeClr val="accent2"/>
                    </a:solid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2000">
                          <a:solidFill>
                            <a:srgbClr val="0000FF"/>
                          </a:solidFill>
                        </a:rPr>
                        <a:t>22</a:t>
                      </a:r>
                      <a:endParaRPr lang="en-US" altLang="zh-CN" sz="2000">
                        <a:solidFill>
                          <a:srgbClr val="0000FF"/>
                        </a:solidFill>
                      </a:endParaRPr>
                    </a:p>
                  </a:txBody>
                  <a:tcPr>
                    <a:lnL w="12700" cap="flat" cmpd="sng">
                      <a:solidFill>
                        <a:srgbClr val="3039E8"/>
                      </a:solidFill>
                      <a:prstDash val="sysDashDot"/>
                      <a:headEnd type="none" w="med" len="med"/>
                      <a:tailEnd type="none" w="med" len="med"/>
                    </a:lnL>
                    <a:lnR w="12700" cap="flat" cmpd="sng">
                      <a:solidFill>
                        <a:srgbClr val="3039E8"/>
                      </a:solidFill>
                      <a:prstDash val="sysDashDot"/>
                      <a:headEnd type="none" w="med" len="med"/>
                      <a:tailEnd type="none" w="med" len="med"/>
                    </a:lnR>
                    <a:lnT w="12700" cap="flat" cmpd="sng">
                      <a:solidFill>
                        <a:srgbClr val="3039E8"/>
                      </a:solidFill>
                      <a:prstDash val="sysDashDot"/>
                      <a:headEnd type="none" w="med" len="med"/>
                      <a:tailEnd type="none" w="med" len="med"/>
                    </a:lnT>
                    <a:lnB w="12700" cap="flat" cmpd="sng">
                      <a:solidFill>
                        <a:srgbClr val="3039E8"/>
                      </a:solidFill>
                      <a:prstDash val="sysDashDot"/>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2000">
                          <a:solidFill>
                            <a:srgbClr val="0000FF"/>
                          </a:solidFill>
                        </a:rPr>
                        <a:t>23</a:t>
                      </a:r>
                      <a:endParaRPr lang="en-US" altLang="zh-CN" sz="2000">
                        <a:solidFill>
                          <a:srgbClr val="0000FF"/>
                        </a:solidFill>
                      </a:endParaRPr>
                    </a:p>
                  </a:txBody>
                  <a:tcPr>
                    <a:lnL w="12700" cap="flat" cmpd="sng">
                      <a:solidFill>
                        <a:srgbClr val="3039E8"/>
                      </a:solidFill>
                      <a:prstDash val="sysDashDot"/>
                      <a:headEnd type="none" w="med" len="med"/>
                      <a:tailEnd type="none" w="med" len="med"/>
                    </a:lnL>
                    <a:lnR w="12700" cap="flat" cmpd="sng">
                      <a:solidFill>
                        <a:srgbClr val="3039E8"/>
                      </a:solidFill>
                      <a:prstDash val="sysDashDot"/>
                      <a:headEnd type="none" w="med" len="med"/>
                      <a:tailEnd type="none" w="med" len="med"/>
                    </a:lnR>
                    <a:lnT w="12700" cap="flat" cmpd="sng">
                      <a:solidFill>
                        <a:srgbClr val="3039E8"/>
                      </a:solidFill>
                      <a:prstDash val="sysDashDot"/>
                      <a:headEnd type="none" w="med" len="med"/>
                      <a:tailEnd type="none" w="med" len="med"/>
                    </a:lnT>
                    <a:lnB w="12700" cap="flat" cmpd="sng">
                      <a:solidFill>
                        <a:srgbClr val="3039E8"/>
                      </a:solidFill>
                      <a:prstDash val="sysDashDot"/>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2000">
                          <a:solidFill>
                            <a:srgbClr val="0000FF"/>
                          </a:solidFill>
                        </a:rPr>
                        <a:t>24</a:t>
                      </a:r>
                      <a:endParaRPr lang="en-US" altLang="zh-CN" sz="2000">
                        <a:solidFill>
                          <a:srgbClr val="0000FF"/>
                        </a:solidFill>
                      </a:endParaRPr>
                    </a:p>
                  </a:txBody>
                  <a:tcPr>
                    <a:lnL w="12700" cap="flat" cmpd="sng">
                      <a:solidFill>
                        <a:srgbClr val="3039E8"/>
                      </a:solidFill>
                      <a:prstDash val="sysDashDot"/>
                      <a:headEnd type="none" w="med" len="med"/>
                      <a:tailEnd type="none" w="med" len="med"/>
                    </a:lnL>
                    <a:lnR w="12700" cap="flat" cmpd="sng">
                      <a:solidFill>
                        <a:srgbClr val="3039E8"/>
                      </a:solidFill>
                      <a:prstDash val="sysDashDot"/>
                      <a:headEnd type="none" w="med" len="med"/>
                      <a:tailEnd type="none" w="med" len="med"/>
                    </a:lnR>
                    <a:lnT w="12700" cap="flat" cmpd="sng">
                      <a:solidFill>
                        <a:srgbClr val="3039E8"/>
                      </a:solidFill>
                      <a:prstDash val="sysDashDot"/>
                      <a:headEnd type="none" w="med" len="med"/>
                      <a:tailEnd type="none" w="med" len="med"/>
                    </a:lnT>
                    <a:lnB w="12700" cap="flat" cmpd="sng">
                      <a:solidFill>
                        <a:srgbClr val="3039E8"/>
                      </a:solidFill>
                      <a:prstDash val="sysDashDot"/>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2000">
                          <a:solidFill>
                            <a:srgbClr val="0000FF"/>
                          </a:solidFill>
                        </a:rPr>
                        <a:t>25</a:t>
                      </a:r>
                      <a:endParaRPr lang="en-US" altLang="zh-CN" sz="2000">
                        <a:solidFill>
                          <a:srgbClr val="0000FF"/>
                        </a:solidFill>
                      </a:endParaRPr>
                    </a:p>
                  </a:txBody>
                  <a:tcPr>
                    <a:lnL w="12700" cap="flat" cmpd="sng">
                      <a:solidFill>
                        <a:srgbClr val="3039E8"/>
                      </a:solidFill>
                      <a:prstDash val="sysDashDot"/>
                      <a:headEnd type="none" w="med" len="med"/>
                      <a:tailEnd type="none" w="med" len="med"/>
                    </a:lnL>
                    <a:lnR w="12700" cap="flat" cmpd="sng">
                      <a:solidFill>
                        <a:srgbClr val="3039E8"/>
                      </a:solidFill>
                      <a:prstDash val="sysDashDot"/>
                      <a:headEnd type="none" w="med" len="med"/>
                      <a:tailEnd type="none" w="med" len="med"/>
                    </a:lnR>
                    <a:lnT w="12700" cap="flat" cmpd="sng">
                      <a:solidFill>
                        <a:srgbClr val="3039E8"/>
                      </a:solidFill>
                      <a:prstDash val="sysDashDot"/>
                      <a:headEnd type="none" w="med" len="med"/>
                      <a:tailEnd type="none" w="med" len="med"/>
                    </a:lnT>
                    <a:lnB w="12700" cap="flat" cmpd="sng">
                      <a:solidFill>
                        <a:srgbClr val="3039E8"/>
                      </a:solidFill>
                      <a:prstDash val="sysDashDot"/>
                      <a:headEnd type="none" w="med" len="med"/>
                      <a:tailEnd type="none" w="med" len="med"/>
                    </a:lnB>
                    <a:lnTlToBr>
                      <a:noFill/>
                    </a:lnTlToBr>
                    <a:lnBlToTr>
                      <a:noFill/>
                    </a:lnBlToTr>
                    <a:noFill/>
                  </a:tcPr>
                </a:tc>
              </a:tr>
              <a:tr h="411162">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2000">
                          <a:solidFill>
                            <a:srgbClr val="0000FF"/>
                          </a:solidFill>
                        </a:rPr>
                        <a:t>3</a:t>
                      </a:r>
                      <a:endParaRPr lang="en-US" altLang="zh-CN" sz="2000">
                        <a:solidFill>
                          <a:srgbClr val="0000FF"/>
                        </a:solidFill>
                      </a:endParaRPr>
                    </a:p>
                  </a:txBody>
                  <a:tcPr>
                    <a:lnL w="12700" cap="flat" cmpd="sng">
                      <a:solidFill>
                        <a:srgbClr val="3039E8"/>
                      </a:solidFill>
                      <a:prstDash val="sysDashDot"/>
                      <a:headEnd type="none" w="med" len="med"/>
                      <a:tailEnd type="none" w="med" len="med"/>
                    </a:lnL>
                    <a:lnR w="12700" cap="flat" cmpd="sng">
                      <a:solidFill>
                        <a:srgbClr val="3039E8"/>
                      </a:solidFill>
                      <a:prstDash val="sysDashDot"/>
                      <a:headEnd type="none" w="med" len="med"/>
                      <a:tailEnd type="none" w="med" len="med"/>
                    </a:lnR>
                    <a:lnT w="12700" cap="flat" cmpd="sng">
                      <a:solidFill>
                        <a:srgbClr val="3039E8"/>
                      </a:solidFill>
                      <a:prstDash val="sysDashDot"/>
                      <a:headEnd type="none" w="med" len="med"/>
                      <a:tailEnd type="none" w="med" len="med"/>
                    </a:lnT>
                    <a:lnB w="12700" cap="flat" cmpd="sng">
                      <a:solidFill>
                        <a:srgbClr val="3039E8"/>
                      </a:solidFill>
                      <a:prstDash val="sysDashDot"/>
                      <a:headEnd type="none" w="med" len="med"/>
                      <a:tailEnd type="none" w="med" len="med"/>
                    </a:lnB>
                    <a:lnTlToBr>
                      <a:noFill/>
                    </a:lnTlToBr>
                    <a:lnBlToTr>
                      <a:noFill/>
                    </a:lnBlToTr>
                    <a:solidFill>
                      <a:schemeClr val="accent2"/>
                    </a:solid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2000">
                          <a:solidFill>
                            <a:srgbClr val="0000FF"/>
                          </a:solidFill>
                        </a:rPr>
                        <a:t>32</a:t>
                      </a:r>
                      <a:endParaRPr lang="en-US" altLang="zh-CN" sz="2000">
                        <a:solidFill>
                          <a:srgbClr val="0000FF"/>
                        </a:solidFill>
                      </a:endParaRPr>
                    </a:p>
                  </a:txBody>
                  <a:tcPr>
                    <a:lnL w="12700" cap="flat" cmpd="sng">
                      <a:solidFill>
                        <a:srgbClr val="3039E8"/>
                      </a:solidFill>
                      <a:prstDash val="sysDashDot"/>
                      <a:headEnd type="none" w="med" len="med"/>
                      <a:tailEnd type="none" w="med" len="med"/>
                    </a:lnL>
                    <a:lnR w="12700" cap="flat" cmpd="sng">
                      <a:solidFill>
                        <a:srgbClr val="3039E8"/>
                      </a:solidFill>
                      <a:prstDash val="sysDashDot"/>
                      <a:headEnd type="none" w="med" len="med"/>
                      <a:tailEnd type="none" w="med" len="med"/>
                    </a:lnR>
                    <a:lnT w="12700" cap="flat" cmpd="sng">
                      <a:solidFill>
                        <a:srgbClr val="3039E8"/>
                      </a:solidFill>
                      <a:prstDash val="sysDashDot"/>
                      <a:headEnd type="none" w="med" len="med"/>
                      <a:tailEnd type="none" w="med" len="med"/>
                    </a:lnT>
                    <a:lnB w="12700" cap="flat" cmpd="sng">
                      <a:solidFill>
                        <a:srgbClr val="3039E8"/>
                      </a:solidFill>
                      <a:prstDash val="sysDashDot"/>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2000">
                          <a:solidFill>
                            <a:srgbClr val="0000FF"/>
                          </a:solidFill>
                        </a:rPr>
                        <a:t>33</a:t>
                      </a:r>
                      <a:endParaRPr lang="en-US" altLang="zh-CN" sz="2000">
                        <a:solidFill>
                          <a:srgbClr val="0000FF"/>
                        </a:solidFill>
                      </a:endParaRPr>
                    </a:p>
                  </a:txBody>
                  <a:tcPr>
                    <a:lnL w="12700" cap="flat" cmpd="sng">
                      <a:solidFill>
                        <a:srgbClr val="3039E8"/>
                      </a:solidFill>
                      <a:prstDash val="sysDashDot"/>
                      <a:headEnd type="none" w="med" len="med"/>
                      <a:tailEnd type="none" w="med" len="med"/>
                    </a:lnL>
                    <a:lnR w="12700" cap="flat" cmpd="sng">
                      <a:solidFill>
                        <a:srgbClr val="3039E8"/>
                      </a:solidFill>
                      <a:prstDash val="sysDashDot"/>
                      <a:headEnd type="none" w="med" len="med"/>
                      <a:tailEnd type="none" w="med" len="med"/>
                    </a:lnR>
                    <a:lnT w="12700" cap="flat" cmpd="sng">
                      <a:solidFill>
                        <a:srgbClr val="3039E8"/>
                      </a:solidFill>
                      <a:prstDash val="sysDashDot"/>
                      <a:headEnd type="none" w="med" len="med"/>
                      <a:tailEnd type="none" w="med" len="med"/>
                    </a:lnT>
                    <a:lnB w="12700" cap="flat" cmpd="sng">
                      <a:solidFill>
                        <a:srgbClr val="3039E8"/>
                      </a:solidFill>
                      <a:prstDash val="sysDashDot"/>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2000">
                          <a:solidFill>
                            <a:srgbClr val="0000FF"/>
                          </a:solidFill>
                        </a:rPr>
                        <a:t>34</a:t>
                      </a:r>
                      <a:endParaRPr lang="en-US" altLang="zh-CN" sz="2000">
                        <a:solidFill>
                          <a:srgbClr val="0000FF"/>
                        </a:solidFill>
                      </a:endParaRPr>
                    </a:p>
                  </a:txBody>
                  <a:tcPr>
                    <a:lnL w="12700" cap="flat" cmpd="sng">
                      <a:solidFill>
                        <a:srgbClr val="3039E8"/>
                      </a:solidFill>
                      <a:prstDash val="sysDashDot"/>
                      <a:headEnd type="none" w="med" len="med"/>
                      <a:tailEnd type="none" w="med" len="med"/>
                    </a:lnL>
                    <a:lnR w="12700" cap="flat" cmpd="sng">
                      <a:solidFill>
                        <a:srgbClr val="3039E8"/>
                      </a:solidFill>
                      <a:prstDash val="sysDashDot"/>
                      <a:headEnd type="none" w="med" len="med"/>
                      <a:tailEnd type="none" w="med" len="med"/>
                    </a:lnR>
                    <a:lnT w="12700" cap="flat" cmpd="sng">
                      <a:solidFill>
                        <a:srgbClr val="3039E8"/>
                      </a:solidFill>
                      <a:prstDash val="sysDashDot"/>
                      <a:headEnd type="none" w="med" len="med"/>
                      <a:tailEnd type="none" w="med" len="med"/>
                    </a:lnT>
                    <a:lnB w="12700" cap="flat" cmpd="sng">
                      <a:solidFill>
                        <a:srgbClr val="3039E8"/>
                      </a:solidFill>
                      <a:prstDash val="sysDashDot"/>
                      <a:headEnd type="none" w="med" len="med"/>
                      <a:tailEnd type="none" w="med" len="med"/>
                    </a:lnB>
                    <a:lnTlToBr>
                      <a:noFill/>
                    </a:lnTlToBr>
                    <a:lnBlToTr>
                      <a:noFill/>
                    </a:lnBlToTr>
                    <a:solidFill>
                      <a:srgbClr val="0099FF"/>
                    </a:solid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2000">
                          <a:solidFill>
                            <a:srgbClr val="0000FF"/>
                          </a:solidFill>
                        </a:rPr>
                        <a:t>35</a:t>
                      </a:r>
                      <a:endParaRPr lang="en-US" altLang="zh-CN" sz="2000">
                        <a:solidFill>
                          <a:srgbClr val="0000FF"/>
                        </a:solidFill>
                      </a:endParaRPr>
                    </a:p>
                  </a:txBody>
                  <a:tcPr>
                    <a:lnL w="12700" cap="flat" cmpd="sng">
                      <a:solidFill>
                        <a:srgbClr val="3039E8"/>
                      </a:solidFill>
                      <a:prstDash val="sysDashDot"/>
                      <a:headEnd type="none" w="med" len="med"/>
                      <a:tailEnd type="none" w="med" len="med"/>
                    </a:lnL>
                    <a:lnR w="12700" cap="flat" cmpd="sng">
                      <a:solidFill>
                        <a:srgbClr val="3039E8"/>
                      </a:solidFill>
                      <a:prstDash val="sysDashDot"/>
                      <a:headEnd type="none" w="med" len="med"/>
                      <a:tailEnd type="none" w="med" len="med"/>
                    </a:lnR>
                    <a:lnT w="12700" cap="flat" cmpd="sng">
                      <a:solidFill>
                        <a:srgbClr val="3039E8"/>
                      </a:solidFill>
                      <a:prstDash val="sysDashDot"/>
                      <a:headEnd type="none" w="med" len="med"/>
                      <a:tailEnd type="none" w="med" len="med"/>
                    </a:lnT>
                    <a:lnB w="12700" cap="flat" cmpd="sng">
                      <a:solidFill>
                        <a:srgbClr val="3039E8"/>
                      </a:solidFill>
                      <a:prstDash val="sysDashDot"/>
                      <a:headEnd type="none" w="med" len="med"/>
                      <a:tailEnd type="none" w="med" len="med"/>
                    </a:lnB>
                    <a:lnTlToBr>
                      <a:noFill/>
                    </a:lnTlToBr>
                    <a:lnBlToTr>
                      <a:noFill/>
                    </a:lnBlToTr>
                    <a:noFill/>
                  </a:tcPr>
                </a:tc>
              </a:tr>
              <a:tr h="409575">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2000">
                          <a:solidFill>
                            <a:srgbClr val="0000FF"/>
                          </a:solidFill>
                        </a:rPr>
                        <a:t>4</a:t>
                      </a:r>
                      <a:endParaRPr lang="en-US" altLang="zh-CN" sz="2000">
                        <a:solidFill>
                          <a:srgbClr val="0000FF"/>
                        </a:solidFill>
                      </a:endParaRPr>
                    </a:p>
                  </a:txBody>
                  <a:tcPr>
                    <a:lnL w="12700" cap="flat" cmpd="sng">
                      <a:solidFill>
                        <a:srgbClr val="3039E8"/>
                      </a:solidFill>
                      <a:prstDash val="sysDashDot"/>
                      <a:headEnd type="none" w="med" len="med"/>
                      <a:tailEnd type="none" w="med" len="med"/>
                    </a:lnL>
                    <a:lnR w="12700" cap="flat" cmpd="sng">
                      <a:solidFill>
                        <a:srgbClr val="3039E8"/>
                      </a:solidFill>
                      <a:prstDash val="sysDashDot"/>
                      <a:headEnd type="none" w="med" len="med"/>
                      <a:tailEnd type="none" w="med" len="med"/>
                    </a:lnR>
                    <a:lnT w="12700" cap="flat" cmpd="sng">
                      <a:solidFill>
                        <a:srgbClr val="3039E8"/>
                      </a:solidFill>
                      <a:prstDash val="sysDashDot"/>
                      <a:headEnd type="none" w="med" len="med"/>
                      <a:tailEnd type="none" w="med" len="med"/>
                    </a:lnT>
                    <a:lnB w="12700" cap="flat" cmpd="sng">
                      <a:solidFill>
                        <a:srgbClr val="3039E8"/>
                      </a:solidFill>
                      <a:prstDash val="sysDashDot"/>
                      <a:headEnd type="none" w="med" len="med"/>
                      <a:tailEnd type="none" w="med" len="med"/>
                    </a:lnB>
                    <a:lnTlToBr>
                      <a:noFill/>
                    </a:lnTlToBr>
                    <a:lnBlToTr>
                      <a:noFill/>
                    </a:lnBlToTr>
                    <a:solidFill>
                      <a:schemeClr val="accent2"/>
                    </a:solid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2000">
                          <a:solidFill>
                            <a:srgbClr val="0000FF"/>
                          </a:solidFill>
                        </a:rPr>
                        <a:t>42</a:t>
                      </a:r>
                      <a:endParaRPr lang="en-US" altLang="zh-CN" sz="2000">
                        <a:solidFill>
                          <a:srgbClr val="0000FF"/>
                        </a:solidFill>
                      </a:endParaRPr>
                    </a:p>
                  </a:txBody>
                  <a:tcPr>
                    <a:lnL w="12700" cap="flat" cmpd="sng">
                      <a:solidFill>
                        <a:srgbClr val="3039E8"/>
                      </a:solidFill>
                      <a:prstDash val="sysDashDot"/>
                      <a:headEnd type="none" w="med" len="med"/>
                      <a:tailEnd type="none" w="med" len="med"/>
                    </a:lnL>
                    <a:lnR w="12700" cap="flat" cmpd="sng">
                      <a:solidFill>
                        <a:srgbClr val="3039E8"/>
                      </a:solidFill>
                      <a:prstDash val="sysDashDot"/>
                      <a:headEnd type="none" w="med" len="med"/>
                      <a:tailEnd type="none" w="med" len="med"/>
                    </a:lnR>
                    <a:lnT w="12700" cap="flat" cmpd="sng">
                      <a:solidFill>
                        <a:srgbClr val="3039E8"/>
                      </a:solidFill>
                      <a:prstDash val="sysDashDot"/>
                      <a:headEnd type="none" w="med" len="med"/>
                      <a:tailEnd type="none" w="med" len="med"/>
                    </a:lnT>
                    <a:lnB w="12700" cap="flat" cmpd="sng">
                      <a:solidFill>
                        <a:srgbClr val="3039E8"/>
                      </a:solidFill>
                      <a:prstDash val="sysDashDot"/>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2000">
                          <a:solidFill>
                            <a:srgbClr val="0000FF"/>
                          </a:solidFill>
                        </a:rPr>
                        <a:t>43</a:t>
                      </a:r>
                      <a:endParaRPr lang="en-US" altLang="zh-CN" sz="2000">
                        <a:solidFill>
                          <a:srgbClr val="0000FF"/>
                        </a:solidFill>
                      </a:endParaRPr>
                    </a:p>
                  </a:txBody>
                  <a:tcPr>
                    <a:lnL w="12700" cap="flat" cmpd="sng">
                      <a:solidFill>
                        <a:srgbClr val="3039E8"/>
                      </a:solidFill>
                      <a:prstDash val="sysDashDot"/>
                      <a:headEnd type="none" w="med" len="med"/>
                      <a:tailEnd type="none" w="med" len="med"/>
                    </a:lnL>
                    <a:lnR w="12700" cap="flat" cmpd="sng">
                      <a:solidFill>
                        <a:srgbClr val="3039E8"/>
                      </a:solidFill>
                      <a:prstDash val="sysDashDot"/>
                      <a:headEnd type="none" w="med" len="med"/>
                      <a:tailEnd type="none" w="med" len="med"/>
                    </a:lnR>
                    <a:lnT w="12700" cap="flat" cmpd="sng">
                      <a:solidFill>
                        <a:srgbClr val="3039E8"/>
                      </a:solidFill>
                      <a:prstDash val="sysDashDot"/>
                      <a:headEnd type="none" w="med" len="med"/>
                      <a:tailEnd type="none" w="med" len="med"/>
                    </a:lnT>
                    <a:lnB w="12700" cap="flat" cmpd="sng">
                      <a:solidFill>
                        <a:srgbClr val="3039E8"/>
                      </a:solidFill>
                      <a:prstDash val="sysDashDot"/>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2000">
                          <a:solidFill>
                            <a:srgbClr val="0000FF"/>
                          </a:solidFill>
                        </a:rPr>
                        <a:t>44</a:t>
                      </a:r>
                      <a:endParaRPr lang="en-US" altLang="zh-CN" sz="2000">
                        <a:solidFill>
                          <a:srgbClr val="0000FF"/>
                        </a:solidFill>
                      </a:endParaRPr>
                    </a:p>
                  </a:txBody>
                  <a:tcPr>
                    <a:lnL w="12700" cap="flat" cmpd="sng">
                      <a:solidFill>
                        <a:srgbClr val="3039E8"/>
                      </a:solidFill>
                      <a:prstDash val="sysDashDot"/>
                      <a:headEnd type="none" w="med" len="med"/>
                      <a:tailEnd type="none" w="med" len="med"/>
                    </a:lnL>
                    <a:lnR w="12700" cap="flat" cmpd="sng">
                      <a:solidFill>
                        <a:srgbClr val="3039E8"/>
                      </a:solidFill>
                      <a:prstDash val="sysDashDot"/>
                      <a:headEnd type="none" w="med" len="med"/>
                      <a:tailEnd type="none" w="med" len="med"/>
                    </a:lnR>
                    <a:lnT w="12700" cap="flat" cmpd="sng">
                      <a:solidFill>
                        <a:srgbClr val="3039E8"/>
                      </a:solidFill>
                      <a:prstDash val="sysDashDot"/>
                      <a:headEnd type="none" w="med" len="med"/>
                      <a:tailEnd type="none" w="med" len="med"/>
                    </a:lnT>
                    <a:lnB w="12700" cap="flat" cmpd="sng">
                      <a:solidFill>
                        <a:srgbClr val="3039E8"/>
                      </a:solidFill>
                      <a:prstDash val="sysDashDot"/>
                      <a:headEnd type="none" w="med" len="med"/>
                      <a:tailEnd type="none" w="med" len="med"/>
                    </a:lnB>
                    <a:lnTlToBr>
                      <a:noFill/>
                    </a:lnTlToBr>
                    <a:lnBlToTr>
                      <a:noFill/>
                    </a:lnBlToTr>
                    <a:noFill/>
                  </a:tcPr>
                </a:tc>
                <a:tc>
                  <a:txBody>
                    <a:bodyPr/>
                    <a:lstStyle>
                      <a:lvl1pPr marL="609600" lvl="0" indent="-609600" algn="l" defTabSz="914400" eaLnBrk="1" fontAlgn="base" latinLnBrk="0" hangingPunct="1">
                        <a:spcBef>
                          <a:spcPct val="20000"/>
                        </a:spcBef>
                        <a:spcAft>
                          <a:spcPct val="0"/>
                        </a:spcAft>
                        <a:buClr>
                          <a:srgbClr val="4D009A"/>
                        </a:buClr>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1pPr>
                      <a:lvl2pPr marL="990600" lvl="1" indent="-533400">
                        <a:buClr>
                          <a:srgbClr val="0000FF"/>
                        </a:buClr>
                        <a:defRPr sz="2400" kern="1200"/>
                      </a:lvl2pPr>
                      <a:lvl3pPr marL="1371600" lvl="2" indent="-457200">
                        <a:buClr>
                          <a:schemeClr val="folHlink"/>
                        </a:buClr>
                        <a:defRPr sz="2000" kern="1200"/>
                      </a:lvl3pPr>
                      <a:lvl4pPr marL="1752600" lvl="3" indent="-381000">
                        <a:buClr>
                          <a:schemeClr val="accent2"/>
                        </a:buClr>
                        <a:defRPr sz="1800" kern="1200"/>
                      </a:lvl4pPr>
                      <a:lvl5pPr marL="2209800" lvl="4" indent="-381000">
                        <a:buClr>
                          <a:schemeClr val="accent1"/>
                        </a:buClr>
                        <a:defRPr sz="1800" kern="1200"/>
                      </a:lvl5pPr>
                    </a:lstStyle>
                    <a:p>
                      <a:pPr marL="0" lvl="0" indent="0" algn="ctr">
                        <a:buNone/>
                      </a:pPr>
                      <a:r>
                        <a:rPr lang="en-US" altLang="zh-CN" sz="2000">
                          <a:solidFill>
                            <a:srgbClr val="0000FF"/>
                          </a:solidFill>
                        </a:rPr>
                        <a:t>45</a:t>
                      </a:r>
                      <a:endParaRPr lang="en-US" altLang="zh-CN" sz="2000">
                        <a:solidFill>
                          <a:srgbClr val="0000FF"/>
                        </a:solidFill>
                      </a:endParaRPr>
                    </a:p>
                  </a:txBody>
                  <a:tcPr>
                    <a:lnL w="12700" cap="flat" cmpd="sng">
                      <a:solidFill>
                        <a:srgbClr val="3039E8"/>
                      </a:solidFill>
                      <a:prstDash val="sysDashDot"/>
                      <a:headEnd type="none" w="med" len="med"/>
                      <a:tailEnd type="none" w="med" len="med"/>
                    </a:lnL>
                    <a:lnR w="12700" cap="flat" cmpd="sng">
                      <a:solidFill>
                        <a:srgbClr val="3039E8"/>
                      </a:solidFill>
                      <a:prstDash val="sysDashDot"/>
                      <a:headEnd type="none" w="med" len="med"/>
                      <a:tailEnd type="none" w="med" len="med"/>
                    </a:lnR>
                    <a:lnT w="12700" cap="flat" cmpd="sng">
                      <a:solidFill>
                        <a:srgbClr val="3039E8"/>
                      </a:solidFill>
                      <a:prstDash val="sysDashDot"/>
                      <a:headEnd type="none" w="med" len="med"/>
                      <a:tailEnd type="none" w="med" len="med"/>
                    </a:lnT>
                    <a:lnB w="12700" cap="flat" cmpd="sng">
                      <a:solidFill>
                        <a:srgbClr val="3039E8"/>
                      </a:solidFill>
                      <a:prstDash val="sysDashDot"/>
                      <a:headEnd type="none" w="med" len="med"/>
                      <a:tailEnd type="none" w="med" len="med"/>
                    </a:lnB>
                    <a:lnTlToBr>
                      <a:noFill/>
                    </a:lnTlToBr>
                    <a:lnBlToTr>
                      <a:noFill/>
                    </a:lnBlToTr>
                    <a:noFill/>
                  </a:tcPr>
                </a:tc>
              </a:tr>
            </a:tbl>
          </a:graphicData>
        </a:graphic>
      </p:graphicFrame>
      <p:sp>
        <p:nvSpPr>
          <p:cNvPr id="127012" name="文本框 127011"/>
          <p:cNvSpPr txBox="1">
            <a:spLocks noChangeArrowheads="1"/>
          </p:cNvSpPr>
          <p:nvPr/>
        </p:nvSpPr>
        <p:spPr bwMode="auto">
          <a:xfrm>
            <a:off x="7104064" y="5954714"/>
            <a:ext cx="3095625" cy="427037"/>
          </a:xfrm>
          <a:prstGeom prst="rect">
            <a:avLst/>
          </a:prstGeom>
          <a:noFill/>
          <a:ln w="9525">
            <a:noFill/>
            <a:miter lim="800000"/>
          </a:ln>
        </p:spPr>
        <p:txBody>
          <a:bodyPr>
            <a:spAutoFit/>
          </a:bodyPr>
          <a:lstStyle/>
          <a:p>
            <a:pPr>
              <a:buFont typeface="Wingdings" panose="05000000000000000000" pitchFamily="2" charset="2"/>
              <a:buNone/>
            </a:pPr>
            <a:r>
              <a:rPr lang="en-US" altLang="zh-CN" sz="2200">
                <a:solidFill>
                  <a:srgbClr val="3039E8"/>
                </a:solidFill>
                <a:latin typeface="Tahoma" panose="020B0604030504040204" pitchFamily="34" charset="0"/>
              </a:rPr>
              <a:t>a(3, 4)=34  </a:t>
            </a:r>
            <a:r>
              <a:rPr lang="en-US" altLang="zh-CN" sz="2200">
                <a:solidFill>
                  <a:schemeClr val="hlink"/>
                </a:solidFill>
                <a:latin typeface="Tahoma" panose="020B0604030504040204" pitchFamily="34" charset="0"/>
              </a:rPr>
              <a:t>row is first</a:t>
            </a:r>
            <a:endParaRPr lang="en-US" altLang="zh-CN" sz="2200">
              <a:solidFill>
                <a:schemeClr val="hlink"/>
              </a:solidFill>
              <a:latin typeface="Tahoma" panose="020B0604030504040204" pitchFamily="34" charset="0"/>
            </a:endParaRPr>
          </a:p>
        </p:txBody>
      </p:sp>
      <p:sp>
        <p:nvSpPr>
          <p:cNvPr id="127013" name="文本框 127012"/>
          <p:cNvSpPr txBox="1">
            <a:spLocks noChangeArrowheads="1"/>
          </p:cNvSpPr>
          <p:nvPr/>
        </p:nvSpPr>
        <p:spPr bwMode="auto">
          <a:xfrm>
            <a:off x="6888163" y="4652963"/>
            <a:ext cx="576262" cy="457200"/>
          </a:xfrm>
          <a:prstGeom prst="rect">
            <a:avLst/>
          </a:prstGeom>
          <a:noFill/>
          <a:ln w="9525">
            <a:noFill/>
            <a:miter lim="800000"/>
          </a:ln>
        </p:spPr>
        <p:txBody>
          <a:bodyPr>
            <a:spAutoFit/>
          </a:bodyPr>
          <a:lstStyle/>
          <a:p>
            <a:pPr>
              <a:buFont typeface="Wingdings" panose="05000000000000000000" pitchFamily="2" charset="2"/>
              <a:buNone/>
            </a:pPr>
            <a:r>
              <a:rPr lang="en-US" altLang="zh-CN" sz="2400">
                <a:solidFill>
                  <a:srgbClr val="3039E8"/>
                </a:solidFill>
                <a:latin typeface="Tahoma" panose="020B0604030504040204" pitchFamily="34" charset="0"/>
              </a:rPr>
              <a:t>a=</a:t>
            </a:r>
            <a:endParaRPr lang="en-US" altLang="zh-CN" sz="2400">
              <a:solidFill>
                <a:srgbClr val="3039E8"/>
              </a:solidFill>
              <a:latin typeface="Tahoma" panose="020B0604030504040204" pitchFamily="34" charset="0"/>
            </a:endParaRPr>
          </a:p>
        </p:txBody>
      </p:sp>
      <p:sp>
        <p:nvSpPr>
          <p:cNvPr id="54309"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C9F9DFDE-D306-4913-80D1-79252A2E4F0B}" type="datetime1">
              <a:rPr lang="zh-CN" altLang="en-US" smtClean="0">
                <a:solidFill>
                  <a:srgbClr val="45516B"/>
                </a:solidFill>
              </a:rPr>
            </a:fld>
            <a:endParaRPr lang="zh-CN" altLang="en-US">
              <a:solidFill>
                <a:srgbClr val="45516B"/>
              </a:solidFill>
            </a:endParaRPr>
          </a:p>
        </p:txBody>
      </p:sp>
      <p:sp>
        <p:nvSpPr>
          <p:cNvPr id="54310"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54312" name="灯片编号占位符 3"/>
          <p:cNvSpPr>
            <a:spLocks noGrp="1" noChangeArrowheads="1"/>
          </p:cNvSpPr>
          <p:nvPr>
            <p:ph type="sldNum" sz="quarter" idx="12"/>
          </p:nvPr>
        </p:nvSpPr>
        <p:spPr bwMode="auto">
          <a:noFill/>
          <a:ln>
            <a:miter lim="800000"/>
          </a:ln>
        </p:spPr>
        <p:txBody>
          <a:bodyPr/>
          <a:lstStyle/>
          <a:p>
            <a:fld id="{CB8A2A3F-66D6-4BA5-B2AE-A37451EA8DF6}"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6979">
                                            <p:txEl>
                                              <p:pRg st="0" end="0"/>
                                            </p:txEl>
                                          </p:spTgt>
                                        </p:tgtEl>
                                        <p:attrNameLst>
                                          <p:attrName>style.visibility</p:attrName>
                                        </p:attrNameLst>
                                      </p:cBhvr>
                                      <p:to>
                                        <p:strVal val="visible"/>
                                      </p:to>
                                    </p:set>
                                    <p:animEffect transition="in" filter="blinds(horizontal)">
                                      <p:cBhvr>
                                        <p:cTn id="7" dur="500"/>
                                        <p:tgtEl>
                                          <p:spTgt spid="1269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6979">
                                            <p:txEl>
                                              <p:pRg st="1" end="1"/>
                                            </p:txEl>
                                          </p:spTgt>
                                        </p:tgtEl>
                                        <p:attrNameLst>
                                          <p:attrName>style.visibility</p:attrName>
                                        </p:attrNameLst>
                                      </p:cBhvr>
                                      <p:to>
                                        <p:strVal val="visible"/>
                                      </p:to>
                                    </p:set>
                                    <p:animEffect transition="in" filter="blinds(horizontal)">
                                      <p:cBhvr>
                                        <p:cTn id="12" dur="500"/>
                                        <p:tgtEl>
                                          <p:spTgt spid="1269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6979">
                                            <p:txEl>
                                              <p:pRg st="2" end="2"/>
                                            </p:txEl>
                                          </p:spTgt>
                                        </p:tgtEl>
                                        <p:attrNameLst>
                                          <p:attrName>style.visibility</p:attrName>
                                        </p:attrNameLst>
                                      </p:cBhvr>
                                      <p:to>
                                        <p:strVal val="visible"/>
                                      </p:to>
                                    </p:set>
                                    <p:animEffect transition="in" filter="blinds(horizontal)">
                                      <p:cBhvr>
                                        <p:cTn id="17" dur="500"/>
                                        <p:tgtEl>
                                          <p:spTgt spid="126979">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126979">
                                            <p:txEl>
                                              <p:pRg st="3" end="3"/>
                                            </p:txEl>
                                          </p:spTgt>
                                        </p:tgtEl>
                                        <p:attrNameLst>
                                          <p:attrName>style.visibility</p:attrName>
                                        </p:attrNameLst>
                                      </p:cBhvr>
                                      <p:to>
                                        <p:strVal val="visible"/>
                                      </p:to>
                                    </p:set>
                                    <p:animEffect transition="in" filter="blinds(horizontal)">
                                      <p:cBhvr>
                                        <p:cTn id="20" dur="500"/>
                                        <p:tgtEl>
                                          <p:spTgt spid="126979">
                                            <p:txEl>
                                              <p:pRg st="3" end="3"/>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126979">
                                            <p:txEl>
                                              <p:pRg st="4" end="4"/>
                                            </p:txEl>
                                          </p:spTgt>
                                        </p:tgtEl>
                                        <p:attrNameLst>
                                          <p:attrName>style.visibility</p:attrName>
                                        </p:attrNameLst>
                                      </p:cBhvr>
                                      <p:to>
                                        <p:strVal val="visible"/>
                                      </p:to>
                                    </p:set>
                                    <p:animEffect transition="in" filter="blinds(horizontal)">
                                      <p:cBhvr>
                                        <p:cTn id="23" dur="500"/>
                                        <p:tgtEl>
                                          <p:spTgt spid="126979">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126979">
                                            <p:txEl>
                                              <p:pRg st="5" end="5"/>
                                            </p:txEl>
                                          </p:spTgt>
                                        </p:tgtEl>
                                        <p:attrNameLst>
                                          <p:attrName>style.visibility</p:attrName>
                                        </p:attrNameLst>
                                      </p:cBhvr>
                                      <p:to>
                                        <p:strVal val="visible"/>
                                      </p:to>
                                    </p:set>
                                    <p:animEffect transition="in" filter="blinds(horizontal)">
                                      <p:cBhvr>
                                        <p:cTn id="26" dur="500"/>
                                        <p:tgtEl>
                                          <p:spTgt spid="126979">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27013"/>
                                        </p:tgtEl>
                                        <p:attrNameLst>
                                          <p:attrName>style.visibility</p:attrName>
                                        </p:attrNameLst>
                                      </p:cBhvr>
                                      <p:to>
                                        <p:strVal val="visible"/>
                                      </p:to>
                                    </p:set>
                                    <p:animEffect transition="in" filter="blinds(horizontal)">
                                      <p:cBhvr>
                                        <p:cTn id="31" dur="500"/>
                                        <p:tgtEl>
                                          <p:spTgt spid="127013"/>
                                        </p:tgtEl>
                                      </p:cBhvr>
                                    </p:animEffect>
                                  </p:childTnLst>
                                </p:cTn>
                              </p:par>
                              <p:par>
                                <p:cTn id="32" presetID="3" presetClass="entr" presetSubtype="10" fill="hold" nodeType="withEffect">
                                  <p:stCondLst>
                                    <p:cond delay="0"/>
                                  </p:stCondLst>
                                  <p:childTnLst>
                                    <p:set>
                                      <p:cBhvr>
                                        <p:cTn id="33" dur="1" fill="hold">
                                          <p:stCondLst>
                                            <p:cond delay="0"/>
                                          </p:stCondLst>
                                        </p:cTn>
                                        <p:tgtEl>
                                          <p:spTgt spid="127016"/>
                                        </p:tgtEl>
                                        <p:attrNameLst>
                                          <p:attrName>style.visibility</p:attrName>
                                        </p:attrNameLst>
                                      </p:cBhvr>
                                      <p:to>
                                        <p:strVal val="visible"/>
                                      </p:to>
                                    </p:set>
                                    <p:animEffect transition="in" filter="blinds(horizontal)">
                                      <p:cBhvr>
                                        <p:cTn id="34" dur="500"/>
                                        <p:tgtEl>
                                          <p:spTgt spid="127016"/>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27012"/>
                                        </p:tgtEl>
                                        <p:attrNameLst>
                                          <p:attrName>style.visibility</p:attrName>
                                        </p:attrNameLst>
                                      </p:cBhvr>
                                      <p:to>
                                        <p:strVal val="visible"/>
                                      </p:to>
                                    </p:set>
                                    <p:animEffect transition="in" filter="blinds(horizontal)">
                                      <p:cBhvr>
                                        <p:cTn id="39" dur="500"/>
                                        <p:tgtEl>
                                          <p:spTgt spid="127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012" grpId="0"/>
      <p:bldP spid="1270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内容占位符 128001"/>
          <p:cNvSpPr>
            <a:spLocks noGrp="1" noChangeArrowheads="1"/>
          </p:cNvSpPr>
          <p:nvPr>
            <p:ph idx="1"/>
          </p:nvPr>
        </p:nvSpPr>
        <p:spPr>
          <a:xfrm>
            <a:off x="2706688" y="1341439"/>
            <a:ext cx="7205662" cy="4791075"/>
          </a:xfrm>
        </p:spPr>
        <p:txBody>
          <a:bodyPr/>
          <a:lstStyle/>
          <a:p>
            <a:pPr eaLnBrk="1" hangingPunct="1">
              <a:spcBef>
                <a:spcPct val="55000"/>
              </a:spcBef>
            </a:pPr>
            <a:r>
              <a:rPr lang="zh-CN" altLang="en-US" b="1">
                <a:solidFill>
                  <a:srgbClr val="490092"/>
                </a:solidFill>
                <a:latin typeface="Times New Roman" panose="02020603050405020304" pitchFamily="18" charset="0"/>
                <a:ea typeface="华文楷体" panose="02010600040101010101" pitchFamily="2" charset="-122"/>
              </a:rPr>
              <a:t>数组的分类</a:t>
            </a:r>
            <a:endParaRPr lang="zh-CN" altLang="en-US" b="1">
              <a:solidFill>
                <a:srgbClr val="490092"/>
              </a:solidFill>
              <a:latin typeface="Times New Roman" panose="02020603050405020304" pitchFamily="18" charset="0"/>
              <a:ea typeface="华文楷体" panose="02010600040101010101" pitchFamily="2" charset="-122"/>
            </a:endParaRPr>
          </a:p>
          <a:p>
            <a:pPr lvl="1" eaLnBrk="1" hangingPunct="1">
              <a:spcBef>
                <a:spcPct val="55000"/>
              </a:spcBef>
            </a:pPr>
            <a:r>
              <a:rPr lang="zh-CN" altLang="en-US" b="1">
                <a:solidFill>
                  <a:schemeClr val="hlink"/>
                </a:solidFill>
                <a:latin typeface="Times New Roman" panose="02020603050405020304" pitchFamily="18" charset="0"/>
                <a:ea typeface="华文楷体" panose="02010600040101010101" pitchFamily="2" charset="-122"/>
              </a:rPr>
              <a:t>一维数组</a:t>
            </a:r>
            <a:r>
              <a:rPr lang="zh-CN" altLang="en-US" b="1">
                <a:solidFill>
                  <a:srgbClr val="490092"/>
                </a:solidFill>
                <a:latin typeface="Times New Roman" panose="02020603050405020304" pitchFamily="18" charset="0"/>
                <a:ea typeface="华文楷体" panose="02010600040101010101" pitchFamily="2" charset="-122"/>
              </a:rPr>
              <a:t>，也称为向量</a:t>
            </a:r>
            <a:r>
              <a:rPr lang="en-US" altLang="zh-CN" b="1">
                <a:solidFill>
                  <a:srgbClr val="490092"/>
                </a:solidFill>
                <a:latin typeface="Times New Roman" panose="02020603050405020304" pitchFamily="18" charset="0"/>
                <a:ea typeface="华文楷体" panose="02010600040101010101" pitchFamily="2" charset="-122"/>
              </a:rPr>
              <a:t>(vector) </a:t>
            </a:r>
            <a:r>
              <a:rPr lang="zh-CN" altLang="en-US" b="1">
                <a:solidFill>
                  <a:srgbClr val="490092"/>
                </a:solidFill>
                <a:latin typeface="Times New Roman" panose="02020603050405020304" pitchFamily="18" charset="0"/>
                <a:ea typeface="华文楷体" panose="02010600040101010101" pitchFamily="2" charset="-122"/>
              </a:rPr>
              <a:t>。</a:t>
            </a:r>
            <a:endParaRPr lang="zh-CN" altLang="en-US" b="1">
              <a:solidFill>
                <a:srgbClr val="490092"/>
              </a:solidFill>
              <a:latin typeface="Times New Roman" panose="02020603050405020304" pitchFamily="18" charset="0"/>
              <a:ea typeface="华文楷体" panose="02010600040101010101" pitchFamily="2" charset="-122"/>
            </a:endParaRPr>
          </a:p>
          <a:p>
            <a:pPr lvl="2" eaLnBrk="1" hangingPunct="1"/>
            <a:r>
              <a:rPr lang="zh-CN" altLang="en-US" b="1">
                <a:solidFill>
                  <a:srgbClr val="490092"/>
                </a:solidFill>
                <a:latin typeface="Times New Roman" panose="02020603050405020304" pitchFamily="18" charset="0"/>
                <a:ea typeface="华文楷体" panose="02010600040101010101" pitchFamily="2" charset="-122"/>
              </a:rPr>
              <a:t>行向量</a:t>
            </a:r>
            <a:r>
              <a:rPr lang="en-US" altLang="zh-CN" b="1">
                <a:solidFill>
                  <a:srgbClr val="490092"/>
                </a:solidFill>
                <a:latin typeface="Times New Roman" panose="02020603050405020304" pitchFamily="18" charset="0"/>
                <a:ea typeface="华文楷体" panose="02010600040101010101" pitchFamily="2" charset="-122"/>
              </a:rPr>
              <a:t>(row vector)</a:t>
            </a:r>
            <a:r>
              <a:rPr lang="zh-CN" altLang="en-US" b="1">
                <a:solidFill>
                  <a:srgbClr val="490092"/>
                </a:solidFill>
                <a:latin typeface="Times New Roman" panose="02020603050405020304" pitchFamily="18" charset="0"/>
                <a:ea typeface="华文楷体" panose="02010600040101010101" pitchFamily="2" charset="-122"/>
              </a:rPr>
              <a:t>、列向量</a:t>
            </a:r>
            <a:r>
              <a:rPr lang="en-US" altLang="zh-CN" b="1">
                <a:solidFill>
                  <a:srgbClr val="490092"/>
                </a:solidFill>
                <a:latin typeface="Times New Roman" panose="02020603050405020304" pitchFamily="18" charset="0"/>
                <a:ea typeface="华文楷体" panose="02010600040101010101" pitchFamily="2" charset="-122"/>
              </a:rPr>
              <a:t>(column vector)</a:t>
            </a:r>
            <a:r>
              <a:rPr lang="zh-CN" altLang="en-US" b="1">
                <a:solidFill>
                  <a:srgbClr val="490092"/>
                </a:solidFill>
                <a:latin typeface="Times New Roman" panose="02020603050405020304" pitchFamily="18" charset="0"/>
                <a:ea typeface="华文楷体" panose="02010600040101010101" pitchFamily="2" charset="-122"/>
              </a:rPr>
              <a:t>。</a:t>
            </a:r>
            <a:endParaRPr lang="zh-CN" altLang="en-US" b="1">
              <a:solidFill>
                <a:srgbClr val="490092"/>
              </a:solidFill>
              <a:latin typeface="Times New Roman" panose="02020603050405020304" pitchFamily="18" charset="0"/>
              <a:ea typeface="华文楷体" panose="02010600040101010101" pitchFamily="2" charset="-122"/>
            </a:endParaRPr>
          </a:p>
          <a:p>
            <a:pPr lvl="1" eaLnBrk="1" hangingPunct="1">
              <a:spcBef>
                <a:spcPct val="55000"/>
              </a:spcBef>
            </a:pPr>
            <a:r>
              <a:rPr lang="zh-CN" altLang="en-US" b="1">
                <a:solidFill>
                  <a:schemeClr val="hlink"/>
                </a:solidFill>
                <a:latin typeface="Times New Roman" panose="02020603050405020304" pitchFamily="18" charset="0"/>
                <a:ea typeface="华文楷体" panose="02010600040101010101" pitchFamily="2" charset="-122"/>
              </a:rPr>
              <a:t>二维数组</a:t>
            </a:r>
            <a:r>
              <a:rPr lang="en-US" altLang="zh-CN" b="1">
                <a:solidFill>
                  <a:srgbClr val="490092"/>
                </a:solidFill>
                <a:latin typeface="Times New Roman" panose="02020603050405020304" pitchFamily="18" charset="0"/>
                <a:ea typeface="华文楷体" panose="02010600040101010101" pitchFamily="2" charset="-122"/>
              </a:rPr>
              <a:t>(</a:t>
            </a:r>
            <a:r>
              <a:rPr lang="zh-CN" altLang="en-US" b="1">
                <a:solidFill>
                  <a:srgbClr val="490092"/>
                </a:solidFill>
                <a:latin typeface="Times New Roman" panose="02020603050405020304" pitchFamily="18" charset="0"/>
                <a:ea typeface="华文楷体" panose="02010600040101010101" pitchFamily="2" charset="-122"/>
              </a:rPr>
              <a:t>矩阵</a:t>
            </a:r>
            <a:r>
              <a:rPr lang="en-US" altLang="zh-CN" b="1">
                <a:solidFill>
                  <a:srgbClr val="490092"/>
                </a:solidFill>
                <a:latin typeface="Times New Roman" panose="02020603050405020304" pitchFamily="18" charset="0"/>
                <a:ea typeface="华文楷体" panose="02010600040101010101" pitchFamily="2" charset="-122"/>
              </a:rPr>
              <a:t>matrix)</a:t>
            </a:r>
            <a:r>
              <a:rPr lang="zh-CN" altLang="en-US" b="1">
                <a:solidFill>
                  <a:srgbClr val="490092"/>
                </a:solidFill>
                <a:latin typeface="Times New Roman" panose="02020603050405020304" pitchFamily="18" charset="0"/>
                <a:ea typeface="华文楷体" panose="02010600040101010101" pitchFamily="2" charset="-122"/>
              </a:rPr>
              <a:t>。</a:t>
            </a:r>
            <a:endParaRPr lang="zh-CN" altLang="en-US" b="1">
              <a:solidFill>
                <a:srgbClr val="490092"/>
              </a:solidFill>
              <a:latin typeface="Times New Roman" panose="02020603050405020304" pitchFamily="18" charset="0"/>
              <a:ea typeface="华文楷体" panose="02010600040101010101" pitchFamily="2" charset="-122"/>
            </a:endParaRPr>
          </a:p>
          <a:p>
            <a:pPr lvl="1" eaLnBrk="1" hangingPunct="1">
              <a:spcBef>
                <a:spcPct val="55000"/>
              </a:spcBef>
            </a:pPr>
            <a:r>
              <a:rPr lang="zh-CN" altLang="en-US" b="1">
                <a:solidFill>
                  <a:schemeClr val="hlink"/>
                </a:solidFill>
                <a:latin typeface="Times New Roman" panose="02020603050405020304" pitchFamily="18" charset="0"/>
                <a:ea typeface="华文楷体" panose="02010600040101010101" pitchFamily="2" charset="-122"/>
              </a:rPr>
              <a:t>多维数组</a:t>
            </a:r>
            <a:r>
              <a:rPr lang="zh-CN" altLang="en-US" b="1">
                <a:solidFill>
                  <a:srgbClr val="490092"/>
                </a:solidFill>
                <a:latin typeface="Times New Roman" panose="02020603050405020304" pitchFamily="18" charset="0"/>
                <a:ea typeface="华文楷体" panose="02010600040101010101" pitchFamily="2" charset="-122"/>
              </a:rPr>
              <a:t>。</a:t>
            </a:r>
            <a:endParaRPr lang="zh-CN" altLang="en-US" sz="1800" b="1">
              <a:solidFill>
                <a:srgbClr val="490092"/>
              </a:solidFill>
              <a:latin typeface="Times New Roman" panose="02020603050405020304" pitchFamily="18" charset="0"/>
              <a:ea typeface="华文楷体" panose="02010600040101010101" pitchFamily="2" charset="-122"/>
            </a:endParaRPr>
          </a:p>
          <a:p>
            <a:pPr eaLnBrk="1" hangingPunct="1">
              <a:spcBef>
                <a:spcPct val="50000"/>
              </a:spcBef>
              <a:buFont typeface="Wingdings 2" panose="05020102010507070707" pitchFamily="18" charset="2"/>
              <a:buChar char="â"/>
            </a:pPr>
            <a:r>
              <a:rPr lang="zh-CN" altLang="en-US" b="1">
                <a:solidFill>
                  <a:schemeClr val="hlink"/>
                </a:solidFill>
                <a:latin typeface="Times New Roman" panose="02020603050405020304" pitchFamily="18" charset="0"/>
                <a:ea typeface="华文楷体" panose="02010600040101010101" pitchFamily="2" charset="-122"/>
              </a:rPr>
              <a:t>有效矩阵</a:t>
            </a:r>
            <a:r>
              <a:rPr lang="zh-CN" altLang="en-US" b="1">
                <a:solidFill>
                  <a:srgbClr val="490092"/>
                </a:solidFill>
                <a:latin typeface="Times New Roman" panose="02020603050405020304" pitchFamily="18" charset="0"/>
                <a:ea typeface="华文楷体" panose="02010600040101010101" pitchFamily="2" charset="-122"/>
              </a:rPr>
              <a:t>：每行元素的个数必须相同，每列元素的个数也必须相同。</a:t>
            </a:r>
            <a:endParaRPr lang="zh-CN" altLang="en-US" b="1">
              <a:solidFill>
                <a:srgbClr val="490092"/>
              </a:solidFill>
              <a:latin typeface="Times New Roman" panose="02020603050405020304" pitchFamily="18" charset="0"/>
              <a:ea typeface="华文楷体" panose="02010600040101010101" pitchFamily="2" charset="-122"/>
            </a:endParaRPr>
          </a:p>
        </p:txBody>
      </p:sp>
      <p:sp>
        <p:nvSpPr>
          <p:cNvPr id="55299" name="标题 128002"/>
          <p:cNvSpPr>
            <a:spLocks noGrp="1" noChangeArrowheads="1"/>
          </p:cNvSpPr>
          <p:nvPr>
            <p:ph type="title"/>
          </p:nvPr>
        </p:nvSpPr>
        <p:spPr>
          <a:xfrm>
            <a:off x="2603500" y="260350"/>
            <a:ext cx="7793038" cy="647700"/>
          </a:xfrm>
        </p:spPr>
        <p:txBody>
          <a:bodyPr/>
          <a:lstStyle/>
          <a:p>
            <a:pPr marL="685800" indent="-685800"/>
            <a:r>
              <a:rPr lang="en-US" altLang="zh-CN" sz="4000" b="1" dirty="0">
                <a:solidFill>
                  <a:srgbClr val="0000FF"/>
                </a:solidFill>
                <a:latin typeface="Times New Roman" panose="02020603050405020304" pitchFamily="18" charset="0"/>
                <a:ea typeface="华文楷体" panose="02010600040101010101" pitchFamily="2" charset="-122"/>
              </a:rPr>
              <a:t>1.1.1. </a:t>
            </a:r>
            <a:r>
              <a:rPr lang="zh-CN" altLang="en-US" sz="4000" b="1" dirty="0">
                <a:solidFill>
                  <a:srgbClr val="0000FF"/>
                </a:solidFill>
                <a:latin typeface="Times New Roman" panose="02020603050405020304" pitchFamily="18" charset="0"/>
                <a:ea typeface="华文楷体" panose="02010600040101010101" pitchFamily="2" charset="-122"/>
              </a:rPr>
              <a:t>数组</a:t>
            </a:r>
            <a:r>
              <a:rPr lang="en-US" altLang="zh-CN" sz="4000" b="1" dirty="0">
                <a:solidFill>
                  <a:srgbClr val="0000FF"/>
                </a:solidFill>
                <a:latin typeface="Times New Roman" panose="02020603050405020304" pitchFamily="18" charset="0"/>
                <a:ea typeface="华文楷体" panose="02010600040101010101" pitchFamily="2" charset="-122"/>
              </a:rPr>
              <a:t>(array)</a:t>
            </a:r>
            <a:r>
              <a:rPr lang="zh-CN" altLang="en-US" sz="4000" b="1" dirty="0">
                <a:solidFill>
                  <a:srgbClr val="0000FF"/>
                </a:solidFill>
                <a:latin typeface="Times New Roman" panose="02020603050405020304" pitchFamily="18" charset="0"/>
                <a:ea typeface="华文楷体" panose="02010600040101010101" pitchFamily="2" charset="-122"/>
              </a:rPr>
              <a:t>的概念</a:t>
            </a:r>
            <a:endParaRPr lang="zh-CN" altLang="en-US" sz="4000" b="1" dirty="0">
              <a:solidFill>
                <a:srgbClr val="0000FF"/>
              </a:solidFill>
              <a:latin typeface="Times New Roman" panose="02020603050405020304" pitchFamily="18" charset="0"/>
              <a:ea typeface="华文楷体" panose="02010600040101010101" pitchFamily="2" charset="-122"/>
            </a:endParaRPr>
          </a:p>
        </p:txBody>
      </p:sp>
      <p:sp>
        <p:nvSpPr>
          <p:cNvPr id="2"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EF610E47-5D43-4E8F-BD1D-0F11DEDF26B2}" type="datetime1">
              <a:rPr lang="zh-CN" altLang="en-US" smtClean="0">
                <a:solidFill>
                  <a:srgbClr val="45516B"/>
                </a:solidFill>
              </a:rPr>
            </a:fld>
            <a:endParaRPr lang="zh-CN" altLang="en-US">
              <a:solidFill>
                <a:srgbClr val="45516B"/>
              </a:solidFill>
            </a:endParaRPr>
          </a:p>
        </p:txBody>
      </p:sp>
      <p:sp>
        <p:nvSpPr>
          <p:cNvPr id="55300"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55302" name="灯片编号占位符 3"/>
          <p:cNvSpPr>
            <a:spLocks noGrp="1" noChangeArrowheads="1"/>
          </p:cNvSpPr>
          <p:nvPr>
            <p:ph type="sldNum" sz="quarter" idx="12"/>
          </p:nvPr>
        </p:nvSpPr>
        <p:spPr bwMode="auto">
          <a:noFill/>
          <a:ln>
            <a:miter lim="800000"/>
          </a:ln>
        </p:spPr>
        <p:txBody>
          <a:bodyPr/>
          <a:lstStyle/>
          <a:p>
            <a:fld id="{5E845B20-F1EA-4BEC-938C-0659BDEAD463}"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8002">
                                            <p:txEl>
                                              <p:pRg st="0" end="0"/>
                                            </p:txEl>
                                          </p:spTgt>
                                        </p:tgtEl>
                                        <p:attrNameLst>
                                          <p:attrName>style.visibility</p:attrName>
                                        </p:attrNameLst>
                                      </p:cBhvr>
                                      <p:to>
                                        <p:strVal val="visible"/>
                                      </p:to>
                                    </p:set>
                                    <p:animEffect transition="in" filter="blinds(horizontal)">
                                      <p:cBhvr>
                                        <p:cTn id="7" dur="500"/>
                                        <p:tgtEl>
                                          <p:spTgt spid="1280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8002">
                                            <p:txEl>
                                              <p:pRg st="1" end="1"/>
                                            </p:txEl>
                                          </p:spTgt>
                                        </p:tgtEl>
                                        <p:attrNameLst>
                                          <p:attrName>style.visibility</p:attrName>
                                        </p:attrNameLst>
                                      </p:cBhvr>
                                      <p:to>
                                        <p:strVal val="visible"/>
                                      </p:to>
                                    </p:set>
                                    <p:animEffect transition="in" filter="blinds(horizontal)">
                                      <p:cBhvr>
                                        <p:cTn id="12" dur="500"/>
                                        <p:tgtEl>
                                          <p:spTgt spid="128002">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28002">
                                            <p:txEl>
                                              <p:pRg st="2" end="2"/>
                                            </p:txEl>
                                          </p:spTgt>
                                        </p:tgtEl>
                                        <p:attrNameLst>
                                          <p:attrName>style.visibility</p:attrName>
                                        </p:attrNameLst>
                                      </p:cBhvr>
                                      <p:to>
                                        <p:strVal val="visible"/>
                                      </p:to>
                                    </p:set>
                                    <p:animEffect transition="in" filter="blinds(horizontal)">
                                      <p:cBhvr>
                                        <p:cTn id="15" dur="500"/>
                                        <p:tgtEl>
                                          <p:spTgt spid="12800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28002">
                                            <p:txEl>
                                              <p:pRg st="3" end="3"/>
                                            </p:txEl>
                                          </p:spTgt>
                                        </p:tgtEl>
                                        <p:attrNameLst>
                                          <p:attrName>style.visibility</p:attrName>
                                        </p:attrNameLst>
                                      </p:cBhvr>
                                      <p:to>
                                        <p:strVal val="visible"/>
                                      </p:to>
                                    </p:set>
                                    <p:animEffect transition="in" filter="blinds(horizontal)">
                                      <p:cBhvr>
                                        <p:cTn id="20" dur="500"/>
                                        <p:tgtEl>
                                          <p:spTgt spid="128002">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28002">
                                            <p:txEl>
                                              <p:pRg st="4" end="4"/>
                                            </p:txEl>
                                          </p:spTgt>
                                        </p:tgtEl>
                                        <p:attrNameLst>
                                          <p:attrName>style.visibility</p:attrName>
                                        </p:attrNameLst>
                                      </p:cBhvr>
                                      <p:to>
                                        <p:strVal val="visible"/>
                                      </p:to>
                                    </p:set>
                                    <p:animEffect transition="in" filter="blinds(horizontal)">
                                      <p:cBhvr>
                                        <p:cTn id="25" dur="500"/>
                                        <p:tgtEl>
                                          <p:spTgt spid="128002">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28002">
                                            <p:txEl>
                                              <p:pRg st="5" end="5"/>
                                            </p:txEl>
                                          </p:spTgt>
                                        </p:tgtEl>
                                        <p:attrNameLst>
                                          <p:attrName>style.visibility</p:attrName>
                                        </p:attrNameLst>
                                      </p:cBhvr>
                                      <p:to>
                                        <p:strVal val="visible"/>
                                      </p:to>
                                    </p:set>
                                    <p:animEffect transition="in" filter="blinds(horizontal)">
                                      <p:cBhvr>
                                        <p:cTn id="30" dur="500"/>
                                        <p:tgtEl>
                                          <p:spTgt spid="12800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29025"/>
          <p:cNvSpPr>
            <a:spLocks noGrp="1" noChangeArrowheads="1"/>
          </p:cNvSpPr>
          <p:nvPr>
            <p:ph type="title"/>
          </p:nvPr>
        </p:nvSpPr>
        <p:spPr>
          <a:xfrm>
            <a:off x="2603500" y="260350"/>
            <a:ext cx="7793038" cy="647700"/>
          </a:xfrm>
        </p:spPr>
        <p:txBody>
          <a:bodyPr/>
          <a:lstStyle/>
          <a:p>
            <a:pPr marL="685800" indent="-685800"/>
            <a:r>
              <a:rPr lang="en-US" altLang="zh-CN" sz="4000" b="1" dirty="0">
                <a:solidFill>
                  <a:srgbClr val="0000FF"/>
                </a:solidFill>
                <a:latin typeface="Times New Roman" panose="02020603050405020304" pitchFamily="18" charset="0"/>
                <a:ea typeface="华文楷体" panose="02010600040101010101" pitchFamily="2" charset="-122"/>
              </a:rPr>
              <a:t>1.1.1</a:t>
            </a:r>
            <a:r>
              <a:rPr lang="zh-CN" altLang="en-US" sz="4000" b="1" dirty="0">
                <a:solidFill>
                  <a:srgbClr val="0000FF"/>
                </a:solidFill>
                <a:latin typeface="Times New Roman" panose="02020603050405020304" pitchFamily="18" charset="0"/>
                <a:ea typeface="华文楷体" panose="02010600040101010101" pitchFamily="2" charset="-122"/>
              </a:rPr>
              <a:t>、数组</a:t>
            </a:r>
            <a:r>
              <a:rPr lang="en-US" altLang="zh-CN" sz="4000" b="1" dirty="0">
                <a:solidFill>
                  <a:srgbClr val="0000FF"/>
                </a:solidFill>
                <a:latin typeface="Times New Roman" panose="02020603050405020304" pitchFamily="18" charset="0"/>
                <a:ea typeface="华文楷体" panose="02010600040101010101" pitchFamily="2" charset="-122"/>
              </a:rPr>
              <a:t>(array)</a:t>
            </a:r>
            <a:r>
              <a:rPr lang="zh-CN" altLang="en-US" sz="4000" b="1" dirty="0">
                <a:solidFill>
                  <a:srgbClr val="0000FF"/>
                </a:solidFill>
                <a:latin typeface="Times New Roman" panose="02020603050405020304" pitchFamily="18" charset="0"/>
                <a:ea typeface="华文楷体" panose="02010600040101010101" pitchFamily="2" charset="-122"/>
              </a:rPr>
              <a:t>的概念 （续）</a:t>
            </a:r>
            <a:endParaRPr lang="zh-CN" altLang="en-US" sz="4000" b="1" dirty="0">
              <a:solidFill>
                <a:srgbClr val="0000FF"/>
              </a:solidFill>
              <a:latin typeface="Times New Roman" panose="02020603050405020304" pitchFamily="18" charset="0"/>
              <a:ea typeface="华文楷体" panose="02010600040101010101" pitchFamily="2" charset="-122"/>
            </a:endParaRPr>
          </a:p>
        </p:txBody>
      </p:sp>
      <p:pic>
        <p:nvPicPr>
          <p:cNvPr id="56323" name="文本占位符 129026"/>
          <p:cNvPicPr>
            <a:picLocks noGrp="1" noChangeAspect="1" noChangeArrowheads="1"/>
          </p:cNvPicPr>
          <p:nvPr>
            <p:ph idx="1"/>
          </p:nvPr>
        </p:nvPicPr>
        <p:blipFill>
          <a:blip r:embed="rId1" cstate="print"/>
          <a:srcRect l="18526" t="28529" r="27737" b="21869"/>
          <a:stretch>
            <a:fillRect/>
          </a:stretch>
        </p:blipFill>
        <p:spPr>
          <a:xfrm>
            <a:off x="3071813" y="1412876"/>
            <a:ext cx="6119812" cy="3482975"/>
          </a:xfrm>
        </p:spPr>
      </p:pic>
      <p:sp>
        <p:nvSpPr>
          <p:cNvPr id="129028" name="文本框 129027"/>
          <p:cNvSpPr txBox="1">
            <a:spLocks noChangeArrowheads="1"/>
          </p:cNvSpPr>
          <p:nvPr/>
        </p:nvSpPr>
        <p:spPr bwMode="auto">
          <a:xfrm>
            <a:off x="9120189" y="3141663"/>
            <a:ext cx="1368425" cy="457200"/>
          </a:xfrm>
          <a:prstGeom prst="rect">
            <a:avLst/>
          </a:prstGeom>
          <a:noFill/>
          <a:ln w="9525">
            <a:noFill/>
            <a:miter lim="800000"/>
          </a:ln>
        </p:spPr>
        <p:txBody>
          <a:bodyPr>
            <a:spAutoFit/>
          </a:bodyPr>
          <a:lstStyle/>
          <a:p>
            <a:pPr>
              <a:buFont typeface="Wingdings" panose="05000000000000000000" pitchFamily="2" charset="2"/>
              <a:buNone/>
            </a:pPr>
            <a:r>
              <a:rPr lang="zh-CN" altLang="en-US" sz="2400" b="1">
                <a:solidFill>
                  <a:srgbClr val="3039E8"/>
                </a:solidFill>
                <a:latin typeface="Tahoma" panose="020B0604030504040204" pitchFamily="34" charset="0"/>
                <a:ea typeface="楷体_GB2312" pitchFamily="49" charset="-122"/>
              </a:rPr>
              <a:t>行向量</a:t>
            </a:r>
            <a:endParaRPr lang="zh-CN" altLang="en-US" sz="2400" b="1">
              <a:solidFill>
                <a:srgbClr val="3039E8"/>
              </a:solidFill>
              <a:latin typeface="Tahoma" panose="020B0604030504040204" pitchFamily="34" charset="0"/>
              <a:ea typeface="楷体_GB2312" pitchFamily="49" charset="-122"/>
            </a:endParaRPr>
          </a:p>
        </p:txBody>
      </p:sp>
      <p:sp>
        <p:nvSpPr>
          <p:cNvPr id="129029" name="文本框 129028"/>
          <p:cNvSpPr txBox="1">
            <a:spLocks noChangeArrowheads="1"/>
          </p:cNvSpPr>
          <p:nvPr/>
        </p:nvSpPr>
        <p:spPr bwMode="auto">
          <a:xfrm>
            <a:off x="9191625" y="4005263"/>
            <a:ext cx="1296988" cy="457200"/>
          </a:xfrm>
          <a:prstGeom prst="rect">
            <a:avLst/>
          </a:prstGeom>
          <a:noFill/>
          <a:ln w="9525">
            <a:noFill/>
            <a:miter lim="800000"/>
          </a:ln>
        </p:spPr>
        <p:txBody>
          <a:bodyPr>
            <a:spAutoFit/>
          </a:bodyPr>
          <a:lstStyle/>
          <a:p>
            <a:pPr>
              <a:buFont typeface="Wingdings" panose="05000000000000000000" pitchFamily="2" charset="2"/>
              <a:buNone/>
            </a:pPr>
            <a:r>
              <a:rPr lang="zh-CN" altLang="en-US" sz="2400" b="1">
                <a:solidFill>
                  <a:srgbClr val="3039E8"/>
                </a:solidFill>
                <a:latin typeface="Tahoma" panose="020B0604030504040204" pitchFamily="34" charset="0"/>
                <a:ea typeface="楷体_GB2312" pitchFamily="49" charset="-122"/>
              </a:rPr>
              <a:t>列向量</a:t>
            </a:r>
            <a:endParaRPr lang="zh-CN" altLang="en-US" sz="2400" b="1">
              <a:solidFill>
                <a:srgbClr val="3039E8"/>
              </a:solidFill>
              <a:latin typeface="Tahoma" panose="020B0604030504040204" pitchFamily="34" charset="0"/>
              <a:ea typeface="楷体_GB2312" pitchFamily="49" charset="-122"/>
            </a:endParaRPr>
          </a:p>
        </p:txBody>
      </p:sp>
      <p:sp>
        <p:nvSpPr>
          <p:cNvPr id="129030" name="文本框 129029"/>
          <p:cNvSpPr txBox="1">
            <a:spLocks noChangeArrowheads="1"/>
          </p:cNvSpPr>
          <p:nvPr/>
        </p:nvSpPr>
        <p:spPr bwMode="auto">
          <a:xfrm>
            <a:off x="3216275" y="5300663"/>
            <a:ext cx="1568450" cy="457200"/>
          </a:xfrm>
          <a:prstGeom prst="rect">
            <a:avLst/>
          </a:prstGeom>
          <a:noFill/>
          <a:ln w="9525">
            <a:noFill/>
            <a:miter lim="800000"/>
          </a:ln>
        </p:spPr>
        <p:txBody>
          <a:bodyPr wrap="none">
            <a:spAutoFit/>
          </a:bodyPr>
          <a:lstStyle/>
          <a:p>
            <a:pPr>
              <a:buFont typeface="Wingdings" panose="05000000000000000000" pitchFamily="2" charset="2"/>
              <a:buNone/>
            </a:pPr>
            <a:r>
              <a:rPr lang="en-US" altLang="zh-CN" sz="2400" b="1">
                <a:solidFill>
                  <a:srgbClr val="3039E8"/>
                </a:solidFill>
                <a:latin typeface="Tahoma" panose="020B0604030504040204" pitchFamily="34" charset="0"/>
                <a:ea typeface="楷体_GB2312" pitchFamily="49" charset="-122"/>
              </a:rPr>
              <a:t>a(2,1)=3</a:t>
            </a:r>
            <a:endParaRPr lang="en-US" altLang="zh-CN" sz="2400" b="1">
              <a:solidFill>
                <a:srgbClr val="3039E8"/>
              </a:solidFill>
              <a:latin typeface="Tahoma" panose="020B0604030504040204" pitchFamily="34" charset="0"/>
              <a:ea typeface="楷体_GB2312" pitchFamily="49" charset="-122"/>
            </a:endParaRPr>
          </a:p>
        </p:txBody>
      </p:sp>
      <p:sp>
        <p:nvSpPr>
          <p:cNvPr id="129031" name="文本框 129030"/>
          <p:cNvSpPr txBox="1">
            <a:spLocks noChangeArrowheads="1"/>
          </p:cNvSpPr>
          <p:nvPr/>
        </p:nvSpPr>
        <p:spPr bwMode="auto">
          <a:xfrm>
            <a:off x="5159375" y="5300663"/>
            <a:ext cx="1568450" cy="457200"/>
          </a:xfrm>
          <a:prstGeom prst="rect">
            <a:avLst/>
          </a:prstGeom>
          <a:noFill/>
          <a:ln w="9525">
            <a:noFill/>
            <a:miter lim="800000"/>
          </a:ln>
        </p:spPr>
        <p:txBody>
          <a:bodyPr wrap="none">
            <a:spAutoFit/>
          </a:bodyPr>
          <a:lstStyle/>
          <a:p>
            <a:pPr>
              <a:buFont typeface="Wingdings" panose="05000000000000000000" pitchFamily="2" charset="2"/>
              <a:buNone/>
            </a:pPr>
            <a:r>
              <a:rPr lang="en-US" altLang="zh-CN" sz="2400" b="1">
                <a:solidFill>
                  <a:srgbClr val="3039E8"/>
                </a:solidFill>
                <a:latin typeface="Tahoma" panose="020B0604030504040204" pitchFamily="34" charset="0"/>
                <a:ea typeface="楷体_GB2312" pitchFamily="49" charset="-122"/>
              </a:rPr>
              <a:t>a(1,2)=2</a:t>
            </a:r>
            <a:endParaRPr lang="en-US" altLang="zh-CN" sz="2400" b="1">
              <a:solidFill>
                <a:srgbClr val="3039E8"/>
              </a:solidFill>
              <a:latin typeface="Tahoma" panose="020B0604030504040204" pitchFamily="34" charset="0"/>
              <a:ea typeface="楷体_GB2312" pitchFamily="49" charset="-122"/>
            </a:endParaRPr>
          </a:p>
        </p:txBody>
      </p:sp>
      <p:sp>
        <p:nvSpPr>
          <p:cNvPr id="129032" name="文本框 129031"/>
          <p:cNvSpPr txBox="1">
            <a:spLocks noChangeArrowheads="1"/>
          </p:cNvSpPr>
          <p:nvPr/>
        </p:nvSpPr>
        <p:spPr bwMode="auto">
          <a:xfrm>
            <a:off x="7032625" y="5300663"/>
            <a:ext cx="1289050" cy="457200"/>
          </a:xfrm>
          <a:prstGeom prst="rect">
            <a:avLst/>
          </a:prstGeom>
          <a:noFill/>
          <a:ln w="9525">
            <a:noFill/>
            <a:miter lim="800000"/>
          </a:ln>
        </p:spPr>
        <p:txBody>
          <a:bodyPr wrap="none">
            <a:spAutoFit/>
          </a:bodyPr>
          <a:lstStyle/>
          <a:p>
            <a:pPr>
              <a:buFont typeface="Wingdings" panose="05000000000000000000" pitchFamily="2" charset="2"/>
              <a:buNone/>
            </a:pPr>
            <a:r>
              <a:rPr lang="en-US" altLang="zh-CN" sz="2400" b="1">
                <a:solidFill>
                  <a:srgbClr val="3039E8"/>
                </a:solidFill>
                <a:latin typeface="Tahoma" panose="020B0604030504040204" pitchFamily="34" charset="0"/>
                <a:ea typeface="楷体_GB2312" pitchFamily="49" charset="-122"/>
              </a:rPr>
              <a:t>b(3)=3</a:t>
            </a:r>
            <a:endParaRPr lang="en-US" altLang="zh-CN" sz="2400" b="1">
              <a:solidFill>
                <a:srgbClr val="3039E8"/>
              </a:solidFill>
              <a:latin typeface="Tahoma" panose="020B0604030504040204" pitchFamily="34" charset="0"/>
              <a:ea typeface="楷体_GB2312" pitchFamily="49" charset="-122"/>
            </a:endParaRPr>
          </a:p>
        </p:txBody>
      </p:sp>
      <p:sp>
        <p:nvSpPr>
          <p:cNvPr id="129033" name="文本框 129032"/>
          <p:cNvSpPr txBox="1">
            <a:spLocks noChangeArrowheads="1"/>
          </p:cNvSpPr>
          <p:nvPr/>
        </p:nvSpPr>
        <p:spPr bwMode="auto">
          <a:xfrm>
            <a:off x="8616950" y="5300663"/>
            <a:ext cx="1257300" cy="457200"/>
          </a:xfrm>
          <a:prstGeom prst="rect">
            <a:avLst/>
          </a:prstGeom>
          <a:noFill/>
          <a:ln w="9525">
            <a:noFill/>
            <a:miter lim="800000"/>
          </a:ln>
        </p:spPr>
        <p:txBody>
          <a:bodyPr wrap="none">
            <a:spAutoFit/>
          </a:bodyPr>
          <a:lstStyle/>
          <a:p>
            <a:pPr>
              <a:buFont typeface="Wingdings" panose="05000000000000000000" pitchFamily="2" charset="2"/>
              <a:buNone/>
            </a:pPr>
            <a:r>
              <a:rPr lang="en-US" altLang="zh-CN" sz="2400" b="1">
                <a:solidFill>
                  <a:srgbClr val="3039E8"/>
                </a:solidFill>
                <a:latin typeface="Tahoma" panose="020B0604030504040204" pitchFamily="34" charset="0"/>
                <a:ea typeface="楷体_GB2312" pitchFamily="49" charset="-122"/>
              </a:rPr>
              <a:t>c(2)=2</a:t>
            </a:r>
            <a:endParaRPr lang="en-US" altLang="zh-CN" sz="2400" b="1">
              <a:solidFill>
                <a:srgbClr val="3039E8"/>
              </a:solidFill>
              <a:latin typeface="Tahoma" panose="020B0604030504040204" pitchFamily="34" charset="0"/>
              <a:ea typeface="楷体_GB2312" pitchFamily="49" charset="-122"/>
            </a:endParaRPr>
          </a:p>
        </p:txBody>
      </p:sp>
      <p:sp>
        <p:nvSpPr>
          <p:cNvPr id="56329"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5BF36CE7-08A5-47E1-9723-B087E57CC5C2}" type="datetime1">
              <a:rPr lang="zh-CN" altLang="en-US" smtClean="0">
                <a:solidFill>
                  <a:srgbClr val="45516B"/>
                </a:solidFill>
              </a:rPr>
            </a:fld>
            <a:endParaRPr lang="zh-CN" altLang="en-US">
              <a:solidFill>
                <a:srgbClr val="45516B"/>
              </a:solidFill>
            </a:endParaRPr>
          </a:p>
        </p:txBody>
      </p:sp>
      <p:sp>
        <p:nvSpPr>
          <p:cNvPr id="56330"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56332" name="灯片编号占位符 3"/>
          <p:cNvSpPr>
            <a:spLocks noGrp="1" noChangeArrowheads="1"/>
          </p:cNvSpPr>
          <p:nvPr>
            <p:ph type="sldNum" sz="quarter" idx="12"/>
          </p:nvPr>
        </p:nvSpPr>
        <p:spPr bwMode="auto">
          <a:noFill/>
          <a:ln>
            <a:miter lim="800000"/>
          </a:ln>
        </p:spPr>
        <p:txBody>
          <a:bodyPr/>
          <a:lstStyle/>
          <a:p>
            <a:fld id="{382EBAAF-EA25-4115-BDC2-DF864A4C3776}"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90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90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90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90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903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90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8" grpId="0"/>
      <p:bldP spid="129029" grpId="0"/>
      <p:bldP spid="129030" grpId="0"/>
      <p:bldP spid="129031" grpId="0"/>
      <p:bldP spid="129032" grpId="0"/>
      <p:bldP spid="12903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30049"/>
          <p:cNvSpPr>
            <a:spLocks noGrp="1" noChangeArrowheads="1"/>
          </p:cNvSpPr>
          <p:nvPr>
            <p:ph type="title"/>
          </p:nvPr>
        </p:nvSpPr>
        <p:spPr>
          <a:xfrm>
            <a:off x="2603500" y="333375"/>
            <a:ext cx="7793038" cy="647700"/>
          </a:xfrm>
        </p:spPr>
        <p:txBody>
          <a:bodyPr>
            <a:normAutofit fontScale="90000"/>
          </a:bodyPr>
          <a:lstStyle/>
          <a:p>
            <a:pPr marL="685800" indent="-685800"/>
            <a:r>
              <a:rPr lang="en-US" altLang="zh-CN" b="1" dirty="0">
                <a:solidFill>
                  <a:srgbClr val="0000FF"/>
                </a:solidFill>
                <a:latin typeface="Times New Roman" panose="02020603050405020304" pitchFamily="18" charset="0"/>
                <a:ea typeface="华文楷体" panose="02010600040101010101" pitchFamily="2" charset="-122"/>
              </a:rPr>
              <a:t>1.1.2</a:t>
            </a:r>
            <a:r>
              <a:rPr lang="zh-CN" altLang="en-US" b="1" dirty="0">
                <a:solidFill>
                  <a:srgbClr val="0000FF"/>
                </a:solidFill>
                <a:latin typeface="Times New Roman" panose="02020603050405020304" pitchFamily="18" charset="0"/>
                <a:ea typeface="华文楷体" panose="02010600040101010101" pitchFamily="2" charset="-122"/>
              </a:rPr>
              <a:t>、创建一维数组变量</a:t>
            </a:r>
            <a:endParaRPr lang="zh-CN" altLang="en-US" b="1" dirty="0">
              <a:solidFill>
                <a:srgbClr val="0000FF"/>
              </a:solidFill>
              <a:latin typeface="Times New Roman" panose="02020603050405020304" pitchFamily="18" charset="0"/>
              <a:ea typeface="华文楷体" panose="02010600040101010101" pitchFamily="2" charset="-122"/>
            </a:endParaRPr>
          </a:p>
        </p:txBody>
      </p:sp>
      <p:sp>
        <p:nvSpPr>
          <p:cNvPr id="130051" name="内容占位符 130050"/>
          <p:cNvSpPr>
            <a:spLocks noGrp="1" noChangeArrowheads="1"/>
          </p:cNvSpPr>
          <p:nvPr>
            <p:ph idx="1"/>
          </p:nvPr>
        </p:nvSpPr>
        <p:spPr>
          <a:xfrm>
            <a:off x="2640013" y="981076"/>
            <a:ext cx="7772400" cy="4791075"/>
          </a:xfrm>
        </p:spPr>
        <p:txBody>
          <a:bodyPr/>
          <a:lstStyle/>
          <a:p>
            <a:pPr eaLnBrk="1" hangingPunct="1"/>
            <a:r>
              <a:rPr lang="zh-CN" altLang="en-US" b="1">
                <a:solidFill>
                  <a:schemeClr val="hlink"/>
                </a:solidFill>
                <a:latin typeface="Times New Roman" panose="02020603050405020304" pitchFamily="18" charset="0"/>
                <a:ea typeface="华文楷体" panose="02010600040101010101" pitchFamily="2" charset="-122"/>
              </a:rPr>
              <a:t>第一种方法：使用方括号“</a:t>
            </a:r>
            <a:r>
              <a:rPr lang="en-US" altLang="zh-CN" b="1">
                <a:solidFill>
                  <a:schemeClr val="hlink"/>
                </a:solidFill>
                <a:latin typeface="Times New Roman" panose="02020603050405020304" pitchFamily="18" charset="0"/>
                <a:ea typeface="华文楷体" panose="02010600040101010101" pitchFamily="2" charset="-122"/>
              </a:rPr>
              <a:t>[ ]”</a:t>
            </a:r>
            <a:r>
              <a:rPr lang="zh-CN" altLang="en-US" b="1">
                <a:solidFill>
                  <a:schemeClr val="hlink"/>
                </a:solidFill>
                <a:latin typeface="Times New Roman" panose="02020603050405020304" pitchFamily="18" charset="0"/>
                <a:ea typeface="华文楷体" panose="02010600040101010101" pitchFamily="2" charset="-122"/>
              </a:rPr>
              <a:t>操作符</a:t>
            </a:r>
            <a:endParaRPr lang="zh-CN" altLang="en-US" b="1">
              <a:solidFill>
                <a:schemeClr val="hlink"/>
              </a:solidFill>
              <a:latin typeface="Times New Roman" panose="02020603050405020304" pitchFamily="18" charset="0"/>
              <a:ea typeface="华文楷体" panose="02010600040101010101" pitchFamily="2" charset="-122"/>
            </a:endParaRPr>
          </a:p>
          <a:p>
            <a:pPr lvl="1" eaLnBrk="1" hangingPunct="1">
              <a:spcBef>
                <a:spcPct val="45000"/>
              </a:spcBef>
              <a:buFont typeface="Wingdings" panose="05000000000000000000" pitchFamily="2" charset="2"/>
              <a:buNone/>
            </a:pPr>
            <a:r>
              <a:rPr lang="zh-CN" altLang="en-US" b="1">
                <a:solidFill>
                  <a:srgbClr val="0000FF"/>
                </a:solidFill>
                <a:latin typeface="Times New Roman" panose="02020603050405020304" pitchFamily="18" charset="0"/>
                <a:ea typeface="华文楷体" panose="02010600040101010101" pitchFamily="2" charset="-122"/>
              </a:rPr>
              <a:t>【例</a:t>
            </a:r>
            <a:r>
              <a:rPr lang="en-US" altLang="zh-CN" b="1">
                <a:solidFill>
                  <a:srgbClr val="0000FF"/>
                </a:solidFill>
                <a:latin typeface="Times New Roman" panose="02020603050405020304" pitchFamily="18" charset="0"/>
                <a:ea typeface="华文楷体" panose="02010600040101010101" pitchFamily="2" charset="-122"/>
              </a:rPr>
              <a:t>2-1</a:t>
            </a:r>
            <a:r>
              <a:rPr lang="zh-CN" altLang="en-US" b="1">
                <a:solidFill>
                  <a:srgbClr val="0000FF"/>
                </a:solidFill>
                <a:latin typeface="Times New Roman" panose="02020603050405020304" pitchFamily="18" charset="0"/>
                <a:ea typeface="华文楷体" panose="02010600040101010101" pitchFamily="2" charset="-122"/>
              </a:rPr>
              <a:t>】</a:t>
            </a:r>
            <a:r>
              <a:rPr lang="zh-CN" altLang="en-US" b="1">
                <a:solidFill>
                  <a:srgbClr val="490092"/>
                </a:solidFill>
                <a:latin typeface="Times New Roman" panose="02020603050405020304" pitchFamily="18" charset="0"/>
                <a:ea typeface="华文楷体" panose="02010600040101010101" pitchFamily="2" charset="-122"/>
              </a:rPr>
              <a:t>创建数组</a:t>
            </a:r>
            <a:r>
              <a:rPr lang="en-US" altLang="zh-CN" b="1">
                <a:solidFill>
                  <a:srgbClr val="490092"/>
                </a:solidFill>
                <a:latin typeface="Times New Roman" panose="02020603050405020304" pitchFamily="18" charset="0"/>
                <a:ea typeface="华文楷体" panose="02010600040101010101" pitchFamily="2" charset="-122"/>
              </a:rPr>
              <a:t>(</a:t>
            </a:r>
            <a:r>
              <a:rPr lang="zh-CN" altLang="en-US" b="1">
                <a:solidFill>
                  <a:srgbClr val="490092"/>
                </a:solidFill>
                <a:latin typeface="Times New Roman" panose="02020603050405020304" pitchFamily="18" charset="0"/>
                <a:ea typeface="华文楷体" panose="02010600040101010101" pitchFamily="2" charset="-122"/>
              </a:rPr>
              <a:t>行向量</a:t>
            </a:r>
            <a:r>
              <a:rPr lang="en-US" altLang="zh-CN" b="1">
                <a:solidFill>
                  <a:srgbClr val="490092"/>
                </a:solidFill>
                <a:latin typeface="Times New Roman" panose="02020603050405020304" pitchFamily="18" charset="0"/>
                <a:ea typeface="华文楷体" panose="02010600040101010101" pitchFamily="2" charset="-122"/>
              </a:rPr>
              <a:t>)a=[1 3 pi 3+5i] </a:t>
            </a:r>
            <a:endParaRPr lang="en-US" altLang="zh-CN" b="1">
              <a:solidFill>
                <a:srgbClr val="490092"/>
              </a:solidFill>
              <a:latin typeface="Times New Roman" panose="02020603050405020304" pitchFamily="18" charset="0"/>
              <a:ea typeface="华文楷体" panose="02010600040101010101" pitchFamily="2" charset="-122"/>
            </a:endParaRPr>
          </a:p>
          <a:p>
            <a:pPr lvl="1" eaLnBrk="1" hangingPunct="1">
              <a:spcBef>
                <a:spcPct val="45000"/>
              </a:spcBef>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&gt;&gt;a=[1 3 pi 3+5*i]  </a:t>
            </a:r>
            <a:r>
              <a:rPr lang="en-US" altLang="zh-CN" b="1">
                <a:solidFill>
                  <a:srgbClr val="008000"/>
                </a:solidFill>
                <a:latin typeface="Times New Roman" panose="02020603050405020304" pitchFamily="18" charset="0"/>
                <a:ea typeface="华文楷体" panose="02010600040101010101" pitchFamily="2" charset="-122"/>
              </a:rPr>
              <a:t>%or a=[1, 3, pi, 3+5*i]</a:t>
            </a:r>
            <a:r>
              <a:rPr lang="en-US" altLang="zh-CN" b="1">
                <a:solidFill>
                  <a:srgbClr val="490092"/>
                </a:solidFill>
                <a:latin typeface="Times New Roman" panose="02020603050405020304" pitchFamily="18" charset="0"/>
                <a:ea typeface="华文楷体" panose="02010600040101010101" pitchFamily="2" charset="-122"/>
              </a:rPr>
              <a:t> </a:t>
            </a:r>
            <a:endParaRPr lang="en-US" altLang="zh-CN"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a= </a:t>
            </a:r>
            <a:r>
              <a:rPr lang="en-US" altLang="zh-CN" b="1">
                <a:latin typeface="Times New Roman" panose="02020603050405020304" pitchFamily="18" charset="0"/>
                <a:ea typeface="华文楷体" panose="02010600040101010101" pitchFamily="2" charset="-122"/>
              </a:rPr>
              <a:t>1.0000      3.0000      3.1416       3.0000 + 5.0000i</a:t>
            </a:r>
            <a:endParaRPr lang="en-US" altLang="zh-CN" b="1">
              <a:solidFill>
                <a:srgbClr val="490092"/>
              </a:solidFill>
              <a:latin typeface="Times New Roman" panose="02020603050405020304" pitchFamily="18" charset="0"/>
              <a:ea typeface="华文楷体" panose="02010600040101010101" pitchFamily="2" charset="-122"/>
            </a:endParaRPr>
          </a:p>
          <a:p>
            <a:pPr lvl="1" eaLnBrk="1" hangingPunct="1">
              <a:spcBef>
                <a:spcPct val="50000"/>
              </a:spcBef>
              <a:buFont typeface="Wingdings" panose="05000000000000000000" pitchFamily="2" charset="2"/>
              <a:buNone/>
            </a:pPr>
            <a:r>
              <a:rPr lang="zh-CN" altLang="en-US" b="1">
                <a:solidFill>
                  <a:srgbClr val="000099"/>
                </a:solidFill>
                <a:latin typeface="Times New Roman" panose="02020603050405020304" pitchFamily="18" charset="0"/>
                <a:ea typeface="华文楷体" panose="02010600040101010101" pitchFamily="2" charset="-122"/>
              </a:rPr>
              <a:t>所有的向量元素必须在操作符“</a:t>
            </a:r>
            <a:r>
              <a:rPr lang="en-US" altLang="zh-CN" b="1">
                <a:solidFill>
                  <a:srgbClr val="000099"/>
                </a:solidFill>
                <a:latin typeface="Times New Roman" panose="02020603050405020304" pitchFamily="18" charset="0"/>
                <a:ea typeface="华文楷体" panose="02010600040101010101" pitchFamily="2" charset="-122"/>
              </a:rPr>
              <a:t>[ ]”</a:t>
            </a:r>
            <a:r>
              <a:rPr lang="zh-CN" altLang="en-US" b="1">
                <a:solidFill>
                  <a:srgbClr val="000099"/>
                </a:solidFill>
                <a:latin typeface="Times New Roman" panose="02020603050405020304" pitchFamily="18" charset="0"/>
                <a:ea typeface="华文楷体" panose="02010600040101010101" pitchFamily="2" charset="-122"/>
              </a:rPr>
              <a:t>之内；</a:t>
            </a:r>
            <a:endParaRPr lang="zh-CN" altLang="en-US" b="1">
              <a:solidFill>
                <a:srgbClr val="000099"/>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zh-CN" altLang="en-US" b="1">
                <a:solidFill>
                  <a:srgbClr val="000099"/>
                </a:solidFill>
                <a:latin typeface="Times New Roman" panose="02020603050405020304" pitchFamily="18" charset="0"/>
                <a:ea typeface="华文楷体" panose="02010600040101010101" pitchFamily="2" charset="-122"/>
              </a:rPr>
              <a:t>向量元素间用</a:t>
            </a:r>
            <a:r>
              <a:rPr lang="zh-CN" altLang="en-US" b="1">
                <a:solidFill>
                  <a:srgbClr val="FF00FF"/>
                </a:solidFill>
                <a:latin typeface="Times New Roman" panose="02020603050405020304" pitchFamily="18" charset="0"/>
                <a:ea typeface="华文楷体" panose="02010600040101010101" pitchFamily="2" charset="-122"/>
              </a:rPr>
              <a:t>空格</a:t>
            </a:r>
            <a:r>
              <a:rPr lang="zh-CN" altLang="en-US" b="1">
                <a:solidFill>
                  <a:srgbClr val="000099"/>
                </a:solidFill>
                <a:latin typeface="Times New Roman" panose="02020603050405020304" pitchFamily="18" charset="0"/>
                <a:ea typeface="华文楷体" panose="02010600040101010101" pitchFamily="2" charset="-122"/>
              </a:rPr>
              <a:t>或英文的</a:t>
            </a:r>
            <a:r>
              <a:rPr lang="zh-CN" altLang="en-US" b="1">
                <a:solidFill>
                  <a:srgbClr val="FF00FF"/>
                </a:solidFill>
                <a:latin typeface="Times New Roman" panose="02020603050405020304" pitchFamily="18" charset="0"/>
                <a:ea typeface="华文楷体" panose="02010600040101010101" pitchFamily="2" charset="-122"/>
              </a:rPr>
              <a:t>逗点“</a:t>
            </a:r>
            <a:r>
              <a:rPr lang="en-US" altLang="zh-CN" b="1">
                <a:solidFill>
                  <a:srgbClr val="FF00FF"/>
                </a:solidFill>
                <a:latin typeface="Times New Roman" panose="02020603050405020304" pitchFamily="18" charset="0"/>
                <a:ea typeface="华文楷体" panose="02010600040101010101" pitchFamily="2" charset="-122"/>
              </a:rPr>
              <a:t>,”</a:t>
            </a:r>
            <a:r>
              <a:rPr lang="zh-CN" altLang="en-US" b="1">
                <a:solidFill>
                  <a:srgbClr val="000099"/>
                </a:solidFill>
                <a:latin typeface="Times New Roman" panose="02020603050405020304" pitchFamily="18" charset="0"/>
                <a:ea typeface="华文楷体" panose="02010600040101010101" pitchFamily="2" charset="-122"/>
              </a:rPr>
              <a:t>分开。</a:t>
            </a:r>
            <a:endParaRPr lang="zh-CN" altLang="en-US" b="1">
              <a:solidFill>
                <a:srgbClr val="000099"/>
              </a:solidFill>
              <a:latin typeface="Times New Roman" panose="02020603050405020304" pitchFamily="18" charset="0"/>
              <a:ea typeface="华文楷体" panose="02010600040101010101" pitchFamily="2" charset="-122"/>
            </a:endParaRPr>
          </a:p>
          <a:p>
            <a:pPr eaLnBrk="1" hangingPunct="1"/>
            <a:r>
              <a:rPr lang="zh-CN" altLang="en-US" b="1">
                <a:solidFill>
                  <a:schemeClr val="hlink"/>
                </a:solidFill>
                <a:latin typeface="Times New Roman" panose="02020603050405020304" pitchFamily="18" charset="0"/>
                <a:ea typeface="华文楷体" panose="02010600040101010101" pitchFamily="2" charset="-122"/>
              </a:rPr>
              <a:t>第二种方法：使用冒号“</a:t>
            </a:r>
            <a:r>
              <a:rPr lang="en-US" altLang="zh-CN" b="1">
                <a:solidFill>
                  <a:schemeClr val="hlink"/>
                </a:solidFill>
                <a:latin typeface="Times New Roman" panose="02020603050405020304" pitchFamily="18" charset="0"/>
                <a:ea typeface="华文楷体" panose="02010600040101010101" pitchFamily="2" charset="-122"/>
              </a:rPr>
              <a:t>:”</a:t>
            </a:r>
            <a:r>
              <a:rPr lang="zh-CN" altLang="en-US" b="1">
                <a:solidFill>
                  <a:schemeClr val="hlink"/>
                </a:solidFill>
                <a:latin typeface="Times New Roman" panose="02020603050405020304" pitchFamily="18" charset="0"/>
                <a:ea typeface="华文楷体" panose="02010600040101010101" pitchFamily="2" charset="-122"/>
              </a:rPr>
              <a:t>操作符</a:t>
            </a:r>
            <a:endParaRPr lang="zh-CN" altLang="en-US" b="1">
              <a:solidFill>
                <a:schemeClr val="hlink"/>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zh-CN" altLang="en-US" b="1">
                <a:solidFill>
                  <a:srgbClr val="0000FF"/>
                </a:solidFill>
                <a:latin typeface="Times New Roman" panose="02020603050405020304" pitchFamily="18" charset="0"/>
                <a:ea typeface="华文楷体" panose="02010600040101010101" pitchFamily="2" charset="-122"/>
              </a:rPr>
              <a:t>【例</a:t>
            </a:r>
            <a:r>
              <a:rPr lang="en-US" altLang="zh-CN" b="1">
                <a:solidFill>
                  <a:srgbClr val="0000FF"/>
                </a:solidFill>
                <a:latin typeface="Times New Roman" panose="02020603050405020304" pitchFamily="18" charset="0"/>
                <a:ea typeface="华文楷体" panose="02010600040101010101" pitchFamily="2" charset="-122"/>
              </a:rPr>
              <a:t>2-2</a:t>
            </a:r>
            <a:r>
              <a:rPr lang="zh-CN" altLang="en-US" b="1">
                <a:solidFill>
                  <a:srgbClr val="0000FF"/>
                </a:solidFill>
                <a:latin typeface="Times New Roman" panose="02020603050405020304" pitchFamily="18" charset="0"/>
                <a:ea typeface="华文楷体" panose="02010600040101010101" pitchFamily="2" charset="-122"/>
              </a:rPr>
              <a:t>】</a:t>
            </a:r>
            <a:r>
              <a:rPr lang="zh-CN" altLang="en-US" b="1">
                <a:solidFill>
                  <a:srgbClr val="490092"/>
                </a:solidFill>
                <a:latin typeface="Times New Roman" panose="02020603050405020304" pitchFamily="18" charset="0"/>
                <a:ea typeface="华文楷体" panose="02010600040101010101" pitchFamily="2" charset="-122"/>
              </a:rPr>
              <a:t>创建以</a:t>
            </a:r>
            <a:r>
              <a:rPr lang="en-US" altLang="zh-CN" b="1">
                <a:solidFill>
                  <a:srgbClr val="490092"/>
                </a:solidFill>
                <a:latin typeface="Times New Roman" panose="02020603050405020304" pitchFamily="18" charset="0"/>
                <a:ea typeface="华文楷体" panose="02010600040101010101" pitchFamily="2" charset="-122"/>
              </a:rPr>
              <a:t>1~10</a:t>
            </a:r>
            <a:r>
              <a:rPr lang="zh-CN" altLang="en-US" b="1">
                <a:solidFill>
                  <a:srgbClr val="490092"/>
                </a:solidFill>
                <a:latin typeface="Times New Roman" panose="02020603050405020304" pitchFamily="18" charset="0"/>
                <a:ea typeface="华文楷体" panose="02010600040101010101" pitchFamily="2" charset="-122"/>
              </a:rPr>
              <a:t>顺序排列整数为元素的行向量</a:t>
            </a:r>
            <a:r>
              <a:rPr lang="en-US" altLang="zh-CN" b="1">
                <a:solidFill>
                  <a:srgbClr val="490092"/>
                </a:solidFill>
                <a:latin typeface="Times New Roman" panose="02020603050405020304" pitchFamily="18" charset="0"/>
                <a:ea typeface="华文楷体" panose="02010600040101010101" pitchFamily="2" charset="-122"/>
              </a:rPr>
              <a:t>b</a:t>
            </a:r>
            <a:r>
              <a:rPr lang="zh-CN" altLang="en-US" b="1">
                <a:solidFill>
                  <a:srgbClr val="490092"/>
                </a:solidFill>
                <a:latin typeface="Times New Roman" panose="02020603050405020304" pitchFamily="18" charset="0"/>
                <a:ea typeface="华文楷体" panose="02010600040101010101" pitchFamily="2" charset="-122"/>
              </a:rPr>
              <a:t>。</a:t>
            </a:r>
            <a:r>
              <a:rPr lang="en-US" altLang="zh-CN" b="1">
                <a:solidFill>
                  <a:srgbClr val="490092"/>
                </a:solidFill>
                <a:latin typeface="Times New Roman" panose="02020603050405020304" pitchFamily="18" charset="0"/>
                <a:ea typeface="华文楷体" panose="02010600040101010101" pitchFamily="2" charset="-122"/>
              </a:rPr>
              <a:t>&gt;&gt;b=1:10</a:t>
            </a:r>
            <a:endParaRPr lang="en-US" altLang="zh-CN"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b=1 2 3 4 5 6 7 8 9 10</a:t>
            </a:r>
            <a:endParaRPr lang="en-US" altLang="zh-CN" b="1">
              <a:solidFill>
                <a:srgbClr val="000099"/>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endParaRPr lang="en-US" altLang="zh-CN" b="1">
              <a:solidFill>
                <a:srgbClr val="000099"/>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endParaRPr lang="en-US" altLang="zh-CN" b="1">
              <a:solidFill>
                <a:srgbClr val="490092"/>
              </a:solidFill>
              <a:latin typeface="Times New Roman" panose="02020603050405020304" pitchFamily="18" charset="0"/>
            </a:endParaRPr>
          </a:p>
        </p:txBody>
      </p:sp>
      <p:sp>
        <p:nvSpPr>
          <p:cNvPr id="57347"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D4080520-2411-43E8-8595-AC0D4BBAF071}" type="datetime1">
              <a:rPr lang="zh-CN" altLang="en-US" smtClean="0">
                <a:solidFill>
                  <a:srgbClr val="45516B"/>
                </a:solidFill>
              </a:rPr>
            </a:fld>
            <a:endParaRPr lang="zh-CN" altLang="en-US">
              <a:solidFill>
                <a:srgbClr val="45516B"/>
              </a:solidFill>
            </a:endParaRPr>
          </a:p>
        </p:txBody>
      </p:sp>
      <p:sp>
        <p:nvSpPr>
          <p:cNvPr id="57348"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57350" name="灯片编号占位符 3"/>
          <p:cNvSpPr>
            <a:spLocks noGrp="1" noChangeArrowheads="1"/>
          </p:cNvSpPr>
          <p:nvPr>
            <p:ph type="sldNum" sz="quarter" idx="12"/>
          </p:nvPr>
        </p:nvSpPr>
        <p:spPr bwMode="auto">
          <a:noFill/>
          <a:ln>
            <a:miter lim="800000"/>
          </a:ln>
        </p:spPr>
        <p:txBody>
          <a:bodyPr/>
          <a:lstStyle/>
          <a:p>
            <a:fld id="{0FDE0C1E-F847-4DA9-AD0F-1FA495374481}"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5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005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005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0051">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0051">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0051">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0051">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3005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31073"/>
          <p:cNvSpPr>
            <a:spLocks noGrp="1" noChangeArrowheads="1"/>
          </p:cNvSpPr>
          <p:nvPr>
            <p:ph type="title"/>
          </p:nvPr>
        </p:nvSpPr>
        <p:spPr>
          <a:xfrm>
            <a:off x="2640014" y="296863"/>
            <a:ext cx="7793037" cy="647700"/>
          </a:xfrm>
        </p:spPr>
        <p:txBody>
          <a:bodyPr/>
          <a:lstStyle/>
          <a:p>
            <a:pPr marL="685800" indent="-685800"/>
            <a:r>
              <a:rPr lang="en-US" altLang="zh-CN" sz="4000" b="1" dirty="0">
                <a:solidFill>
                  <a:srgbClr val="0000FF"/>
                </a:solidFill>
                <a:latin typeface="Times New Roman" panose="02020603050405020304" pitchFamily="18" charset="0"/>
                <a:ea typeface="华文楷体" panose="02010600040101010101" pitchFamily="2" charset="-122"/>
              </a:rPr>
              <a:t>1.1.2</a:t>
            </a:r>
            <a:r>
              <a:rPr lang="zh-CN" altLang="en-US" sz="4000" b="1" dirty="0">
                <a:solidFill>
                  <a:srgbClr val="0000FF"/>
                </a:solidFill>
                <a:latin typeface="Times New Roman" panose="02020603050405020304" pitchFamily="18" charset="0"/>
                <a:ea typeface="华文楷体" panose="02010600040101010101" pitchFamily="2" charset="-122"/>
              </a:rPr>
              <a:t>、创建一维数组变量</a:t>
            </a:r>
            <a:r>
              <a:rPr lang="zh-CN" altLang="en-US" sz="3500" b="1" dirty="0">
                <a:solidFill>
                  <a:srgbClr val="0000FF"/>
                </a:solidFill>
                <a:latin typeface="Times New Roman" panose="02020603050405020304" pitchFamily="18" charset="0"/>
                <a:ea typeface="华文楷体" panose="02010600040101010101" pitchFamily="2" charset="-122"/>
              </a:rPr>
              <a:t>（续）</a:t>
            </a:r>
            <a:endParaRPr lang="zh-CN" altLang="en-US" sz="3500" b="1" dirty="0">
              <a:solidFill>
                <a:srgbClr val="0000FF"/>
              </a:solidFill>
              <a:latin typeface="Times New Roman" panose="02020603050405020304" pitchFamily="18" charset="0"/>
              <a:ea typeface="华文楷体" panose="02010600040101010101" pitchFamily="2" charset="-122"/>
            </a:endParaRPr>
          </a:p>
        </p:txBody>
      </p:sp>
      <p:sp>
        <p:nvSpPr>
          <p:cNvPr id="131075" name="内容占位符 131074"/>
          <p:cNvSpPr>
            <a:spLocks noGrp="1" noChangeArrowheads="1"/>
          </p:cNvSpPr>
          <p:nvPr>
            <p:ph idx="1"/>
          </p:nvPr>
        </p:nvSpPr>
        <p:spPr>
          <a:xfrm>
            <a:off x="2424113" y="836614"/>
            <a:ext cx="7772400" cy="4791075"/>
          </a:xfrm>
        </p:spPr>
        <p:txBody>
          <a:bodyPr>
            <a:normAutofit lnSpcReduction="10000"/>
          </a:bodyPr>
          <a:lstStyle/>
          <a:p>
            <a:pPr lvl="1" eaLnBrk="1" hangingPunct="1">
              <a:lnSpc>
                <a:spcPct val="90000"/>
              </a:lnSpc>
              <a:buFont typeface="Wingdings" panose="05000000000000000000" pitchFamily="2" charset="2"/>
              <a:buNone/>
            </a:pPr>
            <a:r>
              <a:rPr lang="zh-CN" altLang="en-US" b="1">
                <a:solidFill>
                  <a:srgbClr val="0000FF"/>
                </a:solidFill>
                <a:latin typeface="Times New Roman" panose="02020603050405020304" pitchFamily="18" charset="0"/>
                <a:ea typeface="华文楷体" panose="02010600040101010101" pitchFamily="2" charset="-122"/>
              </a:rPr>
              <a:t>【例</a:t>
            </a:r>
            <a:r>
              <a:rPr lang="en-US" altLang="zh-CN" b="1">
                <a:solidFill>
                  <a:srgbClr val="0000FF"/>
                </a:solidFill>
                <a:latin typeface="Times New Roman" panose="02020603050405020304" pitchFamily="18" charset="0"/>
                <a:ea typeface="华文楷体" panose="02010600040101010101" pitchFamily="2" charset="-122"/>
              </a:rPr>
              <a:t>2-3</a:t>
            </a:r>
            <a:r>
              <a:rPr lang="zh-CN" altLang="en-US" b="1">
                <a:solidFill>
                  <a:srgbClr val="0000FF"/>
                </a:solidFill>
                <a:latin typeface="Times New Roman" panose="02020603050405020304" pitchFamily="18" charset="0"/>
                <a:ea typeface="华文楷体" panose="02010600040101010101" pitchFamily="2" charset="-122"/>
              </a:rPr>
              <a:t>】</a:t>
            </a:r>
            <a:r>
              <a:rPr lang="zh-CN" altLang="en-US" b="1">
                <a:solidFill>
                  <a:srgbClr val="490092"/>
                </a:solidFill>
                <a:latin typeface="Times New Roman" panose="02020603050405020304" pitchFamily="18" charset="0"/>
                <a:ea typeface="华文楷体" panose="02010600040101010101" pitchFamily="2" charset="-122"/>
              </a:rPr>
              <a:t>键入并执行</a:t>
            </a:r>
            <a:r>
              <a:rPr lang="en-US" altLang="zh-CN" b="1">
                <a:solidFill>
                  <a:srgbClr val="490092"/>
                </a:solidFill>
                <a:latin typeface="Times New Roman" panose="02020603050405020304" pitchFamily="18" charset="0"/>
                <a:ea typeface="华文楷体" panose="02010600040101010101" pitchFamily="2" charset="-122"/>
              </a:rPr>
              <a:t>c=1:2:10</a:t>
            </a:r>
            <a:r>
              <a:rPr lang="zh-CN" altLang="en-US" b="1">
                <a:solidFill>
                  <a:srgbClr val="490092"/>
                </a:solidFill>
                <a:latin typeface="Times New Roman" panose="02020603050405020304" pitchFamily="18" charset="0"/>
                <a:ea typeface="华文楷体" panose="02010600040101010101" pitchFamily="2" charset="-122"/>
              </a:rPr>
              <a:t>和</a:t>
            </a:r>
            <a:r>
              <a:rPr lang="en-US" altLang="zh-CN" b="1">
                <a:solidFill>
                  <a:srgbClr val="490092"/>
                </a:solidFill>
                <a:latin typeface="Times New Roman" panose="02020603050405020304" pitchFamily="18" charset="0"/>
                <a:ea typeface="华文楷体" panose="02010600040101010101" pitchFamily="2" charset="-122"/>
              </a:rPr>
              <a:t>d=1:2:9</a:t>
            </a:r>
            <a:endParaRPr lang="en-US" altLang="zh-CN" b="1">
              <a:solidFill>
                <a:srgbClr val="490092"/>
              </a:solidFill>
              <a:latin typeface="Times New Roman" panose="02020603050405020304" pitchFamily="18" charset="0"/>
              <a:ea typeface="华文楷体" panose="02010600040101010101" pitchFamily="2" charset="-122"/>
            </a:endParaRPr>
          </a:p>
          <a:p>
            <a:pPr lvl="1" eaLnBrk="1" hangingPunct="1">
              <a:lnSpc>
                <a:spcPct val="90000"/>
              </a:lnSpc>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&gt;&gt; c=1:2:10</a:t>
            </a:r>
            <a:endParaRPr lang="en-US" altLang="zh-CN" b="1">
              <a:solidFill>
                <a:srgbClr val="490092"/>
              </a:solidFill>
              <a:latin typeface="Times New Roman" panose="02020603050405020304" pitchFamily="18" charset="0"/>
              <a:ea typeface="华文楷体" panose="02010600040101010101" pitchFamily="2" charset="-122"/>
            </a:endParaRPr>
          </a:p>
          <a:p>
            <a:pPr lvl="2" eaLnBrk="1" hangingPunct="1">
              <a:lnSpc>
                <a:spcPct val="90000"/>
              </a:lnSpc>
              <a:buFont typeface="Wingdings" panose="05000000000000000000" pitchFamily="2" charset="2"/>
              <a:buNone/>
            </a:pPr>
            <a:r>
              <a:rPr lang="en-US" altLang="zh-CN" sz="2800" b="1">
                <a:solidFill>
                  <a:srgbClr val="490092"/>
                </a:solidFill>
                <a:latin typeface="Times New Roman" panose="02020603050405020304" pitchFamily="18" charset="0"/>
                <a:ea typeface="华文楷体" panose="02010600040101010101" pitchFamily="2" charset="-122"/>
              </a:rPr>
              <a:t>c=1 3 5 7 9</a:t>
            </a:r>
            <a:endParaRPr lang="en-US" altLang="zh-CN" sz="2800" b="1">
              <a:solidFill>
                <a:srgbClr val="490092"/>
              </a:solidFill>
              <a:latin typeface="Times New Roman" panose="02020603050405020304" pitchFamily="18" charset="0"/>
              <a:ea typeface="华文楷体" panose="02010600040101010101" pitchFamily="2" charset="-122"/>
            </a:endParaRPr>
          </a:p>
          <a:p>
            <a:pPr lvl="1" eaLnBrk="1" hangingPunct="1">
              <a:lnSpc>
                <a:spcPct val="90000"/>
              </a:lnSpc>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&gt;&gt;d=1:2:9</a:t>
            </a:r>
            <a:endParaRPr lang="en-US" altLang="zh-CN" b="1">
              <a:solidFill>
                <a:srgbClr val="490092"/>
              </a:solidFill>
              <a:latin typeface="Times New Roman" panose="02020603050405020304" pitchFamily="18" charset="0"/>
              <a:ea typeface="华文楷体" panose="02010600040101010101" pitchFamily="2" charset="-122"/>
            </a:endParaRPr>
          </a:p>
          <a:p>
            <a:pPr lvl="2" eaLnBrk="1" hangingPunct="1">
              <a:lnSpc>
                <a:spcPct val="90000"/>
              </a:lnSpc>
              <a:buFont typeface="Wingdings" panose="05000000000000000000" pitchFamily="2" charset="2"/>
              <a:buNone/>
            </a:pPr>
            <a:r>
              <a:rPr lang="en-US" altLang="zh-CN" sz="2800" b="1">
                <a:solidFill>
                  <a:srgbClr val="490092"/>
                </a:solidFill>
                <a:latin typeface="Times New Roman" panose="02020603050405020304" pitchFamily="18" charset="0"/>
                <a:ea typeface="华文楷体" panose="02010600040101010101" pitchFamily="2" charset="-122"/>
              </a:rPr>
              <a:t>d= 1 3 5 7 9</a:t>
            </a:r>
            <a:endParaRPr lang="en-US" altLang="zh-CN" sz="2800" b="1">
              <a:solidFill>
                <a:srgbClr val="490092"/>
              </a:solidFill>
              <a:latin typeface="Times New Roman" panose="02020603050405020304" pitchFamily="18" charset="0"/>
              <a:ea typeface="华文楷体" panose="02010600040101010101" pitchFamily="2" charset="-122"/>
            </a:endParaRPr>
          </a:p>
          <a:p>
            <a:pPr lvl="1" eaLnBrk="1" hangingPunct="1">
              <a:lnSpc>
                <a:spcPct val="90000"/>
              </a:lnSpc>
              <a:spcBef>
                <a:spcPct val="45000"/>
              </a:spcBef>
              <a:buFont typeface="Wingdings" panose="05000000000000000000" pitchFamily="2" charset="2"/>
              <a:buNone/>
            </a:pPr>
            <a:r>
              <a:rPr lang="zh-CN" altLang="en-US" b="1">
                <a:solidFill>
                  <a:srgbClr val="0000FF"/>
                </a:solidFill>
                <a:latin typeface="Times New Roman" panose="02020603050405020304" pitchFamily="18" charset="0"/>
                <a:ea typeface="华文楷体" panose="02010600040101010101" pitchFamily="2" charset="-122"/>
              </a:rPr>
              <a:t>利用冒号“</a:t>
            </a:r>
            <a:r>
              <a:rPr lang="en-US" altLang="zh-CN" b="1">
                <a:solidFill>
                  <a:srgbClr val="0000FF"/>
                </a:solidFill>
                <a:latin typeface="Times New Roman" panose="02020603050405020304" pitchFamily="18" charset="0"/>
                <a:ea typeface="华文楷体" panose="02010600040101010101" pitchFamily="2" charset="-122"/>
              </a:rPr>
              <a:t>:”</a:t>
            </a:r>
            <a:r>
              <a:rPr lang="zh-CN" altLang="en-US" b="1">
                <a:solidFill>
                  <a:srgbClr val="0000FF"/>
                </a:solidFill>
                <a:latin typeface="Times New Roman" panose="02020603050405020304" pitchFamily="18" charset="0"/>
                <a:ea typeface="华文楷体" panose="02010600040101010101" pitchFamily="2" charset="-122"/>
              </a:rPr>
              <a:t>操作符创建行向量基本语法格式：</a:t>
            </a:r>
            <a:endParaRPr lang="zh-CN" altLang="en-US" b="1">
              <a:solidFill>
                <a:srgbClr val="0000FF"/>
              </a:solidFill>
              <a:latin typeface="Times New Roman" panose="02020603050405020304" pitchFamily="18" charset="0"/>
              <a:ea typeface="华文楷体" panose="02010600040101010101" pitchFamily="2" charset="-122"/>
            </a:endParaRPr>
          </a:p>
          <a:p>
            <a:pPr lvl="1" eaLnBrk="1" hangingPunct="1">
              <a:lnSpc>
                <a:spcPct val="90000"/>
              </a:lnSpc>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x=Start:Increment:End</a:t>
            </a:r>
            <a:endParaRPr lang="en-US" altLang="zh-CN" b="1">
              <a:solidFill>
                <a:srgbClr val="490092"/>
              </a:solidFill>
              <a:latin typeface="Times New Roman" panose="02020603050405020304" pitchFamily="18" charset="0"/>
              <a:ea typeface="华文楷体" panose="02010600040101010101" pitchFamily="2" charset="-122"/>
            </a:endParaRPr>
          </a:p>
          <a:p>
            <a:pPr lvl="1" eaLnBrk="1" hangingPunct="1"/>
            <a:r>
              <a:rPr lang="en-US" altLang="zh-CN" b="1">
                <a:solidFill>
                  <a:schemeClr val="hlink"/>
                </a:solidFill>
                <a:latin typeface="Times New Roman" panose="02020603050405020304" pitchFamily="18" charset="0"/>
                <a:ea typeface="华文楷体" panose="02010600040101010101" pitchFamily="2" charset="-122"/>
              </a:rPr>
              <a:t>Start</a:t>
            </a:r>
            <a:r>
              <a:rPr lang="zh-CN" altLang="en-US" b="1">
                <a:solidFill>
                  <a:srgbClr val="0000FF"/>
                </a:solidFill>
                <a:latin typeface="Times New Roman" panose="02020603050405020304" pitchFamily="18" charset="0"/>
                <a:ea typeface="华文楷体" panose="02010600040101010101" pitchFamily="2" charset="-122"/>
              </a:rPr>
              <a:t>表示新向量</a:t>
            </a:r>
            <a:r>
              <a:rPr lang="en-US" altLang="zh-CN" b="1">
                <a:solidFill>
                  <a:srgbClr val="0000FF"/>
                </a:solidFill>
                <a:latin typeface="Times New Roman" panose="02020603050405020304" pitchFamily="18" charset="0"/>
                <a:ea typeface="华文楷体" panose="02010600040101010101" pitchFamily="2" charset="-122"/>
              </a:rPr>
              <a:t>x</a:t>
            </a:r>
            <a:r>
              <a:rPr lang="zh-CN" altLang="en-US" b="1">
                <a:solidFill>
                  <a:srgbClr val="0000FF"/>
                </a:solidFill>
                <a:latin typeface="Times New Roman" panose="02020603050405020304" pitchFamily="18" charset="0"/>
                <a:ea typeface="华文楷体" panose="02010600040101010101" pitchFamily="2" charset="-122"/>
              </a:rPr>
              <a:t>的第一个元素；</a:t>
            </a:r>
            <a:endParaRPr lang="zh-CN" altLang="en-US" b="1">
              <a:solidFill>
                <a:srgbClr val="0000FF"/>
              </a:solidFill>
              <a:latin typeface="Times New Roman" panose="02020603050405020304" pitchFamily="18" charset="0"/>
              <a:ea typeface="华文楷体" panose="02010600040101010101" pitchFamily="2" charset="-122"/>
            </a:endParaRPr>
          </a:p>
          <a:p>
            <a:pPr lvl="1" eaLnBrk="1" hangingPunct="1"/>
            <a:r>
              <a:rPr lang="zh-CN" altLang="en-US" b="1">
                <a:solidFill>
                  <a:srgbClr val="0000FF"/>
                </a:solidFill>
                <a:latin typeface="Times New Roman" panose="02020603050405020304" pitchFamily="18" charset="0"/>
                <a:ea typeface="华文楷体" panose="02010600040101010101" pitchFamily="2" charset="-122"/>
              </a:rPr>
              <a:t>新向量</a:t>
            </a:r>
            <a:r>
              <a:rPr lang="en-US" altLang="zh-CN" b="1">
                <a:solidFill>
                  <a:srgbClr val="0000FF"/>
                </a:solidFill>
                <a:latin typeface="Times New Roman" panose="02020603050405020304" pitchFamily="18" charset="0"/>
                <a:ea typeface="华文楷体" panose="02010600040101010101" pitchFamily="2" charset="-122"/>
              </a:rPr>
              <a:t>x</a:t>
            </a:r>
            <a:r>
              <a:rPr lang="zh-CN" altLang="en-US" b="1">
                <a:solidFill>
                  <a:srgbClr val="0000FF"/>
                </a:solidFill>
                <a:latin typeface="Times New Roman" panose="02020603050405020304" pitchFamily="18" charset="0"/>
                <a:ea typeface="华文楷体" panose="02010600040101010101" pitchFamily="2" charset="-122"/>
              </a:rPr>
              <a:t>的最后一个元素不能大于</a:t>
            </a:r>
            <a:r>
              <a:rPr lang="en-US" altLang="zh-CN" b="1">
                <a:solidFill>
                  <a:schemeClr val="hlink"/>
                </a:solidFill>
                <a:latin typeface="Times New Roman" panose="02020603050405020304" pitchFamily="18" charset="0"/>
                <a:ea typeface="华文楷体" panose="02010600040101010101" pitchFamily="2" charset="-122"/>
              </a:rPr>
              <a:t>End </a:t>
            </a:r>
            <a:r>
              <a:rPr lang="zh-CN" altLang="en-US" b="1">
                <a:solidFill>
                  <a:srgbClr val="0000FF"/>
                </a:solidFill>
                <a:latin typeface="Times New Roman" panose="02020603050405020304" pitchFamily="18" charset="0"/>
                <a:ea typeface="华文楷体" panose="02010600040101010101" pitchFamily="2" charset="-122"/>
              </a:rPr>
              <a:t>；</a:t>
            </a:r>
            <a:endParaRPr lang="zh-CN" altLang="en-US" b="1">
              <a:solidFill>
                <a:srgbClr val="0000FF"/>
              </a:solidFill>
              <a:latin typeface="Times New Roman" panose="02020603050405020304" pitchFamily="18" charset="0"/>
              <a:ea typeface="华文楷体" panose="02010600040101010101" pitchFamily="2" charset="-122"/>
            </a:endParaRPr>
          </a:p>
          <a:p>
            <a:pPr lvl="1" eaLnBrk="1" hangingPunct="1"/>
            <a:r>
              <a:rPr lang="en-US" altLang="zh-CN" b="1">
                <a:solidFill>
                  <a:schemeClr val="hlink"/>
                </a:solidFill>
                <a:latin typeface="Times New Roman" panose="02020603050405020304" pitchFamily="18" charset="0"/>
                <a:ea typeface="华文楷体" panose="02010600040101010101" pitchFamily="2" charset="-122"/>
              </a:rPr>
              <a:t>Increment</a:t>
            </a:r>
            <a:r>
              <a:rPr lang="zh-CN" altLang="en-US" b="1">
                <a:solidFill>
                  <a:srgbClr val="0000FF"/>
                </a:solidFill>
                <a:latin typeface="Times New Roman" panose="02020603050405020304" pitchFamily="18" charset="0"/>
                <a:ea typeface="华文楷体" panose="02010600040101010101" pitchFamily="2" charset="-122"/>
              </a:rPr>
              <a:t>可正可负，若负，则必须</a:t>
            </a:r>
            <a:r>
              <a:rPr lang="en-US" altLang="zh-CN" b="1">
                <a:solidFill>
                  <a:schemeClr val="hlink"/>
                </a:solidFill>
                <a:latin typeface="Times New Roman" panose="02020603050405020304" pitchFamily="18" charset="0"/>
                <a:ea typeface="华文楷体" panose="02010600040101010101" pitchFamily="2" charset="-122"/>
              </a:rPr>
              <a:t>Start&gt;End</a:t>
            </a:r>
            <a:r>
              <a:rPr lang="zh-CN" altLang="en-US" b="1">
                <a:solidFill>
                  <a:srgbClr val="0000FF"/>
                </a:solidFill>
                <a:latin typeface="Times New Roman" panose="02020603050405020304" pitchFamily="18" charset="0"/>
                <a:ea typeface="华文楷体" panose="02010600040101010101" pitchFamily="2" charset="-122"/>
              </a:rPr>
              <a:t>；若正，则必须</a:t>
            </a:r>
            <a:r>
              <a:rPr lang="en-US" altLang="zh-CN" b="1">
                <a:solidFill>
                  <a:schemeClr val="hlink"/>
                </a:solidFill>
                <a:latin typeface="Times New Roman" panose="02020603050405020304" pitchFamily="18" charset="0"/>
                <a:ea typeface="华文楷体" panose="02010600040101010101" pitchFamily="2" charset="-122"/>
              </a:rPr>
              <a:t>Start&lt;End</a:t>
            </a:r>
            <a:r>
              <a:rPr lang="zh-CN" altLang="en-US" b="1">
                <a:solidFill>
                  <a:srgbClr val="0000FF"/>
                </a:solidFill>
                <a:latin typeface="Times New Roman" panose="02020603050405020304" pitchFamily="18" charset="0"/>
                <a:ea typeface="华文楷体" panose="02010600040101010101" pitchFamily="2" charset="-122"/>
              </a:rPr>
              <a:t>，否则创建的为空向量。</a:t>
            </a:r>
            <a:endParaRPr lang="zh-CN" altLang="en-US" b="1">
              <a:solidFill>
                <a:srgbClr val="0000FF"/>
              </a:solidFill>
              <a:latin typeface="Times New Roman" panose="02020603050405020304" pitchFamily="18" charset="0"/>
              <a:ea typeface="华文楷体" panose="02010600040101010101" pitchFamily="2" charset="-122"/>
            </a:endParaRPr>
          </a:p>
          <a:p>
            <a:pPr lvl="1" eaLnBrk="1" hangingPunct="1"/>
            <a:r>
              <a:rPr lang="zh-CN" altLang="en-US" b="1">
                <a:solidFill>
                  <a:srgbClr val="0000FF"/>
                </a:solidFill>
                <a:latin typeface="Times New Roman" panose="02020603050405020304" pitchFamily="18" charset="0"/>
                <a:ea typeface="华文楷体" panose="02010600040101010101" pitchFamily="2" charset="-122"/>
              </a:rPr>
              <a:t>若</a:t>
            </a:r>
            <a:r>
              <a:rPr lang="en-US" altLang="zh-CN" b="1">
                <a:solidFill>
                  <a:schemeClr val="hlink"/>
                </a:solidFill>
                <a:latin typeface="Times New Roman" panose="02020603050405020304" pitchFamily="18" charset="0"/>
                <a:ea typeface="华文楷体" panose="02010600040101010101" pitchFamily="2" charset="-122"/>
              </a:rPr>
              <a:t>Increment=1</a:t>
            </a:r>
            <a:r>
              <a:rPr lang="en-US" altLang="zh-CN" b="1">
                <a:solidFill>
                  <a:srgbClr val="0000FF"/>
                </a:solidFill>
                <a:latin typeface="Times New Roman" panose="02020603050405020304" pitchFamily="18" charset="0"/>
                <a:ea typeface="华文楷体" panose="02010600040101010101" pitchFamily="2" charset="-122"/>
              </a:rPr>
              <a:t>,</a:t>
            </a:r>
            <a:r>
              <a:rPr lang="zh-CN" altLang="en-US" b="1">
                <a:solidFill>
                  <a:srgbClr val="0000FF"/>
                </a:solidFill>
                <a:latin typeface="Times New Roman" panose="02020603050405020304" pitchFamily="18" charset="0"/>
                <a:ea typeface="华文楷体" panose="02010600040101010101" pitchFamily="2" charset="-122"/>
              </a:rPr>
              <a:t>则可简写为：</a:t>
            </a:r>
            <a:r>
              <a:rPr lang="en-US" altLang="zh-CN" b="1">
                <a:solidFill>
                  <a:schemeClr val="hlink"/>
                </a:solidFill>
                <a:latin typeface="Times New Roman" panose="02020603050405020304" pitchFamily="18" charset="0"/>
                <a:ea typeface="华文楷体" panose="02010600040101010101" pitchFamily="2" charset="-122"/>
              </a:rPr>
              <a:t>x=Start:End</a:t>
            </a:r>
            <a:r>
              <a:rPr lang="zh-CN" altLang="en-US" b="1">
                <a:solidFill>
                  <a:srgbClr val="0000FF"/>
                </a:solidFill>
                <a:latin typeface="Times New Roman" panose="02020603050405020304" pitchFamily="18" charset="0"/>
                <a:ea typeface="华文楷体" panose="02010600040101010101" pitchFamily="2" charset="-122"/>
              </a:rPr>
              <a:t>。</a:t>
            </a:r>
            <a:endParaRPr lang="zh-CN" altLang="en-US" b="1">
              <a:solidFill>
                <a:srgbClr val="0000FF"/>
              </a:solidFill>
              <a:latin typeface="Times New Roman" panose="02020603050405020304" pitchFamily="18" charset="0"/>
              <a:ea typeface="华文楷体" panose="02010600040101010101" pitchFamily="2" charset="-122"/>
            </a:endParaRPr>
          </a:p>
        </p:txBody>
      </p:sp>
      <p:sp>
        <p:nvSpPr>
          <p:cNvPr id="58371"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3F01EFA4-5328-46B3-AD39-B89B60D14771}" type="datetime1">
              <a:rPr lang="zh-CN" altLang="en-US" smtClean="0">
                <a:solidFill>
                  <a:srgbClr val="45516B"/>
                </a:solidFill>
              </a:rPr>
            </a:fld>
            <a:endParaRPr lang="zh-CN" altLang="en-US">
              <a:solidFill>
                <a:srgbClr val="45516B"/>
              </a:solidFill>
            </a:endParaRPr>
          </a:p>
        </p:txBody>
      </p:sp>
      <p:sp>
        <p:nvSpPr>
          <p:cNvPr id="58372"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58374" name="灯片编号占位符 3"/>
          <p:cNvSpPr>
            <a:spLocks noGrp="1" noChangeArrowheads="1"/>
          </p:cNvSpPr>
          <p:nvPr>
            <p:ph type="sldNum" sz="quarter" idx="12"/>
          </p:nvPr>
        </p:nvSpPr>
        <p:spPr bwMode="auto">
          <a:noFill/>
          <a:ln>
            <a:miter lim="800000"/>
          </a:ln>
        </p:spPr>
        <p:txBody>
          <a:bodyPr/>
          <a:lstStyle/>
          <a:p>
            <a:fld id="{786A0735-CDA6-4232-BE80-6E1322E84829}"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07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107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107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107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1075">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1075">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1075">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31075">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31075">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3107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32097"/>
          <p:cNvSpPr>
            <a:spLocks noGrp="1" noChangeArrowheads="1"/>
          </p:cNvSpPr>
          <p:nvPr>
            <p:ph type="title"/>
          </p:nvPr>
        </p:nvSpPr>
        <p:spPr>
          <a:xfrm>
            <a:off x="2874964" y="296863"/>
            <a:ext cx="7793037" cy="647700"/>
          </a:xfrm>
        </p:spPr>
        <p:txBody>
          <a:bodyPr/>
          <a:lstStyle/>
          <a:p>
            <a:pPr marL="685800" indent="-685800"/>
            <a:r>
              <a:rPr lang="en-US" altLang="zh-CN" sz="4000" b="1" dirty="0">
                <a:solidFill>
                  <a:srgbClr val="0000FF"/>
                </a:solidFill>
                <a:latin typeface="Times New Roman" panose="02020603050405020304" pitchFamily="18" charset="0"/>
                <a:ea typeface="华文楷体" panose="02010600040101010101" pitchFamily="2" charset="-122"/>
              </a:rPr>
              <a:t>1.1.2</a:t>
            </a:r>
            <a:r>
              <a:rPr lang="zh-CN" altLang="en-US" sz="4000" b="1" dirty="0">
                <a:solidFill>
                  <a:srgbClr val="0000FF"/>
                </a:solidFill>
                <a:latin typeface="Times New Roman" panose="02020603050405020304" pitchFamily="18" charset="0"/>
                <a:ea typeface="华文楷体" panose="02010600040101010101" pitchFamily="2" charset="-122"/>
              </a:rPr>
              <a:t>、创建一维数组变量</a:t>
            </a:r>
            <a:r>
              <a:rPr lang="zh-CN" altLang="en-US" sz="3200" b="1" dirty="0">
                <a:solidFill>
                  <a:srgbClr val="0000FF"/>
                </a:solidFill>
                <a:latin typeface="Times New Roman" panose="02020603050405020304" pitchFamily="18" charset="0"/>
                <a:ea typeface="华文楷体" panose="02010600040101010101" pitchFamily="2" charset="-122"/>
              </a:rPr>
              <a:t>（续）</a:t>
            </a:r>
            <a:endParaRPr lang="zh-CN" altLang="en-US" sz="3200" b="1" dirty="0">
              <a:solidFill>
                <a:srgbClr val="0000FF"/>
              </a:solidFill>
              <a:latin typeface="Times New Roman" panose="02020603050405020304" pitchFamily="18" charset="0"/>
              <a:ea typeface="华文楷体" panose="02010600040101010101" pitchFamily="2" charset="-122"/>
            </a:endParaRPr>
          </a:p>
        </p:txBody>
      </p:sp>
      <p:sp>
        <p:nvSpPr>
          <p:cNvPr id="132099" name="内容占位符 132098"/>
          <p:cNvSpPr>
            <a:spLocks noGrp="1" noChangeArrowheads="1"/>
          </p:cNvSpPr>
          <p:nvPr>
            <p:ph idx="1"/>
          </p:nvPr>
        </p:nvSpPr>
        <p:spPr>
          <a:xfrm>
            <a:off x="2640013" y="908051"/>
            <a:ext cx="7772400" cy="4791075"/>
          </a:xfrm>
        </p:spPr>
        <p:txBody>
          <a:bodyPr/>
          <a:lstStyle/>
          <a:p>
            <a:pPr eaLnBrk="1" hangingPunct="1"/>
            <a:r>
              <a:rPr lang="zh-CN" altLang="en-US" b="1" dirty="0">
                <a:solidFill>
                  <a:schemeClr val="hlink"/>
                </a:solidFill>
                <a:latin typeface="Times New Roman" panose="02020603050405020304" pitchFamily="18" charset="0"/>
                <a:ea typeface="华文楷体" panose="02010600040101010101" pitchFamily="2" charset="-122"/>
              </a:rPr>
              <a:t>第三种方法：利用函数</a:t>
            </a:r>
            <a:r>
              <a:rPr lang="en-US" altLang="zh-CN" b="1" dirty="0" err="1">
                <a:solidFill>
                  <a:schemeClr val="hlink"/>
                </a:solidFill>
                <a:latin typeface="Times New Roman" panose="02020603050405020304" pitchFamily="18" charset="0"/>
                <a:ea typeface="华文楷体" panose="02010600040101010101" pitchFamily="2" charset="-122"/>
              </a:rPr>
              <a:t>linspace</a:t>
            </a:r>
            <a:endParaRPr lang="en-US" altLang="zh-CN" b="1" dirty="0">
              <a:solidFill>
                <a:schemeClr val="hlink"/>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zh-CN" altLang="en-US" b="1" dirty="0">
                <a:solidFill>
                  <a:srgbClr val="490092"/>
                </a:solidFill>
                <a:latin typeface="Times New Roman" panose="02020603050405020304" pitchFamily="18" charset="0"/>
                <a:ea typeface="华文楷体" panose="02010600040101010101" pitchFamily="2" charset="-122"/>
              </a:rPr>
              <a:t>函数</a:t>
            </a:r>
            <a:r>
              <a:rPr lang="en-US" altLang="zh-CN" b="1" dirty="0" err="1">
                <a:solidFill>
                  <a:srgbClr val="490092"/>
                </a:solidFill>
                <a:latin typeface="Times New Roman" panose="02020603050405020304" pitchFamily="18" charset="0"/>
                <a:ea typeface="华文楷体" panose="02010600040101010101" pitchFamily="2" charset="-122"/>
              </a:rPr>
              <a:t>linspace</a:t>
            </a:r>
            <a:r>
              <a:rPr lang="zh-CN" altLang="en-US" b="1" dirty="0">
                <a:solidFill>
                  <a:srgbClr val="490092"/>
                </a:solidFill>
                <a:latin typeface="Times New Roman" panose="02020603050405020304" pitchFamily="18" charset="0"/>
                <a:ea typeface="华文楷体" panose="02010600040101010101" pitchFamily="2" charset="-122"/>
              </a:rPr>
              <a:t>的基本语法</a:t>
            </a:r>
            <a:endParaRPr lang="zh-CN" altLang="en-US" b="1" dirty="0">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dirty="0">
                <a:solidFill>
                  <a:srgbClr val="490092"/>
                </a:solidFill>
                <a:latin typeface="Times New Roman" panose="02020603050405020304" pitchFamily="18" charset="0"/>
                <a:ea typeface="华文楷体" panose="02010600040101010101" pitchFamily="2" charset="-122"/>
              </a:rPr>
              <a:t>x= </a:t>
            </a:r>
            <a:r>
              <a:rPr lang="en-US" altLang="zh-CN" b="1" dirty="0" err="1">
                <a:solidFill>
                  <a:srgbClr val="490092"/>
                </a:solidFill>
                <a:latin typeface="Times New Roman" panose="02020603050405020304" pitchFamily="18" charset="0"/>
                <a:ea typeface="华文楷体" panose="02010600040101010101" pitchFamily="2" charset="-122"/>
              </a:rPr>
              <a:t>linspace</a:t>
            </a:r>
            <a:r>
              <a:rPr lang="en-US" altLang="zh-CN" b="1" dirty="0">
                <a:solidFill>
                  <a:srgbClr val="490092"/>
                </a:solidFill>
                <a:latin typeface="Times New Roman" panose="02020603050405020304" pitchFamily="18" charset="0"/>
                <a:ea typeface="华文楷体" panose="02010600040101010101" pitchFamily="2" charset="-122"/>
              </a:rPr>
              <a:t>(x1, x2, n)</a:t>
            </a:r>
            <a:endParaRPr lang="en-US" altLang="zh-CN" b="1" dirty="0">
              <a:solidFill>
                <a:srgbClr val="490092"/>
              </a:solidFill>
              <a:latin typeface="Times New Roman" panose="02020603050405020304" pitchFamily="18" charset="0"/>
              <a:ea typeface="华文楷体" panose="02010600040101010101" pitchFamily="2" charset="-122"/>
            </a:endParaRPr>
          </a:p>
          <a:p>
            <a:pPr lvl="1" eaLnBrk="1" hangingPunct="1"/>
            <a:r>
              <a:rPr lang="zh-CN" altLang="en-US" b="1" dirty="0">
                <a:solidFill>
                  <a:srgbClr val="490092"/>
                </a:solidFill>
                <a:latin typeface="Times New Roman" panose="02020603050405020304" pitchFamily="18" charset="0"/>
                <a:ea typeface="华文楷体" panose="02010600040101010101" pitchFamily="2" charset="-122"/>
              </a:rPr>
              <a:t>该函数生成一个由</a:t>
            </a:r>
            <a:r>
              <a:rPr lang="en-US" altLang="zh-CN" b="1" dirty="0">
                <a:solidFill>
                  <a:srgbClr val="490092"/>
                </a:solidFill>
                <a:latin typeface="Times New Roman" panose="02020603050405020304" pitchFamily="18" charset="0"/>
                <a:ea typeface="华文楷体" panose="02010600040101010101" pitchFamily="2" charset="-122"/>
              </a:rPr>
              <a:t>n</a:t>
            </a:r>
            <a:r>
              <a:rPr lang="zh-CN" altLang="en-US" b="1" dirty="0">
                <a:solidFill>
                  <a:srgbClr val="490092"/>
                </a:solidFill>
                <a:latin typeface="Times New Roman" panose="02020603050405020304" pitchFamily="18" charset="0"/>
                <a:ea typeface="华文楷体" panose="02010600040101010101" pitchFamily="2" charset="-122"/>
              </a:rPr>
              <a:t>个元素组成的行向量；</a:t>
            </a:r>
            <a:endParaRPr lang="zh-CN" altLang="en-US" b="1" dirty="0">
              <a:solidFill>
                <a:srgbClr val="490092"/>
              </a:solidFill>
              <a:latin typeface="Times New Roman" panose="02020603050405020304" pitchFamily="18" charset="0"/>
              <a:ea typeface="华文楷体" panose="02010600040101010101" pitchFamily="2" charset="-122"/>
            </a:endParaRPr>
          </a:p>
          <a:p>
            <a:pPr lvl="1" eaLnBrk="1" hangingPunct="1"/>
            <a:r>
              <a:rPr lang="en-US" altLang="zh-CN" b="1" dirty="0">
                <a:solidFill>
                  <a:schemeClr val="hlink"/>
                </a:solidFill>
                <a:latin typeface="Times New Roman" panose="02020603050405020304" pitchFamily="18" charset="0"/>
                <a:ea typeface="华文楷体" panose="02010600040101010101" pitchFamily="2" charset="-122"/>
              </a:rPr>
              <a:t>x1</a:t>
            </a:r>
            <a:r>
              <a:rPr lang="zh-CN" altLang="en-US" b="1" dirty="0">
                <a:solidFill>
                  <a:srgbClr val="490092"/>
                </a:solidFill>
                <a:latin typeface="Times New Roman" panose="02020603050405020304" pitchFamily="18" charset="0"/>
                <a:ea typeface="华文楷体" panose="02010600040101010101" pitchFamily="2" charset="-122"/>
              </a:rPr>
              <a:t>为其第一个元素；</a:t>
            </a:r>
            <a:endParaRPr lang="zh-CN" altLang="en-US" b="1" dirty="0">
              <a:solidFill>
                <a:srgbClr val="490092"/>
              </a:solidFill>
              <a:latin typeface="Times New Roman" panose="02020603050405020304" pitchFamily="18" charset="0"/>
              <a:ea typeface="华文楷体" panose="02010600040101010101" pitchFamily="2" charset="-122"/>
            </a:endParaRPr>
          </a:p>
          <a:p>
            <a:pPr lvl="1" eaLnBrk="1" hangingPunct="1"/>
            <a:r>
              <a:rPr lang="en-US" altLang="zh-CN" b="1" dirty="0">
                <a:solidFill>
                  <a:schemeClr val="hlink"/>
                </a:solidFill>
                <a:latin typeface="Times New Roman" panose="02020603050405020304" pitchFamily="18" charset="0"/>
                <a:ea typeface="华文楷体" panose="02010600040101010101" pitchFamily="2" charset="-122"/>
              </a:rPr>
              <a:t>x2</a:t>
            </a:r>
            <a:r>
              <a:rPr lang="zh-CN" altLang="en-US" b="1" dirty="0">
                <a:solidFill>
                  <a:srgbClr val="490092"/>
                </a:solidFill>
                <a:latin typeface="Times New Roman" panose="02020603050405020304" pitchFamily="18" charset="0"/>
                <a:ea typeface="华文楷体" panose="02010600040101010101" pitchFamily="2" charset="-122"/>
              </a:rPr>
              <a:t>为其最后一个元素；</a:t>
            </a:r>
            <a:endParaRPr lang="zh-CN" altLang="en-US" b="1" dirty="0">
              <a:solidFill>
                <a:srgbClr val="490092"/>
              </a:solidFill>
              <a:latin typeface="Times New Roman" panose="02020603050405020304" pitchFamily="18" charset="0"/>
              <a:ea typeface="华文楷体" panose="02010600040101010101" pitchFamily="2" charset="-122"/>
            </a:endParaRPr>
          </a:p>
          <a:p>
            <a:pPr lvl="1" eaLnBrk="1" hangingPunct="1"/>
            <a:r>
              <a:rPr lang="en-US" altLang="zh-CN" b="1" dirty="0">
                <a:solidFill>
                  <a:srgbClr val="490092"/>
                </a:solidFill>
                <a:latin typeface="Times New Roman" panose="02020603050405020304" pitchFamily="18" charset="0"/>
                <a:ea typeface="华文楷体" panose="02010600040101010101" pitchFamily="2" charset="-122"/>
              </a:rPr>
              <a:t>x1</a:t>
            </a:r>
            <a:r>
              <a:rPr lang="zh-CN" altLang="en-US" b="1" dirty="0">
                <a:solidFill>
                  <a:srgbClr val="490092"/>
                </a:solidFill>
                <a:latin typeface="Times New Roman" panose="02020603050405020304" pitchFamily="18" charset="0"/>
                <a:ea typeface="华文楷体" panose="02010600040101010101" pitchFamily="2" charset="-122"/>
              </a:rPr>
              <a:t>、</a:t>
            </a:r>
            <a:r>
              <a:rPr lang="en-US" altLang="zh-CN" b="1" dirty="0">
                <a:solidFill>
                  <a:srgbClr val="490092"/>
                </a:solidFill>
                <a:latin typeface="Times New Roman" panose="02020603050405020304" pitchFamily="18" charset="0"/>
                <a:ea typeface="华文楷体" panose="02010600040101010101" pitchFamily="2" charset="-122"/>
              </a:rPr>
              <a:t>x2</a:t>
            </a:r>
            <a:r>
              <a:rPr lang="zh-CN" altLang="en-US" b="1" dirty="0">
                <a:solidFill>
                  <a:srgbClr val="490092"/>
                </a:solidFill>
                <a:latin typeface="Times New Roman" panose="02020603050405020304" pitchFamily="18" charset="0"/>
                <a:ea typeface="华文楷体" panose="02010600040101010101" pitchFamily="2" charset="-122"/>
              </a:rPr>
              <a:t>之间元素的</a:t>
            </a:r>
            <a:r>
              <a:rPr lang="zh-CN" altLang="en-US" b="1" dirty="0">
                <a:solidFill>
                  <a:schemeClr val="hlink"/>
                </a:solidFill>
                <a:latin typeface="Times New Roman" panose="02020603050405020304" pitchFamily="18" charset="0"/>
                <a:ea typeface="华文楷体" panose="02010600040101010101" pitchFamily="2" charset="-122"/>
              </a:rPr>
              <a:t>间隔</a:t>
            </a:r>
            <a:r>
              <a:rPr lang="en-US" altLang="zh-CN" b="1" dirty="0">
                <a:solidFill>
                  <a:schemeClr val="hlink"/>
                </a:solidFill>
                <a:latin typeface="Times New Roman" panose="02020603050405020304" pitchFamily="18" charset="0"/>
                <a:ea typeface="华文楷体" panose="02010600040101010101" pitchFamily="2" charset="-122"/>
              </a:rPr>
              <a:t>=(x2-x1)/(n-1)</a:t>
            </a:r>
            <a:r>
              <a:rPr lang="zh-CN" altLang="en-US" b="1" dirty="0">
                <a:solidFill>
                  <a:srgbClr val="490092"/>
                </a:solidFill>
                <a:latin typeface="Times New Roman" panose="02020603050405020304" pitchFamily="18" charset="0"/>
                <a:ea typeface="华文楷体" panose="02010600040101010101" pitchFamily="2" charset="-122"/>
              </a:rPr>
              <a:t>。</a:t>
            </a:r>
            <a:endParaRPr lang="zh-CN" altLang="en-US" b="1" dirty="0">
              <a:solidFill>
                <a:srgbClr val="490092"/>
              </a:solidFill>
              <a:latin typeface="Times New Roman" panose="02020603050405020304" pitchFamily="18" charset="0"/>
              <a:ea typeface="华文楷体" panose="02010600040101010101" pitchFamily="2" charset="-122"/>
            </a:endParaRPr>
          </a:p>
          <a:p>
            <a:pPr lvl="1" eaLnBrk="1" hangingPunct="1"/>
            <a:r>
              <a:rPr lang="zh-CN" altLang="en-US" b="1" dirty="0">
                <a:solidFill>
                  <a:srgbClr val="490092"/>
                </a:solidFill>
                <a:latin typeface="Times New Roman" panose="02020603050405020304" pitchFamily="18" charset="0"/>
                <a:ea typeface="华文楷体" panose="02010600040101010101" pitchFamily="2" charset="-122"/>
              </a:rPr>
              <a:t>如果忽略参数</a:t>
            </a:r>
            <a:r>
              <a:rPr lang="en-US" altLang="zh-CN" b="1" dirty="0">
                <a:solidFill>
                  <a:srgbClr val="490092"/>
                </a:solidFill>
                <a:latin typeface="Times New Roman" panose="02020603050405020304" pitchFamily="18" charset="0"/>
                <a:ea typeface="华文楷体" panose="02010600040101010101" pitchFamily="2" charset="-122"/>
              </a:rPr>
              <a:t>n</a:t>
            </a:r>
            <a:r>
              <a:rPr lang="zh-CN" altLang="en-US" b="1" dirty="0">
                <a:solidFill>
                  <a:srgbClr val="490092"/>
                </a:solidFill>
                <a:latin typeface="Times New Roman" panose="02020603050405020304" pitchFamily="18" charset="0"/>
                <a:ea typeface="华文楷体" panose="02010600040101010101" pitchFamily="2" charset="-122"/>
              </a:rPr>
              <a:t>，则系统默认生成</a:t>
            </a:r>
            <a:r>
              <a:rPr lang="en-US" altLang="zh-CN" b="1" dirty="0">
                <a:solidFill>
                  <a:schemeClr val="hlink"/>
                </a:solidFill>
                <a:latin typeface="Times New Roman" panose="02020603050405020304" pitchFamily="18" charset="0"/>
                <a:ea typeface="华文楷体" panose="02010600040101010101" pitchFamily="2" charset="-122"/>
              </a:rPr>
              <a:t>100</a:t>
            </a:r>
            <a:r>
              <a:rPr lang="zh-CN" altLang="en-US" b="1" dirty="0">
                <a:solidFill>
                  <a:schemeClr val="hlink"/>
                </a:solidFill>
                <a:latin typeface="Times New Roman" panose="02020603050405020304" pitchFamily="18" charset="0"/>
                <a:ea typeface="华文楷体" panose="02010600040101010101" pitchFamily="2" charset="-122"/>
              </a:rPr>
              <a:t>个</a:t>
            </a:r>
            <a:r>
              <a:rPr lang="zh-CN" altLang="en-US" b="1" dirty="0">
                <a:solidFill>
                  <a:srgbClr val="490092"/>
                </a:solidFill>
                <a:latin typeface="Times New Roman" panose="02020603050405020304" pitchFamily="18" charset="0"/>
                <a:ea typeface="华文楷体" panose="02010600040101010101" pitchFamily="2" charset="-122"/>
              </a:rPr>
              <a:t>元素的行向量。</a:t>
            </a:r>
            <a:endParaRPr lang="zh-CN" altLang="en-US" b="1" dirty="0">
              <a:solidFill>
                <a:srgbClr val="490092"/>
              </a:solidFill>
              <a:latin typeface="Times New Roman" panose="02020603050405020304" pitchFamily="18" charset="0"/>
              <a:ea typeface="华文楷体" panose="02010600040101010101" pitchFamily="2" charset="-122"/>
            </a:endParaRPr>
          </a:p>
          <a:p>
            <a:pPr lvl="1" eaLnBrk="1" hangingPunct="1">
              <a:spcBef>
                <a:spcPct val="55000"/>
              </a:spcBef>
              <a:buClrTx/>
              <a:buFont typeface="Wingdings" panose="05000000000000000000" pitchFamily="2" charset="2"/>
              <a:buNone/>
            </a:pPr>
            <a:r>
              <a:rPr lang="zh-CN" altLang="en-US" b="1" dirty="0">
                <a:solidFill>
                  <a:srgbClr val="0000FF"/>
                </a:solidFill>
                <a:latin typeface="Times New Roman" panose="02020603050405020304" pitchFamily="18" charset="0"/>
                <a:ea typeface="华文楷体" panose="02010600040101010101" pitchFamily="2" charset="-122"/>
              </a:rPr>
              <a:t>【例</a:t>
            </a:r>
            <a:r>
              <a:rPr lang="en-US" altLang="zh-CN" b="1" dirty="0">
                <a:solidFill>
                  <a:srgbClr val="0000FF"/>
                </a:solidFill>
                <a:latin typeface="Times New Roman" panose="02020603050405020304" pitchFamily="18" charset="0"/>
                <a:ea typeface="华文楷体" panose="02010600040101010101" pitchFamily="2" charset="-122"/>
              </a:rPr>
              <a:t>2-4</a:t>
            </a:r>
            <a:r>
              <a:rPr lang="zh-CN" altLang="en-US" b="1" dirty="0">
                <a:solidFill>
                  <a:srgbClr val="0000FF"/>
                </a:solidFill>
                <a:latin typeface="Times New Roman" panose="02020603050405020304" pitchFamily="18" charset="0"/>
                <a:ea typeface="华文楷体" panose="02010600040101010101" pitchFamily="2" charset="-122"/>
              </a:rPr>
              <a:t>】</a:t>
            </a:r>
            <a:r>
              <a:rPr lang="zh-CN" altLang="en-US" b="1" dirty="0">
                <a:solidFill>
                  <a:srgbClr val="490092"/>
                </a:solidFill>
                <a:latin typeface="Times New Roman" panose="02020603050405020304" pitchFamily="18" charset="0"/>
                <a:ea typeface="华文楷体" panose="02010600040101010101" pitchFamily="2" charset="-122"/>
              </a:rPr>
              <a:t>键入并执行</a:t>
            </a:r>
            <a:r>
              <a:rPr lang="en-US" altLang="zh-CN" b="1" dirty="0">
                <a:latin typeface="Times New Roman" panose="02020603050405020304" pitchFamily="18" charset="0"/>
                <a:ea typeface="华文楷体" panose="02010600040101010101" pitchFamily="2" charset="-122"/>
              </a:rPr>
              <a:t>x= </a:t>
            </a:r>
            <a:r>
              <a:rPr lang="en-US" altLang="zh-CN" b="1" dirty="0" err="1">
                <a:latin typeface="Times New Roman" panose="02020603050405020304" pitchFamily="18" charset="0"/>
                <a:ea typeface="华文楷体" panose="02010600040101010101" pitchFamily="2" charset="-122"/>
              </a:rPr>
              <a:t>linspace</a:t>
            </a:r>
            <a:r>
              <a:rPr lang="en-US" altLang="zh-CN" b="1" dirty="0">
                <a:latin typeface="Times New Roman" panose="02020603050405020304" pitchFamily="18" charset="0"/>
                <a:ea typeface="华文楷体" panose="02010600040101010101" pitchFamily="2" charset="-122"/>
              </a:rPr>
              <a:t>(1,2,5)</a:t>
            </a:r>
            <a:endParaRPr lang="en-US" altLang="zh-CN" b="1" dirty="0">
              <a:latin typeface="Times New Roman" panose="02020603050405020304" pitchFamily="18" charset="0"/>
              <a:ea typeface="华文楷体" panose="02010600040101010101" pitchFamily="2" charset="-122"/>
            </a:endParaRPr>
          </a:p>
          <a:p>
            <a:pPr lvl="1" eaLnBrk="1" hangingPunct="1">
              <a:buClrTx/>
              <a:buFont typeface="Wingdings" panose="05000000000000000000" pitchFamily="2" charset="2"/>
              <a:buNone/>
            </a:pPr>
            <a:r>
              <a:rPr lang="en-US" altLang="zh-CN" b="1" dirty="0">
                <a:solidFill>
                  <a:srgbClr val="490092"/>
                </a:solidFill>
                <a:latin typeface="Times New Roman" panose="02020603050405020304" pitchFamily="18" charset="0"/>
                <a:ea typeface="华文楷体" panose="02010600040101010101" pitchFamily="2" charset="-122"/>
              </a:rPr>
              <a:t>x=1.0000    1.2500    1.5000    1.7500    1.0000</a:t>
            </a:r>
            <a:endParaRPr lang="en-US" altLang="zh-CN" b="1" dirty="0">
              <a:solidFill>
                <a:srgbClr val="490092"/>
              </a:solidFill>
              <a:latin typeface="Times New Roman" panose="02020603050405020304" pitchFamily="18" charset="0"/>
              <a:ea typeface="华文楷体" panose="02010600040101010101" pitchFamily="2" charset="-122"/>
            </a:endParaRPr>
          </a:p>
          <a:p>
            <a:pPr lvl="1" eaLnBrk="1" hangingPunct="1">
              <a:spcBef>
                <a:spcPct val="50000"/>
              </a:spcBef>
              <a:buClrTx/>
              <a:buFont typeface="Wingdings" panose="05000000000000000000" pitchFamily="2" charset="2"/>
              <a:buNone/>
            </a:pPr>
            <a:endParaRPr lang="en-US" altLang="zh-CN" b="1" dirty="0">
              <a:solidFill>
                <a:srgbClr val="490092"/>
              </a:solidFill>
              <a:latin typeface="Times New Roman" panose="02020603050405020304" pitchFamily="18" charset="0"/>
              <a:ea typeface="华文楷体" panose="02010600040101010101" pitchFamily="2" charset="-122"/>
            </a:endParaRPr>
          </a:p>
        </p:txBody>
      </p:sp>
      <p:sp>
        <p:nvSpPr>
          <p:cNvPr id="59395"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85C325E3-07CE-4454-882B-AB711A672B3C}" type="datetime1">
              <a:rPr lang="zh-CN" altLang="en-US" smtClean="0">
                <a:solidFill>
                  <a:srgbClr val="45516B"/>
                </a:solidFill>
              </a:rPr>
            </a:fld>
            <a:endParaRPr lang="zh-CN" altLang="en-US">
              <a:solidFill>
                <a:srgbClr val="45516B"/>
              </a:solidFill>
            </a:endParaRPr>
          </a:p>
        </p:txBody>
      </p:sp>
      <p:sp>
        <p:nvSpPr>
          <p:cNvPr id="59396"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59398" name="灯片编号占位符 3"/>
          <p:cNvSpPr>
            <a:spLocks noGrp="1" noChangeArrowheads="1"/>
          </p:cNvSpPr>
          <p:nvPr>
            <p:ph type="sldNum" sz="quarter" idx="12"/>
          </p:nvPr>
        </p:nvSpPr>
        <p:spPr bwMode="auto">
          <a:noFill/>
          <a:ln>
            <a:miter lim="800000"/>
          </a:ln>
        </p:spPr>
        <p:txBody>
          <a:bodyPr/>
          <a:lstStyle/>
          <a:p>
            <a:fld id="{869631C8-CD1E-46FE-9F1A-4CE8E1B623E5}"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209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209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209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209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2099">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2099">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2099">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32099">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3209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33121"/>
          <p:cNvSpPr>
            <a:spLocks noGrp="1" noChangeArrowheads="1"/>
          </p:cNvSpPr>
          <p:nvPr>
            <p:ph type="title"/>
          </p:nvPr>
        </p:nvSpPr>
        <p:spPr>
          <a:xfrm>
            <a:off x="2603500" y="368300"/>
            <a:ext cx="7793038" cy="647700"/>
          </a:xfrm>
        </p:spPr>
        <p:txBody>
          <a:bodyPr/>
          <a:lstStyle/>
          <a:p>
            <a:pPr marL="685800" indent="-685800"/>
            <a:r>
              <a:rPr lang="en-US" altLang="zh-CN" sz="4000" b="1" dirty="0">
                <a:solidFill>
                  <a:srgbClr val="0000FF"/>
                </a:solidFill>
                <a:latin typeface="Times New Roman" panose="02020603050405020304" pitchFamily="18" charset="0"/>
                <a:ea typeface="华文楷体" panose="02010600040101010101" pitchFamily="2" charset="-122"/>
              </a:rPr>
              <a:t>1.1.2</a:t>
            </a:r>
            <a:r>
              <a:rPr lang="zh-CN" altLang="en-US" sz="4000" b="1" dirty="0">
                <a:solidFill>
                  <a:srgbClr val="0000FF"/>
                </a:solidFill>
                <a:latin typeface="Times New Roman" panose="02020603050405020304" pitchFamily="18" charset="0"/>
                <a:ea typeface="华文楷体" panose="02010600040101010101" pitchFamily="2" charset="-122"/>
              </a:rPr>
              <a:t>、创建一维数组变量</a:t>
            </a:r>
            <a:r>
              <a:rPr lang="zh-CN" altLang="en-US" sz="3200" b="1" dirty="0">
                <a:solidFill>
                  <a:srgbClr val="0000FF"/>
                </a:solidFill>
                <a:latin typeface="Times New Roman" panose="02020603050405020304" pitchFamily="18" charset="0"/>
                <a:ea typeface="华文楷体" panose="02010600040101010101" pitchFamily="2" charset="-122"/>
              </a:rPr>
              <a:t>（续）</a:t>
            </a:r>
            <a:endParaRPr lang="zh-CN" altLang="en-US" sz="3200" b="1" dirty="0">
              <a:solidFill>
                <a:srgbClr val="0000FF"/>
              </a:solidFill>
              <a:latin typeface="Times New Roman" panose="02020603050405020304" pitchFamily="18" charset="0"/>
              <a:ea typeface="华文楷体" panose="02010600040101010101" pitchFamily="2" charset="-122"/>
            </a:endParaRPr>
          </a:p>
        </p:txBody>
      </p:sp>
      <p:sp>
        <p:nvSpPr>
          <p:cNvPr id="133123" name="内容占位符 133122"/>
          <p:cNvSpPr>
            <a:spLocks noGrp="1" noChangeArrowheads="1"/>
          </p:cNvSpPr>
          <p:nvPr>
            <p:ph idx="1"/>
          </p:nvPr>
        </p:nvSpPr>
        <p:spPr>
          <a:xfrm>
            <a:off x="2566988" y="908051"/>
            <a:ext cx="7772400" cy="4791075"/>
          </a:xfrm>
        </p:spPr>
        <p:txBody>
          <a:bodyPr/>
          <a:lstStyle/>
          <a:p>
            <a:pPr eaLnBrk="1" hangingPunct="1">
              <a:spcBef>
                <a:spcPct val="50000"/>
              </a:spcBef>
              <a:buFont typeface="Wingdings" panose="05000000000000000000" pitchFamily="2" charset="2"/>
              <a:buNone/>
            </a:pPr>
            <a:r>
              <a:rPr lang="zh-CN" altLang="en-US" b="1">
                <a:solidFill>
                  <a:srgbClr val="490092"/>
                </a:solidFill>
                <a:latin typeface="Times New Roman" panose="02020603050405020304" pitchFamily="18" charset="0"/>
                <a:ea typeface="华文楷体" panose="02010600040101010101" pitchFamily="2" charset="-122"/>
              </a:rPr>
              <a:t>列向量的创建</a:t>
            </a:r>
            <a:endParaRPr lang="zh-CN" altLang="en-US" b="1">
              <a:solidFill>
                <a:srgbClr val="490092"/>
              </a:solidFill>
              <a:latin typeface="Times New Roman" panose="02020603050405020304" pitchFamily="18" charset="0"/>
              <a:ea typeface="华文楷体" panose="02010600040101010101" pitchFamily="2" charset="-122"/>
            </a:endParaRPr>
          </a:p>
          <a:p>
            <a:pPr lvl="1" eaLnBrk="1" hangingPunct="1">
              <a:spcBef>
                <a:spcPct val="50000"/>
              </a:spcBef>
            </a:pPr>
            <a:r>
              <a:rPr lang="zh-CN" altLang="en-US" b="1">
                <a:solidFill>
                  <a:schemeClr val="hlink"/>
                </a:solidFill>
                <a:latin typeface="Times New Roman" panose="02020603050405020304" pitchFamily="18" charset="0"/>
                <a:ea typeface="华文楷体" panose="02010600040101010101" pitchFamily="2" charset="-122"/>
              </a:rPr>
              <a:t>使用方括号“</a:t>
            </a:r>
            <a:r>
              <a:rPr lang="en-US" altLang="zh-CN" b="1">
                <a:solidFill>
                  <a:schemeClr val="hlink"/>
                </a:solidFill>
                <a:latin typeface="Times New Roman" panose="02020603050405020304" pitchFamily="18" charset="0"/>
                <a:ea typeface="华文楷体" panose="02010600040101010101" pitchFamily="2" charset="-122"/>
              </a:rPr>
              <a:t>[ ]”</a:t>
            </a:r>
            <a:r>
              <a:rPr lang="zh-CN" altLang="en-US" b="1">
                <a:solidFill>
                  <a:schemeClr val="hlink"/>
                </a:solidFill>
                <a:latin typeface="Times New Roman" panose="02020603050405020304" pitchFamily="18" charset="0"/>
                <a:ea typeface="华文楷体" panose="02010600040101010101" pitchFamily="2" charset="-122"/>
              </a:rPr>
              <a:t>操作符；用分号“</a:t>
            </a:r>
            <a:r>
              <a:rPr lang="en-US" altLang="zh-CN" b="1">
                <a:solidFill>
                  <a:schemeClr val="hlink"/>
                </a:solidFill>
                <a:latin typeface="Times New Roman" panose="02020603050405020304" pitchFamily="18" charset="0"/>
                <a:ea typeface="华文楷体" panose="02010600040101010101" pitchFamily="2" charset="-122"/>
              </a:rPr>
              <a:t>;”</a:t>
            </a:r>
            <a:r>
              <a:rPr lang="zh-CN" altLang="en-US" b="1">
                <a:solidFill>
                  <a:schemeClr val="hlink"/>
                </a:solidFill>
                <a:latin typeface="Times New Roman" panose="02020603050405020304" pitchFamily="18" charset="0"/>
                <a:ea typeface="华文楷体" panose="02010600040101010101" pitchFamily="2" charset="-122"/>
              </a:rPr>
              <a:t>分割行。</a:t>
            </a:r>
            <a:endParaRPr lang="zh-CN" altLang="en-US" b="1">
              <a:solidFill>
                <a:schemeClr val="hlink"/>
              </a:solidFill>
              <a:latin typeface="Times New Roman" panose="02020603050405020304" pitchFamily="18" charset="0"/>
              <a:ea typeface="华文楷体" panose="02010600040101010101" pitchFamily="2" charset="-122"/>
            </a:endParaRPr>
          </a:p>
          <a:p>
            <a:pPr lvl="1" eaLnBrk="1" hangingPunct="1">
              <a:spcBef>
                <a:spcPct val="50000"/>
              </a:spcBef>
              <a:buFont typeface="Wingdings" panose="05000000000000000000" pitchFamily="2" charset="2"/>
              <a:buNone/>
            </a:pPr>
            <a:r>
              <a:rPr lang="zh-CN" altLang="en-US" b="1">
                <a:solidFill>
                  <a:srgbClr val="0000FF"/>
                </a:solidFill>
                <a:latin typeface="Times New Roman" panose="02020603050405020304" pitchFamily="18" charset="0"/>
                <a:ea typeface="华文楷体" panose="02010600040101010101" pitchFamily="2" charset="-122"/>
              </a:rPr>
              <a:t>【例</a:t>
            </a:r>
            <a:r>
              <a:rPr lang="en-US" altLang="zh-CN" b="1">
                <a:solidFill>
                  <a:srgbClr val="0000FF"/>
                </a:solidFill>
                <a:latin typeface="Times New Roman" panose="02020603050405020304" pitchFamily="18" charset="0"/>
                <a:ea typeface="华文楷体" panose="02010600040101010101" pitchFamily="2" charset="-122"/>
              </a:rPr>
              <a:t>2-5</a:t>
            </a:r>
            <a:r>
              <a:rPr lang="zh-CN" altLang="en-US" b="1">
                <a:solidFill>
                  <a:srgbClr val="0000FF"/>
                </a:solidFill>
                <a:latin typeface="Times New Roman" panose="02020603050405020304" pitchFamily="18" charset="0"/>
                <a:ea typeface="华文楷体" panose="02010600040101010101" pitchFamily="2" charset="-122"/>
              </a:rPr>
              <a:t>】</a:t>
            </a:r>
            <a:r>
              <a:rPr lang="zh-CN" altLang="en-US" b="1">
                <a:solidFill>
                  <a:srgbClr val="490092"/>
                </a:solidFill>
                <a:latin typeface="Times New Roman" panose="02020603050405020304" pitchFamily="18" charset="0"/>
                <a:ea typeface="华文楷体" panose="02010600040101010101" pitchFamily="2" charset="-122"/>
              </a:rPr>
              <a:t>键入并执行</a:t>
            </a:r>
            <a:r>
              <a:rPr lang="en-US" altLang="zh-CN" b="1">
                <a:solidFill>
                  <a:srgbClr val="490092"/>
                </a:solidFill>
                <a:latin typeface="Times New Roman" panose="02020603050405020304" pitchFamily="18" charset="0"/>
                <a:ea typeface="华文楷体" panose="02010600040101010101" pitchFamily="2" charset="-122"/>
              </a:rPr>
              <a:t>x= [1; 2; 3]</a:t>
            </a:r>
            <a:endParaRPr lang="en-US" altLang="zh-CN" b="1">
              <a:solidFill>
                <a:srgbClr val="490092"/>
              </a:solidFill>
              <a:latin typeface="Times New Roman" panose="02020603050405020304" pitchFamily="18" charset="0"/>
              <a:ea typeface="华文楷体" panose="02010600040101010101" pitchFamily="2" charset="-122"/>
            </a:endParaRPr>
          </a:p>
          <a:p>
            <a:pPr lvl="1" eaLnBrk="1" hangingPunct="1">
              <a:spcBef>
                <a:spcPct val="55000"/>
              </a:spcBef>
              <a:buClrTx/>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X=1</a:t>
            </a:r>
            <a:endParaRPr lang="en-US" altLang="zh-CN" b="1">
              <a:solidFill>
                <a:srgbClr val="490092"/>
              </a:solidFill>
              <a:latin typeface="Times New Roman" panose="02020603050405020304" pitchFamily="18" charset="0"/>
              <a:ea typeface="华文楷体" panose="02010600040101010101" pitchFamily="2" charset="-122"/>
            </a:endParaRPr>
          </a:p>
          <a:p>
            <a:pPr lvl="1" eaLnBrk="1" hangingPunct="1">
              <a:spcBef>
                <a:spcPct val="0"/>
              </a:spcBef>
              <a:buClrTx/>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    2</a:t>
            </a:r>
            <a:endParaRPr lang="en-US" altLang="zh-CN" b="1">
              <a:solidFill>
                <a:srgbClr val="490092"/>
              </a:solidFill>
              <a:latin typeface="Times New Roman" panose="02020603050405020304" pitchFamily="18" charset="0"/>
              <a:ea typeface="华文楷体" panose="02010600040101010101" pitchFamily="2" charset="-122"/>
            </a:endParaRPr>
          </a:p>
          <a:p>
            <a:pPr lvl="1" eaLnBrk="1" hangingPunct="1">
              <a:spcBef>
                <a:spcPct val="0"/>
              </a:spcBef>
              <a:buClrTx/>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    3</a:t>
            </a:r>
            <a:endParaRPr lang="en-US" altLang="zh-CN" b="1">
              <a:solidFill>
                <a:srgbClr val="490092"/>
              </a:solidFill>
              <a:latin typeface="Times New Roman" panose="02020603050405020304" pitchFamily="18" charset="0"/>
              <a:ea typeface="华文楷体" panose="02010600040101010101" pitchFamily="2" charset="-122"/>
            </a:endParaRPr>
          </a:p>
          <a:p>
            <a:pPr lvl="1" eaLnBrk="1" hangingPunct="1">
              <a:spcBef>
                <a:spcPct val="55000"/>
              </a:spcBef>
            </a:pPr>
            <a:r>
              <a:rPr lang="zh-CN" altLang="en-US" b="1">
                <a:solidFill>
                  <a:schemeClr val="hlink"/>
                </a:solidFill>
                <a:latin typeface="Times New Roman" panose="02020603050405020304" pitchFamily="18" charset="0"/>
                <a:ea typeface="华文楷体" panose="02010600040101010101" pitchFamily="2" charset="-122"/>
              </a:rPr>
              <a:t>使用冒号操作符</a:t>
            </a:r>
            <a:endParaRPr lang="zh-CN" altLang="en-US" b="1">
              <a:solidFill>
                <a:schemeClr val="hlink"/>
              </a:solidFill>
              <a:latin typeface="Times New Roman" panose="02020603050405020304" pitchFamily="18" charset="0"/>
              <a:ea typeface="华文楷体" panose="02010600040101010101" pitchFamily="2" charset="-122"/>
            </a:endParaRPr>
          </a:p>
          <a:p>
            <a:pPr lvl="1" eaLnBrk="1" hangingPunct="1">
              <a:spcBef>
                <a:spcPct val="55000"/>
              </a:spcBef>
              <a:buClrTx/>
              <a:buFont typeface="Wingdings" panose="05000000000000000000" pitchFamily="2" charset="2"/>
              <a:buNone/>
            </a:pPr>
            <a:r>
              <a:rPr lang="zh-CN" altLang="en-US" b="1">
                <a:solidFill>
                  <a:srgbClr val="0000FF"/>
                </a:solidFill>
                <a:latin typeface="Times New Roman" panose="02020603050405020304" pitchFamily="18" charset="0"/>
                <a:ea typeface="华文楷体" panose="02010600040101010101" pitchFamily="2" charset="-122"/>
              </a:rPr>
              <a:t>【例</a:t>
            </a:r>
            <a:r>
              <a:rPr lang="en-US" altLang="zh-CN" b="1">
                <a:solidFill>
                  <a:srgbClr val="0000FF"/>
                </a:solidFill>
                <a:latin typeface="Times New Roman" panose="02020603050405020304" pitchFamily="18" charset="0"/>
                <a:ea typeface="华文楷体" panose="02010600040101010101" pitchFamily="2" charset="-122"/>
              </a:rPr>
              <a:t>2-6</a:t>
            </a:r>
            <a:r>
              <a:rPr lang="zh-CN" altLang="en-US" b="1">
                <a:solidFill>
                  <a:srgbClr val="0000FF"/>
                </a:solidFill>
                <a:latin typeface="Times New Roman" panose="02020603050405020304" pitchFamily="18" charset="0"/>
                <a:ea typeface="华文楷体" panose="02010600040101010101" pitchFamily="2" charset="-122"/>
              </a:rPr>
              <a:t>】</a:t>
            </a:r>
            <a:r>
              <a:rPr lang="zh-CN" altLang="en-US" b="1">
                <a:solidFill>
                  <a:srgbClr val="490092"/>
                </a:solidFill>
                <a:latin typeface="Times New Roman" panose="02020603050405020304" pitchFamily="18" charset="0"/>
                <a:ea typeface="华文楷体" panose="02010600040101010101" pitchFamily="2" charset="-122"/>
              </a:rPr>
              <a:t>键入并执行</a:t>
            </a:r>
            <a:r>
              <a:rPr lang="en-US" altLang="zh-CN" b="1">
                <a:solidFill>
                  <a:srgbClr val="490092"/>
                </a:solidFill>
                <a:latin typeface="Times New Roman" panose="02020603050405020304" pitchFamily="18" charset="0"/>
                <a:ea typeface="华文楷体" panose="02010600040101010101" pitchFamily="2" charset="-122"/>
              </a:rPr>
              <a:t>x= (1:3)’    </a:t>
            </a:r>
            <a:r>
              <a:rPr lang="en-US" altLang="zh-CN" b="1">
                <a:solidFill>
                  <a:srgbClr val="008000"/>
                </a:solidFill>
                <a:latin typeface="Times New Roman" panose="02020603050405020304" pitchFamily="18" charset="0"/>
                <a:ea typeface="华文楷体" panose="02010600040101010101" pitchFamily="2" charset="-122"/>
              </a:rPr>
              <a:t>% “ ’ ”</a:t>
            </a:r>
            <a:r>
              <a:rPr lang="zh-CN" altLang="en-US" b="1">
                <a:solidFill>
                  <a:srgbClr val="008000"/>
                </a:solidFill>
                <a:latin typeface="Times New Roman" panose="02020603050405020304" pitchFamily="18" charset="0"/>
                <a:ea typeface="华文楷体" panose="02010600040101010101" pitchFamily="2" charset="-122"/>
              </a:rPr>
              <a:t>表示矩阵的转置</a:t>
            </a:r>
            <a:endParaRPr lang="zh-CN" altLang="en-US" b="1">
              <a:solidFill>
                <a:srgbClr val="008000"/>
              </a:solidFill>
              <a:latin typeface="Times New Roman" panose="02020603050405020304" pitchFamily="18" charset="0"/>
              <a:ea typeface="华文楷体" panose="02010600040101010101" pitchFamily="2" charset="-122"/>
            </a:endParaRPr>
          </a:p>
          <a:p>
            <a:pPr lvl="1" eaLnBrk="1" hangingPunct="1">
              <a:spcBef>
                <a:spcPct val="50000"/>
              </a:spcBef>
            </a:pPr>
            <a:endParaRPr lang="zh-CN" altLang="en-US" b="1">
              <a:solidFill>
                <a:srgbClr val="008000"/>
              </a:solidFill>
              <a:latin typeface="Times New Roman" panose="02020603050405020304" pitchFamily="18" charset="0"/>
              <a:ea typeface="华文楷体" panose="02010600040101010101" pitchFamily="2" charset="-122"/>
            </a:endParaRPr>
          </a:p>
        </p:txBody>
      </p:sp>
      <p:sp>
        <p:nvSpPr>
          <p:cNvPr id="60419"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2A619CDF-65CF-4C09-AAEF-67CF2AF8505B}" type="datetime1">
              <a:rPr lang="zh-CN" altLang="en-US" smtClean="0">
                <a:solidFill>
                  <a:srgbClr val="45516B"/>
                </a:solidFill>
              </a:rPr>
            </a:fld>
            <a:endParaRPr lang="zh-CN" altLang="en-US">
              <a:solidFill>
                <a:srgbClr val="45516B"/>
              </a:solidFill>
            </a:endParaRPr>
          </a:p>
        </p:txBody>
      </p:sp>
      <p:sp>
        <p:nvSpPr>
          <p:cNvPr id="60420"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60422" name="灯片编号占位符 3"/>
          <p:cNvSpPr>
            <a:spLocks noGrp="1" noChangeArrowheads="1"/>
          </p:cNvSpPr>
          <p:nvPr>
            <p:ph type="sldNum" sz="quarter" idx="12"/>
          </p:nvPr>
        </p:nvSpPr>
        <p:spPr bwMode="auto">
          <a:noFill/>
          <a:ln>
            <a:miter lim="800000"/>
          </a:ln>
        </p:spPr>
        <p:txBody>
          <a:bodyPr/>
          <a:lstStyle/>
          <a:p>
            <a:fld id="{F5CA2544-E2DC-4ED3-8809-604D068A4485}"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1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12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312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312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312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31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34145"/>
          <p:cNvSpPr>
            <a:spLocks noGrp="1" noChangeArrowheads="1"/>
          </p:cNvSpPr>
          <p:nvPr>
            <p:ph type="title"/>
          </p:nvPr>
        </p:nvSpPr>
        <p:spPr>
          <a:xfrm>
            <a:off x="2640014" y="260350"/>
            <a:ext cx="7793037" cy="647700"/>
          </a:xfrm>
        </p:spPr>
        <p:txBody>
          <a:bodyPr>
            <a:normAutofit fontScale="90000"/>
          </a:bodyPr>
          <a:lstStyle/>
          <a:p>
            <a:pPr marL="685800" indent="-685800"/>
            <a:r>
              <a:rPr lang="en-US" altLang="zh-CN" sz="4000" b="1" dirty="0">
                <a:solidFill>
                  <a:srgbClr val="0000FF"/>
                </a:solidFill>
                <a:latin typeface="Times New Roman" panose="02020603050405020304" pitchFamily="18" charset="0"/>
                <a:ea typeface="华文楷体" panose="02010600040101010101" pitchFamily="2" charset="-122"/>
              </a:rPr>
              <a:t>1.1.2</a:t>
            </a:r>
            <a:r>
              <a:rPr lang="zh-CN" altLang="en-US" sz="4000" b="1" dirty="0">
                <a:solidFill>
                  <a:srgbClr val="0000FF"/>
                </a:solidFill>
                <a:latin typeface="Times New Roman" panose="02020603050405020304" pitchFamily="18" charset="0"/>
                <a:ea typeface="华文楷体" panose="02010600040101010101" pitchFamily="2" charset="-122"/>
              </a:rPr>
              <a:t>、创建一维数组变量</a:t>
            </a:r>
            <a:r>
              <a:rPr lang="zh-CN" altLang="en-US" b="1" dirty="0">
                <a:solidFill>
                  <a:srgbClr val="0000FF"/>
                </a:solidFill>
                <a:latin typeface="Times New Roman" panose="02020603050405020304" pitchFamily="18" charset="0"/>
                <a:ea typeface="华文楷体" panose="02010600040101010101" pitchFamily="2" charset="-122"/>
              </a:rPr>
              <a:t> </a:t>
            </a:r>
            <a:r>
              <a:rPr lang="zh-CN" altLang="en-US" sz="3500" b="1" dirty="0">
                <a:solidFill>
                  <a:srgbClr val="0000FF"/>
                </a:solidFill>
                <a:latin typeface="Times New Roman" panose="02020603050405020304" pitchFamily="18" charset="0"/>
                <a:ea typeface="华文楷体" panose="02010600040101010101" pitchFamily="2" charset="-122"/>
              </a:rPr>
              <a:t>（续）</a:t>
            </a:r>
            <a:endParaRPr lang="zh-CN" altLang="en-US" sz="3500" b="1" dirty="0">
              <a:solidFill>
                <a:srgbClr val="0000FF"/>
              </a:solidFill>
              <a:latin typeface="Times New Roman" panose="02020603050405020304" pitchFamily="18" charset="0"/>
              <a:ea typeface="华文楷体" panose="02010600040101010101" pitchFamily="2" charset="-122"/>
            </a:endParaRPr>
          </a:p>
        </p:txBody>
      </p:sp>
      <p:sp>
        <p:nvSpPr>
          <p:cNvPr id="134147" name="内容占位符 134146"/>
          <p:cNvSpPr>
            <a:spLocks noGrp="1" noChangeArrowheads="1"/>
          </p:cNvSpPr>
          <p:nvPr>
            <p:ph idx="1"/>
          </p:nvPr>
        </p:nvSpPr>
        <p:spPr>
          <a:xfrm>
            <a:off x="2706689" y="1341439"/>
            <a:ext cx="7566025" cy="4791075"/>
          </a:xfrm>
        </p:spPr>
        <p:txBody>
          <a:bodyPr/>
          <a:lstStyle/>
          <a:p>
            <a:pPr eaLnBrk="1" hangingPunct="1"/>
            <a:r>
              <a:rPr lang="zh-CN" altLang="en-US" b="1">
                <a:solidFill>
                  <a:schemeClr val="hlink"/>
                </a:solidFill>
                <a:latin typeface="Times New Roman" panose="02020603050405020304" pitchFamily="18" charset="0"/>
                <a:ea typeface="华文楷体" panose="02010600040101010101" pitchFamily="2" charset="-122"/>
              </a:rPr>
              <a:t>创建数组变量的一般方法</a:t>
            </a:r>
            <a:endParaRPr lang="zh-CN" altLang="en-US" b="1">
              <a:solidFill>
                <a:schemeClr val="hlink"/>
              </a:solidFill>
              <a:latin typeface="Times New Roman" panose="02020603050405020304" pitchFamily="18" charset="0"/>
              <a:ea typeface="华文楷体" panose="02010600040101010101" pitchFamily="2" charset="-122"/>
            </a:endParaRPr>
          </a:p>
          <a:p>
            <a:pPr lvl="1" eaLnBrk="1" hangingPunct="1"/>
            <a:r>
              <a:rPr lang="zh-CN" altLang="en-US" b="1">
                <a:solidFill>
                  <a:srgbClr val="490092"/>
                </a:solidFill>
                <a:latin typeface="Times New Roman" panose="02020603050405020304" pitchFamily="18" charset="0"/>
                <a:ea typeface="华文楷体" panose="02010600040101010101" pitchFamily="2" charset="-122"/>
              </a:rPr>
              <a:t>创建变量的赋值语句的一般格式</a:t>
            </a:r>
            <a:endParaRPr lang="zh-CN" altLang="en-US"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en-US" altLang="zh-CN" sz="2600" b="1">
                <a:solidFill>
                  <a:schemeClr val="hlink"/>
                </a:solidFill>
                <a:latin typeface="Times New Roman" panose="02020603050405020304" pitchFamily="18" charset="0"/>
                <a:ea typeface="华文楷体" panose="02010600040101010101" pitchFamily="2" charset="-122"/>
              </a:rPr>
              <a:t>var=expression</a:t>
            </a:r>
            <a:endParaRPr lang="en-US" altLang="zh-CN" sz="2600" b="1">
              <a:solidFill>
                <a:schemeClr val="hlink"/>
              </a:solidFill>
              <a:latin typeface="Times New Roman" panose="02020603050405020304" pitchFamily="18" charset="0"/>
              <a:ea typeface="华文楷体" panose="02010600040101010101" pitchFamily="2" charset="-122"/>
            </a:endParaRPr>
          </a:p>
          <a:p>
            <a:pPr lvl="2" eaLnBrk="1" hangingPunct="1"/>
            <a:r>
              <a:rPr lang="en-US" altLang="zh-CN" sz="2600" b="1">
                <a:solidFill>
                  <a:srgbClr val="490092"/>
                </a:solidFill>
                <a:latin typeface="Times New Roman" panose="02020603050405020304" pitchFamily="18" charset="0"/>
                <a:ea typeface="华文楷体" panose="02010600040101010101" pitchFamily="2" charset="-122"/>
              </a:rPr>
              <a:t>var</a:t>
            </a:r>
            <a:r>
              <a:rPr lang="zh-CN" altLang="en-US" sz="2600" b="1">
                <a:solidFill>
                  <a:srgbClr val="490092"/>
                </a:solidFill>
                <a:latin typeface="Times New Roman" panose="02020603050405020304" pitchFamily="18" charset="0"/>
                <a:ea typeface="华文楷体" panose="02010600040101010101" pitchFamily="2" charset="-122"/>
              </a:rPr>
              <a:t>为变量名</a:t>
            </a:r>
            <a:endParaRPr lang="zh-CN" altLang="en-US" sz="2600" b="1">
              <a:solidFill>
                <a:srgbClr val="490092"/>
              </a:solidFill>
              <a:latin typeface="Times New Roman" panose="02020603050405020304" pitchFamily="18" charset="0"/>
              <a:ea typeface="华文楷体" panose="02010600040101010101" pitchFamily="2" charset="-122"/>
            </a:endParaRPr>
          </a:p>
          <a:p>
            <a:pPr lvl="2" eaLnBrk="1" hangingPunct="1"/>
            <a:r>
              <a:rPr lang="en-US" altLang="zh-CN" sz="2600" b="1">
                <a:solidFill>
                  <a:srgbClr val="490092"/>
                </a:solidFill>
                <a:latin typeface="Times New Roman" panose="02020603050405020304" pitchFamily="18" charset="0"/>
                <a:ea typeface="华文楷体" panose="02010600040101010101" pitchFamily="2" charset="-122"/>
              </a:rPr>
              <a:t>expression</a:t>
            </a:r>
            <a:r>
              <a:rPr lang="zh-CN" altLang="en-US" sz="2600" b="1">
                <a:solidFill>
                  <a:srgbClr val="490092"/>
                </a:solidFill>
                <a:latin typeface="Times New Roman" panose="02020603050405020304" pitchFamily="18" charset="0"/>
                <a:ea typeface="华文楷体" panose="02010600040101010101" pitchFamily="2" charset="-122"/>
              </a:rPr>
              <a:t>为</a:t>
            </a:r>
            <a:r>
              <a:rPr lang="en-US" altLang="zh-CN" sz="2600" b="1">
                <a:solidFill>
                  <a:srgbClr val="490092"/>
                </a:solidFill>
                <a:latin typeface="Times New Roman" panose="02020603050405020304" pitchFamily="18" charset="0"/>
                <a:ea typeface="华文楷体" panose="02010600040101010101" pitchFamily="2" charset="-122"/>
              </a:rPr>
              <a:t>MATLAB</a:t>
            </a:r>
            <a:r>
              <a:rPr lang="zh-CN" altLang="en-US" sz="2600" b="1">
                <a:solidFill>
                  <a:srgbClr val="490092"/>
                </a:solidFill>
                <a:latin typeface="Times New Roman" panose="02020603050405020304" pitchFamily="18" charset="0"/>
                <a:ea typeface="华文楷体" panose="02010600040101010101" pitchFamily="2" charset="-122"/>
              </a:rPr>
              <a:t>合法表达式</a:t>
            </a:r>
            <a:endParaRPr lang="zh-CN" altLang="en-US" sz="2600" b="1">
              <a:solidFill>
                <a:srgbClr val="490092"/>
              </a:solidFill>
              <a:latin typeface="Times New Roman" panose="02020603050405020304" pitchFamily="18" charset="0"/>
              <a:ea typeface="华文楷体" panose="02010600040101010101" pitchFamily="2" charset="-122"/>
            </a:endParaRPr>
          </a:p>
          <a:p>
            <a:pPr lvl="3" eaLnBrk="1" hangingPunct="1"/>
            <a:r>
              <a:rPr lang="zh-CN" altLang="en-US" sz="2200" b="1">
                <a:solidFill>
                  <a:srgbClr val="490092"/>
                </a:solidFill>
                <a:latin typeface="Times New Roman" panose="02020603050405020304" pitchFamily="18" charset="0"/>
                <a:ea typeface="华文楷体" panose="02010600040101010101" pitchFamily="2" charset="-122"/>
              </a:rPr>
              <a:t>可以是单独的常数值或数值数组；</a:t>
            </a:r>
            <a:endParaRPr lang="zh-CN" altLang="en-US" sz="2200" b="1">
              <a:solidFill>
                <a:srgbClr val="490092"/>
              </a:solidFill>
              <a:latin typeface="Times New Roman" panose="02020603050405020304" pitchFamily="18" charset="0"/>
              <a:ea typeface="华文楷体" panose="02010600040101010101" pitchFamily="2" charset="-122"/>
            </a:endParaRPr>
          </a:p>
          <a:p>
            <a:pPr lvl="3" eaLnBrk="1" hangingPunct="1"/>
            <a:r>
              <a:rPr lang="zh-CN" altLang="en-US" sz="2200" b="1">
                <a:solidFill>
                  <a:srgbClr val="490092"/>
                </a:solidFill>
                <a:latin typeface="Times New Roman" panose="02020603050405020304" pitchFamily="18" charset="0"/>
                <a:ea typeface="华文楷体" panose="02010600040101010101" pitchFamily="2" charset="-122"/>
              </a:rPr>
              <a:t>也可以由常数值、其他变量（部分或全部）、数值数组和运算符（</a:t>
            </a:r>
            <a:r>
              <a:rPr lang="en-US" altLang="zh-CN" sz="2200" b="1">
                <a:solidFill>
                  <a:srgbClr val="490092"/>
                </a:solidFill>
                <a:latin typeface="Times New Roman" panose="02020603050405020304" pitchFamily="18" charset="0"/>
                <a:ea typeface="华文楷体" panose="02010600040101010101" pitchFamily="2" charset="-122"/>
              </a:rPr>
              <a:t>+</a:t>
            </a:r>
            <a:r>
              <a:rPr lang="zh-CN" altLang="en-US" sz="2200" b="1">
                <a:solidFill>
                  <a:srgbClr val="490092"/>
                </a:solidFill>
                <a:latin typeface="Times New Roman" panose="02020603050405020304" pitchFamily="18" charset="0"/>
                <a:ea typeface="华文楷体" panose="02010600040101010101" pitchFamily="2" charset="-122"/>
              </a:rPr>
              <a:t>、</a:t>
            </a:r>
            <a:r>
              <a:rPr lang="en-US" altLang="zh-CN" sz="2200" b="1">
                <a:solidFill>
                  <a:srgbClr val="490092"/>
                </a:solidFill>
                <a:latin typeface="Times New Roman" panose="02020603050405020304" pitchFamily="18" charset="0"/>
                <a:ea typeface="华文楷体" panose="02010600040101010101" pitchFamily="2" charset="-122"/>
              </a:rPr>
              <a:t>-</a:t>
            </a:r>
            <a:r>
              <a:rPr lang="zh-CN" altLang="en-US" sz="2200" b="1">
                <a:solidFill>
                  <a:srgbClr val="490092"/>
                </a:solidFill>
                <a:latin typeface="Times New Roman" panose="02020603050405020304" pitchFamily="18" charset="0"/>
                <a:ea typeface="华文楷体" panose="02010600040101010101" pitchFamily="2" charset="-122"/>
              </a:rPr>
              <a:t>等）构成。</a:t>
            </a:r>
            <a:endParaRPr lang="zh-CN" altLang="en-US" sz="2200" b="1">
              <a:solidFill>
                <a:srgbClr val="490092"/>
              </a:solidFill>
              <a:latin typeface="Times New Roman" panose="02020603050405020304" pitchFamily="18" charset="0"/>
              <a:ea typeface="华文楷体" panose="02010600040101010101" pitchFamily="2" charset="-122"/>
            </a:endParaRPr>
          </a:p>
          <a:p>
            <a:pPr lvl="1" eaLnBrk="1" hangingPunct="1">
              <a:spcBef>
                <a:spcPct val="50000"/>
              </a:spcBef>
              <a:buFont typeface="Wingdings" panose="05000000000000000000" pitchFamily="2" charset="2"/>
              <a:buNone/>
            </a:pPr>
            <a:r>
              <a:rPr lang="zh-CN" altLang="en-US" b="1">
                <a:solidFill>
                  <a:srgbClr val="0000FF"/>
                </a:solidFill>
                <a:latin typeface="Times New Roman" panose="02020603050405020304" pitchFamily="18" charset="0"/>
                <a:ea typeface="华文楷体" panose="02010600040101010101" pitchFamily="2" charset="-122"/>
              </a:rPr>
              <a:t>【例</a:t>
            </a:r>
            <a:r>
              <a:rPr lang="en-US" altLang="zh-CN" b="1">
                <a:solidFill>
                  <a:srgbClr val="0000FF"/>
                </a:solidFill>
                <a:latin typeface="Times New Roman" panose="02020603050405020304" pitchFamily="18" charset="0"/>
                <a:ea typeface="华文楷体" panose="02010600040101010101" pitchFamily="2" charset="-122"/>
              </a:rPr>
              <a:t>2-7</a:t>
            </a:r>
            <a:r>
              <a:rPr lang="zh-CN" altLang="en-US" b="1">
                <a:solidFill>
                  <a:srgbClr val="0000FF"/>
                </a:solidFill>
                <a:latin typeface="Times New Roman" panose="02020603050405020304" pitchFamily="18" charset="0"/>
                <a:ea typeface="华文楷体" panose="02010600040101010101" pitchFamily="2" charset="-122"/>
              </a:rPr>
              <a:t>】</a:t>
            </a:r>
            <a:r>
              <a:rPr lang="zh-CN" altLang="en-US" b="1">
                <a:solidFill>
                  <a:srgbClr val="490092"/>
                </a:solidFill>
                <a:latin typeface="Times New Roman" panose="02020603050405020304" pitchFamily="18" charset="0"/>
                <a:ea typeface="华文楷体" panose="02010600040101010101" pitchFamily="2" charset="-122"/>
              </a:rPr>
              <a:t>键入并执行</a:t>
            </a:r>
            <a:endParaRPr lang="zh-CN" altLang="en-US"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a=[0 1+6]; b=[a 6 7]; c=[6 a 7]; d=[6 a 7 a];</a:t>
            </a:r>
            <a:endParaRPr lang="en-US" altLang="zh-CN" b="1">
              <a:solidFill>
                <a:srgbClr val="490092"/>
              </a:solidFill>
              <a:latin typeface="Times New Roman" panose="02020603050405020304" pitchFamily="18" charset="0"/>
              <a:ea typeface="华文楷体" panose="02010600040101010101" pitchFamily="2" charset="-122"/>
            </a:endParaRPr>
          </a:p>
        </p:txBody>
      </p:sp>
      <p:sp>
        <p:nvSpPr>
          <p:cNvPr id="61443"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DA85E59B-DA20-4FEA-9B4A-6E60F48A30F6}" type="datetime1">
              <a:rPr lang="zh-CN" altLang="en-US" smtClean="0">
                <a:solidFill>
                  <a:srgbClr val="45516B"/>
                </a:solidFill>
              </a:rPr>
            </a:fld>
            <a:endParaRPr lang="zh-CN" altLang="en-US">
              <a:solidFill>
                <a:srgbClr val="45516B"/>
              </a:solidFill>
            </a:endParaRPr>
          </a:p>
        </p:txBody>
      </p:sp>
      <p:sp>
        <p:nvSpPr>
          <p:cNvPr id="61444"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61446" name="灯片编号占位符 3"/>
          <p:cNvSpPr>
            <a:spLocks noGrp="1" noChangeArrowheads="1"/>
          </p:cNvSpPr>
          <p:nvPr>
            <p:ph type="sldNum" sz="quarter" idx="12"/>
          </p:nvPr>
        </p:nvSpPr>
        <p:spPr bwMode="auto">
          <a:noFill/>
          <a:ln>
            <a:miter lim="800000"/>
          </a:ln>
        </p:spPr>
        <p:txBody>
          <a:bodyPr/>
          <a:lstStyle/>
          <a:p>
            <a:fld id="{3E177FD7-3C51-4D31-BAFE-D8E284B6C035}"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4147">
                                            <p:txEl>
                                              <p:pRg st="0" end="0"/>
                                            </p:txEl>
                                          </p:spTgt>
                                        </p:tgtEl>
                                        <p:attrNameLst>
                                          <p:attrName>style.visibility</p:attrName>
                                        </p:attrNameLst>
                                      </p:cBhvr>
                                      <p:to>
                                        <p:strVal val="visible"/>
                                      </p:to>
                                    </p:set>
                                    <p:animEffect transition="in" filter="blinds(horizontal)">
                                      <p:cBhvr>
                                        <p:cTn id="7" dur="500"/>
                                        <p:tgtEl>
                                          <p:spTgt spid="134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4147">
                                            <p:txEl>
                                              <p:pRg st="1" end="1"/>
                                            </p:txEl>
                                          </p:spTgt>
                                        </p:tgtEl>
                                        <p:attrNameLst>
                                          <p:attrName>style.visibility</p:attrName>
                                        </p:attrNameLst>
                                      </p:cBhvr>
                                      <p:to>
                                        <p:strVal val="visible"/>
                                      </p:to>
                                    </p:set>
                                    <p:animEffect transition="in" filter="blinds(horizontal)">
                                      <p:cBhvr>
                                        <p:cTn id="12" dur="500"/>
                                        <p:tgtEl>
                                          <p:spTgt spid="134147">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34147">
                                            <p:txEl>
                                              <p:pRg st="2" end="2"/>
                                            </p:txEl>
                                          </p:spTgt>
                                        </p:tgtEl>
                                        <p:attrNameLst>
                                          <p:attrName>style.visibility</p:attrName>
                                        </p:attrNameLst>
                                      </p:cBhvr>
                                      <p:to>
                                        <p:strVal val="visible"/>
                                      </p:to>
                                    </p:set>
                                    <p:animEffect transition="in" filter="blinds(horizontal)">
                                      <p:cBhvr>
                                        <p:cTn id="15" dur="500"/>
                                        <p:tgtEl>
                                          <p:spTgt spid="13414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34147">
                                            <p:txEl>
                                              <p:pRg st="3" end="3"/>
                                            </p:txEl>
                                          </p:spTgt>
                                        </p:tgtEl>
                                        <p:attrNameLst>
                                          <p:attrName>style.visibility</p:attrName>
                                        </p:attrNameLst>
                                      </p:cBhvr>
                                      <p:to>
                                        <p:strVal val="visible"/>
                                      </p:to>
                                    </p:set>
                                    <p:animEffect transition="in" filter="blinds(horizontal)">
                                      <p:cBhvr>
                                        <p:cTn id="20" dur="500"/>
                                        <p:tgtEl>
                                          <p:spTgt spid="134147">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34147">
                                            <p:txEl>
                                              <p:pRg st="4" end="4"/>
                                            </p:txEl>
                                          </p:spTgt>
                                        </p:tgtEl>
                                        <p:attrNameLst>
                                          <p:attrName>style.visibility</p:attrName>
                                        </p:attrNameLst>
                                      </p:cBhvr>
                                      <p:to>
                                        <p:strVal val="visible"/>
                                      </p:to>
                                    </p:set>
                                    <p:animEffect transition="in" filter="blinds(horizontal)">
                                      <p:cBhvr>
                                        <p:cTn id="25" dur="500"/>
                                        <p:tgtEl>
                                          <p:spTgt spid="134147">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34147">
                                            <p:txEl>
                                              <p:pRg st="5" end="5"/>
                                            </p:txEl>
                                          </p:spTgt>
                                        </p:tgtEl>
                                        <p:attrNameLst>
                                          <p:attrName>style.visibility</p:attrName>
                                        </p:attrNameLst>
                                      </p:cBhvr>
                                      <p:to>
                                        <p:strVal val="visible"/>
                                      </p:to>
                                    </p:set>
                                    <p:animEffect transition="in" filter="blinds(horizontal)">
                                      <p:cBhvr>
                                        <p:cTn id="30" dur="500"/>
                                        <p:tgtEl>
                                          <p:spTgt spid="134147">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34147">
                                            <p:txEl>
                                              <p:pRg st="6" end="6"/>
                                            </p:txEl>
                                          </p:spTgt>
                                        </p:tgtEl>
                                        <p:attrNameLst>
                                          <p:attrName>style.visibility</p:attrName>
                                        </p:attrNameLst>
                                      </p:cBhvr>
                                      <p:to>
                                        <p:strVal val="visible"/>
                                      </p:to>
                                    </p:set>
                                    <p:animEffect transition="in" filter="blinds(horizontal)">
                                      <p:cBhvr>
                                        <p:cTn id="35" dur="500"/>
                                        <p:tgtEl>
                                          <p:spTgt spid="134147">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134147">
                                            <p:txEl>
                                              <p:pRg st="7" end="7"/>
                                            </p:txEl>
                                          </p:spTgt>
                                        </p:tgtEl>
                                        <p:attrNameLst>
                                          <p:attrName>style.visibility</p:attrName>
                                        </p:attrNameLst>
                                      </p:cBhvr>
                                      <p:to>
                                        <p:strVal val="visible"/>
                                      </p:to>
                                    </p:set>
                                    <p:animEffect transition="in" filter="blinds(horizontal)">
                                      <p:cBhvr>
                                        <p:cTn id="40" dur="500"/>
                                        <p:tgtEl>
                                          <p:spTgt spid="134147">
                                            <p:txEl>
                                              <p:pRg st="7" end="7"/>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134147">
                                            <p:txEl>
                                              <p:pRg st="8" end="8"/>
                                            </p:txEl>
                                          </p:spTgt>
                                        </p:tgtEl>
                                        <p:attrNameLst>
                                          <p:attrName>style.visibility</p:attrName>
                                        </p:attrNameLst>
                                      </p:cBhvr>
                                      <p:to>
                                        <p:strVal val="visible"/>
                                      </p:to>
                                    </p:set>
                                    <p:animEffect transition="in" filter="blinds(horizontal)">
                                      <p:cBhvr>
                                        <p:cTn id="43" dur="500"/>
                                        <p:tgtEl>
                                          <p:spTgt spid="13414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35169"/>
          <p:cNvSpPr>
            <a:spLocks noGrp="1" noChangeArrowheads="1"/>
          </p:cNvSpPr>
          <p:nvPr>
            <p:ph type="title"/>
          </p:nvPr>
        </p:nvSpPr>
        <p:spPr>
          <a:xfrm>
            <a:off x="2640014" y="260350"/>
            <a:ext cx="7793037" cy="647700"/>
          </a:xfrm>
        </p:spPr>
        <p:txBody>
          <a:bodyPr>
            <a:normAutofit fontScale="90000"/>
          </a:bodyPr>
          <a:lstStyle/>
          <a:p>
            <a:pPr marL="685800" indent="-685800"/>
            <a:r>
              <a:rPr lang="en-US" altLang="zh-CN" sz="4000" b="1" dirty="0">
                <a:solidFill>
                  <a:srgbClr val="0000FF"/>
                </a:solidFill>
                <a:latin typeface="Times New Roman" panose="02020603050405020304" pitchFamily="18" charset="0"/>
                <a:ea typeface="华文楷体" panose="02010600040101010101" pitchFamily="2" charset="-122"/>
              </a:rPr>
              <a:t>1.1.2</a:t>
            </a:r>
            <a:r>
              <a:rPr lang="zh-CN" altLang="en-US" sz="4000" b="1" dirty="0">
                <a:solidFill>
                  <a:srgbClr val="0000FF"/>
                </a:solidFill>
                <a:latin typeface="Times New Roman" panose="02020603050405020304" pitchFamily="18" charset="0"/>
                <a:ea typeface="华文楷体" panose="02010600040101010101" pitchFamily="2" charset="-122"/>
              </a:rPr>
              <a:t>、创建一维数组变量</a:t>
            </a:r>
            <a:r>
              <a:rPr lang="zh-CN" altLang="en-US" b="1" dirty="0">
                <a:solidFill>
                  <a:srgbClr val="0000FF"/>
                </a:solidFill>
                <a:latin typeface="Times New Roman" panose="02020603050405020304" pitchFamily="18" charset="0"/>
                <a:ea typeface="华文楷体" panose="02010600040101010101" pitchFamily="2" charset="-122"/>
              </a:rPr>
              <a:t> </a:t>
            </a:r>
            <a:r>
              <a:rPr lang="zh-CN" altLang="en-US" sz="3500" b="1" dirty="0">
                <a:solidFill>
                  <a:srgbClr val="0000FF"/>
                </a:solidFill>
                <a:latin typeface="Times New Roman" panose="02020603050405020304" pitchFamily="18" charset="0"/>
                <a:ea typeface="华文楷体" panose="02010600040101010101" pitchFamily="2" charset="-122"/>
              </a:rPr>
              <a:t>（续）</a:t>
            </a:r>
            <a:endParaRPr lang="zh-CN" altLang="en-US" sz="3500" b="1" dirty="0">
              <a:solidFill>
                <a:srgbClr val="0000FF"/>
              </a:solidFill>
              <a:latin typeface="Times New Roman" panose="02020603050405020304" pitchFamily="18" charset="0"/>
              <a:ea typeface="华文楷体" panose="02010600040101010101" pitchFamily="2" charset="-122"/>
            </a:endParaRPr>
          </a:p>
        </p:txBody>
      </p:sp>
      <p:sp>
        <p:nvSpPr>
          <p:cNvPr id="135171" name="内容占位符 135170"/>
          <p:cNvSpPr>
            <a:spLocks noGrp="1" noChangeArrowheads="1"/>
          </p:cNvSpPr>
          <p:nvPr>
            <p:ph idx="1"/>
          </p:nvPr>
        </p:nvSpPr>
        <p:spPr/>
        <p:txBody>
          <a:bodyPr/>
          <a:lstStyle/>
          <a:p>
            <a:pPr eaLnBrk="1" hangingPunct="1">
              <a:lnSpc>
                <a:spcPct val="120000"/>
              </a:lnSpc>
            </a:pPr>
            <a:r>
              <a:rPr lang="zh-CN" altLang="en-US" b="1">
                <a:solidFill>
                  <a:srgbClr val="490092"/>
                </a:solidFill>
                <a:latin typeface="Times New Roman" panose="02020603050405020304" pitchFamily="18" charset="0"/>
                <a:ea typeface="华文楷体" panose="02010600040101010101" pitchFamily="2" charset="-122"/>
              </a:rPr>
              <a:t>一旦被创建，变量就被存储在工作空间，可以通过“</a:t>
            </a:r>
            <a:r>
              <a:rPr lang="en-US" altLang="zh-CN" b="1">
                <a:solidFill>
                  <a:schemeClr val="hlink"/>
                </a:solidFill>
                <a:latin typeface="Times New Roman" panose="02020603050405020304" pitchFamily="18" charset="0"/>
                <a:ea typeface="华文楷体" panose="02010600040101010101" pitchFamily="2" charset="-122"/>
              </a:rPr>
              <a:t>Workspace</a:t>
            </a:r>
            <a:r>
              <a:rPr lang="en-US" altLang="zh-CN" b="1">
                <a:solidFill>
                  <a:srgbClr val="490092"/>
                </a:solidFill>
                <a:latin typeface="Times New Roman" panose="02020603050405020304" pitchFamily="18" charset="0"/>
                <a:ea typeface="华文楷体" panose="02010600040101010101" pitchFamily="2" charset="-122"/>
              </a:rPr>
              <a:t>”</a:t>
            </a:r>
            <a:r>
              <a:rPr lang="zh-CN" altLang="en-US" b="1">
                <a:solidFill>
                  <a:srgbClr val="490092"/>
                </a:solidFill>
                <a:latin typeface="Times New Roman" panose="02020603050405020304" pitchFamily="18" charset="0"/>
                <a:ea typeface="华文楷体" panose="02010600040101010101" pitchFamily="2" charset="-122"/>
              </a:rPr>
              <a:t>窗口或在“</a:t>
            </a:r>
            <a:r>
              <a:rPr lang="en-US" altLang="zh-CN" b="1">
                <a:solidFill>
                  <a:schemeClr val="hlink"/>
                </a:solidFill>
                <a:latin typeface="Times New Roman" panose="02020603050405020304" pitchFamily="18" charset="0"/>
                <a:ea typeface="华文楷体" panose="02010600040101010101" pitchFamily="2" charset="-122"/>
              </a:rPr>
              <a:t>Command Window</a:t>
            </a:r>
            <a:r>
              <a:rPr lang="en-US" altLang="zh-CN" b="1">
                <a:solidFill>
                  <a:srgbClr val="490092"/>
                </a:solidFill>
                <a:latin typeface="Times New Roman" panose="02020603050405020304" pitchFamily="18" charset="0"/>
                <a:ea typeface="华文楷体" panose="02010600040101010101" pitchFamily="2" charset="-122"/>
              </a:rPr>
              <a:t>”</a:t>
            </a:r>
            <a:r>
              <a:rPr lang="zh-CN" altLang="en-US" b="1">
                <a:solidFill>
                  <a:srgbClr val="490092"/>
                </a:solidFill>
                <a:latin typeface="Times New Roman" panose="02020603050405020304" pitchFamily="18" charset="0"/>
                <a:ea typeface="华文楷体" panose="02010600040101010101" pitchFamily="2" charset="-122"/>
              </a:rPr>
              <a:t>执行“</a:t>
            </a:r>
            <a:r>
              <a:rPr lang="en-US" altLang="zh-CN" b="1">
                <a:solidFill>
                  <a:srgbClr val="490092"/>
                </a:solidFill>
                <a:latin typeface="Times New Roman" panose="02020603050405020304" pitchFamily="18" charset="0"/>
                <a:ea typeface="华文楷体" panose="02010600040101010101" pitchFamily="2" charset="-122"/>
              </a:rPr>
              <a:t>whos”</a:t>
            </a:r>
            <a:r>
              <a:rPr lang="zh-CN" altLang="en-US" b="1">
                <a:solidFill>
                  <a:srgbClr val="490092"/>
                </a:solidFill>
                <a:latin typeface="Times New Roman" panose="02020603050405020304" pitchFamily="18" charset="0"/>
                <a:ea typeface="华文楷体" panose="02010600040101010101" pitchFamily="2" charset="-122"/>
              </a:rPr>
              <a:t>命令察看。</a:t>
            </a:r>
            <a:endParaRPr lang="zh-CN" altLang="en-US" b="1">
              <a:solidFill>
                <a:srgbClr val="490092"/>
              </a:solidFill>
              <a:latin typeface="Times New Roman" panose="02020603050405020304" pitchFamily="18" charset="0"/>
              <a:ea typeface="华文楷体" panose="02010600040101010101" pitchFamily="2" charset="-122"/>
            </a:endParaRPr>
          </a:p>
          <a:p>
            <a:pPr lvl="1" eaLnBrk="1" hangingPunct="1">
              <a:lnSpc>
                <a:spcPct val="120000"/>
              </a:lnSpc>
            </a:pPr>
            <a:r>
              <a:rPr lang="zh-CN" altLang="en-US" b="1">
                <a:solidFill>
                  <a:srgbClr val="490092"/>
                </a:solidFill>
                <a:latin typeface="Times New Roman" panose="02020603050405020304" pitchFamily="18" charset="0"/>
                <a:ea typeface="华文楷体" panose="02010600040101010101" pitchFamily="2" charset="-122"/>
              </a:rPr>
              <a:t>操作一： 使用“</a:t>
            </a:r>
            <a:r>
              <a:rPr lang="en-US" altLang="zh-CN" b="1">
                <a:solidFill>
                  <a:srgbClr val="490092"/>
                </a:solidFill>
                <a:latin typeface="Times New Roman" panose="02020603050405020304" pitchFamily="18" charset="0"/>
                <a:ea typeface="华文楷体" panose="02010600040101010101" pitchFamily="2" charset="-122"/>
              </a:rPr>
              <a:t>Workspace”</a:t>
            </a:r>
            <a:r>
              <a:rPr lang="zh-CN" altLang="en-US" b="1">
                <a:solidFill>
                  <a:srgbClr val="490092"/>
                </a:solidFill>
                <a:latin typeface="Times New Roman" panose="02020603050405020304" pitchFamily="18" charset="0"/>
                <a:ea typeface="华文楷体" panose="02010600040101010101" pitchFamily="2" charset="-122"/>
              </a:rPr>
              <a:t>窗口察看变量</a:t>
            </a:r>
            <a:endParaRPr lang="zh-CN" altLang="en-US" b="1">
              <a:solidFill>
                <a:srgbClr val="490092"/>
              </a:solidFill>
              <a:latin typeface="Times New Roman" panose="02020603050405020304" pitchFamily="18" charset="0"/>
              <a:ea typeface="华文楷体" panose="02010600040101010101" pitchFamily="2" charset="-122"/>
            </a:endParaRPr>
          </a:p>
          <a:p>
            <a:pPr lvl="1" eaLnBrk="1" hangingPunct="1">
              <a:lnSpc>
                <a:spcPct val="120000"/>
              </a:lnSpc>
            </a:pPr>
            <a:r>
              <a:rPr lang="zh-CN" altLang="en-US" b="1">
                <a:solidFill>
                  <a:srgbClr val="490092"/>
                </a:solidFill>
                <a:latin typeface="Times New Roman" panose="02020603050405020304" pitchFamily="18" charset="0"/>
                <a:ea typeface="华文楷体" panose="02010600040101010101" pitchFamily="2" charset="-122"/>
              </a:rPr>
              <a:t>操作二： 使用“</a:t>
            </a:r>
            <a:r>
              <a:rPr lang="en-US" altLang="zh-CN" b="1">
                <a:solidFill>
                  <a:srgbClr val="490092"/>
                </a:solidFill>
                <a:latin typeface="Times New Roman" panose="02020603050405020304" pitchFamily="18" charset="0"/>
                <a:ea typeface="华文楷体" panose="02010600040101010101" pitchFamily="2" charset="-122"/>
              </a:rPr>
              <a:t>whos”</a:t>
            </a:r>
            <a:r>
              <a:rPr lang="zh-CN" altLang="en-US" b="1">
                <a:solidFill>
                  <a:srgbClr val="490092"/>
                </a:solidFill>
                <a:latin typeface="Times New Roman" panose="02020603050405020304" pitchFamily="18" charset="0"/>
                <a:ea typeface="华文楷体" panose="02010600040101010101" pitchFamily="2" charset="-122"/>
              </a:rPr>
              <a:t>命令察看变量</a:t>
            </a:r>
            <a:endParaRPr lang="zh-CN" altLang="en-US" b="1">
              <a:solidFill>
                <a:srgbClr val="490092"/>
              </a:solidFill>
              <a:latin typeface="Times New Roman" panose="02020603050405020304" pitchFamily="18" charset="0"/>
              <a:ea typeface="华文楷体" panose="02010600040101010101" pitchFamily="2" charset="-122"/>
            </a:endParaRPr>
          </a:p>
        </p:txBody>
      </p:sp>
      <p:sp>
        <p:nvSpPr>
          <p:cNvPr id="62467"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4EAD47E7-C70A-4D15-B767-85F1CAC45F71}" type="datetime1">
              <a:rPr lang="zh-CN" altLang="en-US" smtClean="0">
                <a:solidFill>
                  <a:srgbClr val="45516B"/>
                </a:solidFill>
              </a:rPr>
            </a:fld>
            <a:endParaRPr lang="zh-CN" altLang="en-US">
              <a:solidFill>
                <a:srgbClr val="45516B"/>
              </a:solidFill>
            </a:endParaRPr>
          </a:p>
        </p:txBody>
      </p:sp>
      <p:sp>
        <p:nvSpPr>
          <p:cNvPr id="62468"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62470" name="灯片编号占位符 3"/>
          <p:cNvSpPr>
            <a:spLocks noGrp="1" noChangeArrowheads="1"/>
          </p:cNvSpPr>
          <p:nvPr>
            <p:ph type="sldNum" sz="quarter" idx="12"/>
          </p:nvPr>
        </p:nvSpPr>
        <p:spPr bwMode="auto">
          <a:noFill/>
          <a:ln>
            <a:miter lim="800000"/>
          </a:ln>
        </p:spPr>
        <p:txBody>
          <a:bodyPr/>
          <a:lstStyle/>
          <a:p>
            <a:fld id="{61296F15-0BDE-4EE0-B6E4-45D874C3C0EC}"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5171">
                                            <p:txEl>
                                              <p:pRg st="0" end="0"/>
                                            </p:txEl>
                                          </p:spTgt>
                                        </p:tgtEl>
                                        <p:attrNameLst>
                                          <p:attrName>style.visibility</p:attrName>
                                        </p:attrNameLst>
                                      </p:cBhvr>
                                      <p:to>
                                        <p:strVal val="visible"/>
                                      </p:to>
                                    </p:set>
                                    <p:animEffect transition="in" filter="blinds(horizontal)">
                                      <p:cBhvr>
                                        <p:cTn id="7" dur="500"/>
                                        <p:tgtEl>
                                          <p:spTgt spid="135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5171">
                                            <p:txEl>
                                              <p:pRg st="1" end="1"/>
                                            </p:txEl>
                                          </p:spTgt>
                                        </p:tgtEl>
                                        <p:attrNameLst>
                                          <p:attrName>style.visibility</p:attrName>
                                        </p:attrNameLst>
                                      </p:cBhvr>
                                      <p:to>
                                        <p:strVal val="visible"/>
                                      </p:to>
                                    </p:set>
                                    <p:animEffect transition="in" filter="blinds(horizontal)">
                                      <p:cBhvr>
                                        <p:cTn id="12" dur="500"/>
                                        <p:tgtEl>
                                          <p:spTgt spid="1351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5171">
                                            <p:txEl>
                                              <p:pRg st="2" end="2"/>
                                            </p:txEl>
                                          </p:spTgt>
                                        </p:tgtEl>
                                        <p:attrNameLst>
                                          <p:attrName>style.visibility</p:attrName>
                                        </p:attrNameLst>
                                      </p:cBhvr>
                                      <p:to>
                                        <p:strVal val="visible"/>
                                      </p:to>
                                    </p:set>
                                    <p:animEffect transition="in" filter="blinds(horizontal)">
                                      <p:cBhvr>
                                        <p:cTn id="17" dur="500"/>
                                        <p:tgtEl>
                                          <p:spTgt spid="1351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36193"/>
          <p:cNvSpPr>
            <a:spLocks noGrp="1" noChangeArrowheads="1"/>
          </p:cNvSpPr>
          <p:nvPr>
            <p:ph type="title"/>
          </p:nvPr>
        </p:nvSpPr>
        <p:spPr>
          <a:xfrm>
            <a:off x="2640014" y="260350"/>
            <a:ext cx="7793037" cy="647700"/>
          </a:xfrm>
        </p:spPr>
        <p:txBody>
          <a:bodyPr/>
          <a:lstStyle/>
          <a:p>
            <a:pPr marL="685800" indent="-685800"/>
            <a:r>
              <a:rPr lang="en-US" altLang="zh-CN" sz="4000" b="1" dirty="0">
                <a:solidFill>
                  <a:srgbClr val="0000FF"/>
                </a:solidFill>
                <a:latin typeface="Times New Roman" panose="02020603050405020304" pitchFamily="18" charset="0"/>
                <a:ea typeface="华文楷体" panose="02010600040101010101" pitchFamily="2" charset="-122"/>
              </a:rPr>
              <a:t>1.1.3</a:t>
            </a:r>
            <a:r>
              <a:rPr lang="zh-CN" altLang="en-US" sz="4000" b="1" dirty="0">
                <a:solidFill>
                  <a:srgbClr val="0000FF"/>
                </a:solidFill>
                <a:latin typeface="Times New Roman" panose="02020603050405020304" pitchFamily="18" charset="0"/>
                <a:ea typeface="华文楷体" panose="02010600040101010101" pitchFamily="2" charset="-122"/>
              </a:rPr>
              <a:t>、创建二维数组变量</a:t>
            </a:r>
            <a:endParaRPr lang="zh-CN" altLang="en-US" sz="3500" b="1" dirty="0">
              <a:solidFill>
                <a:srgbClr val="0000FF"/>
              </a:solidFill>
              <a:latin typeface="Times New Roman" panose="02020603050405020304" pitchFamily="18" charset="0"/>
              <a:ea typeface="华文楷体" panose="02010600040101010101" pitchFamily="2" charset="-122"/>
            </a:endParaRPr>
          </a:p>
        </p:txBody>
      </p:sp>
      <p:sp>
        <p:nvSpPr>
          <p:cNvPr id="136195" name="内容占位符 136194"/>
          <p:cNvSpPr>
            <a:spLocks noGrp="1" noChangeArrowheads="1"/>
          </p:cNvSpPr>
          <p:nvPr>
            <p:ph idx="1"/>
          </p:nvPr>
        </p:nvSpPr>
        <p:spPr>
          <a:xfrm>
            <a:off x="2640013" y="1052514"/>
            <a:ext cx="7772400" cy="4791075"/>
          </a:xfrm>
        </p:spPr>
        <p:txBody>
          <a:bodyPr/>
          <a:lstStyle/>
          <a:p>
            <a:pPr eaLnBrk="1" hangingPunct="1"/>
            <a:r>
              <a:rPr lang="zh-CN" altLang="en-US" b="1">
                <a:solidFill>
                  <a:schemeClr val="hlink"/>
                </a:solidFill>
                <a:latin typeface="Times New Roman" panose="02020603050405020304" pitchFamily="18" charset="0"/>
                <a:ea typeface="华文楷体" panose="02010600040101010101" pitchFamily="2" charset="-122"/>
              </a:rPr>
              <a:t>第一种方法：使用方括号“</a:t>
            </a:r>
            <a:r>
              <a:rPr lang="en-US" altLang="zh-CN" b="1">
                <a:solidFill>
                  <a:schemeClr val="hlink"/>
                </a:solidFill>
                <a:latin typeface="Times New Roman" panose="02020603050405020304" pitchFamily="18" charset="0"/>
                <a:ea typeface="华文楷体" panose="02010600040101010101" pitchFamily="2" charset="-122"/>
              </a:rPr>
              <a:t>[ ]”</a:t>
            </a:r>
            <a:r>
              <a:rPr lang="zh-CN" altLang="en-US" b="1">
                <a:solidFill>
                  <a:schemeClr val="hlink"/>
                </a:solidFill>
                <a:latin typeface="Times New Roman" panose="02020603050405020304" pitchFamily="18" charset="0"/>
                <a:ea typeface="华文楷体" panose="02010600040101010101" pitchFamily="2" charset="-122"/>
              </a:rPr>
              <a:t>操作符</a:t>
            </a:r>
            <a:endParaRPr lang="zh-CN" altLang="en-US" b="1">
              <a:solidFill>
                <a:schemeClr val="hlink"/>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zh-CN" altLang="en-US" b="1">
                <a:solidFill>
                  <a:srgbClr val="490092"/>
                </a:solidFill>
                <a:latin typeface="Times New Roman" panose="02020603050405020304" pitchFamily="18" charset="0"/>
                <a:ea typeface="华文楷体" panose="02010600040101010101" pitchFamily="2" charset="-122"/>
              </a:rPr>
              <a:t>使用规则</a:t>
            </a:r>
            <a:endParaRPr lang="zh-CN" altLang="en-US" b="1">
              <a:solidFill>
                <a:srgbClr val="490092"/>
              </a:solidFill>
              <a:latin typeface="Times New Roman" panose="02020603050405020304" pitchFamily="18" charset="0"/>
              <a:ea typeface="华文楷体" panose="02010600040101010101" pitchFamily="2" charset="-122"/>
            </a:endParaRPr>
          </a:p>
          <a:p>
            <a:pPr lvl="1" eaLnBrk="1" hangingPunct="1"/>
            <a:r>
              <a:rPr lang="zh-CN" altLang="en-US" b="1">
                <a:solidFill>
                  <a:srgbClr val="490092"/>
                </a:solidFill>
                <a:latin typeface="Times New Roman" panose="02020603050405020304" pitchFamily="18" charset="0"/>
                <a:ea typeface="华文楷体" panose="02010600040101010101" pitchFamily="2" charset="-122"/>
              </a:rPr>
              <a:t>数组元素必须在“</a:t>
            </a:r>
            <a:r>
              <a:rPr lang="en-US" altLang="zh-CN" b="1">
                <a:solidFill>
                  <a:srgbClr val="490092"/>
                </a:solidFill>
                <a:latin typeface="Times New Roman" panose="02020603050405020304" pitchFamily="18" charset="0"/>
                <a:ea typeface="华文楷体" panose="02010600040101010101" pitchFamily="2" charset="-122"/>
              </a:rPr>
              <a:t>[ ]”</a:t>
            </a:r>
            <a:r>
              <a:rPr lang="zh-CN" altLang="en-US" b="1">
                <a:solidFill>
                  <a:srgbClr val="490092"/>
                </a:solidFill>
                <a:latin typeface="Times New Roman" panose="02020603050405020304" pitchFamily="18" charset="0"/>
                <a:ea typeface="华文楷体" panose="02010600040101010101" pitchFamily="2" charset="-122"/>
              </a:rPr>
              <a:t>内键入；</a:t>
            </a:r>
            <a:endParaRPr lang="zh-CN" altLang="en-US" b="1">
              <a:solidFill>
                <a:srgbClr val="490092"/>
              </a:solidFill>
              <a:latin typeface="Times New Roman" panose="02020603050405020304" pitchFamily="18" charset="0"/>
              <a:ea typeface="华文楷体" panose="02010600040101010101" pitchFamily="2" charset="-122"/>
            </a:endParaRPr>
          </a:p>
          <a:p>
            <a:pPr lvl="1" eaLnBrk="1" hangingPunct="1"/>
            <a:r>
              <a:rPr lang="zh-CN" altLang="en-US" b="1">
                <a:solidFill>
                  <a:srgbClr val="490092"/>
                </a:solidFill>
                <a:latin typeface="Times New Roman" panose="02020603050405020304" pitchFamily="18" charset="0"/>
                <a:ea typeface="华文楷体" panose="02010600040101010101" pitchFamily="2" charset="-122"/>
              </a:rPr>
              <a:t>行与行之间须用分号“</a:t>
            </a:r>
            <a:r>
              <a:rPr lang="en-US" altLang="zh-CN" b="1">
                <a:solidFill>
                  <a:srgbClr val="490092"/>
                </a:solidFill>
                <a:latin typeface="Times New Roman" panose="02020603050405020304" pitchFamily="18" charset="0"/>
                <a:ea typeface="华文楷体" panose="02010600040101010101" pitchFamily="2" charset="-122"/>
              </a:rPr>
              <a:t>;” </a:t>
            </a:r>
            <a:r>
              <a:rPr lang="zh-CN" altLang="en-US" b="1">
                <a:solidFill>
                  <a:srgbClr val="490092"/>
                </a:solidFill>
                <a:latin typeface="Times New Roman" panose="02020603050405020304" pitchFamily="18" charset="0"/>
                <a:ea typeface="华文楷体" panose="02010600040101010101" pitchFamily="2" charset="-122"/>
              </a:rPr>
              <a:t>间隔，也可以在分行处用回车键间隔；</a:t>
            </a:r>
            <a:endParaRPr lang="zh-CN" altLang="en-US" b="1">
              <a:solidFill>
                <a:srgbClr val="490092"/>
              </a:solidFill>
              <a:latin typeface="Times New Roman" panose="02020603050405020304" pitchFamily="18" charset="0"/>
              <a:ea typeface="华文楷体" panose="02010600040101010101" pitchFamily="2" charset="-122"/>
            </a:endParaRPr>
          </a:p>
          <a:p>
            <a:pPr lvl="1" eaLnBrk="1" hangingPunct="1"/>
            <a:r>
              <a:rPr lang="zh-CN" altLang="en-US" b="1">
                <a:solidFill>
                  <a:srgbClr val="490092"/>
                </a:solidFill>
                <a:latin typeface="Times New Roman" panose="02020603050405020304" pitchFamily="18" charset="0"/>
                <a:ea typeface="华文楷体" panose="02010600040101010101" pitchFamily="2" charset="-122"/>
              </a:rPr>
              <a:t>行内元素用空格或逗号“</a:t>
            </a:r>
            <a:r>
              <a:rPr lang="en-US" altLang="zh-CN" b="1">
                <a:solidFill>
                  <a:srgbClr val="490092"/>
                </a:solidFill>
                <a:latin typeface="Times New Roman" panose="02020603050405020304" pitchFamily="18" charset="0"/>
                <a:ea typeface="华文楷体" panose="02010600040101010101" pitchFamily="2" charset="-122"/>
              </a:rPr>
              <a:t>,”</a:t>
            </a:r>
            <a:r>
              <a:rPr lang="zh-CN" altLang="en-US" b="1">
                <a:solidFill>
                  <a:srgbClr val="490092"/>
                </a:solidFill>
                <a:latin typeface="Times New Roman" panose="02020603050405020304" pitchFamily="18" charset="0"/>
                <a:ea typeface="华文楷体" panose="02010600040101010101" pitchFamily="2" charset="-122"/>
              </a:rPr>
              <a:t>间隔。</a:t>
            </a:r>
            <a:endParaRPr lang="zh-CN" altLang="en-US"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zh-CN" altLang="en-US" b="1">
                <a:solidFill>
                  <a:srgbClr val="0000FF"/>
                </a:solidFill>
                <a:latin typeface="Times New Roman" panose="02020603050405020304" pitchFamily="18" charset="0"/>
                <a:ea typeface="华文楷体" panose="02010600040101010101" pitchFamily="2" charset="-122"/>
              </a:rPr>
              <a:t>【例</a:t>
            </a:r>
            <a:r>
              <a:rPr lang="en-US" altLang="zh-CN" b="1">
                <a:solidFill>
                  <a:srgbClr val="0000FF"/>
                </a:solidFill>
                <a:latin typeface="Times New Roman" panose="02020603050405020304" pitchFamily="18" charset="0"/>
                <a:ea typeface="华文楷体" panose="02010600040101010101" pitchFamily="2" charset="-122"/>
              </a:rPr>
              <a:t>3-1</a:t>
            </a:r>
            <a:r>
              <a:rPr lang="zh-CN" altLang="en-US" b="1">
                <a:solidFill>
                  <a:srgbClr val="0000FF"/>
                </a:solidFill>
                <a:latin typeface="Times New Roman" panose="02020603050405020304" pitchFamily="18" charset="0"/>
                <a:ea typeface="华文楷体" panose="02010600040101010101" pitchFamily="2" charset="-122"/>
              </a:rPr>
              <a:t>】</a:t>
            </a:r>
            <a:r>
              <a:rPr lang="zh-CN" altLang="en-US" b="1">
                <a:solidFill>
                  <a:srgbClr val="490092"/>
                </a:solidFill>
                <a:latin typeface="Times New Roman" panose="02020603050405020304" pitchFamily="18" charset="0"/>
                <a:ea typeface="华文楷体" panose="02010600040101010101" pitchFamily="2" charset="-122"/>
              </a:rPr>
              <a:t>键入并执行</a:t>
            </a:r>
            <a:r>
              <a:rPr lang="en-US" altLang="zh-CN" b="1">
                <a:latin typeface="Times New Roman" panose="02020603050405020304" pitchFamily="18" charset="0"/>
                <a:ea typeface="华文楷体" panose="02010600040101010101" pitchFamily="2" charset="-122"/>
              </a:rPr>
              <a:t>a2=[1 2 3;4 5 6;7 8 9]</a:t>
            </a:r>
            <a:endParaRPr lang="en-US" altLang="zh-CN" b="1">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a2=</a:t>
            </a:r>
            <a:endParaRPr lang="en-US" altLang="zh-CN" b="1">
              <a:solidFill>
                <a:srgbClr val="490092"/>
              </a:solidFill>
              <a:latin typeface="Times New Roman" panose="02020603050405020304" pitchFamily="18" charset="0"/>
              <a:ea typeface="华文楷体" panose="02010600040101010101" pitchFamily="2" charset="-122"/>
            </a:endParaRPr>
          </a:p>
          <a:p>
            <a:pPr lvl="1" eaLnBrk="1" hangingPunct="1">
              <a:spcBef>
                <a:spcPct val="0"/>
              </a:spcBef>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      1  2  3</a:t>
            </a:r>
            <a:endParaRPr lang="en-US" altLang="zh-CN" b="1">
              <a:solidFill>
                <a:srgbClr val="490092"/>
              </a:solidFill>
              <a:latin typeface="Times New Roman" panose="02020603050405020304" pitchFamily="18" charset="0"/>
              <a:ea typeface="华文楷体" panose="02010600040101010101" pitchFamily="2" charset="-122"/>
            </a:endParaRPr>
          </a:p>
          <a:p>
            <a:pPr lvl="1" eaLnBrk="1" hangingPunct="1">
              <a:spcBef>
                <a:spcPct val="0"/>
              </a:spcBef>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      4  5  6</a:t>
            </a:r>
            <a:endParaRPr lang="en-US" altLang="zh-CN" b="1">
              <a:solidFill>
                <a:srgbClr val="490092"/>
              </a:solidFill>
              <a:latin typeface="Times New Roman" panose="02020603050405020304" pitchFamily="18" charset="0"/>
              <a:ea typeface="华文楷体" panose="02010600040101010101" pitchFamily="2" charset="-122"/>
            </a:endParaRPr>
          </a:p>
          <a:p>
            <a:pPr lvl="1" eaLnBrk="1" hangingPunct="1">
              <a:spcBef>
                <a:spcPct val="0"/>
              </a:spcBef>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      7  8  9</a:t>
            </a:r>
            <a:endParaRPr lang="en-US" altLang="zh-CN"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zh-CN" altLang="en-US" b="1">
                <a:solidFill>
                  <a:srgbClr val="0000FF"/>
                </a:solidFill>
                <a:latin typeface="Times New Roman" panose="02020603050405020304" pitchFamily="18" charset="0"/>
                <a:ea typeface="华文楷体" panose="02010600040101010101" pitchFamily="2" charset="-122"/>
              </a:rPr>
              <a:t>【例</a:t>
            </a:r>
            <a:r>
              <a:rPr lang="en-US" altLang="zh-CN" b="1">
                <a:solidFill>
                  <a:srgbClr val="0000FF"/>
                </a:solidFill>
                <a:latin typeface="Times New Roman" panose="02020603050405020304" pitchFamily="18" charset="0"/>
                <a:ea typeface="华文楷体" panose="02010600040101010101" pitchFamily="2" charset="-122"/>
              </a:rPr>
              <a:t>3-2</a:t>
            </a:r>
            <a:r>
              <a:rPr lang="zh-CN" altLang="en-US" b="1">
                <a:solidFill>
                  <a:srgbClr val="0000FF"/>
                </a:solidFill>
                <a:latin typeface="Times New Roman" panose="02020603050405020304" pitchFamily="18" charset="0"/>
                <a:ea typeface="华文楷体" panose="02010600040101010101" pitchFamily="2" charset="-122"/>
              </a:rPr>
              <a:t>】</a:t>
            </a:r>
            <a:r>
              <a:rPr lang="zh-CN" altLang="en-US" b="1">
                <a:solidFill>
                  <a:srgbClr val="490092"/>
                </a:solidFill>
                <a:latin typeface="Times New Roman" panose="02020603050405020304" pitchFamily="18" charset="0"/>
                <a:ea typeface="华文楷体" panose="02010600040101010101" pitchFamily="2" charset="-122"/>
              </a:rPr>
              <a:t>键入并执行</a:t>
            </a:r>
            <a:r>
              <a:rPr lang="en-US" altLang="zh-CN" b="1">
                <a:solidFill>
                  <a:srgbClr val="490092"/>
                </a:solidFill>
                <a:latin typeface="Times New Roman" panose="02020603050405020304" pitchFamily="18" charset="0"/>
                <a:ea typeface="华文楷体" panose="02010600040101010101" pitchFamily="2" charset="-122"/>
              </a:rPr>
              <a:t>a2=[1:3;4:6;7:9]  </a:t>
            </a:r>
            <a:r>
              <a:rPr lang="en-US" altLang="zh-CN" b="1">
                <a:solidFill>
                  <a:srgbClr val="008000"/>
                </a:solidFill>
                <a:latin typeface="Times New Roman" panose="02020603050405020304" pitchFamily="18" charset="0"/>
                <a:ea typeface="华文楷体" panose="02010600040101010101" pitchFamily="2" charset="-122"/>
              </a:rPr>
              <a:t>%</a:t>
            </a:r>
            <a:r>
              <a:rPr lang="zh-CN" altLang="en-US" b="1">
                <a:solidFill>
                  <a:srgbClr val="008000"/>
                </a:solidFill>
                <a:latin typeface="Times New Roman" panose="02020603050405020304" pitchFamily="18" charset="0"/>
                <a:ea typeface="华文楷体" panose="02010600040101010101" pitchFamily="2" charset="-122"/>
              </a:rPr>
              <a:t>结果同上</a:t>
            </a:r>
            <a:endParaRPr lang="zh-CN" altLang="en-US" b="1">
              <a:solidFill>
                <a:srgbClr val="008000"/>
              </a:solidFill>
              <a:latin typeface="Times New Roman" panose="02020603050405020304" pitchFamily="18" charset="0"/>
              <a:ea typeface="华文楷体" panose="02010600040101010101" pitchFamily="2" charset="-122"/>
            </a:endParaRPr>
          </a:p>
          <a:p>
            <a:pPr lvl="1" eaLnBrk="1" hangingPunct="1">
              <a:spcBef>
                <a:spcPct val="0"/>
              </a:spcBef>
              <a:buFont typeface="Wingdings" panose="05000000000000000000" pitchFamily="2" charset="2"/>
              <a:buNone/>
            </a:pPr>
            <a:endParaRPr lang="zh-CN" altLang="en-US" b="1">
              <a:solidFill>
                <a:srgbClr val="008000"/>
              </a:solidFill>
              <a:latin typeface="Times New Roman" panose="02020603050405020304" pitchFamily="18" charset="0"/>
              <a:ea typeface="华文楷体" panose="02010600040101010101" pitchFamily="2" charset="-122"/>
            </a:endParaRPr>
          </a:p>
        </p:txBody>
      </p:sp>
      <p:sp>
        <p:nvSpPr>
          <p:cNvPr id="63491"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CE65DA2A-9D13-4022-A441-F4A2245A1F7E}" type="datetime1">
              <a:rPr lang="zh-CN" altLang="en-US" smtClean="0">
                <a:solidFill>
                  <a:srgbClr val="45516B"/>
                </a:solidFill>
              </a:rPr>
            </a:fld>
            <a:endParaRPr lang="zh-CN" altLang="en-US">
              <a:solidFill>
                <a:srgbClr val="45516B"/>
              </a:solidFill>
            </a:endParaRPr>
          </a:p>
        </p:txBody>
      </p:sp>
      <p:sp>
        <p:nvSpPr>
          <p:cNvPr id="63492"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63494" name="灯片编号占位符 3"/>
          <p:cNvSpPr>
            <a:spLocks noGrp="1" noChangeArrowheads="1"/>
          </p:cNvSpPr>
          <p:nvPr>
            <p:ph type="sldNum" sz="quarter" idx="12"/>
          </p:nvPr>
        </p:nvSpPr>
        <p:spPr bwMode="auto">
          <a:noFill/>
          <a:ln>
            <a:miter lim="800000"/>
          </a:ln>
        </p:spPr>
        <p:txBody>
          <a:bodyPr/>
          <a:lstStyle/>
          <a:p>
            <a:fld id="{70BEC542-B130-4A13-A7C8-D37BF6E3F51D}"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6195">
                                            <p:txEl>
                                              <p:pRg st="0" end="0"/>
                                            </p:txEl>
                                          </p:spTgt>
                                        </p:tgtEl>
                                        <p:attrNameLst>
                                          <p:attrName>style.visibility</p:attrName>
                                        </p:attrNameLst>
                                      </p:cBhvr>
                                      <p:to>
                                        <p:strVal val="visible"/>
                                      </p:to>
                                    </p:set>
                                    <p:animEffect transition="in" filter="blinds(horizontal)">
                                      <p:cBhvr>
                                        <p:cTn id="7" dur="500"/>
                                        <p:tgtEl>
                                          <p:spTgt spid="136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36195">
                                            <p:txEl>
                                              <p:pRg st="1" end="1"/>
                                            </p:txEl>
                                          </p:spTgt>
                                        </p:tgtEl>
                                        <p:attrNameLst>
                                          <p:attrName>style.visibility</p:attrName>
                                        </p:attrNameLst>
                                      </p:cBhvr>
                                      <p:to>
                                        <p:strVal val="visible"/>
                                      </p:to>
                                    </p:set>
                                    <p:animEffect transition="in" filter="wipe(up)">
                                      <p:cBhvr>
                                        <p:cTn id="12" dur="500"/>
                                        <p:tgtEl>
                                          <p:spTgt spid="136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6195">
                                            <p:txEl>
                                              <p:pRg st="2" end="2"/>
                                            </p:txEl>
                                          </p:spTgt>
                                        </p:tgtEl>
                                        <p:attrNameLst>
                                          <p:attrName>style.visibility</p:attrName>
                                        </p:attrNameLst>
                                      </p:cBhvr>
                                      <p:to>
                                        <p:strVal val="visible"/>
                                      </p:to>
                                    </p:set>
                                    <p:animEffect transition="in" filter="blinds(horizontal)">
                                      <p:cBhvr>
                                        <p:cTn id="17" dur="500"/>
                                        <p:tgtEl>
                                          <p:spTgt spid="136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6195">
                                            <p:txEl>
                                              <p:pRg st="3" end="3"/>
                                            </p:txEl>
                                          </p:spTgt>
                                        </p:tgtEl>
                                        <p:attrNameLst>
                                          <p:attrName>style.visibility</p:attrName>
                                        </p:attrNameLst>
                                      </p:cBhvr>
                                      <p:to>
                                        <p:strVal val="visible"/>
                                      </p:to>
                                    </p:set>
                                    <p:animEffect transition="in" filter="blinds(horizontal)">
                                      <p:cBhvr>
                                        <p:cTn id="22" dur="500"/>
                                        <p:tgtEl>
                                          <p:spTgt spid="1361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36195">
                                            <p:txEl>
                                              <p:pRg st="4" end="4"/>
                                            </p:txEl>
                                          </p:spTgt>
                                        </p:tgtEl>
                                        <p:attrNameLst>
                                          <p:attrName>style.visibility</p:attrName>
                                        </p:attrNameLst>
                                      </p:cBhvr>
                                      <p:to>
                                        <p:strVal val="visible"/>
                                      </p:to>
                                    </p:set>
                                    <p:animEffect transition="in" filter="blinds(horizontal)">
                                      <p:cBhvr>
                                        <p:cTn id="27" dur="500"/>
                                        <p:tgtEl>
                                          <p:spTgt spid="1361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36195">
                                            <p:txEl>
                                              <p:pRg st="5" end="5"/>
                                            </p:txEl>
                                          </p:spTgt>
                                        </p:tgtEl>
                                        <p:attrNameLst>
                                          <p:attrName>style.visibility</p:attrName>
                                        </p:attrNameLst>
                                      </p:cBhvr>
                                      <p:to>
                                        <p:strVal val="visible"/>
                                      </p:to>
                                    </p:set>
                                    <p:animEffect transition="in" filter="wipe(up)">
                                      <p:cBhvr>
                                        <p:cTn id="32" dur="1000"/>
                                        <p:tgtEl>
                                          <p:spTgt spid="13619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36195">
                                            <p:txEl>
                                              <p:pRg st="6" end="6"/>
                                            </p:txEl>
                                          </p:spTgt>
                                        </p:tgtEl>
                                        <p:attrNameLst>
                                          <p:attrName>style.visibility</p:attrName>
                                        </p:attrNameLst>
                                      </p:cBhvr>
                                      <p:to>
                                        <p:strVal val="visible"/>
                                      </p:to>
                                    </p:set>
                                    <p:animEffect transition="in" filter="wipe(up)">
                                      <p:cBhvr>
                                        <p:cTn id="37" dur="1000"/>
                                        <p:tgtEl>
                                          <p:spTgt spid="136195">
                                            <p:txEl>
                                              <p:pRg st="6" end="6"/>
                                            </p:txEl>
                                          </p:spTgt>
                                        </p:tgtEl>
                                      </p:cBhvr>
                                    </p:animEffect>
                                  </p:childTnLst>
                                </p:cTn>
                              </p:par>
                              <p:par>
                                <p:cTn id="38" presetID="22" presetClass="entr" presetSubtype="1" fill="hold" nodeType="withEffect">
                                  <p:stCondLst>
                                    <p:cond delay="0"/>
                                  </p:stCondLst>
                                  <p:childTnLst>
                                    <p:set>
                                      <p:cBhvr>
                                        <p:cTn id="39" dur="1" fill="hold">
                                          <p:stCondLst>
                                            <p:cond delay="0"/>
                                          </p:stCondLst>
                                        </p:cTn>
                                        <p:tgtEl>
                                          <p:spTgt spid="136195">
                                            <p:txEl>
                                              <p:pRg st="7" end="7"/>
                                            </p:txEl>
                                          </p:spTgt>
                                        </p:tgtEl>
                                        <p:attrNameLst>
                                          <p:attrName>style.visibility</p:attrName>
                                        </p:attrNameLst>
                                      </p:cBhvr>
                                      <p:to>
                                        <p:strVal val="visible"/>
                                      </p:to>
                                    </p:set>
                                    <p:animEffect transition="in" filter="wipe(up)">
                                      <p:cBhvr>
                                        <p:cTn id="40" dur="1000"/>
                                        <p:tgtEl>
                                          <p:spTgt spid="136195">
                                            <p:txEl>
                                              <p:pRg st="7" end="7"/>
                                            </p:txEl>
                                          </p:spTgt>
                                        </p:tgtEl>
                                      </p:cBhvr>
                                    </p:animEffect>
                                  </p:childTnLst>
                                </p:cTn>
                              </p:par>
                              <p:par>
                                <p:cTn id="41" presetID="22" presetClass="entr" presetSubtype="1" fill="hold" nodeType="withEffect">
                                  <p:stCondLst>
                                    <p:cond delay="0"/>
                                  </p:stCondLst>
                                  <p:childTnLst>
                                    <p:set>
                                      <p:cBhvr>
                                        <p:cTn id="42" dur="1" fill="hold">
                                          <p:stCondLst>
                                            <p:cond delay="0"/>
                                          </p:stCondLst>
                                        </p:cTn>
                                        <p:tgtEl>
                                          <p:spTgt spid="136195">
                                            <p:txEl>
                                              <p:pRg st="8" end="8"/>
                                            </p:txEl>
                                          </p:spTgt>
                                        </p:tgtEl>
                                        <p:attrNameLst>
                                          <p:attrName>style.visibility</p:attrName>
                                        </p:attrNameLst>
                                      </p:cBhvr>
                                      <p:to>
                                        <p:strVal val="visible"/>
                                      </p:to>
                                    </p:set>
                                    <p:animEffect transition="in" filter="wipe(up)">
                                      <p:cBhvr>
                                        <p:cTn id="43" dur="1000"/>
                                        <p:tgtEl>
                                          <p:spTgt spid="136195">
                                            <p:txEl>
                                              <p:pRg st="8" end="8"/>
                                            </p:txEl>
                                          </p:spTgt>
                                        </p:tgtEl>
                                      </p:cBhvr>
                                    </p:animEffect>
                                  </p:childTnLst>
                                </p:cTn>
                              </p:par>
                              <p:par>
                                <p:cTn id="44" presetID="22" presetClass="entr" presetSubtype="1" fill="hold" nodeType="withEffect">
                                  <p:stCondLst>
                                    <p:cond delay="0"/>
                                  </p:stCondLst>
                                  <p:childTnLst>
                                    <p:set>
                                      <p:cBhvr>
                                        <p:cTn id="45" dur="1" fill="hold">
                                          <p:stCondLst>
                                            <p:cond delay="0"/>
                                          </p:stCondLst>
                                        </p:cTn>
                                        <p:tgtEl>
                                          <p:spTgt spid="136195">
                                            <p:txEl>
                                              <p:pRg st="9" end="9"/>
                                            </p:txEl>
                                          </p:spTgt>
                                        </p:tgtEl>
                                        <p:attrNameLst>
                                          <p:attrName>style.visibility</p:attrName>
                                        </p:attrNameLst>
                                      </p:cBhvr>
                                      <p:to>
                                        <p:strVal val="visible"/>
                                      </p:to>
                                    </p:set>
                                    <p:animEffect transition="in" filter="wipe(up)">
                                      <p:cBhvr>
                                        <p:cTn id="46" dur="1000"/>
                                        <p:tgtEl>
                                          <p:spTgt spid="136195">
                                            <p:txEl>
                                              <p:pRg st="9" end="9"/>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136195">
                                            <p:txEl>
                                              <p:pRg st="10" end="10"/>
                                            </p:txEl>
                                          </p:spTgt>
                                        </p:tgtEl>
                                        <p:attrNameLst>
                                          <p:attrName>style.visibility</p:attrName>
                                        </p:attrNameLst>
                                      </p:cBhvr>
                                      <p:to>
                                        <p:strVal val="visible"/>
                                      </p:to>
                                    </p:set>
                                    <p:animEffect transition="in" filter="wipe(up)">
                                      <p:cBhvr>
                                        <p:cTn id="51" dur="1000"/>
                                        <p:tgtEl>
                                          <p:spTgt spid="13619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37217"/>
          <p:cNvSpPr>
            <a:spLocks noGrp="1" noChangeArrowheads="1"/>
          </p:cNvSpPr>
          <p:nvPr>
            <p:ph type="title"/>
          </p:nvPr>
        </p:nvSpPr>
        <p:spPr>
          <a:xfrm>
            <a:off x="2603500" y="260350"/>
            <a:ext cx="7793038" cy="647700"/>
          </a:xfrm>
        </p:spPr>
        <p:txBody>
          <a:bodyPr/>
          <a:lstStyle/>
          <a:p>
            <a:pPr marL="685800" indent="-685800"/>
            <a:r>
              <a:rPr lang="en-US" altLang="zh-CN" sz="4000" b="1" dirty="0">
                <a:solidFill>
                  <a:srgbClr val="0000FF"/>
                </a:solidFill>
                <a:latin typeface="Times New Roman" panose="02020603050405020304" pitchFamily="18" charset="0"/>
                <a:ea typeface="华文楷体" panose="02010600040101010101" pitchFamily="2" charset="-122"/>
              </a:rPr>
              <a:t>1.1.3</a:t>
            </a:r>
            <a:r>
              <a:rPr lang="zh-CN" altLang="en-US" sz="4000" b="1" dirty="0">
                <a:solidFill>
                  <a:srgbClr val="0000FF"/>
                </a:solidFill>
                <a:latin typeface="Times New Roman" panose="02020603050405020304" pitchFamily="18" charset="0"/>
                <a:ea typeface="华文楷体" panose="02010600040101010101" pitchFamily="2" charset="-122"/>
              </a:rPr>
              <a:t>、创建二维数组变量</a:t>
            </a:r>
            <a:r>
              <a:rPr lang="zh-CN" altLang="en-US" sz="3500" b="1" dirty="0">
                <a:solidFill>
                  <a:srgbClr val="0000FF"/>
                </a:solidFill>
                <a:latin typeface="Times New Roman" panose="02020603050405020304" pitchFamily="18" charset="0"/>
                <a:ea typeface="华文楷体" panose="02010600040101010101" pitchFamily="2" charset="-122"/>
              </a:rPr>
              <a:t>（续）</a:t>
            </a:r>
            <a:endParaRPr lang="zh-CN" altLang="en-US" sz="3500" b="1" dirty="0">
              <a:solidFill>
                <a:srgbClr val="0000FF"/>
              </a:solidFill>
              <a:latin typeface="Times New Roman" panose="02020603050405020304" pitchFamily="18" charset="0"/>
              <a:ea typeface="华文楷体" panose="02010600040101010101" pitchFamily="2" charset="-122"/>
            </a:endParaRPr>
          </a:p>
        </p:txBody>
      </p:sp>
      <p:sp>
        <p:nvSpPr>
          <p:cNvPr id="137219" name="内容占位符 137218"/>
          <p:cNvSpPr>
            <a:spLocks noGrp="1" noChangeArrowheads="1"/>
          </p:cNvSpPr>
          <p:nvPr>
            <p:ph idx="1"/>
          </p:nvPr>
        </p:nvSpPr>
        <p:spPr>
          <a:xfrm>
            <a:off x="2640013" y="981076"/>
            <a:ext cx="7772400" cy="4791075"/>
          </a:xfrm>
        </p:spPr>
        <p:txBody>
          <a:bodyPr>
            <a:normAutofit fontScale="92500" lnSpcReduction="10000"/>
          </a:bodyPr>
          <a:lstStyle/>
          <a:p>
            <a:pPr lvl="1" eaLnBrk="1" hangingPunct="1">
              <a:buFont typeface="Wingdings" panose="05000000000000000000" pitchFamily="2" charset="2"/>
              <a:buNone/>
            </a:pPr>
            <a:r>
              <a:rPr lang="zh-CN" altLang="en-US" sz="2600" b="1" dirty="0">
                <a:solidFill>
                  <a:srgbClr val="0000FF"/>
                </a:solidFill>
                <a:latin typeface="Times New Roman" panose="02020603050405020304" pitchFamily="18" charset="0"/>
                <a:ea typeface="华文楷体" panose="02010600040101010101" pitchFamily="2" charset="-122"/>
              </a:rPr>
              <a:t>【例</a:t>
            </a:r>
            <a:r>
              <a:rPr lang="en-US" altLang="zh-CN" sz="2600" b="1" dirty="0">
                <a:solidFill>
                  <a:srgbClr val="0000FF"/>
                </a:solidFill>
                <a:latin typeface="Times New Roman" panose="02020603050405020304" pitchFamily="18" charset="0"/>
                <a:ea typeface="华文楷体" panose="02010600040101010101" pitchFamily="2" charset="-122"/>
              </a:rPr>
              <a:t>3-3</a:t>
            </a:r>
            <a:r>
              <a:rPr lang="zh-CN" altLang="en-US" sz="2600" b="1" dirty="0">
                <a:solidFill>
                  <a:srgbClr val="0000FF"/>
                </a:solidFill>
                <a:latin typeface="Times New Roman" panose="02020603050405020304" pitchFamily="18" charset="0"/>
                <a:ea typeface="华文楷体" panose="02010600040101010101" pitchFamily="2" charset="-122"/>
              </a:rPr>
              <a:t>】</a:t>
            </a:r>
            <a:r>
              <a:rPr lang="zh-CN" altLang="en-US" sz="2600" b="1" dirty="0">
                <a:solidFill>
                  <a:srgbClr val="490092"/>
                </a:solidFill>
                <a:latin typeface="Times New Roman" panose="02020603050405020304" pitchFamily="18" charset="0"/>
                <a:ea typeface="华文楷体" panose="02010600040101010101" pitchFamily="2" charset="-122"/>
              </a:rPr>
              <a:t>由向量构成二维数组。</a:t>
            </a:r>
            <a:endParaRPr lang="zh-CN" altLang="en-US" sz="2600" b="1" dirty="0">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dirty="0">
                <a:solidFill>
                  <a:srgbClr val="490092"/>
                </a:solidFill>
                <a:latin typeface="Times New Roman" panose="02020603050405020304" pitchFamily="18" charset="0"/>
                <a:ea typeface="华文楷体" panose="02010600040101010101" pitchFamily="2" charset="-122"/>
              </a:rPr>
              <a:t>&gt;&gt;a=[1 2 3]; b=[2 3 4]; </a:t>
            </a:r>
            <a:endParaRPr lang="en-US" altLang="zh-CN" b="1" dirty="0">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dirty="0">
                <a:solidFill>
                  <a:srgbClr val="490092"/>
                </a:solidFill>
                <a:latin typeface="Times New Roman" panose="02020603050405020304" pitchFamily="18" charset="0"/>
                <a:ea typeface="华文楷体" panose="02010600040101010101" pitchFamily="2" charset="-122"/>
              </a:rPr>
              <a:t>&gt;&gt;c=[</a:t>
            </a:r>
            <a:r>
              <a:rPr lang="en-US" altLang="zh-CN" b="1" dirty="0" err="1">
                <a:solidFill>
                  <a:srgbClr val="490092"/>
                </a:solidFill>
                <a:latin typeface="Times New Roman" panose="02020603050405020304" pitchFamily="18" charset="0"/>
                <a:ea typeface="华文楷体" panose="02010600040101010101" pitchFamily="2" charset="-122"/>
              </a:rPr>
              <a:t>a;b</a:t>
            </a:r>
            <a:r>
              <a:rPr lang="en-US" altLang="zh-CN" b="1" dirty="0">
                <a:solidFill>
                  <a:srgbClr val="490092"/>
                </a:solidFill>
                <a:latin typeface="Times New Roman" panose="02020603050405020304" pitchFamily="18" charset="0"/>
                <a:ea typeface="华文楷体" panose="02010600040101010101" pitchFamily="2" charset="-122"/>
              </a:rPr>
              <a:t>];</a:t>
            </a:r>
            <a:endParaRPr lang="en-US" altLang="zh-CN" b="1" dirty="0">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dirty="0">
                <a:solidFill>
                  <a:srgbClr val="490092"/>
                </a:solidFill>
                <a:latin typeface="Times New Roman" panose="02020603050405020304" pitchFamily="18" charset="0"/>
                <a:ea typeface="华文楷体" panose="02010600040101010101" pitchFamily="2" charset="-122"/>
              </a:rPr>
              <a:t>&gt;&gt;c1=[a b];</a:t>
            </a:r>
            <a:endParaRPr lang="en-US" altLang="zh-CN" b="1" dirty="0">
              <a:solidFill>
                <a:srgbClr val="490092"/>
              </a:solidFill>
              <a:latin typeface="Times New Roman" panose="02020603050405020304" pitchFamily="18" charset="0"/>
              <a:ea typeface="华文楷体" panose="02010600040101010101" pitchFamily="2" charset="-122"/>
            </a:endParaRPr>
          </a:p>
          <a:p>
            <a:pPr eaLnBrk="1" hangingPunct="1"/>
            <a:r>
              <a:rPr lang="zh-CN" altLang="en-US" sz="3000" b="1" dirty="0">
                <a:solidFill>
                  <a:schemeClr val="hlink"/>
                </a:solidFill>
                <a:latin typeface="Times New Roman" panose="02020603050405020304" pitchFamily="18" charset="0"/>
                <a:ea typeface="华文楷体" panose="02010600040101010101" pitchFamily="2" charset="-122"/>
              </a:rPr>
              <a:t>第二种方法：函数方法</a:t>
            </a:r>
            <a:endParaRPr lang="zh-CN" altLang="en-US" sz="3000" b="1" dirty="0">
              <a:solidFill>
                <a:schemeClr val="hlink"/>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zh-CN" altLang="en-US" b="1" dirty="0">
                <a:solidFill>
                  <a:srgbClr val="490092"/>
                </a:solidFill>
                <a:latin typeface="Times New Roman" panose="02020603050405020304" pitchFamily="18" charset="0"/>
                <a:ea typeface="华文楷体" panose="02010600040101010101" pitchFamily="2" charset="-122"/>
              </a:rPr>
              <a:t>函数</a:t>
            </a:r>
            <a:r>
              <a:rPr lang="en-US" altLang="zh-CN" b="1" dirty="0">
                <a:solidFill>
                  <a:schemeClr val="hlink"/>
                </a:solidFill>
                <a:latin typeface="Times New Roman" panose="02020603050405020304" pitchFamily="18" charset="0"/>
                <a:ea typeface="华文楷体" panose="02010600040101010101" pitchFamily="2" charset="-122"/>
              </a:rPr>
              <a:t>ones</a:t>
            </a:r>
            <a:r>
              <a:rPr lang="en-US" altLang="zh-CN" b="1" dirty="0">
                <a:solidFill>
                  <a:srgbClr val="490092"/>
                </a:solidFill>
                <a:latin typeface="Times New Roman" panose="02020603050405020304" pitchFamily="18" charset="0"/>
                <a:ea typeface="华文楷体" panose="02010600040101010101" pitchFamily="2" charset="-122"/>
              </a:rPr>
              <a:t>(</a:t>
            </a:r>
            <a:r>
              <a:rPr lang="zh-CN" altLang="en-US" b="1" dirty="0">
                <a:solidFill>
                  <a:srgbClr val="490092"/>
                </a:solidFill>
                <a:latin typeface="Times New Roman" panose="02020603050405020304" pitchFamily="18" charset="0"/>
                <a:ea typeface="华文楷体" panose="02010600040101010101" pitchFamily="2" charset="-122"/>
              </a:rPr>
              <a:t>生成全</a:t>
            </a:r>
            <a:r>
              <a:rPr lang="en-US" altLang="zh-CN" b="1" dirty="0">
                <a:solidFill>
                  <a:srgbClr val="490092"/>
                </a:solidFill>
                <a:latin typeface="Times New Roman" panose="02020603050405020304" pitchFamily="18" charset="0"/>
                <a:ea typeface="华文楷体" panose="02010600040101010101" pitchFamily="2" charset="-122"/>
              </a:rPr>
              <a:t>1</a:t>
            </a:r>
            <a:r>
              <a:rPr lang="zh-CN" altLang="en-US" b="1" dirty="0">
                <a:solidFill>
                  <a:srgbClr val="490092"/>
                </a:solidFill>
                <a:latin typeface="Times New Roman" panose="02020603050405020304" pitchFamily="18" charset="0"/>
                <a:ea typeface="华文楷体" panose="02010600040101010101" pitchFamily="2" charset="-122"/>
              </a:rPr>
              <a:t>矩阵</a:t>
            </a:r>
            <a:r>
              <a:rPr lang="en-US" altLang="zh-CN" b="1" dirty="0">
                <a:solidFill>
                  <a:srgbClr val="490092"/>
                </a:solidFill>
                <a:latin typeface="Times New Roman" panose="02020603050405020304" pitchFamily="18" charset="0"/>
                <a:ea typeface="华文楷体" panose="02010600040101010101" pitchFamily="2" charset="-122"/>
              </a:rPr>
              <a:t>)</a:t>
            </a:r>
            <a:r>
              <a:rPr lang="zh-CN" altLang="en-US" b="1" dirty="0">
                <a:solidFill>
                  <a:srgbClr val="490092"/>
                </a:solidFill>
                <a:latin typeface="Times New Roman" panose="02020603050405020304" pitchFamily="18" charset="0"/>
                <a:ea typeface="华文楷体" panose="02010600040101010101" pitchFamily="2" charset="-122"/>
              </a:rPr>
              <a:t>、</a:t>
            </a:r>
            <a:r>
              <a:rPr lang="en-US" altLang="zh-CN" b="1" dirty="0">
                <a:solidFill>
                  <a:schemeClr val="hlink"/>
                </a:solidFill>
                <a:latin typeface="Times New Roman" panose="02020603050405020304" pitchFamily="18" charset="0"/>
                <a:ea typeface="华文楷体" panose="02010600040101010101" pitchFamily="2" charset="-122"/>
              </a:rPr>
              <a:t>zeros</a:t>
            </a:r>
            <a:r>
              <a:rPr lang="en-US" altLang="zh-CN" b="1" dirty="0">
                <a:solidFill>
                  <a:srgbClr val="490092"/>
                </a:solidFill>
                <a:latin typeface="Times New Roman" panose="02020603050405020304" pitchFamily="18" charset="0"/>
                <a:ea typeface="华文楷体" panose="02010600040101010101" pitchFamily="2" charset="-122"/>
              </a:rPr>
              <a:t> (</a:t>
            </a:r>
            <a:r>
              <a:rPr lang="zh-CN" altLang="en-US" b="1" dirty="0">
                <a:solidFill>
                  <a:srgbClr val="490092"/>
                </a:solidFill>
                <a:latin typeface="Times New Roman" panose="02020603050405020304" pitchFamily="18" charset="0"/>
                <a:ea typeface="华文楷体" panose="02010600040101010101" pitchFamily="2" charset="-122"/>
              </a:rPr>
              <a:t>生成全</a:t>
            </a:r>
            <a:r>
              <a:rPr lang="en-US" altLang="zh-CN" b="1" dirty="0">
                <a:solidFill>
                  <a:srgbClr val="490092"/>
                </a:solidFill>
                <a:latin typeface="Times New Roman" panose="02020603050405020304" pitchFamily="18" charset="0"/>
                <a:ea typeface="华文楷体" panose="02010600040101010101" pitchFamily="2" charset="-122"/>
              </a:rPr>
              <a:t>0</a:t>
            </a:r>
            <a:r>
              <a:rPr lang="zh-CN" altLang="en-US" b="1" dirty="0">
                <a:solidFill>
                  <a:srgbClr val="490092"/>
                </a:solidFill>
                <a:latin typeface="Times New Roman" panose="02020603050405020304" pitchFamily="18" charset="0"/>
                <a:ea typeface="华文楷体" panose="02010600040101010101" pitchFamily="2" charset="-122"/>
              </a:rPr>
              <a:t>矩阵</a:t>
            </a:r>
            <a:r>
              <a:rPr lang="en-US" altLang="zh-CN" b="1" dirty="0">
                <a:solidFill>
                  <a:srgbClr val="490092"/>
                </a:solidFill>
                <a:latin typeface="Times New Roman" panose="02020603050405020304" pitchFamily="18" charset="0"/>
                <a:ea typeface="华文楷体" panose="02010600040101010101" pitchFamily="2" charset="-122"/>
              </a:rPr>
              <a:t>) </a:t>
            </a:r>
            <a:endParaRPr lang="en-US" altLang="zh-CN" b="1" dirty="0">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endParaRPr lang="en-US" altLang="zh-CN" b="1" dirty="0">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dirty="0">
                <a:solidFill>
                  <a:schemeClr val="hlink"/>
                </a:solidFill>
                <a:latin typeface="Times New Roman" panose="02020603050405020304" pitchFamily="18" charset="0"/>
                <a:ea typeface="华文楷体" panose="02010600040101010101" pitchFamily="2" charset="-122"/>
              </a:rPr>
              <a:t>reshape</a:t>
            </a:r>
            <a:endParaRPr lang="en-US" altLang="zh-CN" b="1" dirty="0">
              <a:solidFill>
                <a:schemeClr val="hlink"/>
              </a:solidFill>
              <a:latin typeface="Times New Roman" panose="02020603050405020304" pitchFamily="18" charset="0"/>
              <a:ea typeface="华文楷体" panose="02010600040101010101" pitchFamily="2" charset="-122"/>
            </a:endParaRPr>
          </a:p>
          <a:p>
            <a:pPr lvl="1" eaLnBrk="1" hangingPunct="1">
              <a:spcBef>
                <a:spcPct val="40000"/>
              </a:spcBef>
              <a:buFont typeface="Wingdings" panose="05000000000000000000" pitchFamily="2" charset="2"/>
              <a:buChar char="F"/>
            </a:pPr>
            <a:r>
              <a:rPr lang="en-US" altLang="zh-CN" b="1" dirty="0">
                <a:solidFill>
                  <a:srgbClr val="490092"/>
                </a:solidFill>
                <a:latin typeface="Times New Roman" panose="02020603050405020304" pitchFamily="18" charset="0"/>
                <a:ea typeface="华文楷体" panose="02010600040101010101" pitchFamily="2" charset="-122"/>
              </a:rPr>
              <a:t>“help </a:t>
            </a:r>
            <a:r>
              <a:rPr lang="en-US" altLang="zh-CN" b="1" dirty="0" err="1">
                <a:solidFill>
                  <a:srgbClr val="490092"/>
                </a:solidFill>
                <a:latin typeface="Times New Roman" panose="02020603050405020304" pitchFamily="18" charset="0"/>
                <a:ea typeface="华文楷体" panose="02010600040101010101" pitchFamily="2" charset="-122"/>
              </a:rPr>
              <a:t>elmat</a:t>
            </a:r>
            <a:r>
              <a:rPr lang="en-US" altLang="zh-CN" b="1" dirty="0">
                <a:solidFill>
                  <a:srgbClr val="490092"/>
                </a:solidFill>
                <a:latin typeface="Times New Roman" panose="02020603050405020304" pitchFamily="18" charset="0"/>
                <a:ea typeface="华文楷体" panose="02010600040101010101" pitchFamily="2" charset="-122"/>
              </a:rPr>
              <a:t>”</a:t>
            </a:r>
            <a:r>
              <a:rPr lang="zh-CN" altLang="en-US" b="1" dirty="0">
                <a:solidFill>
                  <a:srgbClr val="490092"/>
                </a:solidFill>
                <a:latin typeface="Times New Roman" panose="02020603050405020304" pitchFamily="18" charset="0"/>
                <a:ea typeface="华文楷体" panose="02010600040101010101" pitchFamily="2" charset="-122"/>
              </a:rPr>
              <a:t>获得基本的矩阵生成和操作函数列表</a:t>
            </a:r>
            <a:endParaRPr lang="zh-CN" altLang="en-US" b="1" dirty="0">
              <a:solidFill>
                <a:srgbClr val="490092"/>
              </a:solidFill>
              <a:latin typeface="Times New Roman" panose="02020603050405020304" pitchFamily="18" charset="0"/>
              <a:ea typeface="华文楷体" panose="02010600040101010101" pitchFamily="2" charset="-122"/>
            </a:endParaRPr>
          </a:p>
          <a:p>
            <a:pPr lvl="1" eaLnBrk="1" hangingPunct="1">
              <a:spcBef>
                <a:spcPct val="40000"/>
              </a:spcBef>
              <a:buFont typeface="Wingdings" panose="05000000000000000000" pitchFamily="2" charset="2"/>
              <a:buNone/>
            </a:pPr>
            <a:r>
              <a:rPr lang="zh-CN" altLang="en-US" b="1" dirty="0">
                <a:solidFill>
                  <a:srgbClr val="0000FF"/>
                </a:solidFill>
                <a:latin typeface="Times New Roman" panose="02020603050405020304" pitchFamily="18" charset="0"/>
                <a:ea typeface="华文楷体" panose="02010600040101010101" pitchFamily="2" charset="-122"/>
              </a:rPr>
              <a:t>【例</a:t>
            </a:r>
            <a:r>
              <a:rPr lang="en-US" altLang="zh-CN" b="1" dirty="0">
                <a:solidFill>
                  <a:srgbClr val="0000FF"/>
                </a:solidFill>
                <a:latin typeface="Times New Roman" panose="02020603050405020304" pitchFamily="18" charset="0"/>
                <a:ea typeface="华文楷体" panose="02010600040101010101" pitchFamily="2" charset="-122"/>
              </a:rPr>
              <a:t>3-4</a:t>
            </a:r>
            <a:r>
              <a:rPr lang="zh-CN" altLang="en-US" b="1" dirty="0">
                <a:solidFill>
                  <a:srgbClr val="0000FF"/>
                </a:solidFill>
                <a:latin typeface="Times New Roman" panose="02020603050405020304" pitchFamily="18" charset="0"/>
                <a:ea typeface="华文楷体" panose="02010600040101010101" pitchFamily="2" charset="-122"/>
              </a:rPr>
              <a:t>】</a:t>
            </a:r>
            <a:r>
              <a:rPr lang="zh-CN" altLang="en-US" b="1" dirty="0">
                <a:solidFill>
                  <a:srgbClr val="490092"/>
                </a:solidFill>
                <a:latin typeface="Times New Roman" panose="02020603050405020304" pitchFamily="18" charset="0"/>
                <a:ea typeface="华文楷体" panose="02010600040101010101" pitchFamily="2" charset="-122"/>
              </a:rPr>
              <a:t>创建全</a:t>
            </a:r>
            <a:r>
              <a:rPr lang="en-US" altLang="zh-CN" b="1" dirty="0">
                <a:solidFill>
                  <a:srgbClr val="490092"/>
                </a:solidFill>
                <a:latin typeface="Times New Roman" panose="02020603050405020304" pitchFamily="18" charset="0"/>
                <a:ea typeface="华文楷体" panose="02010600040101010101" pitchFamily="2" charset="-122"/>
              </a:rPr>
              <a:t>1</a:t>
            </a:r>
            <a:r>
              <a:rPr lang="zh-CN" altLang="en-US" b="1" dirty="0">
                <a:solidFill>
                  <a:srgbClr val="490092"/>
                </a:solidFill>
                <a:latin typeface="Times New Roman" panose="02020603050405020304" pitchFamily="18" charset="0"/>
                <a:ea typeface="华文楷体" panose="02010600040101010101" pitchFamily="2" charset="-122"/>
              </a:rPr>
              <a:t>的</a:t>
            </a:r>
            <a:r>
              <a:rPr lang="en-US" altLang="zh-CN" b="1" dirty="0">
                <a:solidFill>
                  <a:srgbClr val="490092"/>
                </a:solidFill>
                <a:latin typeface="Times New Roman" panose="02020603050405020304" pitchFamily="18" charset="0"/>
                <a:ea typeface="华文楷体" panose="02010600040101010101" pitchFamily="2" charset="-122"/>
              </a:rPr>
              <a:t>3x3</a:t>
            </a:r>
            <a:r>
              <a:rPr lang="zh-CN" altLang="en-US" b="1" dirty="0">
                <a:solidFill>
                  <a:srgbClr val="490092"/>
                </a:solidFill>
                <a:latin typeface="Times New Roman" panose="02020603050405020304" pitchFamily="18" charset="0"/>
                <a:ea typeface="华文楷体" panose="02010600040101010101" pitchFamily="2" charset="-122"/>
              </a:rPr>
              <a:t>数组。</a:t>
            </a:r>
            <a:endParaRPr lang="zh-CN" altLang="en-US" b="1" dirty="0">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dirty="0">
                <a:solidFill>
                  <a:srgbClr val="490092"/>
                </a:solidFill>
                <a:latin typeface="Times New Roman" panose="02020603050405020304" pitchFamily="18" charset="0"/>
                <a:ea typeface="华文楷体" panose="02010600040101010101" pitchFamily="2" charset="-122"/>
              </a:rPr>
              <a:t>&gt;&gt;ones(3)</a:t>
            </a:r>
            <a:endParaRPr lang="en-US" altLang="zh-CN" b="1" dirty="0">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zh-CN" altLang="en-US" b="1" dirty="0">
                <a:solidFill>
                  <a:srgbClr val="0000FF"/>
                </a:solidFill>
                <a:latin typeface="Times New Roman" panose="02020603050405020304" pitchFamily="18" charset="0"/>
                <a:ea typeface="华文楷体" panose="02010600040101010101" pitchFamily="2" charset="-122"/>
              </a:rPr>
              <a:t>【例</a:t>
            </a:r>
            <a:r>
              <a:rPr lang="en-US" altLang="zh-CN" b="1" dirty="0">
                <a:solidFill>
                  <a:srgbClr val="0000FF"/>
                </a:solidFill>
                <a:latin typeface="Times New Roman" panose="02020603050405020304" pitchFamily="18" charset="0"/>
                <a:ea typeface="华文楷体" panose="02010600040101010101" pitchFamily="2" charset="-122"/>
              </a:rPr>
              <a:t>3-5</a:t>
            </a:r>
            <a:r>
              <a:rPr lang="zh-CN" altLang="en-US" b="1" dirty="0">
                <a:solidFill>
                  <a:srgbClr val="0000FF"/>
                </a:solidFill>
                <a:latin typeface="Times New Roman" panose="02020603050405020304" pitchFamily="18" charset="0"/>
                <a:ea typeface="华文楷体" panose="02010600040101010101" pitchFamily="2" charset="-122"/>
              </a:rPr>
              <a:t>】</a:t>
            </a:r>
            <a:r>
              <a:rPr lang="zh-CN" altLang="en-US" b="1" dirty="0">
                <a:solidFill>
                  <a:srgbClr val="490092"/>
                </a:solidFill>
                <a:latin typeface="Times New Roman" panose="02020603050405020304" pitchFamily="18" charset="0"/>
                <a:ea typeface="华文楷体" panose="02010600040101010101" pitchFamily="2" charset="-122"/>
              </a:rPr>
              <a:t>创建全</a:t>
            </a:r>
            <a:r>
              <a:rPr lang="en-US" altLang="zh-CN" b="1" dirty="0">
                <a:solidFill>
                  <a:srgbClr val="490092"/>
                </a:solidFill>
                <a:latin typeface="Times New Roman" panose="02020603050405020304" pitchFamily="18" charset="0"/>
                <a:ea typeface="华文楷体" panose="02010600040101010101" pitchFamily="2" charset="-122"/>
              </a:rPr>
              <a:t>1</a:t>
            </a:r>
            <a:r>
              <a:rPr lang="zh-CN" altLang="en-US" b="1" dirty="0">
                <a:solidFill>
                  <a:srgbClr val="490092"/>
                </a:solidFill>
                <a:latin typeface="Times New Roman" panose="02020603050405020304" pitchFamily="18" charset="0"/>
                <a:ea typeface="华文楷体" panose="02010600040101010101" pitchFamily="2" charset="-122"/>
              </a:rPr>
              <a:t>的</a:t>
            </a:r>
            <a:r>
              <a:rPr lang="en-US" altLang="zh-CN" b="1" dirty="0">
                <a:solidFill>
                  <a:srgbClr val="490092"/>
                </a:solidFill>
                <a:latin typeface="Times New Roman" panose="02020603050405020304" pitchFamily="18" charset="0"/>
                <a:ea typeface="华文楷体" panose="02010600040101010101" pitchFamily="2" charset="-122"/>
              </a:rPr>
              <a:t>3x4</a:t>
            </a:r>
            <a:r>
              <a:rPr lang="zh-CN" altLang="en-US" b="1" dirty="0">
                <a:solidFill>
                  <a:srgbClr val="490092"/>
                </a:solidFill>
                <a:latin typeface="Times New Roman" panose="02020603050405020304" pitchFamily="18" charset="0"/>
                <a:ea typeface="华文楷体" panose="02010600040101010101" pitchFamily="2" charset="-122"/>
              </a:rPr>
              <a:t>数组。</a:t>
            </a:r>
            <a:endParaRPr lang="zh-CN" altLang="en-US" b="1" dirty="0">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dirty="0">
                <a:solidFill>
                  <a:srgbClr val="490092"/>
                </a:solidFill>
                <a:latin typeface="Times New Roman" panose="02020603050405020304" pitchFamily="18" charset="0"/>
                <a:ea typeface="华文楷体" panose="02010600040101010101" pitchFamily="2" charset="-122"/>
              </a:rPr>
              <a:t>&gt;&gt;ones(3,4)</a:t>
            </a:r>
            <a:endParaRPr lang="en-US" altLang="zh-CN" b="1" dirty="0">
              <a:solidFill>
                <a:srgbClr val="490092"/>
              </a:solidFill>
              <a:latin typeface="Times New Roman" panose="02020603050405020304" pitchFamily="18" charset="0"/>
              <a:ea typeface="华文楷体" panose="02010600040101010101" pitchFamily="2" charset="-122"/>
            </a:endParaRPr>
          </a:p>
        </p:txBody>
      </p:sp>
      <p:sp>
        <p:nvSpPr>
          <p:cNvPr id="64515"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F8449F2A-88C8-4020-B3F0-6B06ED95B871}" type="datetime1">
              <a:rPr lang="zh-CN" altLang="en-US" smtClean="0">
                <a:solidFill>
                  <a:srgbClr val="45516B"/>
                </a:solidFill>
              </a:rPr>
            </a:fld>
            <a:endParaRPr lang="zh-CN" altLang="en-US">
              <a:solidFill>
                <a:srgbClr val="45516B"/>
              </a:solidFill>
            </a:endParaRPr>
          </a:p>
        </p:txBody>
      </p:sp>
      <p:sp>
        <p:nvSpPr>
          <p:cNvPr id="64516"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64518" name="灯片编号占位符 3"/>
          <p:cNvSpPr>
            <a:spLocks noGrp="1" noChangeArrowheads="1"/>
          </p:cNvSpPr>
          <p:nvPr>
            <p:ph type="sldNum" sz="quarter" idx="12"/>
          </p:nvPr>
        </p:nvSpPr>
        <p:spPr bwMode="auto">
          <a:noFill/>
          <a:ln>
            <a:miter lim="800000"/>
          </a:ln>
        </p:spPr>
        <p:txBody>
          <a:bodyPr/>
          <a:lstStyle/>
          <a:p>
            <a:fld id="{B0FC1284-60E0-4D1E-93BE-1570359FBA73}"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7219">
                                            <p:txEl>
                                              <p:pRg st="0" end="0"/>
                                            </p:txEl>
                                          </p:spTgt>
                                        </p:tgtEl>
                                        <p:attrNameLst>
                                          <p:attrName>style.visibility</p:attrName>
                                        </p:attrNameLst>
                                      </p:cBhvr>
                                      <p:to>
                                        <p:strVal val="visible"/>
                                      </p:to>
                                    </p:set>
                                    <p:animEffect transition="in" filter="blinds(horizontal)">
                                      <p:cBhvr>
                                        <p:cTn id="7" dur="500"/>
                                        <p:tgtEl>
                                          <p:spTgt spid="137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7219">
                                            <p:txEl>
                                              <p:pRg st="1" end="1"/>
                                            </p:txEl>
                                          </p:spTgt>
                                        </p:tgtEl>
                                        <p:attrNameLst>
                                          <p:attrName>style.visibility</p:attrName>
                                        </p:attrNameLst>
                                      </p:cBhvr>
                                      <p:to>
                                        <p:strVal val="visible"/>
                                      </p:to>
                                    </p:set>
                                    <p:animEffect transition="in" filter="blinds(horizontal)">
                                      <p:cBhvr>
                                        <p:cTn id="12" dur="500"/>
                                        <p:tgtEl>
                                          <p:spTgt spid="1372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37219">
                                            <p:txEl>
                                              <p:pRg st="2" end="2"/>
                                            </p:txEl>
                                          </p:spTgt>
                                        </p:tgtEl>
                                        <p:attrNameLst>
                                          <p:attrName>style.visibility</p:attrName>
                                        </p:attrNameLst>
                                      </p:cBhvr>
                                      <p:to>
                                        <p:strVal val="visible"/>
                                      </p:to>
                                    </p:set>
                                    <p:animEffect transition="in" filter="wipe(up)">
                                      <p:cBhvr>
                                        <p:cTn id="17" dur="500"/>
                                        <p:tgtEl>
                                          <p:spTgt spid="1372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37219">
                                            <p:txEl>
                                              <p:pRg st="3" end="3"/>
                                            </p:txEl>
                                          </p:spTgt>
                                        </p:tgtEl>
                                        <p:attrNameLst>
                                          <p:attrName>style.visibility</p:attrName>
                                        </p:attrNameLst>
                                      </p:cBhvr>
                                      <p:to>
                                        <p:strVal val="visible"/>
                                      </p:to>
                                    </p:set>
                                    <p:animEffect transition="in" filter="wipe(up)">
                                      <p:cBhvr>
                                        <p:cTn id="22" dur="500"/>
                                        <p:tgtEl>
                                          <p:spTgt spid="1372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37219">
                                            <p:txEl>
                                              <p:pRg st="4" end="4"/>
                                            </p:txEl>
                                          </p:spTgt>
                                        </p:tgtEl>
                                        <p:attrNameLst>
                                          <p:attrName>style.visibility</p:attrName>
                                        </p:attrNameLst>
                                      </p:cBhvr>
                                      <p:to>
                                        <p:strVal val="visible"/>
                                      </p:to>
                                    </p:set>
                                    <p:animEffect transition="in" filter="blinds(horizontal)">
                                      <p:cBhvr>
                                        <p:cTn id="27" dur="500"/>
                                        <p:tgtEl>
                                          <p:spTgt spid="1372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37219">
                                            <p:txEl>
                                              <p:pRg st="5" end="5"/>
                                            </p:txEl>
                                          </p:spTgt>
                                        </p:tgtEl>
                                        <p:attrNameLst>
                                          <p:attrName>style.visibility</p:attrName>
                                        </p:attrNameLst>
                                      </p:cBhvr>
                                      <p:to>
                                        <p:strVal val="visible"/>
                                      </p:to>
                                    </p:set>
                                    <p:animEffect transition="in" filter="blinds(horizontal)">
                                      <p:cBhvr>
                                        <p:cTn id="32" dur="500"/>
                                        <p:tgtEl>
                                          <p:spTgt spid="13721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37219">
                                            <p:txEl>
                                              <p:pRg st="7" end="7"/>
                                            </p:txEl>
                                          </p:spTgt>
                                        </p:tgtEl>
                                        <p:attrNameLst>
                                          <p:attrName>style.visibility</p:attrName>
                                        </p:attrNameLst>
                                      </p:cBhvr>
                                      <p:to>
                                        <p:strVal val="visible"/>
                                      </p:to>
                                    </p:set>
                                    <p:animEffect transition="in" filter="blinds(horizontal)">
                                      <p:cBhvr>
                                        <p:cTn id="37" dur="500"/>
                                        <p:tgtEl>
                                          <p:spTgt spid="137219">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37219">
                                            <p:txEl>
                                              <p:pRg st="8" end="8"/>
                                            </p:txEl>
                                          </p:spTgt>
                                        </p:tgtEl>
                                        <p:attrNameLst>
                                          <p:attrName>style.visibility</p:attrName>
                                        </p:attrNameLst>
                                      </p:cBhvr>
                                      <p:to>
                                        <p:strVal val="visible"/>
                                      </p:to>
                                    </p:set>
                                    <p:anim calcmode="lin" valueType="num">
                                      <p:cBhvr additive="base">
                                        <p:cTn id="42" dur="500" fill="hold"/>
                                        <p:tgtEl>
                                          <p:spTgt spid="137219">
                                            <p:txEl>
                                              <p:pRg st="8" end="8"/>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37219">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137219">
                                            <p:txEl>
                                              <p:pRg st="9" end="9"/>
                                            </p:txEl>
                                          </p:spTgt>
                                        </p:tgtEl>
                                        <p:attrNameLst>
                                          <p:attrName>style.visibility</p:attrName>
                                        </p:attrNameLst>
                                      </p:cBhvr>
                                      <p:to>
                                        <p:strVal val="visible"/>
                                      </p:to>
                                    </p:set>
                                    <p:animEffect transition="in" filter="blinds(horizontal)">
                                      <p:cBhvr>
                                        <p:cTn id="48" dur="500"/>
                                        <p:tgtEl>
                                          <p:spTgt spid="137219">
                                            <p:txEl>
                                              <p:pRg st="9" end="9"/>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137219">
                                            <p:txEl>
                                              <p:pRg st="10" end="10"/>
                                            </p:txEl>
                                          </p:spTgt>
                                        </p:tgtEl>
                                        <p:attrNameLst>
                                          <p:attrName>style.visibility</p:attrName>
                                        </p:attrNameLst>
                                      </p:cBhvr>
                                      <p:to>
                                        <p:strVal val="visible"/>
                                      </p:to>
                                    </p:set>
                                    <p:animEffect transition="in" filter="blinds(horizontal)">
                                      <p:cBhvr>
                                        <p:cTn id="53" dur="500"/>
                                        <p:tgtEl>
                                          <p:spTgt spid="137219">
                                            <p:txEl>
                                              <p:pRg st="10" end="1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137219">
                                            <p:txEl>
                                              <p:pRg st="11" end="11"/>
                                            </p:txEl>
                                          </p:spTgt>
                                        </p:tgtEl>
                                        <p:attrNameLst>
                                          <p:attrName>style.visibility</p:attrName>
                                        </p:attrNameLst>
                                      </p:cBhvr>
                                      <p:to>
                                        <p:strVal val="visible"/>
                                      </p:to>
                                    </p:set>
                                    <p:animEffect transition="in" filter="blinds(horizontal)">
                                      <p:cBhvr>
                                        <p:cTn id="58" dur="500"/>
                                        <p:tgtEl>
                                          <p:spTgt spid="137219">
                                            <p:txEl>
                                              <p:pRg st="11" end="11"/>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137219">
                                            <p:txEl>
                                              <p:pRg st="12" end="12"/>
                                            </p:txEl>
                                          </p:spTgt>
                                        </p:tgtEl>
                                        <p:attrNameLst>
                                          <p:attrName>style.visibility</p:attrName>
                                        </p:attrNameLst>
                                      </p:cBhvr>
                                      <p:to>
                                        <p:strVal val="visible"/>
                                      </p:to>
                                    </p:set>
                                    <p:animEffect transition="in" filter="blinds(horizontal)">
                                      <p:cBhvr>
                                        <p:cTn id="63" dur="500"/>
                                        <p:tgtEl>
                                          <p:spTgt spid="137219">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37217"/>
          <p:cNvSpPr>
            <a:spLocks noGrp="1" noChangeArrowheads="1"/>
          </p:cNvSpPr>
          <p:nvPr>
            <p:ph type="title"/>
          </p:nvPr>
        </p:nvSpPr>
        <p:spPr>
          <a:xfrm>
            <a:off x="2603500" y="260350"/>
            <a:ext cx="7793038" cy="647700"/>
          </a:xfrm>
        </p:spPr>
        <p:txBody>
          <a:bodyPr/>
          <a:lstStyle/>
          <a:p>
            <a:pPr marL="685800" indent="-685800"/>
            <a:r>
              <a:rPr lang="en-US" altLang="zh-CN" sz="4000" b="1" dirty="0">
                <a:solidFill>
                  <a:srgbClr val="0000FF"/>
                </a:solidFill>
                <a:latin typeface="Times New Roman" panose="02020603050405020304" pitchFamily="18" charset="0"/>
                <a:ea typeface="华文楷体" panose="02010600040101010101" pitchFamily="2" charset="-122"/>
              </a:rPr>
              <a:t>1.1.3</a:t>
            </a:r>
            <a:r>
              <a:rPr lang="zh-CN" altLang="en-US" sz="4000" b="1" dirty="0">
                <a:solidFill>
                  <a:srgbClr val="0000FF"/>
                </a:solidFill>
                <a:latin typeface="Times New Roman" panose="02020603050405020304" pitchFamily="18" charset="0"/>
                <a:ea typeface="华文楷体" panose="02010600040101010101" pitchFamily="2" charset="-122"/>
              </a:rPr>
              <a:t>、创建二维数组变量</a:t>
            </a:r>
            <a:r>
              <a:rPr lang="zh-CN" altLang="en-US" sz="3500" b="1" dirty="0">
                <a:solidFill>
                  <a:srgbClr val="0000FF"/>
                </a:solidFill>
                <a:latin typeface="Times New Roman" panose="02020603050405020304" pitchFamily="18" charset="0"/>
                <a:ea typeface="华文楷体" panose="02010600040101010101" pitchFamily="2" charset="-122"/>
              </a:rPr>
              <a:t>（续）</a:t>
            </a:r>
            <a:endParaRPr lang="zh-CN" altLang="en-US" sz="3500" b="1" dirty="0">
              <a:solidFill>
                <a:srgbClr val="0000FF"/>
              </a:solidFill>
              <a:latin typeface="Times New Roman" panose="02020603050405020304" pitchFamily="18" charset="0"/>
              <a:ea typeface="华文楷体" panose="02010600040101010101" pitchFamily="2" charset="-122"/>
            </a:endParaRPr>
          </a:p>
        </p:txBody>
      </p:sp>
      <p:sp>
        <p:nvSpPr>
          <p:cNvPr id="137219" name="内容占位符 137218"/>
          <p:cNvSpPr>
            <a:spLocks noGrp="1" noChangeArrowheads="1"/>
          </p:cNvSpPr>
          <p:nvPr>
            <p:ph idx="1"/>
          </p:nvPr>
        </p:nvSpPr>
        <p:spPr>
          <a:xfrm>
            <a:off x="2640013" y="981076"/>
            <a:ext cx="7772400" cy="4791075"/>
          </a:xfrm>
        </p:spPr>
        <p:txBody>
          <a:bodyPr>
            <a:normAutofit/>
          </a:bodyPr>
          <a:lstStyle/>
          <a:p>
            <a:pPr lvl="1" eaLnBrk="1" hangingPunct="1">
              <a:buFont typeface="Wingdings" panose="05000000000000000000" pitchFamily="2" charset="2"/>
              <a:buNone/>
            </a:pPr>
            <a:r>
              <a:rPr lang="zh-CN" altLang="en-US" sz="2600" b="1" dirty="0">
                <a:solidFill>
                  <a:srgbClr val="0000FF"/>
                </a:solidFill>
                <a:latin typeface="Times New Roman" panose="02020603050405020304" pitchFamily="18" charset="0"/>
                <a:ea typeface="华文楷体" panose="02010600040101010101" pitchFamily="2" charset="-122"/>
              </a:rPr>
              <a:t>【</a:t>
            </a:r>
            <a:r>
              <a:rPr lang="zh-CN" altLang="en-US" sz="3000" b="1" dirty="0">
                <a:solidFill>
                  <a:schemeClr val="hlink"/>
                </a:solidFill>
                <a:latin typeface="Times New Roman" panose="02020603050405020304" pitchFamily="18" charset="0"/>
                <a:ea typeface="华文楷体" panose="02010600040101010101" pitchFamily="2" charset="-122"/>
              </a:rPr>
              <a:t>第二种方法：函数方法</a:t>
            </a:r>
            <a:r>
              <a:rPr lang="en-US" altLang="zh-CN" sz="3000" b="1" dirty="0">
                <a:solidFill>
                  <a:schemeClr val="hlink"/>
                </a:solidFill>
                <a:latin typeface="Times New Roman" panose="02020603050405020304" pitchFamily="18" charset="0"/>
                <a:ea typeface="华文楷体" panose="02010600040101010101" pitchFamily="2" charset="-122"/>
              </a:rPr>
              <a:t>】</a:t>
            </a:r>
            <a:endParaRPr lang="zh-CN" altLang="en-US" sz="3000" b="1" dirty="0">
              <a:solidFill>
                <a:schemeClr val="hlink"/>
              </a:solidFill>
              <a:latin typeface="Times New Roman" panose="02020603050405020304" pitchFamily="18" charset="0"/>
              <a:ea typeface="华文楷体" panose="02010600040101010101" pitchFamily="2" charset="-122"/>
            </a:endParaRPr>
          </a:p>
          <a:p>
            <a:pPr lvl="1">
              <a:buNone/>
            </a:pPr>
            <a:r>
              <a:rPr lang="zh-CN" altLang="en-US" b="1" dirty="0">
                <a:solidFill>
                  <a:srgbClr val="490092"/>
                </a:solidFill>
                <a:latin typeface="Times New Roman" panose="02020603050405020304" pitchFamily="18" charset="0"/>
                <a:ea typeface="华文楷体" panose="02010600040101010101" pitchFamily="2" charset="-122"/>
              </a:rPr>
              <a:t>产生通用特殊矩阵的函数有以下几个。</a:t>
            </a:r>
            <a:endParaRPr lang="en-US" altLang="zh-CN" b="1" dirty="0">
              <a:solidFill>
                <a:srgbClr val="490092"/>
              </a:solidFill>
              <a:latin typeface="Times New Roman" panose="02020603050405020304" pitchFamily="18" charset="0"/>
              <a:ea typeface="华文楷体" panose="02010600040101010101" pitchFamily="2" charset="-122"/>
            </a:endParaRPr>
          </a:p>
          <a:p>
            <a:pPr marL="914400" lvl="1" indent="-457200">
              <a:buAutoNum type="arabicParenBoth"/>
            </a:pPr>
            <a:r>
              <a:rPr lang="en-US" altLang="zh-CN" b="1" dirty="0">
                <a:solidFill>
                  <a:srgbClr val="490092"/>
                </a:solidFill>
                <a:latin typeface="Times New Roman" panose="02020603050405020304" pitchFamily="18" charset="0"/>
                <a:ea typeface="华文楷体" panose="02010600040101010101" pitchFamily="2" charset="-122"/>
              </a:rPr>
              <a:t>zeros</a:t>
            </a:r>
            <a:r>
              <a:rPr lang="zh-CN" altLang="en-US" b="1" dirty="0">
                <a:solidFill>
                  <a:srgbClr val="490092"/>
                </a:solidFill>
                <a:latin typeface="Times New Roman" panose="02020603050405020304" pitchFamily="18" charset="0"/>
                <a:ea typeface="华文楷体" panose="02010600040101010101" pitchFamily="2" charset="-122"/>
              </a:rPr>
              <a:t>：产生全</a:t>
            </a:r>
            <a:r>
              <a:rPr lang="en-US" altLang="zh-CN" b="1" dirty="0">
                <a:solidFill>
                  <a:srgbClr val="490092"/>
                </a:solidFill>
                <a:latin typeface="Times New Roman" panose="02020603050405020304" pitchFamily="18" charset="0"/>
                <a:ea typeface="华文楷体" panose="02010600040101010101" pitchFamily="2" charset="-122"/>
              </a:rPr>
              <a:t>0</a:t>
            </a:r>
            <a:r>
              <a:rPr lang="zh-CN" altLang="en-US" b="1" dirty="0">
                <a:solidFill>
                  <a:srgbClr val="490092"/>
                </a:solidFill>
                <a:latin typeface="Times New Roman" panose="02020603050405020304" pitchFamily="18" charset="0"/>
                <a:ea typeface="华文楷体" panose="02010600040101010101" pitchFamily="2" charset="-122"/>
              </a:rPr>
              <a:t>矩阵，也就是零矩阵</a:t>
            </a:r>
            <a:endParaRPr lang="en-US" altLang="zh-CN" b="1" dirty="0">
              <a:solidFill>
                <a:srgbClr val="490092"/>
              </a:solidFill>
              <a:latin typeface="Times New Roman" panose="02020603050405020304" pitchFamily="18" charset="0"/>
              <a:ea typeface="华文楷体" panose="02010600040101010101" pitchFamily="2" charset="-122"/>
            </a:endParaRPr>
          </a:p>
          <a:p>
            <a:pPr marL="914400" lvl="1" indent="-457200">
              <a:buAutoNum type="arabicParenBoth"/>
            </a:pPr>
            <a:r>
              <a:rPr lang="en-US" altLang="zh-CN" b="1" dirty="0">
                <a:solidFill>
                  <a:srgbClr val="490092"/>
                </a:solidFill>
                <a:latin typeface="Times New Roman" panose="02020603050405020304" pitchFamily="18" charset="0"/>
                <a:ea typeface="华文楷体" panose="02010600040101010101" pitchFamily="2" charset="-122"/>
              </a:rPr>
              <a:t>ones</a:t>
            </a:r>
            <a:r>
              <a:rPr lang="zh-CN" altLang="en-US" b="1" dirty="0">
                <a:solidFill>
                  <a:srgbClr val="490092"/>
                </a:solidFill>
                <a:latin typeface="Times New Roman" panose="02020603050405020304" pitchFamily="18" charset="0"/>
                <a:ea typeface="华文楷体" panose="02010600040101010101" pitchFamily="2" charset="-122"/>
              </a:rPr>
              <a:t>：产生全</a:t>
            </a:r>
            <a:r>
              <a:rPr lang="en-US" altLang="zh-CN" b="1" dirty="0">
                <a:solidFill>
                  <a:srgbClr val="490092"/>
                </a:solidFill>
                <a:latin typeface="Times New Roman" panose="02020603050405020304" pitchFamily="18" charset="0"/>
                <a:ea typeface="华文楷体" panose="02010600040101010101" pitchFamily="2" charset="-122"/>
              </a:rPr>
              <a:t>1</a:t>
            </a:r>
            <a:r>
              <a:rPr lang="zh-CN" altLang="en-US" b="1" dirty="0">
                <a:solidFill>
                  <a:srgbClr val="490092"/>
                </a:solidFill>
                <a:latin typeface="Times New Roman" panose="02020603050405020304" pitchFamily="18" charset="0"/>
                <a:ea typeface="华文楷体" panose="02010600040101010101" pitchFamily="2" charset="-122"/>
              </a:rPr>
              <a:t>矩阵，也就是幺矩阵</a:t>
            </a:r>
            <a:endParaRPr lang="en-US" altLang="zh-CN" b="1" dirty="0">
              <a:solidFill>
                <a:srgbClr val="490092"/>
              </a:solidFill>
              <a:latin typeface="Times New Roman" panose="02020603050405020304" pitchFamily="18" charset="0"/>
              <a:ea typeface="华文楷体" panose="02010600040101010101" pitchFamily="2" charset="-122"/>
            </a:endParaRPr>
          </a:p>
          <a:p>
            <a:pPr marL="914400" lvl="1" indent="-457200">
              <a:buAutoNum type="arabicParenBoth"/>
            </a:pPr>
            <a:r>
              <a:rPr lang="en-US" altLang="zh-CN" b="1" dirty="0">
                <a:solidFill>
                  <a:srgbClr val="490092"/>
                </a:solidFill>
                <a:latin typeface="Times New Roman" panose="02020603050405020304" pitchFamily="18" charset="0"/>
                <a:ea typeface="华文楷体" panose="02010600040101010101" pitchFamily="2" charset="-122"/>
              </a:rPr>
              <a:t> eye</a:t>
            </a:r>
            <a:r>
              <a:rPr lang="zh-CN" altLang="en-US" b="1" dirty="0">
                <a:solidFill>
                  <a:srgbClr val="490092"/>
                </a:solidFill>
                <a:latin typeface="Times New Roman" panose="02020603050405020304" pitchFamily="18" charset="0"/>
                <a:ea typeface="华文楷体" panose="02010600040101010101" pitchFamily="2" charset="-122"/>
              </a:rPr>
              <a:t>：产生单位矩阵</a:t>
            </a:r>
            <a:endParaRPr lang="en-US" altLang="zh-CN" b="1" dirty="0">
              <a:solidFill>
                <a:srgbClr val="490092"/>
              </a:solidFill>
              <a:latin typeface="Times New Roman" panose="02020603050405020304" pitchFamily="18" charset="0"/>
              <a:ea typeface="华文楷体" panose="02010600040101010101" pitchFamily="2" charset="-122"/>
            </a:endParaRPr>
          </a:p>
          <a:p>
            <a:pPr marL="914400" lvl="1" indent="-457200">
              <a:buAutoNum type="arabicParenBoth"/>
            </a:pPr>
            <a:r>
              <a:rPr lang="en-US" altLang="zh-CN" b="1" dirty="0">
                <a:solidFill>
                  <a:srgbClr val="490092"/>
                </a:solidFill>
                <a:latin typeface="Times New Roman" panose="02020603050405020304" pitchFamily="18" charset="0"/>
                <a:ea typeface="华文楷体" panose="02010600040101010101" pitchFamily="2" charset="-122"/>
              </a:rPr>
              <a:t>rand</a:t>
            </a:r>
            <a:r>
              <a:rPr lang="zh-CN" altLang="en-US" b="1" dirty="0">
                <a:solidFill>
                  <a:srgbClr val="490092"/>
                </a:solidFill>
                <a:latin typeface="Times New Roman" panose="02020603050405020304" pitchFamily="18" charset="0"/>
                <a:ea typeface="华文楷体" panose="02010600040101010101" pitchFamily="2" charset="-122"/>
              </a:rPr>
              <a:t>：产生（</a:t>
            </a:r>
            <a:r>
              <a:rPr lang="en-US" altLang="zh-CN" b="1" dirty="0">
                <a:solidFill>
                  <a:srgbClr val="490092"/>
                </a:solidFill>
                <a:latin typeface="Times New Roman" panose="02020603050405020304" pitchFamily="18" charset="0"/>
                <a:ea typeface="华文楷体" panose="02010600040101010101" pitchFamily="2" charset="-122"/>
              </a:rPr>
              <a:t>0</a:t>
            </a:r>
            <a:r>
              <a:rPr lang="zh-CN" altLang="en-US" b="1" dirty="0">
                <a:solidFill>
                  <a:srgbClr val="490092"/>
                </a:solidFill>
                <a:latin typeface="Times New Roman" panose="02020603050405020304" pitchFamily="18" charset="0"/>
                <a:ea typeface="华文楷体" panose="02010600040101010101" pitchFamily="2" charset="-122"/>
              </a:rPr>
              <a:t>，</a:t>
            </a:r>
            <a:r>
              <a:rPr lang="en-US" altLang="zh-CN" b="1" dirty="0">
                <a:solidFill>
                  <a:srgbClr val="490092"/>
                </a:solidFill>
                <a:latin typeface="Times New Roman" panose="02020603050405020304" pitchFamily="18" charset="0"/>
                <a:ea typeface="华文楷体" panose="02010600040101010101" pitchFamily="2" charset="-122"/>
              </a:rPr>
              <a:t>1</a:t>
            </a:r>
            <a:r>
              <a:rPr lang="zh-CN" altLang="en-US" b="1" dirty="0">
                <a:solidFill>
                  <a:srgbClr val="490092"/>
                </a:solidFill>
                <a:latin typeface="Times New Roman" panose="02020603050405020304" pitchFamily="18" charset="0"/>
                <a:ea typeface="华文楷体" panose="02010600040101010101" pitchFamily="2" charset="-122"/>
              </a:rPr>
              <a:t>）区间均匀分布的随机矩阵</a:t>
            </a:r>
            <a:endParaRPr lang="en-US" altLang="zh-CN" b="1" dirty="0">
              <a:solidFill>
                <a:srgbClr val="490092"/>
              </a:solidFill>
              <a:latin typeface="Times New Roman" panose="02020603050405020304" pitchFamily="18" charset="0"/>
              <a:ea typeface="华文楷体" panose="02010600040101010101" pitchFamily="2" charset="-122"/>
            </a:endParaRPr>
          </a:p>
          <a:p>
            <a:pPr marL="914400" lvl="1" indent="-457200">
              <a:buAutoNum type="arabicParenBoth"/>
            </a:pPr>
            <a:r>
              <a:rPr lang="en-US" altLang="zh-CN" b="1" dirty="0">
                <a:solidFill>
                  <a:srgbClr val="490092"/>
                </a:solidFill>
                <a:latin typeface="Times New Roman" panose="02020603050405020304" pitchFamily="18" charset="0"/>
                <a:ea typeface="华文楷体" panose="02010600040101010101" pitchFamily="2" charset="-122"/>
              </a:rPr>
              <a:t> </a:t>
            </a:r>
            <a:r>
              <a:rPr lang="en-US" altLang="zh-CN" b="1" dirty="0" err="1">
                <a:solidFill>
                  <a:srgbClr val="490092"/>
                </a:solidFill>
                <a:latin typeface="Times New Roman" panose="02020603050405020304" pitchFamily="18" charset="0"/>
                <a:ea typeface="华文楷体" panose="02010600040101010101" pitchFamily="2" charset="-122"/>
              </a:rPr>
              <a:t>randn</a:t>
            </a:r>
            <a:r>
              <a:rPr lang="zh-CN" altLang="en-US" b="1" dirty="0">
                <a:solidFill>
                  <a:srgbClr val="490092"/>
                </a:solidFill>
                <a:latin typeface="Times New Roman" panose="02020603050405020304" pitchFamily="18" charset="0"/>
                <a:ea typeface="华文楷体" panose="02010600040101010101" pitchFamily="2" charset="-122"/>
              </a:rPr>
              <a:t>：产生均值为</a:t>
            </a:r>
            <a:r>
              <a:rPr lang="en-US" altLang="zh-CN" b="1" dirty="0">
                <a:solidFill>
                  <a:srgbClr val="490092"/>
                </a:solidFill>
                <a:latin typeface="Times New Roman" panose="02020603050405020304" pitchFamily="18" charset="0"/>
                <a:ea typeface="华文楷体" panose="02010600040101010101" pitchFamily="2" charset="-122"/>
              </a:rPr>
              <a:t>0</a:t>
            </a:r>
            <a:r>
              <a:rPr lang="zh-CN" altLang="en-US" b="1" dirty="0">
                <a:solidFill>
                  <a:srgbClr val="490092"/>
                </a:solidFill>
                <a:latin typeface="Times New Roman" panose="02020603050405020304" pitchFamily="18" charset="0"/>
                <a:ea typeface="华文楷体" panose="02010600040101010101" pitchFamily="2" charset="-122"/>
              </a:rPr>
              <a:t>，方差为</a:t>
            </a:r>
            <a:r>
              <a:rPr lang="en-US" altLang="zh-CN" b="1" dirty="0">
                <a:solidFill>
                  <a:srgbClr val="490092"/>
                </a:solidFill>
                <a:latin typeface="Times New Roman" panose="02020603050405020304" pitchFamily="18" charset="0"/>
                <a:ea typeface="华文楷体" panose="02010600040101010101" pitchFamily="2" charset="-122"/>
              </a:rPr>
              <a:t>1</a:t>
            </a:r>
            <a:r>
              <a:rPr lang="zh-CN" altLang="en-US" b="1" dirty="0">
                <a:solidFill>
                  <a:srgbClr val="490092"/>
                </a:solidFill>
                <a:latin typeface="Times New Roman" panose="02020603050405020304" pitchFamily="18" charset="0"/>
                <a:ea typeface="华文楷体" panose="02010600040101010101" pitchFamily="2" charset="-122"/>
              </a:rPr>
              <a:t>的标准正态分布随机矩阵</a:t>
            </a:r>
            <a:endParaRPr lang="zh-CN" altLang="en-US" b="1" dirty="0">
              <a:solidFill>
                <a:srgbClr val="490092"/>
              </a:solidFill>
              <a:latin typeface="Times New Roman" panose="02020603050405020304" pitchFamily="18" charset="0"/>
              <a:ea typeface="华文楷体" panose="02010600040101010101" pitchFamily="2" charset="-122"/>
            </a:endParaRPr>
          </a:p>
        </p:txBody>
      </p:sp>
      <p:sp>
        <p:nvSpPr>
          <p:cNvPr id="64515"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F8449F2A-88C8-4020-B3F0-6B06ED95B871}" type="datetime1">
              <a:rPr lang="zh-CN" altLang="en-US" smtClean="0">
                <a:solidFill>
                  <a:srgbClr val="45516B"/>
                </a:solidFill>
              </a:rPr>
            </a:fld>
            <a:endParaRPr lang="zh-CN" altLang="en-US">
              <a:solidFill>
                <a:srgbClr val="45516B"/>
              </a:solidFill>
            </a:endParaRPr>
          </a:p>
        </p:txBody>
      </p:sp>
      <p:sp>
        <p:nvSpPr>
          <p:cNvPr id="64516"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64518" name="灯片编号占位符 3"/>
          <p:cNvSpPr>
            <a:spLocks noGrp="1" noChangeArrowheads="1"/>
          </p:cNvSpPr>
          <p:nvPr>
            <p:ph type="sldNum" sz="quarter" idx="12"/>
          </p:nvPr>
        </p:nvSpPr>
        <p:spPr bwMode="auto">
          <a:noFill/>
          <a:ln>
            <a:miter lim="800000"/>
          </a:ln>
        </p:spPr>
        <p:txBody>
          <a:bodyPr/>
          <a:lstStyle/>
          <a:p>
            <a:fld id="{B0FC1284-60E0-4D1E-93BE-1570359FBA73}"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7219">
                                            <p:txEl>
                                              <p:pRg st="0" end="0"/>
                                            </p:txEl>
                                          </p:spTgt>
                                        </p:tgtEl>
                                        <p:attrNameLst>
                                          <p:attrName>style.visibility</p:attrName>
                                        </p:attrNameLst>
                                      </p:cBhvr>
                                      <p:to>
                                        <p:strVal val="visible"/>
                                      </p:to>
                                    </p:set>
                                    <p:animEffect transition="in" filter="blinds(horizontal)">
                                      <p:cBhvr>
                                        <p:cTn id="7" dur="500"/>
                                        <p:tgtEl>
                                          <p:spTgt spid="137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7219">
                                            <p:txEl>
                                              <p:pRg st="1" end="1"/>
                                            </p:txEl>
                                          </p:spTgt>
                                        </p:tgtEl>
                                        <p:attrNameLst>
                                          <p:attrName>style.visibility</p:attrName>
                                        </p:attrNameLst>
                                      </p:cBhvr>
                                      <p:to>
                                        <p:strVal val="visible"/>
                                      </p:to>
                                    </p:set>
                                    <p:animEffect transition="in" filter="blinds(horizontal)">
                                      <p:cBhvr>
                                        <p:cTn id="12" dur="500"/>
                                        <p:tgtEl>
                                          <p:spTgt spid="1372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7219">
                                            <p:txEl>
                                              <p:pRg st="2" end="2"/>
                                            </p:txEl>
                                          </p:spTgt>
                                        </p:tgtEl>
                                        <p:attrNameLst>
                                          <p:attrName>style.visibility</p:attrName>
                                        </p:attrNameLst>
                                      </p:cBhvr>
                                      <p:to>
                                        <p:strVal val="visible"/>
                                      </p:to>
                                    </p:set>
                                    <p:animEffect transition="in" filter="blinds(horizontal)">
                                      <p:cBhvr>
                                        <p:cTn id="17" dur="500"/>
                                        <p:tgtEl>
                                          <p:spTgt spid="1372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7219">
                                            <p:txEl>
                                              <p:pRg st="3" end="3"/>
                                            </p:txEl>
                                          </p:spTgt>
                                        </p:tgtEl>
                                        <p:attrNameLst>
                                          <p:attrName>style.visibility</p:attrName>
                                        </p:attrNameLst>
                                      </p:cBhvr>
                                      <p:to>
                                        <p:strVal val="visible"/>
                                      </p:to>
                                    </p:set>
                                    <p:animEffect transition="in" filter="blinds(horizontal)">
                                      <p:cBhvr>
                                        <p:cTn id="22" dur="500"/>
                                        <p:tgtEl>
                                          <p:spTgt spid="1372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37219">
                                            <p:txEl>
                                              <p:pRg st="4" end="4"/>
                                            </p:txEl>
                                          </p:spTgt>
                                        </p:tgtEl>
                                        <p:attrNameLst>
                                          <p:attrName>style.visibility</p:attrName>
                                        </p:attrNameLst>
                                      </p:cBhvr>
                                      <p:to>
                                        <p:strVal val="visible"/>
                                      </p:to>
                                    </p:set>
                                    <p:animEffect transition="in" filter="blinds(horizontal)">
                                      <p:cBhvr>
                                        <p:cTn id="27" dur="500"/>
                                        <p:tgtEl>
                                          <p:spTgt spid="1372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37219">
                                            <p:txEl>
                                              <p:pRg st="5" end="5"/>
                                            </p:txEl>
                                          </p:spTgt>
                                        </p:tgtEl>
                                        <p:attrNameLst>
                                          <p:attrName>style.visibility</p:attrName>
                                        </p:attrNameLst>
                                      </p:cBhvr>
                                      <p:to>
                                        <p:strVal val="visible"/>
                                      </p:to>
                                    </p:set>
                                    <p:animEffect transition="in" filter="blinds(horizontal)">
                                      <p:cBhvr>
                                        <p:cTn id="32" dur="500"/>
                                        <p:tgtEl>
                                          <p:spTgt spid="13721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37219">
                                            <p:txEl>
                                              <p:pRg st="6" end="6"/>
                                            </p:txEl>
                                          </p:spTgt>
                                        </p:tgtEl>
                                        <p:attrNameLst>
                                          <p:attrName>style.visibility</p:attrName>
                                        </p:attrNameLst>
                                      </p:cBhvr>
                                      <p:to>
                                        <p:strVal val="visible"/>
                                      </p:to>
                                    </p:set>
                                    <p:animEffect transition="in" filter="blinds(horizontal)">
                                      <p:cBhvr>
                                        <p:cTn id="37" dur="500"/>
                                        <p:tgtEl>
                                          <p:spTgt spid="1372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37217"/>
          <p:cNvSpPr>
            <a:spLocks noGrp="1" noChangeArrowheads="1"/>
          </p:cNvSpPr>
          <p:nvPr>
            <p:ph type="title"/>
          </p:nvPr>
        </p:nvSpPr>
        <p:spPr>
          <a:xfrm>
            <a:off x="2603500" y="260350"/>
            <a:ext cx="7793038" cy="647700"/>
          </a:xfrm>
        </p:spPr>
        <p:txBody>
          <a:bodyPr/>
          <a:lstStyle/>
          <a:p>
            <a:pPr marL="685800" indent="-685800"/>
            <a:r>
              <a:rPr lang="en-US" altLang="zh-CN" sz="4000" b="1" dirty="0">
                <a:solidFill>
                  <a:srgbClr val="0000FF"/>
                </a:solidFill>
                <a:latin typeface="Times New Roman" panose="02020603050405020304" pitchFamily="18" charset="0"/>
                <a:ea typeface="华文楷体" panose="02010600040101010101" pitchFamily="2" charset="-122"/>
              </a:rPr>
              <a:t>1.1.3</a:t>
            </a:r>
            <a:r>
              <a:rPr lang="zh-CN" altLang="en-US" sz="4000" b="1" dirty="0">
                <a:solidFill>
                  <a:srgbClr val="0000FF"/>
                </a:solidFill>
                <a:latin typeface="Times New Roman" panose="02020603050405020304" pitchFamily="18" charset="0"/>
                <a:ea typeface="华文楷体" panose="02010600040101010101" pitchFamily="2" charset="-122"/>
              </a:rPr>
              <a:t>、创建二维数组变量</a:t>
            </a:r>
            <a:r>
              <a:rPr lang="zh-CN" altLang="en-US" sz="3500" b="1" dirty="0">
                <a:solidFill>
                  <a:srgbClr val="0000FF"/>
                </a:solidFill>
                <a:latin typeface="Times New Roman" panose="02020603050405020304" pitchFamily="18" charset="0"/>
                <a:ea typeface="华文楷体" panose="02010600040101010101" pitchFamily="2" charset="-122"/>
              </a:rPr>
              <a:t>（续）</a:t>
            </a:r>
            <a:endParaRPr lang="zh-CN" altLang="en-US" sz="3500" b="1" dirty="0">
              <a:solidFill>
                <a:srgbClr val="0000FF"/>
              </a:solidFill>
              <a:latin typeface="Times New Roman" panose="02020603050405020304" pitchFamily="18" charset="0"/>
              <a:ea typeface="华文楷体" panose="02010600040101010101" pitchFamily="2" charset="-122"/>
            </a:endParaRPr>
          </a:p>
        </p:txBody>
      </p:sp>
      <p:sp>
        <p:nvSpPr>
          <p:cNvPr id="137219" name="内容占位符 137218"/>
          <p:cNvSpPr>
            <a:spLocks noGrp="1" noChangeArrowheads="1"/>
          </p:cNvSpPr>
          <p:nvPr>
            <p:ph idx="1"/>
          </p:nvPr>
        </p:nvSpPr>
        <p:spPr>
          <a:xfrm>
            <a:off x="2640013" y="981076"/>
            <a:ext cx="7772400" cy="4791075"/>
          </a:xfrm>
        </p:spPr>
        <p:txBody>
          <a:bodyPr>
            <a:normAutofit/>
          </a:bodyPr>
          <a:lstStyle/>
          <a:p>
            <a:pPr lvl="1" eaLnBrk="1" hangingPunct="1">
              <a:buFont typeface="Wingdings" panose="05000000000000000000" pitchFamily="2" charset="2"/>
              <a:buNone/>
            </a:pPr>
            <a:r>
              <a:rPr lang="zh-CN" altLang="en-US" sz="2600" b="1" dirty="0">
                <a:solidFill>
                  <a:srgbClr val="0000FF"/>
                </a:solidFill>
                <a:latin typeface="Times New Roman" panose="02020603050405020304" pitchFamily="18" charset="0"/>
                <a:ea typeface="华文楷体" panose="02010600040101010101" pitchFamily="2" charset="-122"/>
              </a:rPr>
              <a:t>【</a:t>
            </a:r>
            <a:r>
              <a:rPr lang="zh-CN" altLang="en-US" sz="3000" b="1" dirty="0">
                <a:solidFill>
                  <a:schemeClr val="hlink"/>
                </a:solidFill>
                <a:latin typeface="Times New Roman" panose="02020603050405020304" pitchFamily="18" charset="0"/>
                <a:ea typeface="华文楷体" panose="02010600040101010101" pitchFamily="2" charset="-122"/>
              </a:rPr>
              <a:t>第二种方法：函数方法</a:t>
            </a:r>
            <a:r>
              <a:rPr lang="en-US" altLang="zh-CN" sz="3000" b="1" dirty="0">
                <a:solidFill>
                  <a:schemeClr val="hlink"/>
                </a:solidFill>
                <a:latin typeface="Times New Roman" panose="02020603050405020304" pitchFamily="18" charset="0"/>
                <a:ea typeface="华文楷体" panose="02010600040101010101" pitchFamily="2" charset="-122"/>
              </a:rPr>
              <a:t>】</a:t>
            </a:r>
            <a:endParaRPr lang="zh-CN" altLang="en-US" sz="3000" b="1" dirty="0">
              <a:solidFill>
                <a:schemeClr val="hlink"/>
              </a:solidFill>
              <a:latin typeface="Times New Roman" panose="02020603050405020304" pitchFamily="18" charset="0"/>
              <a:ea typeface="华文楷体" panose="02010600040101010101" pitchFamily="2" charset="-122"/>
            </a:endParaRPr>
          </a:p>
          <a:p>
            <a:pPr lvl="1">
              <a:buNone/>
            </a:pPr>
            <a:r>
              <a:rPr lang="zh-CN" altLang="en-US" b="1" dirty="0">
                <a:solidFill>
                  <a:srgbClr val="490092"/>
                </a:solidFill>
                <a:latin typeface="Times New Roman" panose="02020603050405020304" pitchFamily="18" charset="0"/>
                <a:ea typeface="华文楷体" panose="02010600040101010101" pitchFamily="2" charset="-122"/>
              </a:rPr>
              <a:t>产生通用特殊矩阵的函数有以下几个。</a:t>
            </a:r>
            <a:endParaRPr lang="en-US" altLang="zh-CN" b="1" dirty="0">
              <a:solidFill>
                <a:srgbClr val="490092"/>
              </a:solidFill>
              <a:latin typeface="Times New Roman" panose="02020603050405020304" pitchFamily="18" charset="0"/>
              <a:ea typeface="华文楷体" panose="02010600040101010101" pitchFamily="2" charset="-122"/>
            </a:endParaRPr>
          </a:p>
          <a:p>
            <a:pPr marL="914400" lvl="1" indent="-457200">
              <a:buAutoNum type="arabicParenBoth"/>
            </a:pPr>
            <a:r>
              <a:rPr lang="en-US" altLang="zh-CN" b="1" dirty="0">
                <a:solidFill>
                  <a:srgbClr val="490092"/>
                </a:solidFill>
                <a:latin typeface="Times New Roman" panose="02020603050405020304" pitchFamily="18" charset="0"/>
                <a:ea typeface="华文楷体" panose="02010600040101010101" pitchFamily="2" charset="-122"/>
              </a:rPr>
              <a:t>magic</a:t>
            </a:r>
            <a:r>
              <a:rPr lang="zh-CN" altLang="en-US" b="1" dirty="0">
                <a:solidFill>
                  <a:srgbClr val="490092"/>
                </a:solidFill>
                <a:latin typeface="Times New Roman" panose="02020603050405020304" pitchFamily="18" charset="0"/>
                <a:ea typeface="华文楷体" panose="02010600040101010101" pitchFamily="2" charset="-122"/>
              </a:rPr>
              <a:t>：</a:t>
            </a:r>
            <a:r>
              <a:rPr lang="en-US" altLang="zh-CN" b="1" dirty="0">
                <a:solidFill>
                  <a:srgbClr val="490092"/>
                </a:solidFill>
                <a:latin typeface="Times New Roman" panose="02020603050405020304" pitchFamily="18" charset="0"/>
                <a:ea typeface="华文楷体" panose="02010600040101010101" pitchFamily="2" charset="-122"/>
              </a:rPr>
              <a:t>magic(n)</a:t>
            </a:r>
            <a:r>
              <a:rPr lang="zh-CN" altLang="en-US" b="1" dirty="0">
                <a:solidFill>
                  <a:srgbClr val="490092"/>
                </a:solidFill>
                <a:latin typeface="Times New Roman" panose="02020603050405020304" pitchFamily="18" charset="0"/>
                <a:ea typeface="华文楷体" panose="02010600040101010101" pitchFamily="2" charset="-122"/>
              </a:rPr>
              <a:t>生成</a:t>
            </a:r>
            <a:r>
              <a:rPr lang="en-US" altLang="zh-CN" b="1" dirty="0">
                <a:solidFill>
                  <a:srgbClr val="490092"/>
                </a:solidFill>
                <a:latin typeface="Times New Roman" panose="02020603050405020304" pitchFamily="18" charset="0"/>
                <a:ea typeface="华文楷体" panose="02010600040101010101" pitchFamily="2" charset="-122"/>
              </a:rPr>
              <a:t>n</a:t>
            </a:r>
            <a:r>
              <a:rPr lang="zh-CN" altLang="en-US" b="1" dirty="0">
                <a:solidFill>
                  <a:srgbClr val="490092"/>
                </a:solidFill>
                <a:latin typeface="Times New Roman" panose="02020603050405020304" pitchFamily="18" charset="0"/>
                <a:ea typeface="华文楷体" panose="02010600040101010101" pitchFamily="2" charset="-122"/>
              </a:rPr>
              <a:t>阶魔方阵；</a:t>
            </a:r>
            <a:endParaRPr lang="en-US" altLang="zh-CN" b="1" dirty="0">
              <a:solidFill>
                <a:srgbClr val="490092"/>
              </a:solidFill>
              <a:latin typeface="Times New Roman" panose="02020603050405020304" pitchFamily="18" charset="0"/>
              <a:ea typeface="华文楷体" panose="02010600040101010101" pitchFamily="2" charset="-122"/>
            </a:endParaRPr>
          </a:p>
          <a:p>
            <a:pPr marL="914400" lvl="1" indent="-457200">
              <a:buAutoNum type="arabicParenBoth"/>
            </a:pPr>
            <a:r>
              <a:rPr lang="en-US" altLang="zh-CN" b="1" dirty="0" err="1">
                <a:solidFill>
                  <a:srgbClr val="490092"/>
                </a:solidFill>
                <a:latin typeface="Times New Roman" panose="02020603050405020304" pitchFamily="18" charset="0"/>
                <a:ea typeface="华文楷体" panose="02010600040101010101" pitchFamily="2" charset="-122"/>
              </a:rPr>
              <a:t>hilb</a:t>
            </a:r>
            <a:r>
              <a:rPr lang="zh-CN" altLang="en-US" b="1" dirty="0">
                <a:solidFill>
                  <a:srgbClr val="490092"/>
                </a:solidFill>
                <a:latin typeface="Times New Roman" panose="02020603050405020304" pitchFamily="18" charset="0"/>
                <a:ea typeface="华文楷体" panose="02010600040101010101" pitchFamily="2" charset="-122"/>
              </a:rPr>
              <a:t>：</a:t>
            </a:r>
            <a:r>
              <a:rPr lang="en-US" altLang="zh-CN" b="1" dirty="0" err="1">
                <a:solidFill>
                  <a:srgbClr val="490092"/>
                </a:solidFill>
                <a:latin typeface="Times New Roman" panose="02020603050405020304" pitchFamily="18" charset="0"/>
                <a:ea typeface="华文楷体" panose="02010600040101010101" pitchFamily="2" charset="-122"/>
              </a:rPr>
              <a:t>hilb</a:t>
            </a:r>
            <a:r>
              <a:rPr lang="en-US" altLang="zh-CN" b="1" dirty="0">
                <a:solidFill>
                  <a:srgbClr val="490092"/>
                </a:solidFill>
                <a:latin typeface="Times New Roman" panose="02020603050405020304" pitchFamily="18" charset="0"/>
                <a:ea typeface="华文楷体" panose="02010600040101010101" pitchFamily="2" charset="-122"/>
              </a:rPr>
              <a:t>(n)</a:t>
            </a:r>
            <a:r>
              <a:rPr lang="zh-CN" altLang="en-US" b="1" dirty="0">
                <a:solidFill>
                  <a:srgbClr val="490092"/>
                </a:solidFill>
                <a:latin typeface="Times New Roman" panose="02020603050405020304" pitchFamily="18" charset="0"/>
                <a:ea typeface="华文楷体" panose="02010600040101010101" pitchFamily="2" charset="-122"/>
              </a:rPr>
              <a:t>生成希尔伯特矩阵</a:t>
            </a:r>
            <a:endParaRPr lang="en-US" altLang="zh-CN" b="1" dirty="0">
              <a:solidFill>
                <a:srgbClr val="490092"/>
              </a:solidFill>
              <a:latin typeface="Times New Roman" panose="02020603050405020304" pitchFamily="18" charset="0"/>
              <a:ea typeface="华文楷体" panose="02010600040101010101" pitchFamily="2" charset="-122"/>
            </a:endParaRPr>
          </a:p>
          <a:p>
            <a:pPr marL="914400" lvl="1" indent="-457200">
              <a:buAutoNum type="arabicParenBoth"/>
            </a:pPr>
            <a:r>
              <a:rPr lang="zh-CN" altLang="en-US" b="1" dirty="0">
                <a:solidFill>
                  <a:srgbClr val="490092"/>
                </a:solidFill>
                <a:latin typeface="Times New Roman" panose="02020603050405020304" pitchFamily="18" charset="0"/>
                <a:ea typeface="华文楷体" panose="02010600040101010101" pitchFamily="2" charset="-122"/>
              </a:rPr>
              <a:t>范德蒙德</a:t>
            </a:r>
            <a:r>
              <a:rPr lang="en-US" altLang="zh-CN" b="1" dirty="0">
                <a:solidFill>
                  <a:srgbClr val="490092"/>
                </a:solidFill>
                <a:latin typeface="Times New Roman" panose="02020603050405020304" pitchFamily="18" charset="0"/>
                <a:ea typeface="华文楷体" panose="02010600040101010101" pitchFamily="2" charset="-122"/>
              </a:rPr>
              <a:t>(</a:t>
            </a:r>
            <a:r>
              <a:rPr lang="en-US" altLang="zh-CN" b="1" dirty="0" err="1">
                <a:solidFill>
                  <a:srgbClr val="490092"/>
                </a:solidFill>
                <a:latin typeface="Times New Roman" panose="02020603050405020304" pitchFamily="18" charset="0"/>
                <a:ea typeface="华文楷体" panose="02010600040101010101" pitchFamily="2" charset="-122"/>
              </a:rPr>
              <a:t>Vandermonde</a:t>
            </a:r>
            <a:r>
              <a:rPr lang="en-US" altLang="zh-CN" b="1" dirty="0">
                <a:solidFill>
                  <a:srgbClr val="490092"/>
                </a:solidFill>
                <a:latin typeface="Times New Roman" panose="02020603050405020304" pitchFamily="18" charset="0"/>
                <a:ea typeface="华文楷体" panose="02010600040101010101" pitchFamily="2" charset="-122"/>
              </a:rPr>
              <a:t>)</a:t>
            </a:r>
            <a:r>
              <a:rPr lang="zh-CN" altLang="en-US" b="1" dirty="0">
                <a:solidFill>
                  <a:srgbClr val="490092"/>
                </a:solidFill>
                <a:latin typeface="Times New Roman" panose="02020603050405020304" pitchFamily="18" charset="0"/>
                <a:ea typeface="华文楷体" panose="02010600040101010101" pitchFamily="2" charset="-122"/>
              </a:rPr>
              <a:t>矩阵</a:t>
            </a:r>
            <a:endParaRPr lang="zh-CN" altLang="en-US" b="1" dirty="0">
              <a:solidFill>
                <a:srgbClr val="490092"/>
              </a:solidFill>
              <a:latin typeface="Times New Roman" panose="02020603050405020304" pitchFamily="18" charset="0"/>
              <a:ea typeface="华文楷体" panose="02010600040101010101" pitchFamily="2" charset="-122"/>
            </a:endParaRPr>
          </a:p>
          <a:p>
            <a:pPr marL="914400" lvl="1" indent="-457200">
              <a:buAutoNum type="arabicParenBoth"/>
            </a:pPr>
            <a:r>
              <a:rPr lang="zh-CN" altLang="en-US" b="1" dirty="0">
                <a:solidFill>
                  <a:srgbClr val="490092"/>
                </a:solidFill>
                <a:latin typeface="Times New Roman" panose="02020603050405020304" pitchFamily="18" charset="0"/>
                <a:ea typeface="华文楷体" panose="02010600040101010101" pitchFamily="2" charset="-122"/>
              </a:rPr>
              <a:t>托普利兹</a:t>
            </a:r>
            <a:r>
              <a:rPr lang="en-US" altLang="zh-CN" b="1" dirty="0">
                <a:solidFill>
                  <a:srgbClr val="490092"/>
                </a:solidFill>
                <a:latin typeface="Times New Roman" panose="02020603050405020304" pitchFamily="18" charset="0"/>
                <a:ea typeface="华文楷体" panose="02010600040101010101" pitchFamily="2" charset="-122"/>
              </a:rPr>
              <a:t>(Toeplitz)</a:t>
            </a:r>
            <a:r>
              <a:rPr lang="zh-CN" altLang="en-US" b="1" dirty="0">
                <a:solidFill>
                  <a:srgbClr val="490092"/>
                </a:solidFill>
                <a:latin typeface="Times New Roman" panose="02020603050405020304" pitchFamily="18" charset="0"/>
                <a:ea typeface="华文楷体" panose="02010600040101010101" pitchFamily="2" charset="-122"/>
              </a:rPr>
              <a:t>矩阵</a:t>
            </a:r>
            <a:endParaRPr lang="zh-CN" altLang="en-US" b="1" dirty="0">
              <a:solidFill>
                <a:srgbClr val="490092"/>
              </a:solidFill>
              <a:latin typeface="Times New Roman" panose="02020603050405020304" pitchFamily="18" charset="0"/>
              <a:ea typeface="华文楷体" panose="02010600040101010101" pitchFamily="2" charset="-122"/>
            </a:endParaRPr>
          </a:p>
          <a:p>
            <a:pPr marL="914400" lvl="1" indent="-457200">
              <a:buAutoNum type="arabicParenBoth"/>
            </a:pPr>
            <a:r>
              <a:rPr lang="zh-CN" altLang="en-US" b="1" dirty="0">
                <a:solidFill>
                  <a:srgbClr val="490092"/>
                </a:solidFill>
                <a:latin typeface="Times New Roman" panose="02020603050405020304" pitchFamily="18" charset="0"/>
                <a:ea typeface="华文楷体" panose="02010600040101010101" pitchFamily="2" charset="-122"/>
              </a:rPr>
              <a:t>伴随矩阵</a:t>
            </a:r>
            <a:r>
              <a:rPr lang="en-US" altLang="zh-CN" b="1" dirty="0" err="1">
                <a:solidFill>
                  <a:srgbClr val="490092"/>
                </a:solidFill>
                <a:latin typeface="Times New Roman" panose="02020603050405020304" pitchFamily="18" charset="0"/>
                <a:ea typeface="华文楷体" panose="02010600040101010101" pitchFamily="2" charset="-122"/>
              </a:rPr>
              <a:t>compan</a:t>
            </a:r>
            <a:r>
              <a:rPr lang="en-US" altLang="zh-CN" b="1" dirty="0">
                <a:solidFill>
                  <a:srgbClr val="490092"/>
                </a:solidFill>
                <a:latin typeface="Times New Roman" panose="02020603050405020304" pitchFamily="18" charset="0"/>
                <a:ea typeface="华文楷体" panose="02010600040101010101" pitchFamily="2" charset="-122"/>
              </a:rPr>
              <a:t>(p)</a:t>
            </a:r>
            <a:endParaRPr lang="zh-CN" altLang="en-US" b="1" dirty="0">
              <a:solidFill>
                <a:srgbClr val="490092"/>
              </a:solidFill>
              <a:latin typeface="Times New Roman" panose="02020603050405020304" pitchFamily="18" charset="0"/>
              <a:ea typeface="华文楷体" panose="02010600040101010101" pitchFamily="2" charset="-122"/>
            </a:endParaRPr>
          </a:p>
          <a:p>
            <a:pPr marL="914400" lvl="1" indent="-457200">
              <a:buAutoNum type="arabicParenBoth"/>
            </a:pPr>
            <a:r>
              <a:rPr lang="zh-CN" altLang="en-US" b="1" dirty="0">
                <a:solidFill>
                  <a:srgbClr val="490092"/>
                </a:solidFill>
                <a:latin typeface="Times New Roman" panose="02020603050405020304" pitchFamily="18" charset="0"/>
                <a:ea typeface="华文楷体" panose="02010600040101010101" pitchFamily="2" charset="-122"/>
              </a:rPr>
              <a:t>帕斯卡</a:t>
            </a:r>
            <a:r>
              <a:rPr lang="en-US" altLang="zh-CN" b="1" dirty="0">
                <a:solidFill>
                  <a:srgbClr val="490092"/>
                </a:solidFill>
                <a:latin typeface="Times New Roman" panose="02020603050405020304" pitchFamily="18" charset="0"/>
                <a:ea typeface="华文楷体" panose="02010600040101010101" pitchFamily="2" charset="-122"/>
              </a:rPr>
              <a:t>(Pascal)</a:t>
            </a:r>
            <a:r>
              <a:rPr lang="zh-CN" altLang="en-US" b="1" dirty="0">
                <a:solidFill>
                  <a:srgbClr val="490092"/>
                </a:solidFill>
                <a:latin typeface="Times New Roman" panose="02020603050405020304" pitchFamily="18" charset="0"/>
                <a:ea typeface="华文楷体" panose="02010600040101010101" pitchFamily="2" charset="-122"/>
              </a:rPr>
              <a:t>矩阵</a:t>
            </a:r>
            <a:endParaRPr lang="en-US" altLang="zh-CN" b="1" dirty="0">
              <a:solidFill>
                <a:srgbClr val="490092"/>
              </a:solidFill>
              <a:latin typeface="Times New Roman" panose="02020603050405020304" pitchFamily="18" charset="0"/>
              <a:ea typeface="华文楷体" panose="02010600040101010101" pitchFamily="2" charset="-122"/>
            </a:endParaRPr>
          </a:p>
          <a:p>
            <a:pPr marL="914400" lvl="1" indent="-457200">
              <a:buAutoNum type="arabicParenBoth"/>
            </a:pPr>
            <a:endParaRPr lang="en-US" altLang="zh-CN" b="1" dirty="0">
              <a:solidFill>
                <a:srgbClr val="490092"/>
              </a:solidFill>
              <a:latin typeface="Times New Roman" panose="02020603050405020304" pitchFamily="18" charset="0"/>
              <a:ea typeface="华文楷体" panose="02010600040101010101" pitchFamily="2" charset="-122"/>
            </a:endParaRPr>
          </a:p>
        </p:txBody>
      </p:sp>
      <p:sp>
        <p:nvSpPr>
          <p:cNvPr id="64515"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F8449F2A-88C8-4020-B3F0-6B06ED95B871}" type="datetime1">
              <a:rPr lang="zh-CN" altLang="en-US" smtClean="0">
                <a:solidFill>
                  <a:srgbClr val="45516B"/>
                </a:solidFill>
              </a:rPr>
            </a:fld>
            <a:endParaRPr lang="zh-CN" altLang="en-US">
              <a:solidFill>
                <a:srgbClr val="45516B"/>
              </a:solidFill>
            </a:endParaRPr>
          </a:p>
        </p:txBody>
      </p:sp>
      <p:sp>
        <p:nvSpPr>
          <p:cNvPr id="64516"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64518" name="灯片编号占位符 3"/>
          <p:cNvSpPr>
            <a:spLocks noGrp="1" noChangeArrowheads="1"/>
          </p:cNvSpPr>
          <p:nvPr>
            <p:ph type="sldNum" sz="quarter" idx="12"/>
          </p:nvPr>
        </p:nvSpPr>
        <p:spPr bwMode="auto">
          <a:noFill/>
          <a:ln>
            <a:miter lim="800000"/>
          </a:ln>
        </p:spPr>
        <p:txBody>
          <a:bodyPr/>
          <a:lstStyle/>
          <a:p>
            <a:fld id="{B0FC1284-60E0-4D1E-93BE-1570359FBA73}"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7219">
                                            <p:txEl>
                                              <p:pRg st="0" end="0"/>
                                            </p:txEl>
                                          </p:spTgt>
                                        </p:tgtEl>
                                        <p:attrNameLst>
                                          <p:attrName>style.visibility</p:attrName>
                                        </p:attrNameLst>
                                      </p:cBhvr>
                                      <p:to>
                                        <p:strVal val="visible"/>
                                      </p:to>
                                    </p:set>
                                    <p:animEffect transition="in" filter="blinds(horizontal)">
                                      <p:cBhvr>
                                        <p:cTn id="7" dur="500"/>
                                        <p:tgtEl>
                                          <p:spTgt spid="137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7219">
                                            <p:txEl>
                                              <p:pRg st="1" end="1"/>
                                            </p:txEl>
                                          </p:spTgt>
                                        </p:tgtEl>
                                        <p:attrNameLst>
                                          <p:attrName>style.visibility</p:attrName>
                                        </p:attrNameLst>
                                      </p:cBhvr>
                                      <p:to>
                                        <p:strVal val="visible"/>
                                      </p:to>
                                    </p:set>
                                    <p:animEffect transition="in" filter="blinds(horizontal)">
                                      <p:cBhvr>
                                        <p:cTn id="12" dur="500"/>
                                        <p:tgtEl>
                                          <p:spTgt spid="1372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7219">
                                            <p:txEl>
                                              <p:pRg st="2" end="2"/>
                                            </p:txEl>
                                          </p:spTgt>
                                        </p:tgtEl>
                                        <p:attrNameLst>
                                          <p:attrName>style.visibility</p:attrName>
                                        </p:attrNameLst>
                                      </p:cBhvr>
                                      <p:to>
                                        <p:strVal val="visible"/>
                                      </p:to>
                                    </p:set>
                                    <p:animEffect transition="in" filter="blinds(horizontal)">
                                      <p:cBhvr>
                                        <p:cTn id="17" dur="500"/>
                                        <p:tgtEl>
                                          <p:spTgt spid="1372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7219">
                                            <p:txEl>
                                              <p:pRg st="3" end="3"/>
                                            </p:txEl>
                                          </p:spTgt>
                                        </p:tgtEl>
                                        <p:attrNameLst>
                                          <p:attrName>style.visibility</p:attrName>
                                        </p:attrNameLst>
                                      </p:cBhvr>
                                      <p:to>
                                        <p:strVal val="visible"/>
                                      </p:to>
                                    </p:set>
                                    <p:animEffect transition="in" filter="blinds(horizontal)">
                                      <p:cBhvr>
                                        <p:cTn id="22" dur="500"/>
                                        <p:tgtEl>
                                          <p:spTgt spid="1372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37219">
                                            <p:txEl>
                                              <p:pRg st="7" end="7"/>
                                            </p:txEl>
                                          </p:spTgt>
                                        </p:tgtEl>
                                        <p:attrNameLst>
                                          <p:attrName>style.visibility</p:attrName>
                                        </p:attrNameLst>
                                      </p:cBhvr>
                                      <p:to>
                                        <p:strVal val="visible"/>
                                      </p:to>
                                    </p:set>
                                    <p:animEffect transition="in" filter="blinds(horizontal)">
                                      <p:cBhvr>
                                        <p:cTn id="27" dur="500"/>
                                        <p:tgtEl>
                                          <p:spTgt spid="137219">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37219">
                                            <p:txEl>
                                              <p:pRg st="4" end="4"/>
                                            </p:txEl>
                                          </p:spTgt>
                                        </p:tgtEl>
                                        <p:attrNameLst>
                                          <p:attrName>style.visibility</p:attrName>
                                        </p:attrNameLst>
                                      </p:cBhvr>
                                      <p:to>
                                        <p:strVal val="visible"/>
                                      </p:to>
                                    </p:set>
                                    <p:animEffect transition="in" filter="blinds(horizontal)">
                                      <p:cBhvr>
                                        <p:cTn id="32" dur="500"/>
                                        <p:tgtEl>
                                          <p:spTgt spid="137219">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37219">
                                            <p:txEl>
                                              <p:pRg st="5" end="5"/>
                                            </p:txEl>
                                          </p:spTgt>
                                        </p:tgtEl>
                                        <p:attrNameLst>
                                          <p:attrName>style.visibility</p:attrName>
                                        </p:attrNameLst>
                                      </p:cBhvr>
                                      <p:to>
                                        <p:strVal val="visible"/>
                                      </p:to>
                                    </p:set>
                                    <p:animEffect transition="in" filter="blinds(horizontal)">
                                      <p:cBhvr>
                                        <p:cTn id="37" dur="500"/>
                                        <p:tgtEl>
                                          <p:spTgt spid="137219">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37219">
                                            <p:txEl>
                                              <p:pRg st="6" end="6"/>
                                            </p:txEl>
                                          </p:spTgt>
                                        </p:tgtEl>
                                        <p:attrNameLst>
                                          <p:attrName>style.visibility</p:attrName>
                                        </p:attrNameLst>
                                      </p:cBhvr>
                                      <p:to>
                                        <p:strVal val="visible"/>
                                      </p:to>
                                    </p:set>
                                    <p:animEffect transition="in" filter="blinds(horizontal)">
                                      <p:cBhvr>
                                        <p:cTn id="42" dur="500"/>
                                        <p:tgtEl>
                                          <p:spTgt spid="1372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38241"/>
          <p:cNvSpPr>
            <a:spLocks noGrp="1" noChangeArrowheads="1"/>
          </p:cNvSpPr>
          <p:nvPr>
            <p:ph type="title"/>
          </p:nvPr>
        </p:nvSpPr>
        <p:spPr>
          <a:xfrm>
            <a:off x="2640014" y="296863"/>
            <a:ext cx="7793037" cy="647700"/>
          </a:xfrm>
        </p:spPr>
        <p:txBody>
          <a:bodyPr/>
          <a:lstStyle/>
          <a:p>
            <a:pPr marL="685800" indent="-685800"/>
            <a:r>
              <a:rPr lang="en-US" altLang="zh-CN" sz="4000" b="1" dirty="0">
                <a:solidFill>
                  <a:srgbClr val="0000FF"/>
                </a:solidFill>
                <a:latin typeface="Times New Roman" panose="02020603050405020304" pitchFamily="18" charset="0"/>
                <a:ea typeface="华文楷体" panose="02010600040101010101" pitchFamily="2" charset="-122"/>
              </a:rPr>
              <a:t>1.1.3</a:t>
            </a:r>
            <a:r>
              <a:rPr lang="zh-CN" altLang="en-US" sz="4000" b="1" dirty="0">
                <a:solidFill>
                  <a:srgbClr val="0000FF"/>
                </a:solidFill>
                <a:latin typeface="Times New Roman" panose="02020603050405020304" pitchFamily="18" charset="0"/>
                <a:ea typeface="华文楷体" panose="02010600040101010101" pitchFamily="2" charset="-122"/>
              </a:rPr>
              <a:t>、创建二维数组变量</a:t>
            </a:r>
            <a:r>
              <a:rPr lang="zh-CN" altLang="en-US" sz="3500" b="1" dirty="0">
                <a:solidFill>
                  <a:srgbClr val="0000FF"/>
                </a:solidFill>
                <a:latin typeface="Times New Roman" panose="02020603050405020304" pitchFamily="18" charset="0"/>
                <a:ea typeface="华文楷体" panose="02010600040101010101" pitchFamily="2" charset="-122"/>
              </a:rPr>
              <a:t>（续）</a:t>
            </a:r>
            <a:endParaRPr lang="zh-CN" altLang="en-US" sz="3500" b="1" dirty="0">
              <a:solidFill>
                <a:srgbClr val="0000FF"/>
              </a:solidFill>
              <a:latin typeface="Times New Roman" panose="02020603050405020304" pitchFamily="18" charset="0"/>
              <a:ea typeface="华文楷体" panose="02010600040101010101" pitchFamily="2" charset="-122"/>
            </a:endParaRPr>
          </a:p>
        </p:txBody>
      </p:sp>
      <p:sp>
        <p:nvSpPr>
          <p:cNvPr id="138243" name="内容占位符 138242"/>
          <p:cNvSpPr>
            <a:spLocks noGrp="1" noChangeArrowheads="1"/>
          </p:cNvSpPr>
          <p:nvPr>
            <p:ph idx="1"/>
          </p:nvPr>
        </p:nvSpPr>
        <p:spPr>
          <a:xfrm>
            <a:off x="2711451" y="836614"/>
            <a:ext cx="7205663" cy="4791075"/>
          </a:xfrm>
        </p:spPr>
        <p:txBody>
          <a:bodyPr/>
          <a:lstStyle/>
          <a:p>
            <a:pPr lvl="1" eaLnBrk="1" hangingPunct="1">
              <a:buFont typeface="Wingdings" panose="05000000000000000000" pitchFamily="2" charset="2"/>
              <a:buNone/>
            </a:pPr>
            <a:r>
              <a:rPr lang="zh-CN" altLang="en-US" b="1">
                <a:solidFill>
                  <a:srgbClr val="0000FF"/>
                </a:solidFill>
                <a:latin typeface="Times New Roman" panose="02020603050405020304" pitchFamily="18" charset="0"/>
                <a:ea typeface="华文楷体" panose="02010600040101010101" pitchFamily="2" charset="-122"/>
              </a:rPr>
              <a:t>【例</a:t>
            </a:r>
            <a:r>
              <a:rPr lang="en-US" altLang="zh-CN" b="1">
                <a:solidFill>
                  <a:srgbClr val="0000FF"/>
                </a:solidFill>
                <a:latin typeface="Times New Roman" panose="02020603050405020304" pitchFamily="18" charset="0"/>
                <a:ea typeface="华文楷体" panose="02010600040101010101" pitchFamily="2" charset="-122"/>
              </a:rPr>
              <a:t>3-5</a:t>
            </a:r>
            <a:r>
              <a:rPr lang="zh-CN" altLang="en-US" b="1">
                <a:solidFill>
                  <a:srgbClr val="0000FF"/>
                </a:solidFill>
                <a:latin typeface="Times New Roman" panose="02020603050405020304" pitchFamily="18" charset="0"/>
                <a:ea typeface="华文楷体" panose="02010600040101010101" pitchFamily="2" charset="-122"/>
              </a:rPr>
              <a:t>】</a:t>
            </a:r>
            <a:r>
              <a:rPr lang="zh-CN" altLang="en-US" b="1">
                <a:solidFill>
                  <a:srgbClr val="490092"/>
                </a:solidFill>
                <a:latin typeface="Times New Roman" panose="02020603050405020304" pitchFamily="18" charset="0"/>
                <a:ea typeface="华文楷体" panose="02010600040101010101" pitchFamily="2" charset="-122"/>
              </a:rPr>
              <a:t> </a:t>
            </a:r>
            <a:r>
              <a:rPr lang="en-US" altLang="zh-CN" b="1">
                <a:solidFill>
                  <a:srgbClr val="490092"/>
                </a:solidFill>
                <a:latin typeface="Times New Roman" panose="02020603050405020304" pitchFamily="18" charset="0"/>
                <a:ea typeface="华文楷体" panose="02010600040101010101" pitchFamily="2" charset="-122"/>
              </a:rPr>
              <a:t>reshape</a:t>
            </a:r>
            <a:r>
              <a:rPr lang="zh-CN" altLang="en-US" b="1">
                <a:solidFill>
                  <a:srgbClr val="490092"/>
                </a:solidFill>
                <a:latin typeface="Times New Roman" panose="02020603050405020304" pitchFamily="18" charset="0"/>
                <a:ea typeface="华文楷体" panose="02010600040101010101" pitchFamily="2" charset="-122"/>
              </a:rPr>
              <a:t>的使用演示</a:t>
            </a:r>
            <a:endParaRPr lang="zh-CN" altLang="en-US"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&gt;&gt;a=-4:4</a:t>
            </a:r>
            <a:endParaRPr lang="en-US"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a=</a:t>
            </a:r>
            <a:endParaRPr lang="en-US"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   -4 -3 -2 -1 0 1 2 3 4</a:t>
            </a:r>
            <a:endParaRPr lang="en-US" altLang="zh-CN"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&gt;&gt;b=reshape(a, 3, 3)</a:t>
            </a:r>
            <a:endParaRPr lang="en-US"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b=</a:t>
            </a:r>
            <a:endParaRPr lang="en-US"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-4  -1  2</a:t>
            </a:r>
            <a:endParaRPr lang="en-US"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-3   0  3</a:t>
            </a:r>
            <a:endParaRPr lang="en-US"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-2   1  4</a:t>
            </a:r>
            <a:endParaRPr lang="en-US" altLang="zh-CN"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Char char="F"/>
            </a:pPr>
            <a:r>
              <a:rPr lang="zh-CN" altLang="en-US" sz="2600" b="1">
                <a:solidFill>
                  <a:srgbClr val="490092"/>
                </a:solidFill>
                <a:latin typeface="Times New Roman" panose="02020603050405020304" pitchFamily="18" charset="0"/>
                <a:ea typeface="华文楷体" panose="02010600040101010101" pitchFamily="2" charset="-122"/>
              </a:rPr>
              <a:t>数组元素的排列顺序，</a:t>
            </a:r>
            <a:r>
              <a:rPr lang="zh-CN" altLang="en-US" sz="2600" b="1">
                <a:solidFill>
                  <a:schemeClr val="hlink"/>
                </a:solidFill>
                <a:latin typeface="Times New Roman" panose="02020603050405020304" pitchFamily="18" charset="0"/>
                <a:ea typeface="华文楷体" panose="02010600040101010101" pitchFamily="2" charset="-122"/>
              </a:rPr>
              <a:t>从上到下按列排列</a:t>
            </a:r>
            <a:r>
              <a:rPr lang="zh-CN" altLang="en-US" sz="2600" b="1">
                <a:solidFill>
                  <a:srgbClr val="490092"/>
                </a:solidFill>
                <a:latin typeface="Times New Roman" panose="02020603050405020304" pitchFamily="18" charset="0"/>
                <a:ea typeface="华文楷体" panose="02010600040101010101" pitchFamily="2" charset="-122"/>
              </a:rPr>
              <a:t>，先排第一列，然后第二列，</a:t>
            </a:r>
            <a:r>
              <a:rPr lang="en-US" altLang="zh-CN" sz="2600" b="1">
                <a:solidFill>
                  <a:srgbClr val="490092"/>
                </a:solidFill>
                <a:latin typeface="Times New Roman" panose="02020603050405020304" pitchFamily="18" charset="0"/>
                <a:ea typeface="华文楷体" panose="02010600040101010101" pitchFamily="2" charset="-122"/>
              </a:rPr>
              <a:t>…</a:t>
            </a:r>
            <a:endParaRPr lang="en-US" altLang="zh-CN" sz="2600"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Char char="F"/>
            </a:pPr>
            <a:r>
              <a:rPr lang="zh-CN" altLang="en-US" sz="2600" b="1">
                <a:solidFill>
                  <a:srgbClr val="490092"/>
                </a:solidFill>
                <a:latin typeface="Times New Roman" panose="02020603050405020304" pitchFamily="18" charset="0"/>
                <a:ea typeface="华文楷体" panose="02010600040101010101" pitchFamily="2" charset="-122"/>
              </a:rPr>
              <a:t>要求数组的</a:t>
            </a:r>
            <a:r>
              <a:rPr lang="zh-CN" altLang="en-US" sz="2600" b="1">
                <a:solidFill>
                  <a:schemeClr val="hlink"/>
                </a:solidFill>
                <a:latin typeface="Times New Roman" panose="02020603050405020304" pitchFamily="18" charset="0"/>
                <a:ea typeface="华文楷体" panose="02010600040101010101" pitchFamily="2" charset="-122"/>
              </a:rPr>
              <a:t>元素总数不变</a:t>
            </a:r>
            <a:r>
              <a:rPr lang="zh-CN" altLang="en-US" sz="2600" b="1">
                <a:solidFill>
                  <a:srgbClr val="490092"/>
                </a:solidFill>
                <a:latin typeface="Times New Roman" panose="02020603050405020304" pitchFamily="18" charset="0"/>
                <a:ea typeface="华文楷体" panose="02010600040101010101" pitchFamily="2" charset="-122"/>
              </a:rPr>
              <a:t>。</a:t>
            </a:r>
            <a:endParaRPr lang="zh-CN" altLang="en-US" sz="2600" b="1">
              <a:solidFill>
                <a:srgbClr val="490092"/>
              </a:solidFill>
              <a:latin typeface="Times New Roman" panose="02020603050405020304" pitchFamily="18" charset="0"/>
              <a:ea typeface="华文楷体" panose="02010600040101010101" pitchFamily="2" charset="-122"/>
            </a:endParaRPr>
          </a:p>
        </p:txBody>
      </p:sp>
      <p:sp>
        <p:nvSpPr>
          <p:cNvPr id="65539"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18AA3577-2CEF-48E8-A203-29E1FF963E3B}" type="datetime1">
              <a:rPr lang="zh-CN" altLang="en-US" smtClean="0">
                <a:solidFill>
                  <a:srgbClr val="45516B"/>
                </a:solidFill>
              </a:rPr>
            </a:fld>
            <a:endParaRPr lang="zh-CN" altLang="en-US">
              <a:solidFill>
                <a:srgbClr val="45516B"/>
              </a:solidFill>
            </a:endParaRPr>
          </a:p>
        </p:txBody>
      </p:sp>
      <p:sp>
        <p:nvSpPr>
          <p:cNvPr id="65540"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65542" name="灯片编号占位符 3"/>
          <p:cNvSpPr>
            <a:spLocks noGrp="1" noChangeArrowheads="1"/>
          </p:cNvSpPr>
          <p:nvPr>
            <p:ph type="sldNum" sz="quarter" idx="12"/>
          </p:nvPr>
        </p:nvSpPr>
        <p:spPr bwMode="auto">
          <a:noFill/>
          <a:ln>
            <a:miter lim="800000"/>
          </a:ln>
        </p:spPr>
        <p:txBody>
          <a:bodyPr/>
          <a:lstStyle/>
          <a:p>
            <a:fld id="{A7194FB9-272B-405F-BF84-CBC183E531C2}"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animEffect transition="in" filter="blinds(horizontal)">
                                      <p:cBhvr>
                                        <p:cTn id="7" dur="500"/>
                                        <p:tgtEl>
                                          <p:spTgt spid="138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8243">
                                            <p:txEl>
                                              <p:pRg st="1" end="1"/>
                                            </p:txEl>
                                          </p:spTgt>
                                        </p:tgtEl>
                                        <p:attrNameLst>
                                          <p:attrName>style.visibility</p:attrName>
                                        </p:attrNameLst>
                                      </p:cBhvr>
                                      <p:to>
                                        <p:strVal val="visible"/>
                                      </p:to>
                                    </p:set>
                                    <p:animEffect transition="in" filter="blinds(horizontal)">
                                      <p:cBhvr>
                                        <p:cTn id="12" dur="500"/>
                                        <p:tgtEl>
                                          <p:spTgt spid="1382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8243">
                                            <p:txEl>
                                              <p:pRg st="2" end="2"/>
                                            </p:txEl>
                                          </p:spTgt>
                                        </p:tgtEl>
                                        <p:attrNameLst>
                                          <p:attrName>style.visibility</p:attrName>
                                        </p:attrNameLst>
                                      </p:cBhvr>
                                      <p:to>
                                        <p:strVal val="visible"/>
                                      </p:to>
                                    </p:set>
                                    <p:animEffect transition="in" filter="blinds(horizontal)">
                                      <p:cBhvr>
                                        <p:cTn id="17" dur="500"/>
                                        <p:tgtEl>
                                          <p:spTgt spid="138243">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138243">
                                            <p:txEl>
                                              <p:pRg st="3" end="3"/>
                                            </p:txEl>
                                          </p:spTgt>
                                        </p:tgtEl>
                                        <p:attrNameLst>
                                          <p:attrName>style.visibility</p:attrName>
                                        </p:attrNameLst>
                                      </p:cBhvr>
                                      <p:to>
                                        <p:strVal val="visible"/>
                                      </p:to>
                                    </p:set>
                                    <p:animEffect transition="in" filter="blinds(horizontal)">
                                      <p:cBhvr>
                                        <p:cTn id="20" dur="500"/>
                                        <p:tgtEl>
                                          <p:spTgt spid="13824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38243">
                                            <p:txEl>
                                              <p:pRg st="4" end="4"/>
                                            </p:txEl>
                                          </p:spTgt>
                                        </p:tgtEl>
                                        <p:attrNameLst>
                                          <p:attrName>style.visibility</p:attrName>
                                        </p:attrNameLst>
                                      </p:cBhvr>
                                      <p:to>
                                        <p:strVal val="visible"/>
                                      </p:to>
                                    </p:set>
                                    <p:animEffect transition="in" filter="blinds(horizontal)">
                                      <p:cBhvr>
                                        <p:cTn id="25" dur="500"/>
                                        <p:tgtEl>
                                          <p:spTgt spid="13824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38243">
                                            <p:txEl>
                                              <p:pRg st="5" end="5"/>
                                            </p:txEl>
                                          </p:spTgt>
                                        </p:tgtEl>
                                        <p:attrNameLst>
                                          <p:attrName>style.visibility</p:attrName>
                                        </p:attrNameLst>
                                      </p:cBhvr>
                                      <p:to>
                                        <p:strVal val="visible"/>
                                      </p:to>
                                    </p:set>
                                    <p:animEffect transition="in" filter="blinds(horizontal)">
                                      <p:cBhvr>
                                        <p:cTn id="30" dur="500"/>
                                        <p:tgtEl>
                                          <p:spTgt spid="138243">
                                            <p:txEl>
                                              <p:pRg st="5" end="5"/>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138243">
                                            <p:txEl>
                                              <p:pRg st="6" end="6"/>
                                            </p:txEl>
                                          </p:spTgt>
                                        </p:tgtEl>
                                        <p:attrNameLst>
                                          <p:attrName>style.visibility</p:attrName>
                                        </p:attrNameLst>
                                      </p:cBhvr>
                                      <p:to>
                                        <p:strVal val="visible"/>
                                      </p:to>
                                    </p:set>
                                    <p:animEffect transition="in" filter="blinds(horizontal)">
                                      <p:cBhvr>
                                        <p:cTn id="33" dur="500"/>
                                        <p:tgtEl>
                                          <p:spTgt spid="138243">
                                            <p:txEl>
                                              <p:pRg st="6" end="6"/>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138243">
                                            <p:txEl>
                                              <p:pRg st="7" end="7"/>
                                            </p:txEl>
                                          </p:spTgt>
                                        </p:tgtEl>
                                        <p:attrNameLst>
                                          <p:attrName>style.visibility</p:attrName>
                                        </p:attrNameLst>
                                      </p:cBhvr>
                                      <p:to>
                                        <p:strVal val="visible"/>
                                      </p:to>
                                    </p:set>
                                    <p:animEffect transition="in" filter="blinds(horizontal)">
                                      <p:cBhvr>
                                        <p:cTn id="36" dur="500"/>
                                        <p:tgtEl>
                                          <p:spTgt spid="138243">
                                            <p:txEl>
                                              <p:pRg st="7" end="7"/>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138243">
                                            <p:txEl>
                                              <p:pRg st="8" end="8"/>
                                            </p:txEl>
                                          </p:spTgt>
                                        </p:tgtEl>
                                        <p:attrNameLst>
                                          <p:attrName>style.visibility</p:attrName>
                                        </p:attrNameLst>
                                      </p:cBhvr>
                                      <p:to>
                                        <p:strVal val="visible"/>
                                      </p:to>
                                    </p:set>
                                    <p:animEffect transition="in" filter="blinds(horizontal)">
                                      <p:cBhvr>
                                        <p:cTn id="39" dur="500"/>
                                        <p:tgtEl>
                                          <p:spTgt spid="138243">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138243">
                                            <p:txEl>
                                              <p:pRg st="9" end="9"/>
                                            </p:txEl>
                                          </p:spTgt>
                                        </p:tgtEl>
                                        <p:attrNameLst>
                                          <p:attrName>style.visibility</p:attrName>
                                        </p:attrNameLst>
                                      </p:cBhvr>
                                      <p:to>
                                        <p:strVal val="visible"/>
                                      </p:to>
                                    </p:set>
                                    <p:animEffect transition="in" filter="blinds(horizontal)">
                                      <p:cBhvr>
                                        <p:cTn id="44" dur="500"/>
                                        <p:tgtEl>
                                          <p:spTgt spid="138243">
                                            <p:txEl>
                                              <p:pRg st="9" end="9"/>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138243">
                                            <p:txEl>
                                              <p:pRg st="10" end="10"/>
                                            </p:txEl>
                                          </p:spTgt>
                                        </p:tgtEl>
                                        <p:attrNameLst>
                                          <p:attrName>style.visibility</p:attrName>
                                        </p:attrNameLst>
                                      </p:cBhvr>
                                      <p:to>
                                        <p:strVal val="visible"/>
                                      </p:to>
                                    </p:set>
                                    <p:animEffect transition="in" filter="blinds(horizontal)">
                                      <p:cBhvr>
                                        <p:cTn id="49" dur="500"/>
                                        <p:tgtEl>
                                          <p:spTgt spid="13824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40289"/>
          <p:cNvSpPr>
            <a:spLocks noGrp="1" noChangeArrowheads="1"/>
          </p:cNvSpPr>
          <p:nvPr>
            <p:ph type="title"/>
          </p:nvPr>
        </p:nvSpPr>
        <p:spPr>
          <a:xfrm>
            <a:off x="2674939" y="260350"/>
            <a:ext cx="7793037" cy="647700"/>
          </a:xfrm>
        </p:spPr>
        <p:txBody>
          <a:bodyPr/>
          <a:lstStyle/>
          <a:p>
            <a:pPr marL="685800" indent="-685800"/>
            <a:r>
              <a:rPr lang="en-US" altLang="zh-CN" sz="3600" b="1">
                <a:solidFill>
                  <a:srgbClr val="4D009A"/>
                </a:solidFill>
                <a:latin typeface="Times New Roman" panose="02020603050405020304" pitchFamily="18" charset="0"/>
                <a:ea typeface="华文楷体" panose="02010600040101010101" pitchFamily="2" charset="-122"/>
              </a:rPr>
              <a:t>4</a:t>
            </a:r>
            <a:r>
              <a:rPr lang="zh-CN" altLang="en-US" sz="3600" b="1">
                <a:solidFill>
                  <a:srgbClr val="4D009A"/>
                </a:solidFill>
                <a:latin typeface="Times New Roman" panose="02020603050405020304" pitchFamily="18" charset="0"/>
                <a:ea typeface="华文楷体" panose="02010600040101010101" pitchFamily="2" charset="-122"/>
              </a:rPr>
              <a:t>、数组元素的标识与寻访 （续）</a:t>
            </a:r>
            <a:endParaRPr lang="zh-CN" altLang="en-US" sz="3600" b="1">
              <a:solidFill>
                <a:srgbClr val="4D009A"/>
              </a:solidFill>
              <a:latin typeface="Times New Roman" panose="02020603050405020304" pitchFamily="18" charset="0"/>
              <a:ea typeface="华文楷体" panose="02010600040101010101" pitchFamily="2" charset="-122"/>
            </a:endParaRPr>
          </a:p>
        </p:txBody>
      </p:sp>
      <p:sp>
        <p:nvSpPr>
          <p:cNvPr id="140291" name="内容占位符 140290"/>
          <p:cNvSpPr>
            <a:spLocks noGrp="1" noChangeArrowheads="1"/>
          </p:cNvSpPr>
          <p:nvPr>
            <p:ph idx="1"/>
          </p:nvPr>
        </p:nvSpPr>
        <p:spPr/>
        <p:txBody>
          <a:bodyPr/>
          <a:lstStyle/>
          <a:p>
            <a:pPr lvl="1" eaLnBrk="1" hangingPunct="1">
              <a:buFont typeface="Wingdings" panose="05000000000000000000" pitchFamily="2" charset="2"/>
              <a:buNone/>
            </a:pPr>
            <a:r>
              <a:rPr lang="zh-CN" altLang="en-US" b="1" dirty="0">
                <a:solidFill>
                  <a:srgbClr val="0000FF"/>
                </a:solidFill>
                <a:latin typeface="Times New Roman" panose="02020603050405020304" pitchFamily="18" charset="0"/>
                <a:ea typeface="华文楷体" panose="02010600040101010101" pitchFamily="2" charset="-122"/>
              </a:rPr>
              <a:t>【例</a:t>
            </a:r>
            <a:r>
              <a:rPr lang="en-US" altLang="zh-CN" b="1" dirty="0">
                <a:solidFill>
                  <a:srgbClr val="0000FF"/>
                </a:solidFill>
                <a:latin typeface="Times New Roman" panose="02020603050405020304" pitchFamily="18" charset="0"/>
                <a:ea typeface="华文楷体" panose="02010600040101010101" pitchFamily="2" charset="-122"/>
              </a:rPr>
              <a:t>4-1</a:t>
            </a:r>
            <a:r>
              <a:rPr lang="zh-CN" altLang="en-US" b="1" dirty="0">
                <a:solidFill>
                  <a:srgbClr val="0000FF"/>
                </a:solidFill>
                <a:latin typeface="Times New Roman" panose="02020603050405020304" pitchFamily="18" charset="0"/>
                <a:ea typeface="华文楷体" panose="02010600040101010101" pitchFamily="2" charset="-122"/>
              </a:rPr>
              <a:t>】</a:t>
            </a:r>
            <a:r>
              <a:rPr lang="zh-CN" altLang="en-US" b="1" dirty="0">
                <a:solidFill>
                  <a:srgbClr val="490092"/>
                </a:solidFill>
                <a:latin typeface="Times New Roman" panose="02020603050405020304" pitchFamily="18" charset="0"/>
                <a:ea typeface="华文楷体" panose="02010600040101010101" pitchFamily="2" charset="-122"/>
              </a:rPr>
              <a:t>单下标的使用</a:t>
            </a:r>
            <a:endParaRPr lang="zh-CN" altLang="en-US" b="1" dirty="0">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dirty="0">
                <a:solidFill>
                  <a:srgbClr val="490092"/>
                </a:solidFill>
                <a:latin typeface="Times New Roman" panose="02020603050405020304" pitchFamily="18" charset="0"/>
                <a:ea typeface="华文楷体" panose="02010600040101010101" pitchFamily="2" charset="-122"/>
              </a:rPr>
              <a:t>&gt;&gt;a=zeros(2, 5);</a:t>
            </a:r>
            <a:endParaRPr lang="en-US" altLang="zh-CN" b="1" dirty="0">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dirty="0">
                <a:solidFill>
                  <a:srgbClr val="490092"/>
                </a:solidFill>
                <a:latin typeface="Times New Roman" panose="02020603050405020304" pitchFamily="18" charset="0"/>
                <a:ea typeface="华文楷体" panose="02010600040101010101" pitchFamily="2" charset="-122"/>
              </a:rPr>
              <a:t>&gt;&gt;a(:)=-4:5</a:t>
            </a:r>
            <a:endParaRPr lang="en-US" altLang="zh-CN" b="1" dirty="0">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pt-BR" altLang="zh-CN" b="1" dirty="0">
                <a:solidFill>
                  <a:srgbClr val="490092"/>
                </a:solidFill>
                <a:latin typeface="Times New Roman" panose="02020603050405020304" pitchFamily="18" charset="0"/>
                <a:ea typeface="华文楷体" panose="02010600040101010101" pitchFamily="2" charset="-122"/>
              </a:rPr>
              <a:t>a =</a:t>
            </a:r>
            <a:endParaRPr lang="pt-BR" altLang="zh-CN" b="1" dirty="0">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pt-BR" altLang="zh-CN" b="1" dirty="0">
                <a:solidFill>
                  <a:srgbClr val="490092"/>
                </a:solidFill>
                <a:latin typeface="Times New Roman" panose="02020603050405020304" pitchFamily="18" charset="0"/>
                <a:ea typeface="华文楷体" panose="02010600040101010101" pitchFamily="2" charset="-122"/>
              </a:rPr>
              <a:t>    -4    -2     0     2     4</a:t>
            </a:r>
            <a:endParaRPr lang="pt-BR" altLang="zh-CN" b="1" dirty="0">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pt-BR" altLang="zh-CN" b="1" dirty="0">
                <a:solidFill>
                  <a:srgbClr val="490092"/>
                </a:solidFill>
                <a:latin typeface="Times New Roman" panose="02020603050405020304" pitchFamily="18" charset="0"/>
                <a:ea typeface="华文楷体" panose="02010600040101010101" pitchFamily="2" charset="-122"/>
              </a:rPr>
              <a:t>    -3    -1     1     3     5</a:t>
            </a:r>
            <a:endParaRPr lang="pt-BR" altLang="zh-CN" b="1" dirty="0">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Char char="%"/>
            </a:pPr>
            <a:r>
              <a:rPr lang="zh-CN" altLang="pt-BR" b="1" dirty="0">
                <a:solidFill>
                  <a:schemeClr val="hlink"/>
                </a:solidFill>
                <a:latin typeface="Times New Roman" panose="02020603050405020304" pitchFamily="18" charset="0"/>
                <a:ea typeface="华文楷体" panose="02010600040101010101" pitchFamily="2" charset="-122"/>
              </a:rPr>
              <a:t>注意数组的排列顺序。</a:t>
            </a:r>
            <a:endParaRPr lang="zh-CN" altLang="pt-BR" b="1" dirty="0">
              <a:solidFill>
                <a:schemeClr val="hlink"/>
              </a:solidFill>
              <a:latin typeface="Times New Roman" panose="02020603050405020304" pitchFamily="18" charset="0"/>
              <a:ea typeface="华文楷体" panose="02010600040101010101" pitchFamily="2" charset="-122"/>
            </a:endParaRPr>
          </a:p>
        </p:txBody>
      </p:sp>
      <p:sp>
        <p:nvSpPr>
          <p:cNvPr id="67587"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F6A846B3-94BC-46DE-A30A-C00866750771}" type="datetime1">
              <a:rPr lang="zh-CN" altLang="en-US" smtClean="0">
                <a:solidFill>
                  <a:srgbClr val="45516B"/>
                </a:solidFill>
              </a:rPr>
            </a:fld>
            <a:endParaRPr lang="zh-CN" altLang="en-US">
              <a:solidFill>
                <a:srgbClr val="45516B"/>
              </a:solidFill>
            </a:endParaRPr>
          </a:p>
        </p:txBody>
      </p:sp>
      <p:sp>
        <p:nvSpPr>
          <p:cNvPr id="67588"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67590" name="灯片编号占位符 3"/>
          <p:cNvSpPr>
            <a:spLocks noGrp="1" noChangeArrowheads="1"/>
          </p:cNvSpPr>
          <p:nvPr>
            <p:ph type="sldNum" sz="quarter" idx="12"/>
          </p:nvPr>
        </p:nvSpPr>
        <p:spPr bwMode="auto">
          <a:noFill/>
          <a:ln>
            <a:miter lim="800000"/>
          </a:ln>
        </p:spPr>
        <p:txBody>
          <a:bodyPr/>
          <a:lstStyle/>
          <a:p>
            <a:fld id="{2B3B57F8-124A-400F-9187-1EB588A51382}"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blinds(horizontal)">
                                      <p:cBhvr>
                                        <p:cTn id="7" dur="500"/>
                                        <p:tgtEl>
                                          <p:spTgt spid="140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0291">
                                            <p:txEl>
                                              <p:pRg st="1" end="1"/>
                                            </p:txEl>
                                          </p:spTgt>
                                        </p:tgtEl>
                                        <p:attrNameLst>
                                          <p:attrName>style.visibility</p:attrName>
                                        </p:attrNameLst>
                                      </p:cBhvr>
                                      <p:to>
                                        <p:strVal val="visible"/>
                                      </p:to>
                                    </p:set>
                                    <p:animEffect transition="in" filter="blinds(horizontal)">
                                      <p:cBhvr>
                                        <p:cTn id="12" dur="500"/>
                                        <p:tgtEl>
                                          <p:spTgt spid="1402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0291">
                                            <p:txEl>
                                              <p:pRg st="2" end="2"/>
                                            </p:txEl>
                                          </p:spTgt>
                                        </p:tgtEl>
                                        <p:attrNameLst>
                                          <p:attrName>style.visibility</p:attrName>
                                        </p:attrNameLst>
                                      </p:cBhvr>
                                      <p:to>
                                        <p:strVal val="visible"/>
                                      </p:to>
                                    </p:set>
                                    <p:animEffect transition="in" filter="blinds(horizontal)">
                                      <p:cBhvr>
                                        <p:cTn id="17" dur="500"/>
                                        <p:tgtEl>
                                          <p:spTgt spid="1402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40291">
                                            <p:txEl>
                                              <p:pRg st="3" end="3"/>
                                            </p:txEl>
                                          </p:spTgt>
                                        </p:tgtEl>
                                        <p:attrNameLst>
                                          <p:attrName>style.visibility</p:attrName>
                                        </p:attrNameLst>
                                      </p:cBhvr>
                                      <p:to>
                                        <p:strVal val="visible"/>
                                      </p:to>
                                    </p:set>
                                    <p:animEffect transition="in" filter="blinds(horizontal)">
                                      <p:cBhvr>
                                        <p:cTn id="22" dur="500"/>
                                        <p:tgtEl>
                                          <p:spTgt spid="140291">
                                            <p:txEl>
                                              <p:pRg st="3" end="3"/>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140291">
                                            <p:txEl>
                                              <p:pRg st="4" end="4"/>
                                            </p:txEl>
                                          </p:spTgt>
                                        </p:tgtEl>
                                        <p:attrNameLst>
                                          <p:attrName>style.visibility</p:attrName>
                                        </p:attrNameLst>
                                      </p:cBhvr>
                                      <p:to>
                                        <p:strVal val="visible"/>
                                      </p:to>
                                    </p:set>
                                    <p:animEffect transition="in" filter="blinds(horizontal)">
                                      <p:cBhvr>
                                        <p:cTn id="25" dur="500"/>
                                        <p:tgtEl>
                                          <p:spTgt spid="140291">
                                            <p:txEl>
                                              <p:pRg st="4" end="4"/>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140291">
                                            <p:txEl>
                                              <p:pRg st="5" end="5"/>
                                            </p:txEl>
                                          </p:spTgt>
                                        </p:tgtEl>
                                        <p:attrNameLst>
                                          <p:attrName>style.visibility</p:attrName>
                                        </p:attrNameLst>
                                      </p:cBhvr>
                                      <p:to>
                                        <p:strVal val="visible"/>
                                      </p:to>
                                    </p:set>
                                    <p:animEffect transition="in" filter="blinds(horizontal)">
                                      <p:cBhvr>
                                        <p:cTn id="28" dur="500"/>
                                        <p:tgtEl>
                                          <p:spTgt spid="140291">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40291">
                                            <p:txEl>
                                              <p:pRg st="6" end="6"/>
                                            </p:txEl>
                                          </p:spTgt>
                                        </p:tgtEl>
                                        <p:attrNameLst>
                                          <p:attrName>style.visibility</p:attrName>
                                        </p:attrNameLst>
                                      </p:cBhvr>
                                      <p:to>
                                        <p:strVal val="visible"/>
                                      </p:to>
                                    </p:set>
                                    <p:animEffect transition="in" filter="blinds(horizontal)">
                                      <p:cBhvr>
                                        <p:cTn id="33" dur="500"/>
                                        <p:tgtEl>
                                          <p:spTgt spid="14029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41313"/>
          <p:cNvSpPr>
            <a:spLocks noGrp="1" noChangeArrowheads="1"/>
          </p:cNvSpPr>
          <p:nvPr>
            <p:ph type="title"/>
          </p:nvPr>
        </p:nvSpPr>
        <p:spPr>
          <a:xfrm>
            <a:off x="2711450" y="333375"/>
            <a:ext cx="7793038" cy="647700"/>
          </a:xfrm>
        </p:spPr>
        <p:txBody>
          <a:bodyPr/>
          <a:lstStyle/>
          <a:p>
            <a:pPr marL="685800" indent="-685800"/>
            <a:r>
              <a:rPr lang="en-US" altLang="zh-CN" sz="3600" b="1">
                <a:solidFill>
                  <a:srgbClr val="4D009A"/>
                </a:solidFill>
                <a:latin typeface="华文楷体" panose="02010600040101010101" pitchFamily="2" charset="-122"/>
                <a:ea typeface="华文楷体" panose="02010600040101010101" pitchFamily="2" charset="-122"/>
              </a:rPr>
              <a:t>4</a:t>
            </a:r>
            <a:r>
              <a:rPr lang="zh-CN" altLang="en-US" sz="3600" b="1">
                <a:solidFill>
                  <a:srgbClr val="4D009A"/>
                </a:solidFill>
                <a:latin typeface="华文楷体" panose="02010600040101010101" pitchFamily="2" charset="-122"/>
                <a:ea typeface="华文楷体" panose="02010600040101010101" pitchFamily="2" charset="-122"/>
              </a:rPr>
              <a:t>、数组元素的标识与寻访 （续）</a:t>
            </a:r>
            <a:endParaRPr lang="zh-CN" altLang="en-US" sz="3600" b="1">
              <a:solidFill>
                <a:srgbClr val="4D009A"/>
              </a:solidFill>
              <a:latin typeface="华文楷体" panose="02010600040101010101" pitchFamily="2" charset="-122"/>
              <a:ea typeface="华文楷体" panose="02010600040101010101" pitchFamily="2" charset="-122"/>
            </a:endParaRPr>
          </a:p>
        </p:txBody>
      </p:sp>
      <p:sp>
        <p:nvSpPr>
          <p:cNvPr id="141315" name="内容占位符 141314"/>
          <p:cNvSpPr>
            <a:spLocks noGrp="1" noChangeArrowheads="1"/>
          </p:cNvSpPr>
          <p:nvPr>
            <p:ph idx="1"/>
          </p:nvPr>
        </p:nvSpPr>
        <p:spPr/>
        <p:txBody>
          <a:bodyPr/>
          <a:lstStyle/>
          <a:p>
            <a:pPr eaLnBrk="1" hangingPunct="1"/>
            <a:r>
              <a:rPr lang="zh-CN" altLang="en-US" sz="2400" b="1">
                <a:solidFill>
                  <a:srgbClr val="490092"/>
                </a:solidFill>
                <a:latin typeface="Times New Roman" panose="02020603050405020304" pitchFamily="18" charset="0"/>
                <a:ea typeface="华文楷体" panose="02010600040101010101" pitchFamily="2" charset="-122"/>
              </a:rPr>
              <a:t>元素与子数组的寻访与赋值</a:t>
            </a:r>
            <a:endParaRPr lang="zh-CN" altLang="en-US" sz="2400"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zh-CN" altLang="en-US" b="1">
                <a:solidFill>
                  <a:srgbClr val="0000FF"/>
                </a:solidFill>
                <a:latin typeface="Times New Roman" panose="02020603050405020304" pitchFamily="18" charset="0"/>
                <a:ea typeface="华文楷体" panose="02010600040101010101" pitchFamily="2" charset="-122"/>
              </a:rPr>
              <a:t>【例</a:t>
            </a:r>
            <a:r>
              <a:rPr lang="en-US" altLang="zh-CN" b="1">
                <a:solidFill>
                  <a:srgbClr val="0000FF"/>
                </a:solidFill>
                <a:latin typeface="Times New Roman" panose="02020603050405020304" pitchFamily="18" charset="0"/>
                <a:ea typeface="华文楷体" panose="02010600040101010101" pitchFamily="2" charset="-122"/>
              </a:rPr>
              <a:t>4-3</a:t>
            </a:r>
            <a:r>
              <a:rPr lang="zh-CN" altLang="en-US" b="1">
                <a:solidFill>
                  <a:srgbClr val="0000FF"/>
                </a:solidFill>
                <a:latin typeface="Times New Roman" panose="02020603050405020304" pitchFamily="18" charset="0"/>
                <a:ea typeface="华文楷体" panose="02010600040101010101" pitchFamily="2" charset="-122"/>
              </a:rPr>
              <a:t>】</a:t>
            </a:r>
            <a:r>
              <a:rPr lang="zh-CN" altLang="en-US" b="1">
                <a:solidFill>
                  <a:srgbClr val="490092"/>
                </a:solidFill>
                <a:latin typeface="Times New Roman" panose="02020603050405020304" pitchFamily="18" charset="0"/>
                <a:ea typeface="华文楷体" panose="02010600040101010101" pitchFamily="2" charset="-122"/>
              </a:rPr>
              <a:t>一维数组元素与子数组的寻访与赋值</a:t>
            </a:r>
            <a:endParaRPr lang="zh-CN" altLang="en-US"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&gt;&gt;a=linspace(1,10,5)</a:t>
            </a:r>
            <a:endParaRPr lang="en-US"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pt-BR" altLang="zh-CN" b="1">
                <a:solidFill>
                  <a:srgbClr val="490092"/>
                </a:solidFill>
                <a:latin typeface="Times New Roman" panose="02020603050405020304" pitchFamily="18" charset="0"/>
                <a:ea typeface="华文楷体" panose="02010600040101010101" pitchFamily="2" charset="-122"/>
              </a:rPr>
              <a:t>a =</a:t>
            </a:r>
            <a:endParaRPr lang="pt-BR"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pt-BR" altLang="zh-CN" b="1">
                <a:solidFill>
                  <a:srgbClr val="490092"/>
                </a:solidFill>
                <a:latin typeface="Times New Roman" panose="02020603050405020304" pitchFamily="18" charset="0"/>
                <a:ea typeface="华文楷体" panose="02010600040101010101" pitchFamily="2" charset="-122"/>
              </a:rPr>
              <a:t>    1.0000    3.2500    5.5000    7.7500   10.0000</a:t>
            </a:r>
            <a:endParaRPr lang="pt-BR" altLang="zh-CN"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&gt;&gt;a(3)       </a:t>
            </a:r>
            <a:r>
              <a:rPr lang="en-US" altLang="zh-CN" b="1">
                <a:solidFill>
                  <a:srgbClr val="008000"/>
                </a:solidFill>
                <a:latin typeface="Times New Roman" panose="02020603050405020304" pitchFamily="18" charset="0"/>
                <a:ea typeface="华文楷体" panose="02010600040101010101" pitchFamily="2" charset="-122"/>
              </a:rPr>
              <a:t>%</a:t>
            </a:r>
            <a:r>
              <a:rPr lang="zh-CN" altLang="en-US" b="1">
                <a:solidFill>
                  <a:srgbClr val="008000"/>
                </a:solidFill>
                <a:latin typeface="Times New Roman" panose="02020603050405020304" pitchFamily="18" charset="0"/>
                <a:ea typeface="华文楷体" panose="02010600040101010101" pitchFamily="2" charset="-122"/>
              </a:rPr>
              <a:t>寻访</a:t>
            </a:r>
            <a:r>
              <a:rPr lang="en-US" altLang="zh-CN" b="1">
                <a:solidFill>
                  <a:srgbClr val="008000"/>
                </a:solidFill>
                <a:latin typeface="Times New Roman" panose="02020603050405020304" pitchFamily="18" charset="0"/>
                <a:ea typeface="华文楷体" panose="02010600040101010101" pitchFamily="2" charset="-122"/>
              </a:rPr>
              <a:t>a</a:t>
            </a:r>
            <a:r>
              <a:rPr lang="zh-CN" altLang="en-US" b="1">
                <a:solidFill>
                  <a:srgbClr val="008000"/>
                </a:solidFill>
                <a:latin typeface="Times New Roman" panose="02020603050405020304" pitchFamily="18" charset="0"/>
                <a:ea typeface="华文楷体" panose="02010600040101010101" pitchFamily="2" charset="-122"/>
              </a:rPr>
              <a:t>的第</a:t>
            </a:r>
            <a:r>
              <a:rPr lang="en-US" altLang="zh-CN" b="1">
                <a:solidFill>
                  <a:srgbClr val="008000"/>
                </a:solidFill>
                <a:latin typeface="Times New Roman" panose="02020603050405020304" pitchFamily="18" charset="0"/>
                <a:ea typeface="华文楷体" panose="02010600040101010101" pitchFamily="2" charset="-122"/>
              </a:rPr>
              <a:t>3</a:t>
            </a:r>
            <a:r>
              <a:rPr lang="zh-CN" altLang="en-US" b="1">
                <a:solidFill>
                  <a:srgbClr val="008000"/>
                </a:solidFill>
                <a:latin typeface="Times New Roman" panose="02020603050405020304" pitchFamily="18" charset="0"/>
                <a:ea typeface="华文楷体" panose="02010600040101010101" pitchFamily="2" charset="-122"/>
              </a:rPr>
              <a:t>个元素</a:t>
            </a:r>
            <a:endParaRPr lang="zh-CN" altLang="en-US" b="1">
              <a:solidFill>
                <a:srgbClr val="008000"/>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ans =5.5000</a:t>
            </a:r>
            <a:endParaRPr lang="en-US" altLang="zh-CN"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&gt;&gt;a([1 2 5])   </a:t>
            </a:r>
            <a:r>
              <a:rPr lang="en-US" altLang="zh-CN" b="1">
                <a:solidFill>
                  <a:srgbClr val="008000"/>
                </a:solidFill>
                <a:latin typeface="Times New Roman" panose="02020603050405020304" pitchFamily="18" charset="0"/>
                <a:ea typeface="华文楷体" panose="02010600040101010101" pitchFamily="2" charset="-122"/>
              </a:rPr>
              <a:t>%</a:t>
            </a:r>
            <a:r>
              <a:rPr lang="zh-CN" altLang="en-US" b="1">
                <a:solidFill>
                  <a:srgbClr val="008000"/>
                </a:solidFill>
                <a:latin typeface="Times New Roman" panose="02020603050405020304" pitchFamily="18" charset="0"/>
                <a:ea typeface="华文楷体" panose="02010600040101010101" pitchFamily="2" charset="-122"/>
              </a:rPr>
              <a:t>寻访</a:t>
            </a:r>
            <a:r>
              <a:rPr lang="en-US" altLang="zh-CN" b="1">
                <a:solidFill>
                  <a:srgbClr val="008000"/>
                </a:solidFill>
                <a:latin typeface="Times New Roman" panose="02020603050405020304" pitchFamily="18" charset="0"/>
                <a:ea typeface="华文楷体" panose="02010600040101010101" pitchFamily="2" charset="-122"/>
              </a:rPr>
              <a:t>a</a:t>
            </a:r>
            <a:r>
              <a:rPr lang="zh-CN" altLang="en-US" b="1">
                <a:solidFill>
                  <a:srgbClr val="008000"/>
                </a:solidFill>
                <a:latin typeface="Times New Roman" panose="02020603050405020304" pitchFamily="18" charset="0"/>
                <a:ea typeface="华文楷体" panose="02010600040101010101" pitchFamily="2" charset="-122"/>
              </a:rPr>
              <a:t>的第</a:t>
            </a:r>
            <a:r>
              <a:rPr lang="en-US" altLang="zh-CN" b="1">
                <a:solidFill>
                  <a:srgbClr val="008000"/>
                </a:solidFill>
                <a:latin typeface="Times New Roman" panose="02020603050405020304" pitchFamily="18" charset="0"/>
                <a:ea typeface="华文楷体" panose="02010600040101010101" pitchFamily="2" charset="-122"/>
              </a:rPr>
              <a:t>1</a:t>
            </a:r>
            <a:r>
              <a:rPr lang="zh-CN" altLang="en-US" b="1">
                <a:solidFill>
                  <a:srgbClr val="008000"/>
                </a:solidFill>
                <a:latin typeface="Times New Roman" panose="02020603050405020304" pitchFamily="18" charset="0"/>
                <a:ea typeface="华文楷体" panose="02010600040101010101" pitchFamily="2" charset="-122"/>
              </a:rPr>
              <a:t>、</a:t>
            </a:r>
            <a:r>
              <a:rPr lang="en-US" altLang="zh-CN" b="1">
                <a:solidFill>
                  <a:srgbClr val="008000"/>
                </a:solidFill>
                <a:latin typeface="Times New Roman" panose="02020603050405020304" pitchFamily="18" charset="0"/>
                <a:ea typeface="华文楷体" panose="02010600040101010101" pitchFamily="2" charset="-122"/>
              </a:rPr>
              <a:t>2</a:t>
            </a:r>
            <a:r>
              <a:rPr lang="zh-CN" altLang="en-US" b="1">
                <a:solidFill>
                  <a:srgbClr val="008000"/>
                </a:solidFill>
                <a:latin typeface="Times New Roman" panose="02020603050405020304" pitchFamily="18" charset="0"/>
                <a:ea typeface="华文楷体" panose="02010600040101010101" pitchFamily="2" charset="-122"/>
              </a:rPr>
              <a:t>、</a:t>
            </a:r>
            <a:r>
              <a:rPr lang="en-US" altLang="zh-CN" b="1">
                <a:solidFill>
                  <a:srgbClr val="008000"/>
                </a:solidFill>
                <a:latin typeface="Times New Roman" panose="02020603050405020304" pitchFamily="18" charset="0"/>
                <a:ea typeface="华文楷体" panose="02010600040101010101" pitchFamily="2" charset="-122"/>
              </a:rPr>
              <a:t>5</a:t>
            </a:r>
            <a:r>
              <a:rPr lang="zh-CN" altLang="en-US" b="1">
                <a:solidFill>
                  <a:srgbClr val="008000"/>
                </a:solidFill>
                <a:latin typeface="Times New Roman" panose="02020603050405020304" pitchFamily="18" charset="0"/>
                <a:ea typeface="华文楷体" panose="02010600040101010101" pitchFamily="2" charset="-122"/>
              </a:rPr>
              <a:t>个元素组成的子数组</a:t>
            </a:r>
            <a:endParaRPr lang="zh-CN" altLang="en-US" b="1">
              <a:solidFill>
                <a:srgbClr val="008000"/>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ans =</a:t>
            </a:r>
            <a:endParaRPr lang="en-US"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    1.0000    3.2500   10.0000</a:t>
            </a:r>
            <a:endParaRPr lang="en-US" altLang="zh-CN" b="1">
              <a:solidFill>
                <a:srgbClr val="490092"/>
              </a:solidFill>
              <a:latin typeface="Times New Roman" panose="02020603050405020304" pitchFamily="18" charset="0"/>
              <a:ea typeface="华文楷体" panose="02010600040101010101" pitchFamily="2" charset="-122"/>
            </a:endParaRPr>
          </a:p>
        </p:txBody>
      </p:sp>
      <p:sp>
        <p:nvSpPr>
          <p:cNvPr id="68611"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4C9AABC5-482E-4E7C-90FA-1A2312CED559}" type="datetime1">
              <a:rPr lang="zh-CN" altLang="en-US" smtClean="0">
                <a:solidFill>
                  <a:srgbClr val="45516B"/>
                </a:solidFill>
              </a:rPr>
            </a:fld>
            <a:endParaRPr lang="zh-CN" altLang="en-US">
              <a:solidFill>
                <a:srgbClr val="45516B"/>
              </a:solidFill>
            </a:endParaRPr>
          </a:p>
        </p:txBody>
      </p:sp>
      <p:sp>
        <p:nvSpPr>
          <p:cNvPr id="68612"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68614" name="灯片编号占位符 3"/>
          <p:cNvSpPr>
            <a:spLocks noGrp="1" noChangeArrowheads="1"/>
          </p:cNvSpPr>
          <p:nvPr>
            <p:ph type="sldNum" sz="quarter" idx="12"/>
          </p:nvPr>
        </p:nvSpPr>
        <p:spPr bwMode="auto">
          <a:noFill/>
          <a:ln>
            <a:miter lim="800000"/>
          </a:ln>
        </p:spPr>
        <p:txBody>
          <a:bodyPr/>
          <a:lstStyle/>
          <a:p>
            <a:fld id="{32FABB32-0A86-429D-9A49-9925BB034DFF}"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animEffect transition="in" filter="blinds(horizontal)">
                                      <p:cBhvr>
                                        <p:cTn id="7" dur="500"/>
                                        <p:tgtEl>
                                          <p:spTgt spid="141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1315">
                                            <p:txEl>
                                              <p:pRg st="1" end="1"/>
                                            </p:txEl>
                                          </p:spTgt>
                                        </p:tgtEl>
                                        <p:attrNameLst>
                                          <p:attrName>style.visibility</p:attrName>
                                        </p:attrNameLst>
                                      </p:cBhvr>
                                      <p:to>
                                        <p:strVal val="visible"/>
                                      </p:to>
                                    </p:set>
                                    <p:animEffect transition="in" filter="blinds(horizontal)">
                                      <p:cBhvr>
                                        <p:cTn id="12" dur="500"/>
                                        <p:tgtEl>
                                          <p:spTgt spid="1413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1315">
                                            <p:txEl>
                                              <p:pRg st="2" end="2"/>
                                            </p:txEl>
                                          </p:spTgt>
                                        </p:tgtEl>
                                        <p:attrNameLst>
                                          <p:attrName>style.visibility</p:attrName>
                                        </p:attrNameLst>
                                      </p:cBhvr>
                                      <p:to>
                                        <p:strVal val="visible"/>
                                      </p:to>
                                    </p:set>
                                    <p:animEffect transition="in" filter="blinds(horizontal)">
                                      <p:cBhvr>
                                        <p:cTn id="17" dur="500"/>
                                        <p:tgtEl>
                                          <p:spTgt spid="1413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41315">
                                            <p:txEl>
                                              <p:pRg st="3" end="3"/>
                                            </p:txEl>
                                          </p:spTgt>
                                        </p:tgtEl>
                                        <p:attrNameLst>
                                          <p:attrName>style.visibility</p:attrName>
                                        </p:attrNameLst>
                                      </p:cBhvr>
                                      <p:to>
                                        <p:strVal val="visible"/>
                                      </p:to>
                                    </p:set>
                                    <p:animEffect transition="in" filter="blinds(horizontal)">
                                      <p:cBhvr>
                                        <p:cTn id="22" dur="500"/>
                                        <p:tgtEl>
                                          <p:spTgt spid="141315">
                                            <p:txEl>
                                              <p:pRg st="3" end="3"/>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141315">
                                            <p:txEl>
                                              <p:pRg st="4" end="4"/>
                                            </p:txEl>
                                          </p:spTgt>
                                        </p:tgtEl>
                                        <p:attrNameLst>
                                          <p:attrName>style.visibility</p:attrName>
                                        </p:attrNameLst>
                                      </p:cBhvr>
                                      <p:to>
                                        <p:strVal val="visible"/>
                                      </p:to>
                                    </p:set>
                                    <p:animEffect transition="in" filter="blinds(horizontal)">
                                      <p:cBhvr>
                                        <p:cTn id="25" dur="500"/>
                                        <p:tgtEl>
                                          <p:spTgt spid="141315">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41315">
                                            <p:txEl>
                                              <p:pRg st="5" end="5"/>
                                            </p:txEl>
                                          </p:spTgt>
                                        </p:tgtEl>
                                        <p:attrNameLst>
                                          <p:attrName>style.visibility</p:attrName>
                                        </p:attrNameLst>
                                      </p:cBhvr>
                                      <p:to>
                                        <p:strVal val="visible"/>
                                      </p:to>
                                    </p:set>
                                    <p:animEffect transition="in" filter="blinds(horizontal)">
                                      <p:cBhvr>
                                        <p:cTn id="30" dur="500"/>
                                        <p:tgtEl>
                                          <p:spTgt spid="141315">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41315">
                                            <p:txEl>
                                              <p:pRg st="6" end="6"/>
                                            </p:txEl>
                                          </p:spTgt>
                                        </p:tgtEl>
                                        <p:attrNameLst>
                                          <p:attrName>style.visibility</p:attrName>
                                        </p:attrNameLst>
                                      </p:cBhvr>
                                      <p:to>
                                        <p:strVal val="visible"/>
                                      </p:to>
                                    </p:set>
                                    <p:animEffect transition="in" filter="blinds(horizontal)">
                                      <p:cBhvr>
                                        <p:cTn id="35" dur="500"/>
                                        <p:tgtEl>
                                          <p:spTgt spid="141315">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141315">
                                            <p:txEl>
                                              <p:pRg st="7" end="7"/>
                                            </p:txEl>
                                          </p:spTgt>
                                        </p:tgtEl>
                                        <p:attrNameLst>
                                          <p:attrName>style.visibility</p:attrName>
                                        </p:attrNameLst>
                                      </p:cBhvr>
                                      <p:to>
                                        <p:strVal val="visible"/>
                                      </p:to>
                                    </p:set>
                                    <p:animEffect transition="in" filter="blinds(horizontal)">
                                      <p:cBhvr>
                                        <p:cTn id="40" dur="500"/>
                                        <p:tgtEl>
                                          <p:spTgt spid="141315">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141315">
                                            <p:txEl>
                                              <p:pRg st="8" end="8"/>
                                            </p:txEl>
                                          </p:spTgt>
                                        </p:tgtEl>
                                        <p:attrNameLst>
                                          <p:attrName>style.visibility</p:attrName>
                                        </p:attrNameLst>
                                      </p:cBhvr>
                                      <p:to>
                                        <p:strVal val="visible"/>
                                      </p:to>
                                    </p:set>
                                    <p:animEffect transition="in" filter="blinds(horizontal)">
                                      <p:cBhvr>
                                        <p:cTn id="45" dur="500"/>
                                        <p:tgtEl>
                                          <p:spTgt spid="141315">
                                            <p:txEl>
                                              <p:pRg st="8" end="8"/>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141315">
                                            <p:txEl>
                                              <p:pRg st="9" end="9"/>
                                            </p:txEl>
                                          </p:spTgt>
                                        </p:tgtEl>
                                        <p:attrNameLst>
                                          <p:attrName>style.visibility</p:attrName>
                                        </p:attrNameLst>
                                      </p:cBhvr>
                                      <p:to>
                                        <p:strVal val="visible"/>
                                      </p:to>
                                    </p:set>
                                    <p:animEffect transition="in" filter="blinds(horizontal)">
                                      <p:cBhvr>
                                        <p:cTn id="48" dur="500"/>
                                        <p:tgtEl>
                                          <p:spTgt spid="14131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42337"/>
          <p:cNvSpPr>
            <a:spLocks noGrp="1" noChangeArrowheads="1"/>
          </p:cNvSpPr>
          <p:nvPr>
            <p:ph type="title"/>
          </p:nvPr>
        </p:nvSpPr>
        <p:spPr>
          <a:xfrm>
            <a:off x="2874964" y="296863"/>
            <a:ext cx="7793037" cy="647700"/>
          </a:xfrm>
        </p:spPr>
        <p:txBody>
          <a:bodyPr/>
          <a:lstStyle/>
          <a:p>
            <a:pPr marL="685800" indent="-685800"/>
            <a:r>
              <a:rPr lang="en-US" altLang="zh-CN" sz="3600" b="1">
                <a:solidFill>
                  <a:srgbClr val="4D009A"/>
                </a:solidFill>
                <a:latin typeface="Times New Roman" panose="02020603050405020304" pitchFamily="18" charset="0"/>
                <a:ea typeface="华文楷体" panose="02010600040101010101" pitchFamily="2" charset="-122"/>
              </a:rPr>
              <a:t>4</a:t>
            </a:r>
            <a:r>
              <a:rPr lang="zh-CN" altLang="en-US" sz="3600" b="1">
                <a:solidFill>
                  <a:srgbClr val="4D009A"/>
                </a:solidFill>
                <a:latin typeface="Times New Roman" panose="02020603050405020304" pitchFamily="18" charset="0"/>
                <a:ea typeface="华文楷体" panose="02010600040101010101" pitchFamily="2" charset="-122"/>
              </a:rPr>
              <a:t>、数组元素的标识与寻访 （续）</a:t>
            </a:r>
            <a:endParaRPr lang="zh-CN" altLang="en-US" sz="3600" b="1">
              <a:solidFill>
                <a:srgbClr val="4D009A"/>
              </a:solidFill>
              <a:latin typeface="Times New Roman" panose="02020603050405020304" pitchFamily="18" charset="0"/>
              <a:ea typeface="华文楷体" panose="02010600040101010101" pitchFamily="2" charset="-122"/>
            </a:endParaRPr>
          </a:p>
        </p:txBody>
      </p:sp>
      <p:sp>
        <p:nvSpPr>
          <p:cNvPr id="142339" name="内容占位符 142338"/>
          <p:cNvSpPr>
            <a:spLocks noGrp="1" noChangeArrowheads="1"/>
          </p:cNvSpPr>
          <p:nvPr>
            <p:ph idx="1"/>
          </p:nvPr>
        </p:nvSpPr>
        <p:spPr/>
        <p:txBody>
          <a:bodyPr/>
          <a:lstStyle/>
          <a:p>
            <a:pPr lvl="1"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&gt;&gt;</a:t>
            </a:r>
            <a:r>
              <a:rPr lang="en-US" altLang="zh-CN" sz="2000" b="1">
                <a:solidFill>
                  <a:srgbClr val="490092"/>
                </a:solidFill>
                <a:latin typeface="Times New Roman" panose="02020603050405020304" pitchFamily="18" charset="0"/>
                <a:ea typeface="华文楷体" panose="02010600040101010101" pitchFamily="2" charset="-122"/>
              </a:rPr>
              <a:t>a(1:3)   </a:t>
            </a:r>
            <a:r>
              <a:rPr lang="en-US" altLang="zh-CN" sz="2000" b="1">
                <a:solidFill>
                  <a:srgbClr val="008000"/>
                </a:solidFill>
                <a:latin typeface="Times New Roman" panose="02020603050405020304" pitchFamily="18" charset="0"/>
                <a:ea typeface="华文楷体" panose="02010600040101010101" pitchFamily="2" charset="-122"/>
              </a:rPr>
              <a:t>%</a:t>
            </a:r>
            <a:r>
              <a:rPr lang="zh-CN" altLang="en-US" sz="2000" b="1">
                <a:solidFill>
                  <a:srgbClr val="008000"/>
                </a:solidFill>
                <a:latin typeface="Times New Roman" panose="02020603050405020304" pitchFamily="18" charset="0"/>
                <a:ea typeface="华文楷体" panose="02010600040101010101" pitchFamily="2" charset="-122"/>
              </a:rPr>
              <a:t>寻访前</a:t>
            </a:r>
            <a:r>
              <a:rPr lang="en-US" altLang="zh-CN" sz="2000" b="1">
                <a:solidFill>
                  <a:srgbClr val="008000"/>
                </a:solidFill>
                <a:latin typeface="Times New Roman" panose="02020603050405020304" pitchFamily="18" charset="0"/>
                <a:ea typeface="华文楷体" panose="02010600040101010101" pitchFamily="2" charset="-122"/>
              </a:rPr>
              <a:t>3</a:t>
            </a:r>
            <a:r>
              <a:rPr lang="zh-CN" altLang="en-US" sz="2000" b="1">
                <a:solidFill>
                  <a:srgbClr val="008000"/>
                </a:solidFill>
                <a:latin typeface="Times New Roman" panose="02020603050405020304" pitchFamily="18" charset="0"/>
                <a:ea typeface="华文楷体" panose="02010600040101010101" pitchFamily="2" charset="-122"/>
              </a:rPr>
              <a:t>个元素组成的子数组</a:t>
            </a:r>
            <a:endParaRPr lang="zh-CN" altLang="en-US" sz="2000" b="1">
              <a:solidFill>
                <a:srgbClr val="008000"/>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ans =</a:t>
            </a:r>
            <a:endParaRPr lang="en-US"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    1.0000    3.2500    5.5000</a:t>
            </a:r>
            <a:endParaRPr lang="en-US" altLang="zh-CN"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sz="2000" b="1">
                <a:solidFill>
                  <a:srgbClr val="490092"/>
                </a:solidFill>
                <a:latin typeface="Times New Roman" panose="02020603050405020304" pitchFamily="18" charset="0"/>
                <a:ea typeface="华文楷体" panose="02010600040101010101" pitchFamily="2" charset="-122"/>
              </a:rPr>
              <a:t>&gt;&gt;a(3:-1:1)  </a:t>
            </a:r>
            <a:r>
              <a:rPr lang="en-US" altLang="zh-CN" sz="2000" b="1">
                <a:solidFill>
                  <a:srgbClr val="008000"/>
                </a:solidFill>
                <a:latin typeface="Times New Roman" panose="02020603050405020304" pitchFamily="18" charset="0"/>
                <a:ea typeface="华文楷体" panose="02010600040101010101" pitchFamily="2" charset="-122"/>
              </a:rPr>
              <a:t>%</a:t>
            </a:r>
            <a:r>
              <a:rPr lang="zh-CN" altLang="en-US" sz="2000" b="1">
                <a:solidFill>
                  <a:srgbClr val="008000"/>
                </a:solidFill>
                <a:latin typeface="Times New Roman" panose="02020603050405020304" pitchFamily="18" charset="0"/>
                <a:ea typeface="华文楷体" panose="02010600040101010101" pitchFamily="2" charset="-122"/>
              </a:rPr>
              <a:t>由前</a:t>
            </a:r>
            <a:r>
              <a:rPr lang="en-US" altLang="zh-CN" sz="2000" b="1">
                <a:solidFill>
                  <a:srgbClr val="008000"/>
                </a:solidFill>
                <a:latin typeface="Times New Roman" panose="02020603050405020304" pitchFamily="18" charset="0"/>
                <a:ea typeface="华文楷体" panose="02010600040101010101" pitchFamily="2" charset="-122"/>
              </a:rPr>
              <a:t>3</a:t>
            </a:r>
            <a:r>
              <a:rPr lang="zh-CN" altLang="en-US" sz="2000" b="1">
                <a:solidFill>
                  <a:srgbClr val="008000"/>
                </a:solidFill>
                <a:latin typeface="Times New Roman" panose="02020603050405020304" pitchFamily="18" charset="0"/>
                <a:ea typeface="华文楷体" panose="02010600040101010101" pitchFamily="2" charset="-122"/>
              </a:rPr>
              <a:t>个元素倒序构成的子数组</a:t>
            </a:r>
            <a:endParaRPr lang="zh-CN" altLang="en-US" sz="2000" b="1">
              <a:solidFill>
                <a:srgbClr val="008000"/>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ans =</a:t>
            </a:r>
            <a:endParaRPr lang="en-US"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    5.5000    3.2500    1.0000</a:t>
            </a:r>
            <a:endParaRPr lang="en-US" altLang="zh-CN"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sz="2000" b="1">
                <a:solidFill>
                  <a:srgbClr val="490092"/>
                </a:solidFill>
                <a:latin typeface="Times New Roman" panose="02020603050405020304" pitchFamily="18" charset="0"/>
                <a:ea typeface="华文楷体" panose="02010600040101010101" pitchFamily="2" charset="-122"/>
              </a:rPr>
              <a:t>&gt;&gt;a(3:end)</a:t>
            </a:r>
            <a:endParaRPr lang="en-US" altLang="zh-CN" sz="2000"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ans =</a:t>
            </a:r>
            <a:endParaRPr lang="en-US"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    5.5000    7.7500   10.0000</a:t>
            </a:r>
            <a:endParaRPr lang="en-US" altLang="zh-CN"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sz="2000" b="1">
                <a:solidFill>
                  <a:srgbClr val="490092"/>
                </a:solidFill>
                <a:latin typeface="Times New Roman" panose="02020603050405020304" pitchFamily="18" charset="0"/>
                <a:ea typeface="华文楷体" panose="02010600040101010101" pitchFamily="2" charset="-122"/>
              </a:rPr>
              <a:t>&gt;&gt;a(3:end-1)</a:t>
            </a:r>
            <a:endParaRPr lang="en-US" altLang="zh-CN" sz="2000"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ans =</a:t>
            </a:r>
            <a:endParaRPr lang="en-US"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    5.5000    7.7500</a:t>
            </a:r>
            <a:endParaRPr lang="en-US" altLang="zh-CN"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endParaRPr lang="en-US" altLang="zh-CN" sz="2000" b="1">
              <a:solidFill>
                <a:srgbClr val="490092"/>
              </a:solidFill>
              <a:latin typeface="Times New Roman" panose="02020603050405020304" pitchFamily="18" charset="0"/>
              <a:ea typeface="华文楷体" panose="02010600040101010101" pitchFamily="2" charset="-122"/>
            </a:endParaRPr>
          </a:p>
        </p:txBody>
      </p:sp>
      <p:sp>
        <p:nvSpPr>
          <p:cNvPr id="142340" name="文本框 142339"/>
          <p:cNvSpPr txBox="1">
            <a:spLocks noChangeArrowheads="1"/>
          </p:cNvSpPr>
          <p:nvPr/>
        </p:nvSpPr>
        <p:spPr bwMode="auto">
          <a:xfrm>
            <a:off x="5124450" y="3716339"/>
            <a:ext cx="5543550" cy="646331"/>
          </a:xfrm>
          <a:prstGeom prst="rect">
            <a:avLst/>
          </a:prstGeom>
          <a:noFill/>
          <a:ln w="9525">
            <a:noFill/>
            <a:miter lim="800000"/>
          </a:ln>
        </p:spPr>
        <p:txBody>
          <a:bodyPr>
            <a:spAutoFit/>
          </a:bodyPr>
          <a:lstStyle/>
          <a:p>
            <a:pPr marL="342900" indent="-342900">
              <a:buClr>
                <a:srgbClr val="3039E8"/>
              </a:buClr>
              <a:buFont typeface="Wingdings" panose="05000000000000000000" pitchFamily="2" charset="2"/>
              <a:buChar char="%"/>
            </a:pPr>
            <a:r>
              <a:rPr lang="en-US" altLang="zh-CN" b="1">
                <a:solidFill>
                  <a:srgbClr val="008000"/>
                </a:solidFill>
                <a:latin typeface="Times New Roman" panose="02020603050405020304" pitchFamily="18" charset="0"/>
                <a:ea typeface="楷体_GB2312" pitchFamily="49" charset="-122"/>
              </a:rPr>
              <a:t>%</a:t>
            </a:r>
            <a:r>
              <a:rPr lang="zh-CN" altLang="en-US" b="1">
                <a:solidFill>
                  <a:srgbClr val="008000"/>
                </a:solidFill>
                <a:latin typeface="Times New Roman" panose="02020603050405020304" pitchFamily="18" charset="0"/>
                <a:ea typeface="楷体_GB2312" pitchFamily="49" charset="-122"/>
              </a:rPr>
              <a:t>第</a:t>
            </a:r>
            <a:r>
              <a:rPr lang="en-US" altLang="zh-CN" b="1">
                <a:solidFill>
                  <a:srgbClr val="008000"/>
                </a:solidFill>
                <a:latin typeface="Times New Roman" panose="02020603050405020304" pitchFamily="18" charset="0"/>
                <a:ea typeface="楷体_GB2312" pitchFamily="49" charset="-122"/>
              </a:rPr>
              <a:t>3</a:t>
            </a:r>
            <a:r>
              <a:rPr lang="zh-CN" altLang="en-US" b="1">
                <a:solidFill>
                  <a:srgbClr val="008000"/>
                </a:solidFill>
                <a:latin typeface="Times New Roman" panose="02020603050405020304" pitchFamily="18" charset="0"/>
                <a:ea typeface="楷体_GB2312" pitchFamily="49" charset="-122"/>
              </a:rPr>
              <a:t>个及其后所有元素构成的子数组</a:t>
            </a:r>
            <a:endParaRPr lang="zh-CN" altLang="en-US" b="1">
              <a:solidFill>
                <a:srgbClr val="008000"/>
              </a:solidFill>
              <a:latin typeface="Times New Roman" panose="02020603050405020304" pitchFamily="18" charset="0"/>
              <a:ea typeface="楷体_GB2312" pitchFamily="49" charset="-122"/>
            </a:endParaRPr>
          </a:p>
          <a:p>
            <a:pPr marL="342900" indent="-342900">
              <a:buClr>
                <a:srgbClr val="3039E8"/>
              </a:buClr>
              <a:buFont typeface="Wingdings" panose="05000000000000000000" pitchFamily="2" charset="2"/>
              <a:buChar char="%"/>
            </a:pPr>
            <a:r>
              <a:rPr lang="zh-CN" altLang="en-US" b="1">
                <a:solidFill>
                  <a:srgbClr val="490092"/>
                </a:solidFill>
                <a:latin typeface="Times New Roman" panose="02020603050405020304" pitchFamily="18" charset="0"/>
                <a:ea typeface="楷体_GB2312" pitchFamily="49" charset="-122"/>
              </a:rPr>
              <a:t>函数</a:t>
            </a:r>
            <a:r>
              <a:rPr lang="en-US" altLang="zh-CN" b="1">
                <a:solidFill>
                  <a:srgbClr val="490092"/>
                </a:solidFill>
                <a:latin typeface="Times New Roman" panose="02020603050405020304" pitchFamily="18" charset="0"/>
                <a:ea typeface="楷体_GB2312" pitchFamily="49" charset="-122"/>
              </a:rPr>
              <a:t>end</a:t>
            </a:r>
            <a:r>
              <a:rPr lang="zh-CN" altLang="en-US" b="1">
                <a:solidFill>
                  <a:srgbClr val="490092"/>
                </a:solidFill>
                <a:latin typeface="Times New Roman" panose="02020603050405020304" pitchFamily="18" charset="0"/>
                <a:ea typeface="楷体_GB2312" pitchFamily="49" charset="-122"/>
              </a:rPr>
              <a:t>作为参数使用，返回最后一个元素的下标</a:t>
            </a:r>
            <a:endParaRPr lang="zh-CN" altLang="en-US" b="1">
              <a:solidFill>
                <a:srgbClr val="490092"/>
              </a:solidFill>
              <a:latin typeface="Times New Roman" panose="02020603050405020304" pitchFamily="18" charset="0"/>
              <a:ea typeface="楷体_GB2312" pitchFamily="49" charset="-122"/>
            </a:endParaRPr>
          </a:p>
        </p:txBody>
      </p:sp>
      <p:sp>
        <p:nvSpPr>
          <p:cNvPr id="69636"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4A496C15-9E54-4E39-8852-634D07EEAF57}" type="datetime1">
              <a:rPr lang="zh-CN" altLang="en-US" smtClean="0">
                <a:solidFill>
                  <a:srgbClr val="45516B"/>
                </a:solidFill>
              </a:rPr>
            </a:fld>
            <a:endParaRPr lang="zh-CN" altLang="en-US">
              <a:solidFill>
                <a:srgbClr val="45516B"/>
              </a:solidFill>
            </a:endParaRPr>
          </a:p>
        </p:txBody>
      </p:sp>
      <p:sp>
        <p:nvSpPr>
          <p:cNvPr id="69637"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69639" name="灯片编号占位符 3"/>
          <p:cNvSpPr>
            <a:spLocks noGrp="1" noChangeArrowheads="1"/>
          </p:cNvSpPr>
          <p:nvPr>
            <p:ph type="sldNum" sz="quarter" idx="12"/>
          </p:nvPr>
        </p:nvSpPr>
        <p:spPr bwMode="auto">
          <a:noFill/>
          <a:ln>
            <a:miter lim="800000"/>
          </a:ln>
        </p:spPr>
        <p:txBody>
          <a:bodyPr/>
          <a:lstStyle/>
          <a:p>
            <a:fld id="{16040576-01F3-4DFE-8143-FCBE8D7B381E}"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2339">
                                            <p:txEl>
                                              <p:pRg st="0" end="0"/>
                                            </p:txEl>
                                          </p:spTgt>
                                        </p:tgtEl>
                                        <p:attrNameLst>
                                          <p:attrName>style.visibility</p:attrName>
                                        </p:attrNameLst>
                                      </p:cBhvr>
                                      <p:to>
                                        <p:strVal val="visible"/>
                                      </p:to>
                                    </p:set>
                                    <p:animEffect transition="in" filter="blinds(horizontal)">
                                      <p:cBhvr>
                                        <p:cTn id="7" dur="500"/>
                                        <p:tgtEl>
                                          <p:spTgt spid="142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2339">
                                            <p:txEl>
                                              <p:pRg st="1" end="1"/>
                                            </p:txEl>
                                          </p:spTgt>
                                        </p:tgtEl>
                                        <p:attrNameLst>
                                          <p:attrName>style.visibility</p:attrName>
                                        </p:attrNameLst>
                                      </p:cBhvr>
                                      <p:to>
                                        <p:strVal val="visible"/>
                                      </p:to>
                                    </p:set>
                                    <p:animEffect transition="in" filter="blinds(horizontal)">
                                      <p:cBhvr>
                                        <p:cTn id="12" dur="500"/>
                                        <p:tgtEl>
                                          <p:spTgt spid="142339">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42339">
                                            <p:txEl>
                                              <p:pRg st="2" end="2"/>
                                            </p:txEl>
                                          </p:spTgt>
                                        </p:tgtEl>
                                        <p:attrNameLst>
                                          <p:attrName>style.visibility</p:attrName>
                                        </p:attrNameLst>
                                      </p:cBhvr>
                                      <p:to>
                                        <p:strVal val="visible"/>
                                      </p:to>
                                    </p:set>
                                    <p:animEffect transition="in" filter="blinds(horizontal)">
                                      <p:cBhvr>
                                        <p:cTn id="15" dur="500"/>
                                        <p:tgtEl>
                                          <p:spTgt spid="14233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42339">
                                            <p:txEl>
                                              <p:pRg st="3" end="3"/>
                                            </p:txEl>
                                          </p:spTgt>
                                        </p:tgtEl>
                                        <p:attrNameLst>
                                          <p:attrName>style.visibility</p:attrName>
                                        </p:attrNameLst>
                                      </p:cBhvr>
                                      <p:to>
                                        <p:strVal val="visible"/>
                                      </p:to>
                                    </p:set>
                                    <p:animEffect transition="in" filter="blinds(horizontal)">
                                      <p:cBhvr>
                                        <p:cTn id="20" dur="500"/>
                                        <p:tgtEl>
                                          <p:spTgt spid="142339">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42339">
                                            <p:txEl>
                                              <p:pRg st="4" end="4"/>
                                            </p:txEl>
                                          </p:spTgt>
                                        </p:tgtEl>
                                        <p:attrNameLst>
                                          <p:attrName>style.visibility</p:attrName>
                                        </p:attrNameLst>
                                      </p:cBhvr>
                                      <p:to>
                                        <p:strVal val="visible"/>
                                      </p:to>
                                    </p:set>
                                    <p:animEffect transition="in" filter="blinds(horizontal)">
                                      <p:cBhvr>
                                        <p:cTn id="25" dur="500"/>
                                        <p:tgtEl>
                                          <p:spTgt spid="142339">
                                            <p:txEl>
                                              <p:pRg st="4" end="4"/>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142339">
                                            <p:txEl>
                                              <p:pRg st="5" end="5"/>
                                            </p:txEl>
                                          </p:spTgt>
                                        </p:tgtEl>
                                        <p:attrNameLst>
                                          <p:attrName>style.visibility</p:attrName>
                                        </p:attrNameLst>
                                      </p:cBhvr>
                                      <p:to>
                                        <p:strVal val="visible"/>
                                      </p:to>
                                    </p:set>
                                    <p:animEffect transition="in" filter="blinds(horizontal)">
                                      <p:cBhvr>
                                        <p:cTn id="28" dur="500"/>
                                        <p:tgtEl>
                                          <p:spTgt spid="142339">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42339">
                                            <p:txEl>
                                              <p:pRg st="6" end="6"/>
                                            </p:txEl>
                                          </p:spTgt>
                                        </p:tgtEl>
                                        <p:attrNameLst>
                                          <p:attrName>style.visibility</p:attrName>
                                        </p:attrNameLst>
                                      </p:cBhvr>
                                      <p:to>
                                        <p:strVal val="visible"/>
                                      </p:to>
                                    </p:set>
                                    <p:animEffect transition="in" filter="blinds(horizontal)">
                                      <p:cBhvr>
                                        <p:cTn id="33" dur="500"/>
                                        <p:tgtEl>
                                          <p:spTgt spid="142339">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142340">
                                            <p:txEl>
                                              <p:pRg st="0" end="0"/>
                                            </p:txEl>
                                          </p:spTgt>
                                        </p:tgtEl>
                                        <p:attrNameLst>
                                          <p:attrName>style.visibility</p:attrName>
                                        </p:attrNameLst>
                                      </p:cBhvr>
                                      <p:to>
                                        <p:strVal val="visible"/>
                                      </p:to>
                                    </p:set>
                                    <p:animEffect transition="in" filter="blinds(horizontal)">
                                      <p:cBhvr>
                                        <p:cTn id="38" dur="500"/>
                                        <p:tgtEl>
                                          <p:spTgt spid="142340">
                                            <p:txEl>
                                              <p:pRg st="0" end="0"/>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142340">
                                            <p:txEl>
                                              <p:pRg st="1" end="1"/>
                                            </p:txEl>
                                          </p:spTgt>
                                        </p:tgtEl>
                                        <p:attrNameLst>
                                          <p:attrName>style.visibility</p:attrName>
                                        </p:attrNameLst>
                                      </p:cBhvr>
                                      <p:to>
                                        <p:strVal val="visible"/>
                                      </p:to>
                                    </p:set>
                                    <p:animEffect transition="in" filter="blinds(horizontal)">
                                      <p:cBhvr>
                                        <p:cTn id="41" dur="500"/>
                                        <p:tgtEl>
                                          <p:spTgt spid="142340">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142339">
                                            <p:txEl>
                                              <p:pRg st="7" end="7"/>
                                            </p:txEl>
                                          </p:spTgt>
                                        </p:tgtEl>
                                        <p:attrNameLst>
                                          <p:attrName>style.visibility</p:attrName>
                                        </p:attrNameLst>
                                      </p:cBhvr>
                                      <p:to>
                                        <p:strVal val="visible"/>
                                      </p:to>
                                    </p:set>
                                    <p:animEffect transition="in" filter="blinds(horizontal)">
                                      <p:cBhvr>
                                        <p:cTn id="46" dur="500"/>
                                        <p:tgtEl>
                                          <p:spTgt spid="142339">
                                            <p:txEl>
                                              <p:pRg st="7" end="7"/>
                                            </p:txEl>
                                          </p:spTgt>
                                        </p:tgtEl>
                                      </p:cBhvr>
                                    </p:animEffect>
                                  </p:childTnLst>
                                </p:cTn>
                              </p:par>
                              <p:par>
                                <p:cTn id="47" presetID="3" presetClass="entr" presetSubtype="10" fill="hold" nodeType="withEffect">
                                  <p:stCondLst>
                                    <p:cond delay="0"/>
                                  </p:stCondLst>
                                  <p:childTnLst>
                                    <p:set>
                                      <p:cBhvr>
                                        <p:cTn id="48" dur="1" fill="hold">
                                          <p:stCondLst>
                                            <p:cond delay="0"/>
                                          </p:stCondLst>
                                        </p:cTn>
                                        <p:tgtEl>
                                          <p:spTgt spid="142339">
                                            <p:txEl>
                                              <p:pRg st="8" end="8"/>
                                            </p:txEl>
                                          </p:spTgt>
                                        </p:tgtEl>
                                        <p:attrNameLst>
                                          <p:attrName>style.visibility</p:attrName>
                                        </p:attrNameLst>
                                      </p:cBhvr>
                                      <p:to>
                                        <p:strVal val="visible"/>
                                      </p:to>
                                    </p:set>
                                    <p:animEffect transition="in" filter="blinds(horizontal)">
                                      <p:cBhvr>
                                        <p:cTn id="49" dur="500"/>
                                        <p:tgtEl>
                                          <p:spTgt spid="142339">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142339">
                                            <p:txEl>
                                              <p:pRg st="9" end="9"/>
                                            </p:txEl>
                                          </p:spTgt>
                                        </p:tgtEl>
                                        <p:attrNameLst>
                                          <p:attrName>style.visibility</p:attrName>
                                        </p:attrNameLst>
                                      </p:cBhvr>
                                      <p:to>
                                        <p:strVal val="visible"/>
                                      </p:to>
                                    </p:set>
                                    <p:animEffect transition="in" filter="blinds(horizontal)">
                                      <p:cBhvr>
                                        <p:cTn id="54" dur="500"/>
                                        <p:tgtEl>
                                          <p:spTgt spid="142339">
                                            <p:txEl>
                                              <p:pRg st="9" end="9"/>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142339">
                                            <p:txEl>
                                              <p:pRg st="10" end="10"/>
                                            </p:txEl>
                                          </p:spTgt>
                                        </p:tgtEl>
                                        <p:attrNameLst>
                                          <p:attrName>style.visibility</p:attrName>
                                        </p:attrNameLst>
                                      </p:cBhvr>
                                      <p:to>
                                        <p:strVal val="visible"/>
                                      </p:to>
                                    </p:set>
                                    <p:animEffect transition="in" filter="blinds(horizontal)">
                                      <p:cBhvr>
                                        <p:cTn id="59" dur="500"/>
                                        <p:tgtEl>
                                          <p:spTgt spid="142339">
                                            <p:txEl>
                                              <p:pRg st="10" end="10"/>
                                            </p:txEl>
                                          </p:spTgt>
                                        </p:tgtEl>
                                      </p:cBhvr>
                                    </p:animEffect>
                                  </p:childTnLst>
                                </p:cTn>
                              </p:par>
                              <p:par>
                                <p:cTn id="60" presetID="3" presetClass="entr" presetSubtype="10" fill="hold" nodeType="withEffect">
                                  <p:stCondLst>
                                    <p:cond delay="0"/>
                                  </p:stCondLst>
                                  <p:childTnLst>
                                    <p:set>
                                      <p:cBhvr>
                                        <p:cTn id="61" dur="1" fill="hold">
                                          <p:stCondLst>
                                            <p:cond delay="0"/>
                                          </p:stCondLst>
                                        </p:cTn>
                                        <p:tgtEl>
                                          <p:spTgt spid="142339">
                                            <p:txEl>
                                              <p:pRg st="11" end="11"/>
                                            </p:txEl>
                                          </p:spTgt>
                                        </p:tgtEl>
                                        <p:attrNameLst>
                                          <p:attrName>style.visibility</p:attrName>
                                        </p:attrNameLst>
                                      </p:cBhvr>
                                      <p:to>
                                        <p:strVal val="visible"/>
                                      </p:to>
                                    </p:set>
                                    <p:animEffect transition="in" filter="blinds(horizontal)">
                                      <p:cBhvr>
                                        <p:cTn id="62" dur="500"/>
                                        <p:tgtEl>
                                          <p:spTgt spid="14233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内容占位符 143361"/>
          <p:cNvSpPr>
            <a:spLocks noGrp="1" noChangeArrowheads="1"/>
          </p:cNvSpPr>
          <p:nvPr>
            <p:ph idx="1"/>
          </p:nvPr>
        </p:nvSpPr>
        <p:spPr>
          <a:xfrm>
            <a:off x="2706688" y="1230314"/>
            <a:ext cx="7772400" cy="4935537"/>
          </a:xfrm>
        </p:spPr>
        <p:txBody>
          <a:bodyPr/>
          <a:lstStyle/>
          <a:p>
            <a:pPr lvl="1" eaLnBrk="1" hangingPunct="1">
              <a:buFont typeface="Wingdings" panose="05000000000000000000" pitchFamily="2" charset="2"/>
              <a:buNone/>
            </a:pPr>
            <a:r>
              <a:rPr lang="en-US" altLang="zh-CN" b="1" dirty="0">
                <a:solidFill>
                  <a:srgbClr val="490092"/>
                </a:solidFill>
                <a:latin typeface="Times New Roman" panose="02020603050405020304" pitchFamily="18" charset="0"/>
              </a:rPr>
              <a:t>&gt;&gt;</a:t>
            </a:r>
            <a:r>
              <a:rPr lang="en-US" altLang="zh-CN" sz="2000" b="1" dirty="0">
                <a:solidFill>
                  <a:srgbClr val="490092"/>
                </a:solidFill>
                <a:latin typeface="Times New Roman" panose="02020603050405020304" pitchFamily="18" charset="0"/>
              </a:rPr>
              <a:t>a([1 2 3 5 5 3 2 1])  </a:t>
            </a:r>
            <a:endParaRPr lang="en-US" altLang="zh-CN" sz="2000" b="1" dirty="0">
              <a:solidFill>
                <a:srgbClr val="490092"/>
              </a:solidFill>
              <a:latin typeface="Times New Roman" panose="02020603050405020304" pitchFamily="18" charset="0"/>
            </a:endParaRPr>
          </a:p>
          <a:p>
            <a:pPr lvl="2" eaLnBrk="1" hangingPunct="1">
              <a:buFont typeface="Wingdings" panose="05000000000000000000" pitchFamily="2" charset="2"/>
              <a:buNone/>
            </a:pPr>
            <a:r>
              <a:rPr lang="fr-FR" altLang="zh-CN" b="1" dirty="0">
                <a:solidFill>
                  <a:srgbClr val="490092"/>
                </a:solidFill>
                <a:latin typeface="Times New Roman" panose="02020603050405020304" pitchFamily="18" charset="0"/>
              </a:rPr>
              <a:t>ans =</a:t>
            </a:r>
            <a:endParaRPr lang="fr-FR" altLang="zh-CN" b="1" dirty="0">
              <a:solidFill>
                <a:srgbClr val="490092"/>
              </a:solidFill>
              <a:latin typeface="Times New Roman" panose="02020603050405020304" pitchFamily="18" charset="0"/>
            </a:endParaRPr>
          </a:p>
          <a:p>
            <a:pPr lvl="2" eaLnBrk="1" hangingPunct="1">
              <a:buFont typeface="Wingdings" panose="05000000000000000000" pitchFamily="2" charset="2"/>
              <a:buNone/>
            </a:pPr>
            <a:r>
              <a:rPr lang="fr-FR" altLang="zh-CN" b="1" dirty="0">
                <a:solidFill>
                  <a:srgbClr val="490092"/>
                </a:solidFill>
                <a:latin typeface="Times New Roman" panose="02020603050405020304" pitchFamily="18" charset="0"/>
              </a:rPr>
              <a:t>    1.0000    3.2500    5.5000   10.0000   10.0000    5.5000    3.2500    1.0000</a:t>
            </a:r>
            <a:endParaRPr lang="fr-FR" altLang="zh-CN" b="1" dirty="0">
              <a:solidFill>
                <a:srgbClr val="490092"/>
              </a:solidFill>
              <a:latin typeface="Times New Roman" panose="02020603050405020304" pitchFamily="18" charset="0"/>
            </a:endParaRPr>
          </a:p>
          <a:p>
            <a:pPr lvl="2" eaLnBrk="1" hangingPunct="1">
              <a:buFont typeface="Wingdings" panose="05000000000000000000" pitchFamily="2" charset="2"/>
              <a:buChar char="%"/>
            </a:pPr>
            <a:r>
              <a:rPr lang="zh-CN" altLang="en-US" b="1" dirty="0">
                <a:solidFill>
                  <a:schemeClr val="hlink"/>
                </a:solidFill>
                <a:latin typeface="Times New Roman" panose="02020603050405020304" pitchFamily="18" charset="0"/>
                <a:ea typeface="楷体_GB2312" pitchFamily="49" charset="-122"/>
              </a:rPr>
              <a:t>数组元素可以被任意重复访问，构成长度大于原数组的新数组。</a:t>
            </a:r>
            <a:endParaRPr lang="zh-CN" altLang="en-US" b="1" dirty="0">
              <a:solidFill>
                <a:schemeClr val="hlink"/>
              </a:solidFill>
              <a:latin typeface="Times New Roman" panose="02020603050405020304" pitchFamily="18" charset="0"/>
              <a:ea typeface="楷体_GB2312" pitchFamily="49" charset="-122"/>
            </a:endParaRPr>
          </a:p>
          <a:p>
            <a:pPr lvl="1" eaLnBrk="1" hangingPunct="1">
              <a:buFont typeface="Wingdings" panose="05000000000000000000" pitchFamily="2" charset="2"/>
              <a:buNone/>
            </a:pPr>
            <a:r>
              <a:rPr lang="en-US" altLang="zh-CN" sz="2000" b="1" dirty="0">
                <a:solidFill>
                  <a:srgbClr val="490092"/>
                </a:solidFill>
                <a:latin typeface="Times New Roman" panose="02020603050405020304" pitchFamily="18" charset="0"/>
                <a:ea typeface="楷体_GB2312" pitchFamily="49" charset="-122"/>
              </a:rPr>
              <a:t>&gt;&gt;a(6)</a:t>
            </a:r>
            <a:endParaRPr lang="en-US" altLang="zh-CN" sz="2000" b="1" dirty="0">
              <a:solidFill>
                <a:srgbClr val="490092"/>
              </a:solidFill>
              <a:latin typeface="Times New Roman" panose="02020603050405020304" pitchFamily="18" charset="0"/>
              <a:ea typeface="楷体_GB2312" pitchFamily="49" charset="-122"/>
            </a:endParaRPr>
          </a:p>
          <a:p>
            <a:pPr lvl="2" eaLnBrk="1" hangingPunct="1">
              <a:buFont typeface="Wingdings" panose="05000000000000000000" pitchFamily="2" charset="2"/>
              <a:buNone/>
            </a:pPr>
            <a:r>
              <a:rPr lang="en-US" altLang="zh-CN" b="1" dirty="0">
                <a:solidFill>
                  <a:srgbClr val="490092"/>
                </a:solidFill>
                <a:latin typeface="Times New Roman" panose="02020603050405020304" pitchFamily="18" charset="0"/>
              </a:rPr>
              <a:t>??? Index exceeds matrix dimensions.</a:t>
            </a:r>
            <a:endParaRPr lang="en-US" altLang="zh-CN" b="1" dirty="0">
              <a:solidFill>
                <a:srgbClr val="490092"/>
              </a:solidFill>
              <a:latin typeface="Times New Roman" panose="02020603050405020304" pitchFamily="18" charset="0"/>
            </a:endParaRPr>
          </a:p>
          <a:p>
            <a:pPr lvl="2" eaLnBrk="1" hangingPunct="1">
              <a:buClr>
                <a:schemeClr val="hlink"/>
              </a:buClr>
              <a:buFont typeface="Wingdings" panose="05000000000000000000" pitchFamily="2" charset="2"/>
              <a:buChar char="M"/>
            </a:pPr>
            <a:r>
              <a:rPr lang="zh-CN" altLang="en-US" b="1" dirty="0">
                <a:solidFill>
                  <a:schemeClr val="hlink"/>
                </a:solidFill>
                <a:latin typeface="Times New Roman" panose="02020603050405020304" pitchFamily="18" charset="0"/>
                <a:ea typeface="楷体_GB2312" pitchFamily="49" charset="-122"/>
              </a:rPr>
              <a:t>下标值超出了数组的维数，导致错误</a:t>
            </a:r>
            <a:endParaRPr lang="zh-CN" altLang="en-US" b="1" dirty="0">
              <a:solidFill>
                <a:srgbClr val="490092"/>
              </a:solidFill>
              <a:latin typeface="Times New Roman" panose="02020603050405020304" pitchFamily="18" charset="0"/>
            </a:endParaRPr>
          </a:p>
          <a:p>
            <a:pPr lvl="1" eaLnBrk="1" hangingPunct="1">
              <a:buFont typeface="Wingdings" panose="05000000000000000000" pitchFamily="2" charset="2"/>
              <a:buNone/>
            </a:pPr>
            <a:r>
              <a:rPr lang="en-US" altLang="zh-CN" sz="2000" b="1" dirty="0">
                <a:solidFill>
                  <a:srgbClr val="490092"/>
                </a:solidFill>
                <a:latin typeface="Times New Roman" panose="02020603050405020304" pitchFamily="18" charset="0"/>
              </a:rPr>
              <a:t>&gt;&gt;a(1.1)</a:t>
            </a:r>
            <a:endParaRPr lang="en-US" altLang="zh-CN" sz="2000" b="1" dirty="0">
              <a:solidFill>
                <a:srgbClr val="490092"/>
              </a:solidFill>
              <a:latin typeface="Times New Roman" panose="02020603050405020304" pitchFamily="18" charset="0"/>
            </a:endParaRPr>
          </a:p>
          <a:p>
            <a:pPr lvl="2" eaLnBrk="1" hangingPunct="1">
              <a:buFont typeface="Wingdings" panose="05000000000000000000" pitchFamily="2" charset="2"/>
              <a:buNone/>
            </a:pPr>
            <a:r>
              <a:rPr lang="en-US" altLang="zh-CN" b="1" dirty="0">
                <a:solidFill>
                  <a:srgbClr val="490092"/>
                </a:solidFill>
                <a:latin typeface="Times New Roman" panose="02020603050405020304" pitchFamily="18" charset="0"/>
              </a:rPr>
              <a:t>??? Subscript indices must either be real positive integers or </a:t>
            </a:r>
            <a:r>
              <a:rPr lang="en-US" altLang="zh-CN" b="1" dirty="0" err="1">
                <a:solidFill>
                  <a:srgbClr val="490092"/>
                </a:solidFill>
                <a:latin typeface="Times New Roman" panose="02020603050405020304" pitchFamily="18" charset="0"/>
              </a:rPr>
              <a:t>logicals</a:t>
            </a:r>
            <a:r>
              <a:rPr lang="en-US" altLang="zh-CN" b="1" dirty="0">
                <a:solidFill>
                  <a:srgbClr val="490092"/>
                </a:solidFill>
                <a:latin typeface="Times New Roman" panose="02020603050405020304" pitchFamily="18" charset="0"/>
              </a:rPr>
              <a:t>.</a:t>
            </a:r>
            <a:endParaRPr lang="en-US" altLang="zh-CN" b="1" dirty="0">
              <a:solidFill>
                <a:srgbClr val="490092"/>
              </a:solidFill>
              <a:latin typeface="Times New Roman" panose="02020603050405020304" pitchFamily="18" charset="0"/>
            </a:endParaRPr>
          </a:p>
          <a:p>
            <a:pPr lvl="2" eaLnBrk="1" hangingPunct="1">
              <a:buClr>
                <a:schemeClr val="hlink"/>
              </a:buClr>
              <a:buFont typeface="Wingdings" panose="05000000000000000000" pitchFamily="2" charset="2"/>
              <a:buChar char="M"/>
            </a:pPr>
            <a:r>
              <a:rPr lang="zh-CN" altLang="en-US" b="1" dirty="0">
                <a:solidFill>
                  <a:schemeClr val="hlink"/>
                </a:solidFill>
                <a:latin typeface="Times New Roman" panose="02020603050405020304" pitchFamily="18" charset="0"/>
                <a:ea typeface="楷体_GB2312" pitchFamily="49" charset="-122"/>
              </a:rPr>
              <a:t>下标值只能取正整数或逻辑值</a:t>
            </a:r>
            <a:endParaRPr lang="zh-CN" altLang="en-US" b="1" dirty="0">
              <a:solidFill>
                <a:schemeClr val="hlink"/>
              </a:solidFill>
              <a:latin typeface="Times New Roman" panose="02020603050405020304" pitchFamily="18" charset="0"/>
              <a:ea typeface="楷体_GB2312" pitchFamily="49" charset="-122"/>
            </a:endParaRPr>
          </a:p>
        </p:txBody>
      </p:sp>
      <p:sp>
        <p:nvSpPr>
          <p:cNvPr id="70659" name="标题 143362"/>
          <p:cNvSpPr>
            <a:spLocks noGrp="1" noChangeArrowheads="1"/>
          </p:cNvSpPr>
          <p:nvPr>
            <p:ph type="title"/>
          </p:nvPr>
        </p:nvSpPr>
        <p:spPr>
          <a:xfrm>
            <a:off x="2874964" y="296863"/>
            <a:ext cx="7793037" cy="647700"/>
          </a:xfrm>
        </p:spPr>
        <p:txBody>
          <a:bodyPr/>
          <a:lstStyle/>
          <a:p>
            <a:pPr marL="685800" indent="-685800"/>
            <a:r>
              <a:rPr lang="en-US" altLang="zh-CN" sz="3600" b="1">
                <a:latin typeface="Times New Roman" panose="02020603050405020304" pitchFamily="18" charset="0"/>
                <a:ea typeface="华文楷体" panose="02010600040101010101" pitchFamily="2" charset="-122"/>
              </a:rPr>
              <a:t>4</a:t>
            </a:r>
            <a:r>
              <a:rPr lang="zh-CN" altLang="en-US" sz="3600" b="1">
                <a:latin typeface="Times New Roman" panose="02020603050405020304" pitchFamily="18" charset="0"/>
                <a:ea typeface="华文楷体" panose="02010600040101010101" pitchFamily="2" charset="-122"/>
              </a:rPr>
              <a:t>、数组元素的标识与寻访 （续）</a:t>
            </a:r>
            <a:endParaRPr lang="zh-CN" altLang="en-US" sz="3600" b="1">
              <a:latin typeface="Times New Roman" panose="02020603050405020304" pitchFamily="18" charset="0"/>
              <a:ea typeface="华文楷体" panose="02010600040101010101" pitchFamily="2" charset="-122"/>
            </a:endParaRPr>
          </a:p>
        </p:txBody>
      </p:sp>
      <p:sp>
        <p:nvSpPr>
          <p:cNvPr id="2"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269CE4D7-F3A2-4A94-85D4-55033F737072}" type="datetime1">
              <a:rPr lang="zh-CN" altLang="en-US" smtClean="0">
                <a:solidFill>
                  <a:srgbClr val="45516B"/>
                </a:solidFill>
              </a:rPr>
            </a:fld>
            <a:endParaRPr lang="zh-CN" altLang="en-US">
              <a:solidFill>
                <a:srgbClr val="45516B"/>
              </a:solidFill>
            </a:endParaRPr>
          </a:p>
        </p:txBody>
      </p:sp>
      <p:sp>
        <p:nvSpPr>
          <p:cNvPr id="70660"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70662" name="灯片编号占位符 3"/>
          <p:cNvSpPr>
            <a:spLocks noGrp="1" noChangeArrowheads="1"/>
          </p:cNvSpPr>
          <p:nvPr>
            <p:ph type="sldNum" sz="quarter" idx="12"/>
          </p:nvPr>
        </p:nvSpPr>
        <p:spPr bwMode="auto">
          <a:noFill/>
          <a:ln>
            <a:miter lim="800000"/>
          </a:ln>
        </p:spPr>
        <p:txBody>
          <a:bodyPr/>
          <a:lstStyle/>
          <a:p>
            <a:fld id="{1A3015A6-1B88-4AA5-AAC9-5D6B380B5301}"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3362">
                                            <p:txEl>
                                              <p:pRg st="0" end="0"/>
                                            </p:txEl>
                                          </p:spTgt>
                                        </p:tgtEl>
                                        <p:attrNameLst>
                                          <p:attrName>style.visibility</p:attrName>
                                        </p:attrNameLst>
                                      </p:cBhvr>
                                      <p:to>
                                        <p:strVal val="visible"/>
                                      </p:to>
                                    </p:set>
                                    <p:animEffect transition="in" filter="blinds(horizontal)">
                                      <p:cBhvr>
                                        <p:cTn id="7" dur="500"/>
                                        <p:tgtEl>
                                          <p:spTgt spid="1433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3362">
                                            <p:txEl>
                                              <p:pRg st="1" end="1"/>
                                            </p:txEl>
                                          </p:spTgt>
                                        </p:tgtEl>
                                        <p:attrNameLst>
                                          <p:attrName>style.visibility</p:attrName>
                                        </p:attrNameLst>
                                      </p:cBhvr>
                                      <p:to>
                                        <p:strVal val="visible"/>
                                      </p:to>
                                    </p:set>
                                    <p:animEffect transition="in" filter="blinds(horizontal)">
                                      <p:cBhvr>
                                        <p:cTn id="12" dur="500"/>
                                        <p:tgtEl>
                                          <p:spTgt spid="143362">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43362">
                                            <p:txEl>
                                              <p:pRg st="2" end="2"/>
                                            </p:txEl>
                                          </p:spTgt>
                                        </p:tgtEl>
                                        <p:attrNameLst>
                                          <p:attrName>style.visibility</p:attrName>
                                        </p:attrNameLst>
                                      </p:cBhvr>
                                      <p:to>
                                        <p:strVal val="visible"/>
                                      </p:to>
                                    </p:set>
                                    <p:animEffect transition="in" filter="blinds(horizontal)">
                                      <p:cBhvr>
                                        <p:cTn id="15" dur="500"/>
                                        <p:tgtEl>
                                          <p:spTgt spid="14336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43362">
                                            <p:txEl>
                                              <p:pRg st="3" end="3"/>
                                            </p:txEl>
                                          </p:spTgt>
                                        </p:tgtEl>
                                        <p:attrNameLst>
                                          <p:attrName>style.visibility</p:attrName>
                                        </p:attrNameLst>
                                      </p:cBhvr>
                                      <p:to>
                                        <p:strVal val="visible"/>
                                      </p:to>
                                    </p:set>
                                    <p:animEffect transition="in" filter="blinds(horizontal)">
                                      <p:cBhvr>
                                        <p:cTn id="20" dur="500"/>
                                        <p:tgtEl>
                                          <p:spTgt spid="143362">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43362">
                                            <p:txEl>
                                              <p:pRg st="4" end="4"/>
                                            </p:txEl>
                                          </p:spTgt>
                                        </p:tgtEl>
                                        <p:attrNameLst>
                                          <p:attrName>style.visibility</p:attrName>
                                        </p:attrNameLst>
                                      </p:cBhvr>
                                      <p:to>
                                        <p:strVal val="visible"/>
                                      </p:to>
                                    </p:set>
                                    <p:animEffect transition="in" filter="blinds(horizontal)">
                                      <p:cBhvr>
                                        <p:cTn id="25" dur="500"/>
                                        <p:tgtEl>
                                          <p:spTgt spid="143362">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43362">
                                            <p:txEl>
                                              <p:pRg st="5" end="5"/>
                                            </p:txEl>
                                          </p:spTgt>
                                        </p:tgtEl>
                                        <p:attrNameLst>
                                          <p:attrName>style.visibility</p:attrName>
                                        </p:attrNameLst>
                                      </p:cBhvr>
                                      <p:to>
                                        <p:strVal val="visible"/>
                                      </p:to>
                                    </p:set>
                                    <p:animEffect transition="in" filter="blinds(horizontal)">
                                      <p:cBhvr>
                                        <p:cTn id="30" dur="500"/>
                                        <p:tgtEl>
                                          <p:spTgt spid="143362">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43362">
                                            <p:txEl>
                                              <p:pRg st="6" end="6"/>
                                            </p:txEl>
                                          </p:spTgt>
                                        </p:tgtEl>
                                        <p:attrNameLst>
                                          <p:attrName>style.visibility</p:attrName>
                                        </p:attrNameLst>
                                      </p:cBhvr>
                                      <p:to>
                                        <p:strVal val="visible"/>
                                      </p:to>
                                    </p:set>
                                    <p:animEffect transition="in" filter="blinds(horizontal)">
                                      <p:cBhvr>
                                        <p:cTn id="35" dur="500"/>
                                        <p:tgtEl>
                                          <p:spTgt spid="143362">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143362">
                                            <p:txEl>
                                              <p:pRg st="7" end="7"/>
                                            </p:txEl>
                                          </p:spTgt>
                                        </p:tgtEl>
                                        <p:attrNameLst>
                                          <p:attrName>style.visibility</p:attrName>
                                        </p:attrNameLst>
                                      </p:cBhvr>
                                      <p:to>
                                        <p:strVal val="visible"/>
                                      </p:to>
                                    </p:set>
                                    <p:animEffect transition="in" filter="blinds(horizontal)">
                                      <p:cBhvr>
                                        <p:cTn id="40" dur="500"/>
                                        <p:tgtEl>
                                          <p:spTgt spid="143362">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143362">
                                            <p:txEl>
                                              <p:pRg st="8" end="8"/>
                                            </p:txEl>
                                          </p:spTgt>
                                        </p:tgtEl>
                                        <p:attrNameLst>
                                          <p:attrName>style.visibility</p:attrName>
                                        </p:attrNameLst>
                                      </p:cBhvr>
                                      <p:to>
                                        <p:strVal val="visible"/>
                                      </p:to>
                                    </p:set>
                                    <p:animEffect transition="in" filter="blinds(horizontal)">
                                      <p:cBhvr>
                                        <p:cTn id="45" dur="500"/>
                                        <p:tgtEl>
                                          <p:spTgt spid="143362">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43362">
                                            <p:txEl>
                                              <p:pRg st="9" end="9"/>
                                            </p:txEl>
                                          </p:spTgt>
                                        </p:tgtEl>
                                        <p:attrNameLst>
                                          <p:attrName>style.visibility</p:attrName>
                                        </p:attrNameLst>
                                      </p:cBhvr>
                                      <p:to>
                                        <p:strVal val="visible"/>
                                      </p:to>
                                    </p:set>
                                    <p:animEffect transition="in" filter="blinds(horizontal)">
                                      <p:cBhvr>
                                        <p:cTn id="50" dur="500"/>
                                        <p:tgtEl>
                                          <p:spTgt spid="14336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44385"/>
          <p:cNvSpPr>
            <a:spLocks noGrp="1" noChangeArrowheads="1"/>
          </p:cNvSpPr>
          <p:nvPr>
            <p:ph type="title"/>
          </p:nvPr>
        </p:nvSpPr>
        <p:spPr>
          <a:xfrm>
            <a:off x="2674939" y="296863"/>
            <a:ext cx="7793037" cy="647700"/>
          </a:xfrm>
        </p:spPr>
        <p:txBody>
          <a:bodyPr/>
          <a:lstStyle/>
          <a:p>
            <a:pPr marL="685800" indent="-685800"/>
            <a:r>
              <a:rPr lang="en-US" altLang="zh-CN" sz="3600" b="1">
                <a:solidFill>
                  <a:srgbClr val="4D009A"/>
                </a:solidFill>
                <a:latin typeface="华文楷体" panose="02010600040101010101" pitchFamily="2" charset="-122"/>
                <a:ea typeface="华文楷体" panose="02010600040101010101" pitchFamily="2" charset="-122"/>
              </a:rPr>
              <a:t>4</a:t>
            </a:r>
            <a:r>
              <a:rPr lang="zh-CN" altLang="en-US" sz="3600" b="1">
                <a:solidFill>
                  <a:srgbClr val="4D009A"/>
                </a:solidFill>
                <a:latin typeface="华文楷体" panose="02010600040101010101" pitchFamily="2" charset="-122"/>
                <a:ea typeface="华文楷体" panose="02010600040101010101" pitchFamily="2" charset="-122"/>
              </a:rPr>
              <a:t>、数组元素的标识与寻访 （续）</a:t>
            </a:r>
            <a:endParaRPr lang="zh-CN" altLang="en-US" sz="3600" b="1">
              <a:solidFill>
                <a:srgbClr val="4D009A"/>
              </a:solidFill>
              <a:latin typeface="华文楷体" panose="02010600040101010101" pitchFamily="2" charset="-122"/>
              <a:ea typeface="华文楷体" panose="02010600040101010101" pitchFamily="2" charset="-122"/>
            </a:endParaRPr>
          </a:p>
        </p:txBody>
      </p:sp>
      <p:sp>
        <p:nvSpPr>
          <p:cNvPr id="144387" name="内容占位符 144386"/>
          <p:cNvSpPr>
            <a:spLocks noGrp="1" noChangeArrowheads="1"/>
          </p:cNvSpPr>
          <p:nvPr>
            <p:ph idx="1"/>
          </p:nvPr>
        </p:nvSpPr>
        <p:spPr>
          <a:xfrm>
            <a:off x="2706689" y="1449389"/>
            <a:ext cx="7350125" cy="4683125"/>
          </a:xfrm>
        </p:spPr>
        <p:txBody>
          <a:bodyPr/>
          <a:lstStyle/>
          <a:p>
            <a:pPr lvl="1"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&gt;&gt;a(3)=0           </a:t>
            </a:r>
            <a:r>
              <a:rPr lang="en-US" altLang="zh-CN" b="1">
                <a:solidFill>
                  <a:srgbClr val="008000"/>
                </a:solidFill>
                <a:latin typeface="Times New Roman" panose="02020603050405020304" pitchFamily="18" charset="0"/>
                <a:ea typeface="华文楷体" panose="02010600040101010101" pitchFamily="2" charset="-122"/>
              </a:rPr>
              <a:t>%</a:t>
            </a:r>
            <a:r>
              <a:rPr lang="zh-CN" altLang="en-US" b="1">
                <a:solidFill>
                  <a:srgbClr val="008000"/>
                </a:solidFill>
                <a:latin typeface="Times New Roman" panose="02020603050405020304" pitchFamily="18" charset="0"/>
                <a:ea typeface="华文楷体" panose="02010600040101010101" pitchFamily="2" charset="-122"/>
              </a:rPr>
              <a:t>修改数组</a:t>
            </a:r>
            <a:r>
              <a:rPr lang="en-US" altLang="zh-CN" b="1">
                <a:solidFill>
                  <a:srgbClr val="008000"/>
                </a:solidFill>
                <a:latin typeface="Times New Roman" panose="02020603050405020304" pitchFamily="18" charset="0"/>
                <a:ea typeface="华文楷体" panose="02010600040101010101" pitchFamily="2" charset="-122"/>
              </a:rPr>
              <a:t>a</a:t>
            </a:r>
            <a:r>
              <a:rPr lang="zh-CN" altLang="en-US" b="1">
                <a:solidFill>
                  <a:srgbClr val="008000"/>
                </a:solidFill>
                <a:latin typeface="Times New Roman" panose="02020603050405020304" pitchFamily="18" charset="0"/>
                <a:ea typeface="华文楷体" panose="02010600040101010101" pitchFamily="2" charset="-122"/>
              </a:rPr>
              <a:t>的第</a:t>
            </a:r>
            <a:r>
              <a:rPr lang="en-US" altLang="zh-CN" b="1">
                <a:solidFill>
                  <a:srgbClr val="008000"/>
                </a:solidFill>
                <a:latin typeface="Times New Roman" panose="02020603050405020304" pitchFamily="18" charset="0"/>
                <a:ea typeface="华文楷体" panose="02010600040101010101" pitchFamily="2" charset="-122"/>
              </a:rPr>
              <a:t>3</a:t>
            </a:r>
            <a:r>
              <a:rPr lang="zh-CN" altLang="en-US" b="1">
                <a:solidFill>
                  <a:srgbClr val="008000"/>
                </a:solidFill>
                <a:latin typeface="Times New Roman" panose="02020603050405020304" pitchFamily="18" charset="0"/>
                <a:ea typeface="华文楷体" panose="02010600040101010101" pitchFamily="2" charset="-122"/>
              </a:rPr>
              <a:t>元素值为</a:t>
            </a:r>
            <a:r>
              <a:rPr lang="en-US" altLang="zh-CN" b="1">
                <a:solidFill>
                  <a:srgbClr val="008000"/>
                </a:solidFill>
                <a:latin typeface="Times New Roman" panose="02020603050405020304" pitchFamily="18" charset="0"/>
                <a:ea typeface="华文楷体" panose="02010600040101010101" pitchFamily="2" charset="-122"/>
              </a:rPr>
              <a:t>0</a:t>
            </a:r>
            <a:endParaRPr lang="en-US" altLang="zh-CN" b="1">
              <a:solidFill>
                <a:srgbClr val="008000"/>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pt-BR" altLang="zh-CN" b="1">
                <a:solidFill>
                  <a:srgbClr val="490092"/>
                </a:solidFill>
                <a:latin typeface="Times New Roman" panose="02020603050405020304" pitchFamily="18" charset="0"/>
                <a:ea typeface="华文楷体" panose="02010600040101010101" pitchFamily="2" charset="-122"/>
              </a:rPr>
              <a:t>a =</a:t>
            </a:r>
            <a:endParaRPr lang="pt-BR"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pt-BR" altLang="zh-CN" b="1">
                <a:solidFill>
                  <a:srgbClr val="490092"/>
                </a:solidFill>
                <a:latin typeface="Times New Roman" panose="02020603050405020304" pitchFamily="18" charset="0"/>
                <a:ea typeface="华文楷体" panose="02010600040101010101" pitchFamily="2" charset="-122"/>
              </a:rPr>
              <a:t>    1.0000    3.2500    0    7.7500   10.0000</a:t>
            </a:r>
            <a:endParaRPr lang="pt-BR" altLang="zh-CN"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&gt;&gt;a([2 5])=[1 1]</a:t>
            </a:r>
            <a:endParaRPr lang="en-US"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pt-BR" altLang="zh-CN" b="1">
                <a:solidFill>
                  <a:srgbClr val="490092"/>
                </a:solidFill>
                <a:latin typeface="Times New Roman" panose="02020603050405020304" pitchFamily="18" charset="0"/>
                <a:ea typeface="华文楷体" panose="02010600040101010101" pitchFamily="2" charset="-122"/>
              </a:rPr>
              <a:t>a =</a:t>
            </a:r>
            <a:endParaRPr lang="pt-BR"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pt-BR" altLang="zh-CN" b="1">
                <a:solidFill>
                  <a:srgbClr val="490092"/>
                </a:solidFill>
                <a:latin typeface="Times New Roman" panose="02020603050405020304" pitchFamily="18" charset="0"/>
                <a:ea typeface="华文楷体" panose="02010600040101010101" pitchFamily="2" charset="-122"/>
              </a:rPr>
              <a:t>    1.0000    1.0000    0    7.7500   1.0000</a:t>
            </a:r>
            <a:endParaRPr lang="pt-BR" altLang="zh-CN" b="1">
              <a:solidFill>
                <a:srgbClr val="490092"/>
              </a:solidFill>
              <a:latin typeface="Times New Roman" panose="02020603050405020304" pitchFamily="18" charset="0"/>
              <a:ea typeface="华文楷体" panose="02010600040101010101" pitchFamily="2" charset="-122"/>
            </a:endParaRPr>
          </a:p>
          <a:p>
            <a:pPr lvl="2" eaLnBrk="1" hangingPunct="1">
              <a:spcBef>
                <a:spcPct val="50000"/>
              </a:spcBef>
            </a:pPr>
            <a:r>
              <a:rPr lang="zh-CN" altLang="pt-BR" b="1">
                <a:solidFill>
                  <a:schemeClr val="hlink"/>
                </a:solidFill>
                <a:latin typeface="Times New Roman" panose="02020603050405020304" pitchFamily="18" charset="0"/>
                <a:ea typeface="华文楷体" panose="02010600040101010101" pitchFamily="2" charset="-122"/>
              </a:rPr>
              <a:t>可以修改指定数组元素的值</a:t>
            </a:r>
            <a:endParaRPr lang="zh-CN" altLang="pt-BR" b="1">
              <a:solidFill>
                <a:schemeClr val="hlink"/>
              </a:solidFill>
              <a:latin typeface="Times New Roman" panose="02020603050405020304" pitchFamily="18" charset="0"/>
              <a:ea typeface="华文楷体" panose="02010600040101010101" pitchFamily="2" charset="-122"/>
            </a:endParaRPr>
          </a:p>
          <a:p>
            <a:pPr lvl="2" eaLnBrk="1" hangingPunct="1"/>
            <a:r>
              <a:rPr lang="zh-CN" altLang="pt-BR" b="1">
                <a:solidFill>
                  <a:schemeClr val="hlink"/>
                </a:solidFill>
                <a:latin typeface="Times New Roman" panose="02020603050405020304" pitchFamily="18" charset="0"/>
                <a:ea typeface="华文楷体" panose="02010600040101010101" pitchFamily="2" charset="-122"/>
              </a:rPr>
              <a:t>一次可以修改多个数组元素的值</a:t>
            </a:r>
            <a:endParaRPr lang="pt-BR" altLang="zh-CN" b="1">
              <a:solidFill>
                <a:schemeClr val="hlink"/>
              </a:solidFill>
              <a:latin typeface="Times New Roman" panose="02020603050405020304" pitchFamily="18" charset="0"/>
              <a:ea typeface="华文楷体" panose="02010600040101010101" pitchFamily="2" charset="-122"/>
            </a:endParaRPr>
          </a:p>
          <a:p>
            <a:pPr lvl="2" eaLnBrk="1" hangingPunct="1"/>
            <a:r>
              <a:rPr lang="zh-CN" altLang="pt-BR" b="1">
                <a:solidFill>
                  <a:schemeClr val="hlink"/>
                </a:solidFill>
                <a:latin typeface="Times New Roman" panose="02020603050405020304" pitchFamily="18" charset="0"/>
                <a:ea typeface="华文楷体" panose="02010600040101010101" pitchFamily="2" charset="-122"/>
              </a:rPr>
              <a:t>要修改的数组元素的个数应与送入数组的元素个数相同</a:t>
            </a:r>
            <a:endParaRPr lang="pt-BR" altLang="zh-CN" b="1">
              <a:solidFill>
                <a:schemeClr val="hlink"/>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endParaRPr lang="en-US" altLang="zh-CN" b="1">
              <a:solidFill>
                <a:schemeClr val="hlink"/>
              </a:solidFill>
              <a:latin typeface="Times New Roman" panose="02020603050405020304" pitchFamily="18" charset="0"/>
              <a:ea typeface="华文楷体" panose="02010600040101010101" pitchFamily="2" charset="-122"/>
            </a:endParaRPr>
          </a:p>
        </p:txBody>
      </p:sp>
      <p:sp>
        <p:nvSpPr>
          <p:cNvPr id="71683"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A2C018A6-33B6-4315-BE6F-E8163EF7B717}" type="datetime1">
              <a:rPr lang="zh-CN" altLang="en-US" smtClean="0">
                <a:solidFill>
                  <a:srgbClr val="45516B"/>
                </a:solidFill>
              </a:rPr>
            </a:fld>
            <a:endParaRPr lang="zh-CN" altLang="en-US">
              <a:solidFill>
                <a:srgbClr val="45516B"/>
              </a:solidFill>
            </a:endParaRPr>
          </a:p>
        </p:txBody>
      </p:sp>
      <p:sp>
        <p:nvSpPr>
          <p:cNvPr id="71684"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71686" name="灯片编号占位符 3"/>
          <p:cNvSpPr>
            <a:spLocks noGrp="1" noChangeArrowheads="1"/>
          </p:cNvSpPr>
          <p:nvPr>
            <p:ph type="sldNum" sz="quarter" idx="12"/>
          </p:nvPr>
        </p:nvSpPr>
        <p:spPr bwMode="auto">
          <a:noFill/>
          <a:ln>
            <a:miter lim="800000"/>
          </a:ln>
        </p:spPr>
        <p:txBody>
          <a:bodyPr/>
          <a:lstStyle/>
          <a:p>
            <a:fld id="{08D3F5DB-250D-4922-905F-BB0CC1AF4D39}"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4387">
                                            <p:txEl>
                                              <p:pRg st="0" end="0"/>
                                            </p:txEl>
                                          </p:spTgt>
                                        </p:tgtEl>
                                        <p:attrNameLst>
                                          <p:attrName>style.visibility</p:attrName>
                                        </p:attrNameLst>
                                      </p:cBhvr>
                                      <p:to>
                                        <p:strVal val="visible"/>
                                      </p:to>
                                    </p:set>
                                    <p:animEffect transition="in" filter="blinds(horizontal)">
                                      <p:cBhvr>
                                        <p:cTn id="7" dur="500"/>
                                        <p:tgtEl>
                                          <p:spTgt spid="1443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4387">
                                            <p:txEl>
                                              <p:pRg st="1" end="1"/>
                                            </p:txEl>
                                          </p:spTgt>
                                        </p:tgtEl>
                                        <p:attrNameLst>
                                          <p:attrName>style.visibility</p:attrName>
                                        </p:attrNameLst>
                                      </p:cBhvr>
                                      <p:to>
                                        <p:strVal val="visible"/>
                                      </p:to>
                                    </p:set>
                                    <p:animEffect transition="in" filter="blinds(horizontal)">
                                      <p:cBhvr>
                                        <p:cTn id="12" dur="500"/>
                                        <p:tgtEl>
                                          <p:spTgt spid="144387">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44387">
                                            <p:txEl>
                                              <p:pRg st="2" end="2"/>
                                            </p:txEl>
                                          </p:spTgt>
                                        </p:tgtEl>
                                        <p:attrNameLst>
                                          <p:attrName>style.visibility</p:attrName>
                                        </p:attrNameLst>
                                      </p:cBhvr>
                                      <p:to>
                                        <p:strVal val="visible"/>
                                      </p:to>
                                    </p:set>
                                    <p:animEffect transition="in" filter="blinds(horizontal)">
                                      <p:cBhvr>
                                        <p:cTn id="15" dur="500"/>
                                        <p:tgtEl>
                                          <p:spTgt spid="14438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44387">
                                            <p:txEl>
                                              <p:pRg st="3" end="3"/>
                                            </p:txEl>
                                          </p:spTgt>
                                        </p:tgtEl>
                                        <p:attrNameLst>
                                          <p:attrName>style.visibility</p:attrName>
                                        </p:attrNameLst>
                                      </p:cBhvr>
                                      <p:to>
                                        <p:strVal val="visible"/>
                                      </p:to>
                                    </p:set>
                                    <p:animEffect transition="in" filter="blinds(horizontal)">
                                      <p:cBhvr>
                                        <p:cTn id="20" dur="500"/>
                                        <p:tgtEl>
                                          <p:spTgt spid="144387">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44387">
                                            <p:txEl>
                                              <p:pRg st="4" end="4"/>
                                            </p:txEl>
                                          </p:spTgt>
                                        </p:tgtEl>
                                        <p:attrNameLst>
                                          <p:attrName>style.visibility</p:attrName>
                                        </p:attrNameLst>
                                      </p:cBhvr>
                                      <p:to>
                                        <p:strVal val="visible"/>
                                      </p:to>
                                    </p:set>
                                    <p:animEffect transition="in" filter="blinds(horizontal)">
                                      <p:cBhvr>
                                        <p:cTn id="25" dur="500"/>
                                        <p:tgtEl>
                                          <p:spTgt spid="144387">
                                            <p:txEl>
                                              <p:pRg st="4" end="4"/>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144387">
                                            <p:txEl>
                                              <p:pRg st="5" end="5"/>
                                            </p:txEl>
                                          </p:spTgt>
                                        </p:tgtEl>
                                        <p:attrNameLst>
                                          <p:attrName>style.visibility</p:attrName>
                                        </p:attrNameLst>
                                      </p:cBhvr>
                                      <p:to>
                                        <p:strVal val="visible"/>
                                      </p:to>
                                    </p:set>
                                    <p:animEffect transition="in" filter="blinds(horizontal)">
                                      <p:cBhvr>
                                        <p:cTn id="28" dur="500"/>
                                        <p:tgtEl>
                                          <p:spTgt spid="144387">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44387">
                                            <p:txEl>
                                              <p:pRg st="6" end="6"/>
                                            </p:txEl>
                                          </p:spTgt>
                                        </p:tgtEl>
                                        <p:attrNameLst>
                                          <p:attrName>style.visibility</p:attrName>
                                        </p:attrNameLst>
                                      </p:cBhvr>
                                      <p:to>
                                        <p:strVal val="visible"/>
                                      </p:to>
                                    </p:set>
                                    <p:animEffect transition="in" filter="blinds(horizontal)">
                                      <p:cBhvr>
                                        <p:cTn id="33" dur="500"/>
                                        <p:tgtEl>
                                          <p:spTgt spid="144387">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144387">
                                            <p:txEl>
                                              <p:pRg st="7" end="7"/>
                                            </p:txEl>
                                          </p:spTgt>
                                        </p:tgtEl>
                                        <p:attrNameLst>
                                          <p:attrName>style.visibility</p:attrName>
                                        </p:attrNameLst>
                                      </p:cBhvr>
                                      <p:to>
                                        <p:strVal val="visible"/>
                                      </p:to>
                                    </p:set>
                                    <p:animEffect transition="in" filter="blinds(horizontal)">
                                      <p:cBhvr>
                                        <p:cTn id="38" dur="500"/>
                                        <p:tgtEl>
                                          <p:spTgt spid="144387">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44387">
                                            <p:txEl>
                                              <p:pRg st="8" end="8"/>
                                            </p:txEl>
                                          </p:spTgt>
                                        </p:tgtEl>
                                        <p:attrNameLst>
                                          <p:attrName>style.visibility</p:attrName>
                                        </p:attrNameLst>
                                      </p:cBhvr>
                                      <p:to>
                                        <p:strVal val="visible"/>
                                      </p:to>
                                    </p:set>
                                    <p:animEffect transition="in" filter="blinds(horizontal)">
                                      <p:cBhvr>
                                        <p:cTn id="43" dur="500"/>
                                        <p:tgtEl>
                                          <p:spTgt spid="14438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45409"/>
          <p:cNvSpPr>
            <a:spLocks noGrp="1" noChangeArrowheads="1"/>
          </p:cNvSpPr>
          <p:nvPr>
            <p:ph type="title"/>
          </p:nvPr>
        </p:nvSpPr>
        <p:spPr>
          <a:xfrm>
            <a:off x="2874964" y="296863"/>
            <a:ext cx="7793037" cy="647700"/>
          </a:xfrm>
        </p:spPr>
        <p:txBody>
          <a:bodyPr/>
          <a:lstStyle/>
          <a:p>
            <a:pPr marL="685800" indent="-685800"/>
            <a:r>
              <a:rPr lang="en-US" altLang="zh-CN" sz="3600" b="1">
                <a:solidFill>
                  <a:srgbClr val="4D009A"/>
                </a:solidFill>
                <a:latin typeface="Times New Roman" panose="02020603050405020304" pitchFamily="18" charset="0"/>
                <a:ea typeface="华文楷体" panose="02010600040101010101" pitchFamily="2" charset="-122"/>
              </a:rPr>
              <a:t>4</a:t>
            </a:r>
            <a:r>
              <a:rPr lang="zh-CN" altLang="en-US" sz="3600" b="1">
                <a:solidFill>
                  <a:srgbClr val="4D009A"/>
                </a:solidFill>
                <a:latin typeface="Times New Roman" panose="02020603050405020304" pitchFamily="18" charset="0"/>
                <a:ea typeface="华文楷体" panose="02010600040101010101" pitchFamily="2" charset="-122"/>
              </a:rPr>
              <a:t>、数组元素的标识与寻访 （续）</a:t>
            </a:r>
            <a:endParaRPr lang="zh-CN" altLang="en-US" sz="3600" b="1">
              <a:solidFill>
                <a:srgbClr val="4D009A"/>
              </a:solidFill>
              <a:latin typeface="Times New Roman" panose="02020603050405020304" pitchFamily="18" charset="0"/>
              <a:ea typeface="华文楷体" panose="02010600040101010101" pitchFamily="2" charset="-122"/>
            </a:endParaRPr>
          </a:p>
        </p:txBody>
      </p:sp>
      <p:sp>
        <p:nvSpPr>
          <p:cNvPr id="145411" name="内容占位符 145410"/>
          <p:cNvSpPr>
            <a:spLocks noGrp="1" noChangeArrowheads="1"/>
          </p:cNvSpPr>
          <p:nvPr>
            <p:ph idx="1"/>
          </p:nvPr>
        </p:nvSpPr>
        <p:spPr/>
        <p:txBody>
          <a:bodyPr/>
          <a:lstStyle/>
          <a:p>
            <a:pPr lvl="1" eaLnBrk="1" hangingPunct="1">
              <a:buFont typeface="Wingdings" panose="05000000000000000000" pitchFamily="2" charset="2"/>
              <a:buNone/>
            </a:pPr>
            <a:r>
              <a:rPr lang="zh-CN" altLang="en-US" sz="2000" b="1">
                <a:solidFill>
                  <a:srgbClr val="0000FF"/>
                </a:solidFill>
                <a:latin typeface="Times New Roman" panose="02020603050405020304" pitchFamily="18" charset="0"/>
                <a:ea typeface="华文楷体" panose="02010600040101010101" pitchFamily="2" charset="-122"/>
              </a:rPr>
              <a:t>【例</a:t>
            </a:r>
            <a:r>
              <a:rPr lang="en-US" altLang="zh-CN" sz="2000" b="1">
                <a:solidFill>
                  <a:srgbClr val="0000FF"/>
                </a:solidFill>
                <a:latin typeface="Times New Roman" panose="02020603050405020304" pitchFamily="18" charset="0"/>
                <a:ea typeface="华文楷体" panose="02010600040101010101" pitchFamily="2" charset="-122"/>
              </a:rPr>
              <a:t>4-3</a:t>
            </a:r>
            <a:r>
              <a:rPr lang="zh-CN" altLang="en-US" sz="2000" b="1">
                <a:solidFill>
                  <a:srgbClr val="0000FF"/>
                </a:solidFill>
                <a:latin typeface="Times New Roman" panose="02020603050405020304" pitchFamily="18" charset="0"/>
                <a:ea typeface="华文楷体" panose="02010600040101010101" pitchFamily="2" charset="-122"/>
              </a:rPr>
              <a:t>】</a:t>
            </a:r>
            <a:r>
              <a:rPr lang="zh-CN" altLang="en-US" sz="2000" b="1">
                <a:solidFill>
                  <a:srgbClr val="490092"/>
                </a:solidFill>
                <a:latin typeface="Times New Roman" panose="02020603050405020304" pitchFamily="18" charset="0"/>
                <a:ea typeface="华文楷体" panose="02010600040101010101" pitchFamily="2" charset="-122"/>
              </a:rPr>
              <a:t>二维数组元素与子数组的寻访与赋值</a:t>
            </a:r>
            <a:endParaRPr lang="zh-CN" altLang="en-US" sz="2000"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sz="2000" b="1">
                <a:solidFill>
                  <a:srgbClr val="490092"/>
                </a:solidFill>
                <a:latin typeface="Times New Roman" panose="02020603050405020304" pitchFamily="18" charset="0"/>
                <a:ea typeface="华文楷体" panose="02010600040101010101" pitchFamily="2" charset="-122"/>
              </a:rPr>
              <a:t>&gt;&gt;a_2=zeros(2, 4) </a:t>
            </a:r>
            <a:r>
              <a:rPr lang="en-US" altLang="zh-CN" sz="2000" b="1">
                <a:solidFill>
                  <a:srgbClr val="008000"/>
                </a:solidFill>
                <a:latin typeface="Times New Roman" panose="02020603050405020304" pitchFamily="18" charset="0"/>
                <a:ea typeface="华文楷体" panose="02010600040101010101" pitchFamily="2" charset="-122"/>
              </a:rPr>
              <a:t>%</a:t>
            </a:r>
            <a:r>
              <a:rPr lang="zh-CN" altLang="en-US" sz="2000" b="1">
                <a:solidFill>
                  <a:srgbClr val="008000"/>
                </a:solidFill>
                <a:latin typeface="Times New Roman" panose="02020603050405020304" pitchFamily="18" charset="0"/>
                <a:ea typeface="华文楷体" panose="02010600040101010101" pitchFamily="2" charset="-122"/>
              </a:rPr>
              <a:t>创建</a:t>
            </a:r>
            <a:r>
              <a:rPr lang="en-US" altLang="zh-CN" sz="2000" b="1">
                <a:solidFill>
                  <a:srgbClr val="008000"/>
                </a:solidFill>
                <a:latin typeface="Times New Roman" panose="02020603050405020304" pitchFamily="18" charset="0"/>
                <a:ea typeface="华文楷体" panose="02010600040101010101" pitchFamily="2" charset="-122"/>
              </a:rPr>
              <a:t>2x4</a:t>
            </a:r>
            <a:r>
              <a:rPr lang="zh-CN" altLang="en-US" sz="2000" b="1">
                <a:solidFill>
                  <a:srgbClr val="008000"/>
                </a:solidFill>
                <a:latin typeface="Times New Roman" panose="02020603050405020304" pitchFamily="18" charset="0"/>
                <a:ea typeface="华文楷体" panose="02010600040101010101" pitchFamily="2" charset="-122"/>
              </a:rPr>
              <a:t>的全</a:t>
            </a:r>
            <a:r>
              <a:rPr lang="en-US" altLang="zh-CN" sz="2000" b="1">
                <a:solidFill>
                  <a:srgbClr val="008000"/>
                </a:solidFill>
                <a:latin typeface="Times New Roman" panose="02020603050405020304" pitchFamily="18" charset="0"/>
                <a:ea typeface="华文楷体" panose="02010600040101010101" pitchFamily="2" charset="-122"/>
              </a:rPr>
              <a:t>0</a:t>
            </a:r>
            <a:r>
              <a:rPr lang="zh-CN" altLang="en-US" sz="2000" b="1">
                <a:solidFill>
                  <a:srgbClr val="008000"/>
                </a:solidFill>
                <a:latin typeface="Times New Roman" panose="02020603050405020304" pitchFamily="18" charset="0"/>
                <a:ea typeface="华文楷体" panose="02010600040101010101" pitchFamily="2" charset="-122"/>
              </a:rPr>
              <a:t>数组</a:t>
            </a:r>
            <a:endParaRPr lang="zh-CN" altLang="en-US" sz="2000" b="1">
              <a:solidFill>
                <a:srgbClr val="008000"/>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pt-BR" altLang="zh-CN" b="1">
                <a:solidFill>
                  <a:srgbClr val="490092"/>
                </a:solidFill>
                <a:latin typeface="Times New Roman" panose="02020603050405020304" pitchFamily="18" charset="0"/>
                <a:ea typeface="华文楷体" panose="02010600040101010101" pitchFamily="2" charset="-122"/>
              </a:rPr>
              <a:t>a_2 =</a:t>
            </a:r>
            <a:endParaRPr lang="pt-BR"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pt-BR" altLang="zh-CN" b="1">
                <a:solidFill>
                  <a:srgbClr val="490092"/>
                </a:solidFill>
                <a:latin typeface="Times New Roman" panose="02020603050405020304" pitchFamily="18" charset="0"/>
                <a:ea typeface="华文楷体" panose="02010600040101010101" pitchFamily="2" charset="-122"/>
              </a:rPr>
              <a:t>     0     0     0     0</a:t>
            </a:r>
            <a:endParaRPr lang="pt-BR"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pt-BR" altLang="zh-CN" b="1">
                <a:solidFill>
                  <a:srgbClr val="490092"/>
                </a:solidFill>
                <a:latin typeface="Times New Roman" panose="02020603050405020304" pitchFamily="18" charset="0"/>
                <a:ea typeface="华文楷体" panose="02010600040101010101" pitchFamily="2" charset="-122"/>
              </a:rPr>
              <a:t>     0     0     0     0</a:t>
            </a:r>
            <a:endParaRPr lang="pt-BR" altLang="zh-CN"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pt-BR" altLang="zh-CN" sz="2000" b="1">
                <a:solidFill>
                  <a:srgbClr val="490092"/>
                </a:solidFill>
                <a:latin typeface="Times New Roman" panose="02020603050405020304" pitchFamily="18" charset="0"/>
                <a:ea typeface="华文楷体" panose="02010600040101010101" pitchFamily="2" charset="-122"/>
              </a:rPr>
              <a:t>&gt;&gt;a_2(:)=1:8</a:t>
            </a:r>
            <a:endParaRPr lang="pt-BR" altLang="zh-CN" sz="2000"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pt-BR" altLang="zh-CN" b="1">
                <a:solidFill>
                  <a:srgbClr val="490092"/>
                </a:solidFill>
                <a:latin typeface="Times New Roman" panose="02020603050405020304" pitchFamily="18" charset="0"/>
                <a:ea typeface="华文楷体" panose="02010600040101010101" pitchFamily="2" charset="-122"/>
              </a:rPr>
              <a:t>a_2 =</a:t>
            </a:r>
            <a:endParaRPr lang="pt-BR"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pt-BR" altLang="zh-CN" b="1">
                <a:solidFill>
                  <a:srgbClr val="490092"/>
                </a:solidFill>
                <a:latin typeface="Times New Roman" panose="02020603050405020304" pitchFamily="18" charset="0"/>
                <a:ea typeface="华文楷体" panose="02010600040101010101" pitchFamily="2" charset="-122"/>
              </a:rPr>
              <a:t>     1     3     5     7</a:t>
            </a:r>
            <a:endParaRPr lang="pt-BR"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pt-BR" altLang="zh-CN" b="1">
                <a:solidFill>
                  <a:srgbClr val="490092"/>
                </a:solidFill>
                <a:latin typeface="Times New Roman" panose="02020603050405020304" pitchFamily="18" charset="0"/>
                <a:ea typeface="华文楷体" panose="02010600040101010101" pitchFamily="2" charset="-122"/>
              </a:rPr>
              <a:t>     2     4     6     8            </a:t>
            </a:r>
            <a:endParaRPr lang="pt-BR" altLang="zh-CN"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pt-BR" altLang="zh-CN" sz="2000" b="1">
                <a:solidFill>
                  <a:srgbClr val="490092"/>
                </a:solidFill>
                <a:latin typeface="Times New Roman" panose="02020603050405020304" pitchFamily="18" charset="0"/>
                <a:ea typeface="华文楷体" panose="02010600040101010101" pitchFamily="2" charset="-122"/>
              </a:rPr>
              <a:t>&gt;&gt;a_2([2 5 8])    </a:t>
            </a:r>
            <a:r>
              <a:rPr lang="pt-BR" altLang="zh-CN" sz="2000" b="1">
                <a:solidFill>
                  <a:srgbClr val="008000"/>
                </a:solidFill>
                <a:latin typeface="Times New Roman" panose="02020603050405020304" pitchFamily="18" charset="0"/>
                <a:ea typeface="华文楷体" panose="02010600040101010101" pitchFamily="2" charset="-122"/>
              </a:rPr>
              <a:t>%</a:t>
            </a:r>
            <a:r>
              <a:rPr lang="zh-CN" altLang="pt-BR" sz="2000" b="1">
                <a:solidFill>
                  <a:srgbClr val="008000"/>
                </a:solidFill>
                <a:latin typeface="Times New Roman" panose="02020603050405020304" pitchFamily="18" charset="0"/>
                <a:ea typeface="华文楷体" panose="02010600040101010101" pitchFamily="2" charset="-122"/>
              </a:rPr>
              <a:t>单下标方式寻访多个元素</a:t>
            </a:r>
            <a:endParaRPr lang="pt-BR" altLang="zh-CN" sz="2000" b="1">
              <a:solidFill>
                <a:srgbClr val="008000"/>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ans =</a:t>
            </a:r>
            <a:endParaRPr lang="en-US"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en-US" altLang="zh-CN" b="1">
                <a:solidFill>
                  <a:srgbClr val="490092"/>
                </a:solidFill>
                <a:latin typeface="Times New Roman" panose="02020603050405020304" pitchFamily="18" charset="0"/>
                <a:ea typeface="华文楷体" panose="02010600040101010101" pitchFamily="2" charset="-122"/>
              </a:rPr>
              <a:t>     2     5     8</a:t>
            </a:r>
            <a:endParaRPr lang="en-US" altLang="zh-CN" b="1">
              <a:solidFill>
                <a:srgbClr val="490092"/>
              </a:solidFill>
              <a:latin typeface="Times New Roman" panose="02020603050405020304" pitchFamily="18" charset="0"/>
              <a:ea typeface="华文楷体" panose="02010600040101010101" pitchFamily="2" charset="-122"/>
            </a:endParaRPr>
          </a:p>
        </p:txBody>
      </p:sp>
      <p:sp>
        <p:nvSpPr>
          <p:cNvPr id="145412" name="文本框 145411"/>
          <p:cNvSpPr txBox="1">
            <a:spLocks noChangeArrowheads="1"/>
          </p:cNvSpPr>
          <p:nvPr/>
        </p:nvSpPr>
        <p:spPr bwMode="auto">
          <a:xfrm>
            <a:off x="6167438" y="4005264"/>
            <a:ext cx="3060700" cy="396875"/>
          </a:xfrm>
          <a:prstGeom prst="rect">
            <a:avLst/>
          </a:prstGeom>
          <a:noFill/>
          <a:ln w="9525">
            <a:noFill/>
            <a:miter lim="800000"/>
          </a:ln>
        </p:spPr>
        <p:txBody>
          <a:bodyPr>
            <a:spAutoFit/>
          </a:bodyPr>
          <a:lstStyle/>
          <a:p>
            <a:pPr>
              <a:spcBef>
                <a:spcPct val="50000"/>
              </a:spcBef>
              <a:buFont typeface="Wingdings" panose="05000000000000000000" pitchFamily="2" charset="2"/>
              <a:buChar char="%"/>
            </a:pPr>
            <a:r>
              <a:rPr lang="zh-CN" altLang="en-US" sz="2000" b="1">
                <a:solidFill>
                  <a:schemeClr val="hlink"/>
                </a:solidFill>
                <a:latin typeface="Tahoma" panose="020B0604030504040204" pitchFamily="34" charset="0"/>
                <a:ea typeface="华文楷体" panose="02010600040101010101" pitchFamily="2" charset="-122"/>
              </a:rPr>
              <a:t>注意元素的排列顺序</a:t>
            </a:r>
            <a:endParaRPr lang="zh-CN" altLang="en-US" sz="2000" b="1">
              <a:solidFill>
                <a:schemeClr val="hlink"/>
              </a:solidFill>
              <a:latin typeface="Tahoma" panose="020B0604030504040204" pitchFamily="34" charset="0"/>
              <a:ea typeface="华文楷体" panose="02010600040101010101" pitchFamily="2" charset="-122"/>
            </a:endParaRPr>
          </a:p>
        </p:txBody>
      </p:sp>
      <p:sp>
        <p:nvSpPr>
          <p:cNvPr id="72708"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1E30B8D4-993D-461C-9E0D-7791C0551080}" type="datetime1">
              <a:rPr lang="zh-CN" altLang="en-US" smtClean="0">
                <a:solidFill>
                  <a:srgbClr val="45516B"/>
                </a:solidFill>
              </a:rPr>
            </a:fld>
            <a:endParaRPr lang="zh-CN" altLang="en-US">
              <a:solidFill>
                <a:srgbClr val="45516B"/>
              </a:solidFill>
            </a:endParaRPr>
          </a:p>
        </p:txBody>
      </p:sp>
      <p:sp>
        <p:nvSpPr>
          <p:cNvPr id="72709"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72711" name="灯片编号占位符 3"/>
          <p:cNvSpPr>
            <a:spLocks noGrp="1" noChangeArrowheads="1"/>
          </p:cNvSpPr>
          <p:nvPr>
            <p:ph type="sldNum" sz="quarter" idx="12"/>
          </p:nvPr>
        </p:nvSpPr>
        <p:spPr bwMode="auto">
          <a:noFill/>
          <a:ln>
            <a:miter lim="800000"/>
          </a:ln>
        </p:spPr>
        <p:txBody>
          <a:bodyPr/>
          <a:lstStyle/>
          <a:p>
            <a:fld id="{D07EC5EB-988A-40EA-AD65-60F264C9EB02}"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5411">
                                            <p:txEl>
                                              <p:pRg st="0" end="0"/>
                                            </p:txEl>
                                          </p:spTgt>
                                        </p:tgtEl>
                                        <p:attrNameLst>
                                          <p:attrName>style.visibility</p:attrName>
                                        </p:attrNameLst>
                                      </p:cBhvr>
                                      <p:to>
                                        <p:strVal val="visible"/>
                                      </p:to>
                                    </p:set>
                                    <p:animEffect transition="in" filter="blinds(horizontal)">
                                      <p:cBhvr>
                                        <p:cTn id="7" dur="500"/>
                                        <p:tgtEl>
                                          <p:spTgt spid="1454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5411">
                                            <p:txEl>
                                              <p:pRg st="1" end="1"/>
                                            </p:txEl>
                                          </p:spTgt>
                                        </p:tgtEl>
                                        <p:attrNameLst>
                                          <p:attrName>style.visibility</p:attrName>
                                        </p:attrNameLst>
                                      </p:cBhvr>
                                      <p:to>
                                        <p:strVal val="visible"/>
                                      </p:to>
                                    </p:set>
                                    <p:animEffect transition="in" filter="blinds(horizontal)">
                                      <p:cBhvr>
                                        <p:cTn id="12" dur="500"/>
                                        <p:tgtEl>
                                          <p:spTgt spid="1454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5411">
                                            <p:txEl>
                                              <p:pRg st="2" end="2"/>
                                            </p:txEl>
                                          </p:spTgt>
                                        </p:tgtEl>
                                        <p:attrNameLst>
                                          <p:attrName>style.visibility</p:attrName>
                                        </p:attrNameLst>
                                      </p:cBhvr>
                                      <p:to>
                                        <p:strVal val="visible"/>
                                      </p:to>
                                    </p:set>
                                    <p:animEffect transition="in" filter="blinds(horizontal)">
                                      <p:cBhvr>
                                        <p:cTn id="17" dur="500"/>
                                        <p:tgtEl>
                                          <p:spTgt spid="145411">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145411">
                                            <p:txEl>
                                              <p:pRg st="3" end="3"/>
                                            </p:txEl>
                                          </p:spTgt>
                                        </p:tgtEl>
                                        <p:attrNameLst>
                                          <p:attrName>style.visibility</p:attrName>
                                        </p:attrNameLst>
                                      </p:cBhvr>
                                      <p:to>
                                        <p:strVal val="visible"/>
                                      </p:to>
                                    </p:set>
                                    <p:animEffect transition="in" filter="blinds(horizontal)">
                                      <p:cBhvr>
                                        <p:cTn id="20" dur="500"/>
                                        <p:tgtEl>
                                          <p:spTgt spid="145411">
                                            <p:txEl>
                                              <p:pRg st="3" end="3"/>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145411">
                                            <p:txEl>
                                              <p:pRg st="4" end="4"/>
                                            </p:txEl>
                                          </p:spTgt>
                                        </p:tgtEl>
                                        <p:attrNameLst>
                                          <p:attrName>style.visibility</p:attrName>
                                        </p:attrNameLst>
                                      </p:cBhvr>
                                      <p:to>
                                        <p:strVal val="visible"/>
                                      </p:to>
                                    </p:set>
                                    <p:animEffect transition="in" filter="blinds(horizontal)">
                                      <p:cBhvr>
                                        <p:cTn id="23" dur="500"/>
                                        <p:tgtEl>
                                          <p:spTgt spid="145411">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145411">
                                            <p:txEl>
                                              <p:pRg st="5" end="5"/>
                                            </p:txEl>
                                          </p:spTgt>
                                        </p:tgtEl>
                                        <p:attrNameLst>
                                          <p:attrName>style.visibility</p:attrName>
                                        </p:attrNameLst>
                                      </p:cBhvr>
                                      <p:to>
                                        <p:strVal val="visible"/>
                                      </p:to>
                                    </p:set>
                                    <p:animEffect transition="in" filter="blinds(horizontal)">
                                      <p:cBhvr>
                                        <p:cTn id="28" dur="500"/>
                                        <p:tgtEl>
                                          <p:spTgt spid="145411">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45411">
                                            <p:txEl>
                                              <p:pRg st="6" end="6"/>
                                            </p:txEl>
                                          </p:spTgt>
                                        </p:tgtEl>
                                        <p:attrNameLst>
                                          <p:attrName>style.visibility</p:attrName>
                                        </p:attrNameLst>
                                      </p:cBhvr>
                                      <p:to>
                                        <p:strVal val="visible"/>
                                      </p:to>
                                    </p:set>
                                    <p:animEffect transition="in" filter="blinds(horizontal)">
                                      <p:cBhvr>
                                        <p:cTn id="33" dur="500"/>
                                        <p:tgtEl>
                                          <p:spTgt spid="145411">
                                            <p:txEl>
                                              <p:pRg st="6" end="6"/>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145411">
                                            <p:txEl>
                                              <p:pRg st="7" end="7"/>
                                            </p:txEl>
                                          </p:spTgt>
                                        </p:tgtEl>
                                        <p:attrNameLst>
                                          <p:attrName>style.visibility</p:attrName>
                                        </p:attrNameLst>
                                      </p:cBhvr>
                                      <p:to>
                                        <p:strVal val="visible"/>
                                      </p:to>
                                    </p:set>
                                    <p:animEffect transition="in" filter="blinds(horizontal)">
                                      <p:cBhvr>
                                        <p:cTn id="36" dur="500"/>
                                        <p:tgtEl>
                                          <p:spTgt spid="145411">
                                            <p:txEl>
                                              <p:pRg st="7" end="7"/>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145411">
                                            <p:txEl>
                                              <p:pRg st="8" end="8"/>
                                            </p:txEl>
                                          </p:spTgt>
                                        </p:tgtEl>
                                        <p:attrNameLst>
                                          <p:attrName>style.visibility</p:attrName>
                                        </p:attrNameLst>
                                      </p:cBhvr>
                                      <p:to>
                                        <p:strVal val="visible"/>
                                      </p:to>
                                    </p:set>
                                    <p:animEffect transition="in" filter="blinds(horizontal)">
                                      <p:cBhvr>
                                        <p:cTn id="39" dur="500"/>
                                        <p:tgtEl>
                                          <p:spTgt spid="145411">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145412"/>
                                        </p:tgtEl>
                                        <p:attrNameLst>
                                          <p:attrName>style.visibility</p:attrName>
                                        </p:attrNameLst>
                                      </p:cBhvr>
                                      <p:to>
                                        <p:strVal val="visible"/>
                                      </p:to>
                                    </p:set>
                                    <p:animEffect transition="in" filter="blinds(horizontal)">
                                      <p:cBhvr>
                                        <p:cTn id="44" dur="500"/>
                                        <p:tgtEl>
                                          <p:spTgt spid="145412"/>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145411">
                                            <p:txEl>
                                              <p:pRg st="9" end="9"/>
                                            </p:txEl>
                                          </p:spTgt>
                                        </p:tgtEl>
                                        <p:attrNameLst>
                                          <p:attrName>style.visibility</p:attrName>
                                        </p:attrNameLst>
                                      </p:cBhvr>
                                      <p:to>
                                        <p:strVal val="visible"/>
                                      </p:to>
                                    </p:set>
                                    <p:animEffect transition="in" filter="blinds(horizontal)">
                                      <p:cBhvr>
                                        <p:cTn id="49" dur="500"/>
                                        <p:tgtEl>
                                          <p:spTgt spid="145411">
                                            <p:txEl>
                                              <p:pRg st="9" end="9"/>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145411">
                                            <p:txEl>
                                              <p:pRg st="10" end="10"/>
                                            </p:txEl>
                                          </p:spTgt>
                                        </p:tgtEl>
                                        <p:attrNameLst>
                                          <p:attrName>style.visibility</p:attrName>
                                        </p:attrNameLst>
                                      </p:cBhvr>
                                      <p:to>
                                        <p:strVal val="visible"/>
                                      </p:to>
                                    </p:set>
                                    <p:animEffect transition="in" filter="blinds(horizontal)">
                                      <p:cBhvr>
                                        <p:cTn id="54" dur="500"/>
                                        <p:tgtEl>
                                          <p:spTgt spid="145411">
                                            <p:txEl>
                                              <p:pRg st="10" end="10"/>
                                            </p:txEl>
                                          </p:spTgt>
                                        </p:tgtEl>
                                      </p:cBhvr>
                                    </p:animEffect>
                                  </p:childTnLst>
                                </p:cTn>
                              </p:par>
                              <p:par>
                                <p:cTn id="55" presetID="3" presetClass="entr" presetSubtype="10" fill="hold" nodeType="withEffect">
                                  <p:stCondLst>
                                    <p:cond delay="0"/>
                                  </p:stCondLst>
                                  <p:childTnLst>
                                    <p:set>
                                      <p:cBhvr>
                                        <p:cTn id="56" dur="1" fill="hold">
                                          <p:stCondLst>
                                            <p:cond delay="0"/>
                                          </p:stCondLst>
                                        </p:cTn>
                                        <p:tgtEl>
                                          <p:spTgt spid="145411">
                                            <p:txEl>
                                              <p:pRg st="11" end="11"/>
                                            </p:txEl>
                                          </p:spTgt>
                                        </p:tgtEl>
                                        <p:attrNameLst>
                                          <p:attrName>style.visibility</p:attrName>
                                        </p:attrNameLst>
                                      </p:cBhvr>
                                      <p:to>
                                        <p:strVal val="visible"/>
                                      </p:to>
                                    </p:set>
                                    <p:animEffect transition="in" filter="blinds(horizontal)">
                                      <p:cBhvr>
                                        <p:cTn id="57" dur="500"/>
                                        <p:tgtEl>
                                          <p:spTgt spid="145411">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46433"/>
          <p:cNvSpPr>
            <a:spLocks noGrp="1" noChangeArrowheads="1"/>
          </p:cNvSpPr>
          <p:nvPr>
            <p:ph type="title"/>
          </p:nvPr>
        </p:nvSpPr>
        <p:spPr>
          <a:xfrm>
            <a:off x="2711450" y="333375"/>
            <a:ext cx="7793038" cy="647700"/>
          </a:xfrm>
        </p:spPr>
        <p:txBody>
          <a:bodyPr/>
          <a:lstStyle/>
          <a:p>
            <a:pPr marL="685800" indent="-685800"/>
            <a:r>
              <a:rPr lang="en-US" altLang="zh-CN" sz="3600" b="1">
                <a:solidFill>
                  <a:srgbClr val="4D009A"/>
                </a:solidFill>
                <a:latin typeface="Times New Roman" panose="02020603050405020304" pitchFamily="18" charset="0"/>
                <a:ea typeface="华文楷体" panose="02010600040101010101" pitchFamily="2" charset="-122"/>
              </a:rPr>
              <a:t>4</a:t>
            </a:r>
            <a:r>
              <a:rPr lang="zh-CN" altLang="en-US" sz="3600" b="1">
                <a:solidFill>
                  <a:srgbClr val="4D009A"/>
                </a:solidFill>
                <a:latin typeface="Times New Roman" panose="02020603050405020304" pitchFamily="18" charset="0"/>
                <a:ea typeface="华文楷体" panose="02010600040101010101" pitchFamily="2" charset="-122"/>
              </a:rPr>
              <a:t>、数组元素的标识与寻访 （续）</a:t>
            </a:r>
            <a:endParaRPr lang="zh-CN" altLang="en-US" sz="3600" b="1">
              <a:solidFill>
                <a:srgbClr val="4D009A"/>
              </a:solidFill>
              <a:latin typeface="Times New Roman" panose="02020603050405020304" pitchFamily="18" charset="0"/>
              <a:ea typeface="华文楷体" panose="02010600040101010101" pitchFamily="2" charset="-122"/>
            </a:endParaRPr>
          </a:p>
        </p:txBody>
      </p:sp>
      <p:sp>
        <p:nvSpPr>
          <p:cNvPr id="146435" name="内容占位符 146434"/>
          <p:cNvSpPr>
            <a:spLocks noGrp="1" noChangeArrowheads="1"/>
          </p:cNvSpPr>
          <p:nvPr>
            <p:ph idx="1"/>
          </p:nvPr>
        </p:nvSpPr>
        <p:spPr/>
        <p:txBody>
          <a:bodyPr/>
          <a:lstStyle/>
          <a:p>
            <a:pPr lvl="1" eaLnBrk="1" hangingPunct="1">
              <a:buFont typeface="Wingdings" panose="05000000000000000000" pitchFamily="2" charset="2"/>
              <a:buNone/>
            </a:pPr>
            <a:r>
              <a:rPr lang="pt-BR" altLang="zh-CN" sz="2000" b="1">
                <a:solidFill>
                  <a:srgbClr val="490092"/>
                </a:solidFill>
                <a:latin typeface="Times New Roman" panose="02020603050405020304" pitchFamily="18" charset="0"/>
                <a:ea typeface="华文楷体" panose="02010600040101010101" pitchFamily="2" charset="-122"/>
              </a:rPr>
              <a:t>&gt;&gt; a_2([2 5 8]) </a:t>
            </a:r>
            <a:r>
              <a:rPr lang="en-US" altLang="zh-CN" sz="2000" b="1">
                <a:solidFill>
                  <a:srgbClr val="490092"/>
                </a:solidFill>
                <a:latin typeface="Times New Roman" panose="02020603050405020304" pitchFamily="18" charset="0"/>
                <a:ea typeface="华文楷体" panose="02010600040101010101" pitchFamily="2" charset="-122"/>
              </a:rPr>
              <a:t>=[10 20 30]</a:t>
            </a:r>
            <a:endParaRPr lang="en-US" altLang="zh-CN" sz="2000"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pt-BR" altLang="zh-CN" b="1">
                <a:solidFill>
                  <a:srgbClr val="490092"/>
                </a:solidFill>
                <a:latin typeface="Times New Roman" panose="02020603050405020304" pitchFamily="18" charset="0"/>
                <a:ea typeface="华文楷体" panose="02010600040101010101" pitchFamily="2" charset="-122"/>
              </a:rPr>
              <a:t>a_2 =</a:t>
            </a:r>
            <a:endParaRPr lang="pt-BR"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pt-BR" altLang="zh-CN" b="1">
                <a:solidFill>
                  <a:srgbClr val="490092"/>
                </a:solidFill>
                <a:latin typeface="Times New Roman" panose="02020603050405020304" pitchFamily="18" charset="0"/>
                <a:ea typeface="华文楷体" panose="02010600040101010101" pitchFamily="2" charset="-122"/>
              </a:rPr>
              <a:t>     1     3    20     7</a:t>
            </a:r>
            <a:endParaRPr lang="pt-BR"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pt-BR" altLang="zh-CN" b="1">
                <a:solidFill>
                  <a:srgbClr val="490092"/>
                </a:solidFill>
                <a:latin typeface="Times New Roman" panose="02020603050405020304" pitchFamily="18" charset="0"/>
                <a:ea typeface="华文楷体" panose="02010600040101010101" pitchFamily="2" charset="-122"/>
              </a:rPr>
              <a:t>    10     4     6    30</a:t>
            </a:r>
            <a:endParaRPr lang="pt-BR" altLang="zh-CN"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pt-BR" altLang="zh-CN" sz="2000" b="1">
                <a:solidFill>
                  <a:srgbClr val="490092"/>
                </a:solidFill>
                <a:latin typeface="Times New Roman" panose="02020603050405020304" pitchFamily="18" charset="0"/>
                <a:ea typeface="华文楷体" panose="02010600040101010101" pitchFamily="2" charset="-122"/>
              </a:rPr>
              <a:t>&gt;&gt;a_2(:,[2 3])=ones(2)  </a:t>
            </a:r>
            <a:r>
              <a:rPr lang="pt-BR" altLang="zh-CN" sz="2000" b="1">
                <a:solidFill>
                  <a:srgbClr val="008000"/>
                </a:solidFill>
                <a:latin typeface="Times New Roman" panose="02020603050405020304" pitchFamily="18" charset="0"/>
                <a:ea typeface="华文楷体" panose="02010600040101010101" pitchFamily="2" charset="-122"/>
              </a:rPr>
              <a:t>%</a:t>
            </a:r>
            <a:r>
              <a:rPr lang="zh-CN" altLang="pt-BR" sz="2000" b="1">
                <a:solidFill>
                  <a:srgbClr val="008000"/>
                </a:solidFill>
                <a:latin typeface="Times New Roman" panose="02020603050405020304" pitchFamily="18" charset="0"/>
                <a:ea typeface="华文楷体" panose="02010600040101010101" pitchFamily="2" charset="-122"/>
              </a:rPr>
              <a:t>双下标方式寻访并修改</a:t>
            </a:r>
            <a:endParaRPr lang="zh-CN" altLang="pt-BR" sz="2000" b="1">
              <a:solidFill>
                <a:srgbClr val="008000"/>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pt-BR" altLang="zh-CN" b="1">
                <a:solidFill>
                  <a:srgbClr val="490092"/>
                </a:solidFill>
                <a:latin typeface="Times New Roman" panose="02020603050405020304" pitchFamily="18" charset="0"/>
                <a:ea typeface="华文楷体" panose="02010600040101010101" pitchFamily="2" charset="-122"/>
              </a:rPr>
              <a:t>a_2 =</a:t>
            </a:r>
            <a:endParaRPr lang="pt-BR"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pt-BR" altLang="zh-CN" b="1">
                <a:solidFill>
                  <a:srgbClr val="490092"/>
                </a:solidFill>
                <a:latin typeface="Times New Roman" panose="02020603050405020304" pitchFamily="18" charset="0"/>
                <a:ea typeface="华文楷体" panose="02010600040101010101" pitchFamily="2" charset="-122"/>
              </a:rPr>
              <a:t>     1      1     1    7</a:t>
            </a:r>
            <a:endParaRPr lang="pt-BR" altLang="zh-CN" b="1">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pt-BR" altLang="zh-CN" b="1">
                <a:solidFill>
                  <a:srgbClr val="490092"/>
                </a:solidFill>
                <a:latin typeface="Times New Roman" panose="02020603050405020304" pitchFamily="18" charset="0"/>
                <a:ea typeface="华文楷体" panose="02010600040101010101" pitchFamily="2" charset="-122"/>
              </a:rPr>
              <a:t>    10     1     1    30</a:t>
            </a:r>
            <a:endParaRPr lang="pt-BR" altLang="zh-CN" b="1">
              <a:solidFill>
                <a:srgbClr val="490092"/>
              </a:solidFill>
              <a:latin typeface="Times New Roman" panose="02020603050405020304" pitchFamily="18" charset="0"/>
              <a:ea typeface="华文楷体" panose="02010600040101010101" pitchFamily="2" charset="-122"/>
            </a:endParaRPr>
          </a:p>
          <a:p>
            <a:pPr lvl="1" eaLnBrk="1" hangingPunct="1">
              <a:spcBef>
                <a:spcPct val="50000"/>
              </a:spcBef>
              <a:buFont typeface="Wingdings" panose="05000000000000000000" pitchFamily="2" charset="2"/>
              <a:buChar char="%"/>
            </a:pPr>
            <a:r>
              <a:rPr lang="zh-CN" altLang="en-US" sz="2000" b="1">
                <a:solidFill>
                  <a:srgbClr val="490092"/>
                </a:solidFill>
                <a:latin typeface="Times New Roman" panose="02020603050405020304" pitchFamily="18" charset="0"/>
                <a:ea typeface="华文楷体" panose="02010600040101010101" pitchFamily="2" charset="-122"/>
              </a:rPr>
              <a:t>二维数组可以</a:t>
            </a:r>
            <a:r>
              <a:rPr lang="zh-CN" altLang="en-US" sz="2000" b="1">
                <a:solidFill>
                  <a:schemeClr val="hlink"/>
                </a:solidFill>
                <a:latin typeface="Times New Roman" panose="02020603050405020304" pitchFamily="18" charset="0"/>
                <a:ea typeface="华文楷体" panose="02010600040101010101" pitchFamily="2" charset="-122"/>
              </a:rPr>
              <a:t>“单下标”</a:t>
            </a:r>
            <a:r>
              <a:rPr lang="zh-CN" altLang="en-US" sz="2000" b="1">
                <a:solidFill>
                  <a:srgbClr val="490092"/>
                </a:solidFill>
                <a:latin typeface="Times New Roman" panose="02020603050405020304" pitchFamily="18" charset="0"/>
                <a:ea typeface="华文楷体" panose="02010600040101010101" pitchFamily="2" charset="-122"/>
              </a:rPr>
              <a:t>方式或</a:t>
            </a:r>
            <a:r>
              <a:rPr lang="zh-CN" altLang="en-US" sz="2000" b="1">
                <a:solidFill>
                  <a:schemeClr val="hlink"/>
                </a:solidFill>
                <a:latin typeface="Times New Roman" panose="02020603050405020304" pitchFamily="18" charset="0"/>
                <a:ea typeface="华文楷体" panose="02010600040101010101" pitchFamily="2" charset="-122"/>
              </a:rPr>
              <a:t>“全下标”</a:t>
            </a:r>
            <a:r>
              <a:rPr lang="zh-CN" altLang="en-US" sz="2000" b="1">
                <a:solidFill>
                  <a:srgbClr val="490092"/>
                </a:solidFill>
                <a:latin typeface="Times New Roman" panose="02020603050405020304" pitchFamily="18" charset="0"/>
                <a:ea typeface="华文楷体" panose="02010600040101010101" pitchFamily="2" charset="-122"/>
              </a:rPr>
              <a:t>方式访问、赋值；</a:t>
            </a:r>
            <a:endParaRPr lang="zh-CN" altLang="en-US" sz="2000"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Char char="%"/>
            </a:pPr>
            <a:r>
              <a:rPr lang="zh-CN" altLang="en-US" sz="2000" b="1">
                <a:solidFill>
                  <a:schemeClr val="hlink"/>
                </a:solidFill>
                <a:latin typeface="Times New Roman" panose="02020603050405020304" pitchFamily="18" charset="0"/>
                <a:ea typeface="华文楷体" panose="02010600040101010101" pitchFamily="2" charset="-122"/>
              </a:rPr>
              <a:t>“单下标”方式赋值时，</a:t>
            </a:r>
            <a:r>
              <a:rPr lang="zh-CN" altLang="en-US" sz="2000" b="1">
                <a:solidFill>
                  <a:srgbClr val="490092"/>
                </a:solidFill>
                <a:latin typeface="Times New Roman" panose="02020603050405020304" pitchFamily="18" charset="0"/>
                <a:ea typeface="华文楷体" panose="02010600040101010101" pitchFamily="2" charset="-122"/>
              </a:rPr>
              <a:t>等号两边涉及的元素个数必须相等；</a:t>
            </a:r>
            <a:endParaRPr lang="zh-CN" altLang="en-US" sz="2000" b="1">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Char char="%"/>
            </a:pPr>
            <a:r>
              <a:rPr lang="zh-CN" altLang="en-US" sz="2000" b="1">
                <a:solidFill>
                  <a:schemeClr val="hlink"/>
                </a:solidFill>
                <a:latin typeface="Times New Roman" panose="02020603050405020304" pitchFamily="18" charset="0"/>
                <a:ea typeface="华文楷体" panose="02010600040101010101" pitchFamily="2" charset="-122"/>
              </a:rPr>
              <a:t>“全下标”方式赋值时，</a:t>
            </a:r>
            <a:r>
              <a:rPr lang="zh-CN" altLang="en-US" sz="2000" b="1">
                <a:solidFill>
                  <a:srgbClr val="490092"/>
                </a:solidFill>
                <a:latin typeface="Times New Roman" panose="02020603050405020304" pitchFamily="18" charset="0"/>
                <a:ea typeface="华文楷体" panose="02010600040101010101" pitchFamily="2" charset="-122"/>
              </a:rPr>
              <a:t>等号右边数组的大小必须等于原数组中涉及元素构成的子数组的大小。</a:t>
            </a:r>
            <a:endParaRPr lang="zh-CN" altLang="en-US" sz="2000" b="1">
              <a:solidFill>
                <a:srgbClr val="490092"/>
              </a:solidFill>
              <a:latin typeface="Times New Roman" panose="02020603050405020304" pitchFamily="18" charset="0"/>
              <a:ea typeface="华文楷体" panose="02010600040101010101" pitchFamily="2" charset="-122"/>
            </a:endParaRPr>
          </a:p>
        </p:txBody>
      </p:sp>
      <p:sp>
        <p:nvSpPr>
          <p:cNvPr id="73731"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0D1BDC4F-E6C0-4C89-8966-DA9E6CAC7818}" type="datetime1">
              <a:rPr lang="zh-CN" altLang="en-US" smtClean="0">
                <a:solidFill>
                  <a:srgbClr val="45516B"/>
                </a:solidFill>
              </a:rPr>
            </a:fld>
            <a:endParaRPr lang="zh-CN" altLang="en-US">
              <a:solidFill>
                <a:srgbClr val="45516B"/>
              </a:solidFill>
            </a:endParaRPr>
          </a:p>
        </p:txBody>
      </p:sp>
      <p:sp>
        <p:nvSpPr>
          <p:cNvPr id="73732"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73734" name="灯片编号占位符 3"/>
          <p:cNvSpPr>
            <a:spLocks noGrp="1" noChangeArrowheads="1"/>
          </p:cNvSpPr>
          <p:nvPr>
            <p:ph type="sldNum" sz="quarter" idx="12"/>
          </p:nvPr>
        </p:nvSpPr>
        <p:spPr bwMode="auto">
          <a:noFill/>
          <a:ln>
            <a:miter lim="800000"/>
          </a:ln>
        </p:spPr>
        <p:txBody>
          <a:bodyPr/>
          <a:lstStyle/>
          <a:p>
            <a:fld id="{EF4DA10F-4E9B-45E0-A3A7-32AB7A666CCB}"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6435">
                                            <p:txEl>
                                              <p:pRg st="0" end="0"/>
                                            </p:txEl>
                                          </p:spTgt>
                                        </p:tgtEl>
                                        <p:attrNameLst>
                                          <p:attrName>style.visibility</p:attrName>
                                        </p:attrNameLst>
                                      </p:cBhvr>
                                      <p:to>
                                        <p:strVal val="visible"/>
                                      </p:to>
                                    </p:set>
                                    <p:animEffect transition="in" filter="blinds(horizontal)">
                                      <p:cBhvr>
                                        <p:cTn id="7" dur="500"/>
                                        <p:tgtEl>
                                          <p:spTgt spid="146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6435">
                                            <p:txEl>
                                              <p:pRg st="1" end="1"/>
                                            </p:txEl>
                                          </p:spTgt>
                                        </p:tgtEl>
                                        <p:attrNameLst>
                                          <p:attrName>style.visibility</p:attrName>
                                        </p:attrNameLst>
                                      </p:cBhvr>
                                      <p:to>
                                        <p:strVal val="visible"/>
                                      </p:to>
                                    </p:set>
                                    <p:animEffect transition="in" filter="blinds(horizontal)">
                                      <p:cBhvr>
                                        <p:cTn id="12" dur="500"/>
                                        <p:tgtEl>
                                          <p:spTgt spid="146435">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46435">
                                            <p:txEl>
                                              <p:pRg st="2" end="2"/>
                                            </p:txEl>
                                          </p:spTgt>
                                        </p:tgtEl>
                                        <p:attrNameLst>
                                          <p:attrName>style.visibility</p:attrName>
                                        </p:attrNameLst>
                                      </p:cBhvr>
                                      <p:to>
                                        <p:strVal val="visible"/>
                                      </p:to>
                                    </p:set>
                                    <p:animEffect transition="in" filter="blinds(horizontal)">
                                      <p:cBhvr>
                                        <p:cTn id="15" dur="500"/>
                                        <p:tgtEl>
                                          <p:spTgt spid="146435">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46435">
                                            <p:txEl>
                                              <p:pRg st="3" end="3"/>
                                            </p:txEl>
                                          </p:spTgt>
                                        </p:tgtEl>
                                        <p:attrNameLst>
                                          <p:attrName>style.visibility</p:attrName>
                                        </p:attrNameLst>
                                      </p:cBhvr>
                                      <p:to>
                                        <p:strVal val="visible"/>
                                      </p:to>
                                    </p:set>
                                    <p:animEffect transition="in" filter="blinds(horizontal)">
                                      <p:cBhvr>
                                        <p:cTn id="18" dur="500"/>
                                        <p:tgtEl>
                                          <p:spTgt spid="14643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46435">
                                            <p:txEl>
                                              <p:pRg st="4" end="4"/>
                                            </p:txEl>
                                          </p:spTgt>
                                        </p:tgtEl>
                                        <p:attrNameLst>
                                          <p:attrName>style.visibility</p:attrName>
                                        </p:attrNameLst>
                                      </p:cBhvr>
                                      <p:to>
                                        <p:strVal val="visible"/>
                                      </p:to>
                                    </p:set>
                                    <p:animEffect transition="in" filter="blinds(horizontal)">
                                      <p:cBhvr>
                                        <p:cTn id="23" dur="500"/>
                                        <p:tgtEl>
                                          <p:spTgt spid="146435">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146435">
                                            <p:txEl>
                                              <p:pRg st="5" end="5"/>
                                            </p:txEl>
                                          </p:spTgt>
                                        </p:tgtEl>
                                        <p:attrNameLst>
                                          <p:attrName>style.visibility</p:attrName>
                                        </p:attrNameLst>
                                      </p:cBhvr>
                                      <p:to>
                                        <p:strVal val="visible"/>
                                      </p:to>
                                    </p:set>
                                    <p:animEffect transition="in" filter="blinds(horizontal)">
                                      <p:cBhvr>
                                        <p:cTn id="28" dur="500"/>
                                        <p:tgtEl>
                                          <p:spTgt spid="146435">
                                            <p:txEl>
                                              <p:pRg st="5" end="5"/>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146435">
                                            <p:txEl>
                                              <p:pRg st="6" end="6"/>
                                            </p:txEl>
                                          </p:spTgt>
                                        </p:tgtEl>
                                        <p:attrNameLst>
                                          <p:attrName>style.visibility</p:attrName>
                                        </p:attrNameLst>
                                      </p:cBhvr>
                                      <p:to>
                                        <p:strVal val="visible"/>
                                      </p:to>
                                    </p:set>
                                    <p:animEffect transition="in" filter="blinds(horizontal)">
                                      <p:cBhvr>
                                        <p:cTn id="31" dur="500"/>
                                        <p:tgtEl>
                                          <p:spTgt spid="146435">
                                            <p:txEl>
                                              <p:pRg st="6" end="6"/>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146435">
                                            <p:txEl>
                                              <p:pRg st="7" end="7"/>
                                            </p:txEl>
                                          </p:spTgt>
                                        </p:tgtEl>
                                        <p:attrNameLst>
                                          <p:attrName>style.visibility</p:attrName>
                                        </p:attrNameLst>
                                      </p:cBhvr>
                                      <p:to>
                                        <p:strVal val="visible"/>
                                      </p:to>
                                    </p:set>
                                    <p:animEffect transition="in" filter="blinds(horizontal)">
                                      <p:cBhvr>
                                        <p:cTn id="34" dur="500"/>
                                        <p:tgtEl>
                                          <p:spTgt spid="146435">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146435">
                                            <p:txEl>
                                              <p:pRg st="8" end="8"/>
                                            </p:txEl>
                                          </p:spTgt>
                                        </p:tgtEl>
                                        <p:attrNameLst>
                                          <p:attrName>style.visibility</p:attrName>
                                        </p:attrNameLst>
                                      </p:cBhvr>
                                      <p:to>
                                        <p:strVal val="visible"/>
                                      </p:to>
                                    </p:set>
                                    <p:animEffect transition="in" filter="blinds(horizontal)">
                                      <p:cBhvr>
                                        <p:cTn id="39" dur="500"/>
                                        <p:tgtEl>
                                          <p:spTgt spid="146435">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146435">
                                            <p:txEl>
                                              <p:pRg st="9" end="9"/>
                                            </p:txEl>
                                          </p:spTgt>
                                        </p:tgtEl>
                                        <p:attrNameLst>
                                          <p:attrName>style.visibility</p:attrName>
                                        </p:attrNameLst>
                                      </p:cBhvr>
                                      <p:to>
                                        <p:strVal val="visible"/>
                                      </p:to>
                                    </p:set>
                                    <p:animEffect transition="in" filter="blinds(horizontal)">
                                      <p:cBhvr>
                                        <p:cTn id="44" dur="500"/>
                                        <p:tgtEl>
                                          <p:spTgt spid="146435">
                                            <p:txEl>
                                              <p:pRg st="9" end="9"/>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146435">
                                            <p:txEl>
                                              <p:pRg st="10" end="10"/>
                                            </p:txEl>
                                          </p:spTgt>
                                        </p:tgtEl>
                                        <p:attrNameLst>
                                          <p:attrName>style.visibility</p:attrName>
                                        </p:attrNameLst>
                                      </p:cBhvr>
                                      <p:to>
                                        <p:strVal val="visible"/>
                                      </p:to>
                                    </p:set>
                                    <p:animEffect transition="in" filter="blinds(horizontal)">
                                      <p:cBhvr>
                                        <p:cTn id="49" dur="500"/>
                                        <p:tgtEl>
                                          <p:spTgt spid="14643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48481"/>
          <p:cNvSpPr>
            <a:spLocks noGrp="1" noChangeArrowheads="1"/>
          </p:cNvSpPr>
          <p:nvPr>
            <p:ph type="title"/>
          </p:nvPr>
        </p:nvSpPr>
        <p:spPr>
          <a:xfrm>
            <a:off x="2711450" y="296863"/>
            <a:ext cx="7793038" cy="647700"/>
          </a:xfrm>
        </p:spPr>
        <p:txBody>
          <a:bodyPr/>
          <a:lstStyle/>
          <a:p>
            <a:pPr marL="685800" indent="-685800"/>
            <a:r>
              <a:rPr lang="en-US" altLang="zh-CN" sz="3600" b="1">
                <a:solidFill>
                  <a:srgbClr val="4D009A"/>
                </a:solidFill>
                <a:latin typeface="Times New Roman" panose="02020603050405020304" pitchFamily="18" charset="0"/>
                <a:ea typeface="华文楷体" panose="02010600040101010101" pitchFamily="2" charset="-122"/>
              </a:rPr>
              <a:t>4</a:t>
            </a:r>
            <a:r>
              <a:rPr lang="zh-CN" altLang="en-US" sz="3600" b="1">
                <a:solidFill>
                  <a:srgbClr val="4D009A"/>
                </a:solidFill>
                <a:latin typeface="Times New Roman" panose="02020603050405020304" pitchFamily="18" charset="0"/>
                <a:ea typeface="华文楷体" panose="02010600040101010101" pitchFamily="2" charset="-122"/>
              </a:rPr>
              <a:t>、数组元素的标识与寻访 （续）</a:t>
            </a:r>
            <a:endParaRPr lang="zh-CN" altLang="en-US" sz="3600" b="1">
              <a:solidFill>
                <a:srgbClr val="4D009A"/>
              </a:solidFill>
              <a:latin typeface="Times New Roman" panose="02020603050405020304" pitchFamily="18" charset="0"/>
              <a:ea typeface="华文楷体" panose="02010600040101010101" pitchFamily="2" charset="-122"/>
            </a:endParaRPr>
          </a:p>
        </p:txBody>
      </p:sp>
      <p:sp>
        <p:nvSpPr>
          <p:cNvPr id="148483" name="内容占位符 148482"/>
          <p:cNvSpPr>
            <a:spLocks noGrp="1" noChangeArrowheads="1"/>
          </p:cNvSpPr>
          <p:nvPr>
            <p:ph idx="1"/>
          </p:nvPr>
        </p:nvSpPr>
        <p:spPr/>
        <p:txBody>
          <a:bodyPr/>
          <a:lstStyle/>
          <a:p>
            <a:pPr eaLnBrk="1" hangingPunct="1">
              <a:buFont typeface="Wingdings" panose="05000000000000000000" pitchFamily="2" charset="2"/>
              <a:buNone/>
            </a:pPr>
            <a:r>
              <a:rPr lang="zh-CN" altLang="en-US" sz="3000" b="1" dirty="0">
                <a:solidFill>
                  <a:srgbClr val="0000FF"/>
                </a:solidFill>
                <a:latin typeface="Times New Roman" panose="02020603050405020304" pitchFamily="18" charset="0"/>
                <a:ea typeface="华文楷体" panose="02010600040101010101" pitchFamily="2" charset="-122"/>
              </a:rPr>
              <a:t>【例</a:t>
            </a:r>
            <a:r>
              <a:rPr lang="en-US" altLang="zh-CN" sz="3000" b="1" dirty="0">
                <a:solidFill>
                  <a:srgbClr val="0000FF"/>
                </a:solidFill>
                <a:latin typeface="Times New Roman" panose="02020603050405020304" pitchFamily="18" charset="0"/>
                <a:ea typeface="华文楷体" panose="02010600040101010101" pitchFamily="2" charset="-122"/>
              </a:rPr>
              <a:t>4-4</a:t>
            </a:r>
            <a:r>
              <a:rPr lang="zh-CN" altLang="en-US" sz="3000" b="1" dirty="0">
                <a:solidFill>
                  <a:srgbClr val="0000FF"/>
                </a:solidFill>
                <a:latin typeface="Times New Roman" panose="02020603050405020304" pitchFamily="18" charset="0"/>
                <a:ea typeface="华文楷体" panose="02010600040101010101" pitchFamily="2" charset="-122"/>
              </a:rPr>
              <a:t>】</a:t>
            </a:r>
            <a:r>
              <a:rPr lang="zh-CN" altLang="en-US" sz="3000" b="1" dirty="0">
                <a:latin typeface="Times New Roman" panose="02020603050405020304" pitchFamily="18" charset="0"/>
                <a:ea typeface="华文楷体" panose="02010600040101010101" pitchFamily="2" charset="-122"/>
              </a:rPr>
              <a:t> </a:t>
            </a:r>
            <a:r>
              <a:rPr lang="en-US" altLang="zh-CN" sz="3000" b="1" dirty="0">
                <a:solidFill>
                  <a:srgbClr val="490092"/>
                </a:solidFill>
                <a:latin typeface="Times New Roman" panose="02020603050405020304" pitchFamily="18" charset="0"/>
                <a:ea typeface="华文楷体" panose="02010600040101010101" pitchFamily="2" charset="-122"/>
              </a:rPr>
              <a:t>size</a:t>
            </a:r>
            <a:r>
              <a:rPr lang="zh-CN" altLang="en-US" sz="3000" b="1" dirty="0">
                <a:solidFill>
                  <a:srgbClr val="490092"/>
                </a:solidFill>
                <a:latin typeface="Times New Roman" panose="02020603050405020304" pitchFamily="18" charset="0"/>
                <a:ea typeface="华文楷体" panose="02010600040101010101" pitchFamily="2" charset="-122"/>
              </a:rPr>
              <a:t>、</a:t>
            </a:r>
            <a:r>
              <a:rPr lang="en-US" altLang="zh-CN" sz="3000" b="1" dirty="0">
                <a:solidFill>
                  <a:srgbClr val="490092"/>
                </a:solidFill>
                <a:latin typeface="Times New Roman" panose="02020603050405020304" pitchFamily="18" charset="0"/>
                <a:ea typeface="华文楷体" panose="02010600040101010101" pitchFamily="2" charset="-122"/>
              </a:rPr>
              <a:t>length</a:t>
            </a:r>
            <a:r>
              <a:rPr lang="zh-CN" altLang="en-US" sz="3000" b="1" dirty="0">
                <a:solidFill>
                  <a:srgbClr val="490092"/>
                </a:solidFill>
                <a:latin typeface="Times New Roman" panose="02020603050405020304" pitchFamily="18" charset="0"/>
                <a:ea typeface="华文楷体" panose="02010600040101010101" pitchFamily="2" charset="-122"/>
              </a:rPr>
              <a:t>函数</a:t>
            </a:r>
            <a:endParaRPr lang="zh-CN" altLang="en-US" sz="3000" b="1" dirty="0">
              <a:solidFill>
                <a:srgbClr val="490092"/>
              </a:solidFill>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3000" b="1" dirty="0">
                <a:solidFill>
                  <a:srgbClr val="490092"/>
                </a:solidFill>
                <a:latin typeface="Times New Roman" panose="02020603050405020304" pitchFamily="18" charset="0"/>
                <a:ea typeface="华文楷体" panose="02010600040101010101" pitchFamily="2" charset="-122"/>
              </a:rPr>
              <a:t>&gt;&gt;a=ones(4,6)*6</a:t>
            </a:r>
            <a:endParaRPr lang="en-US" altLang="zh-CN" sz="3000" b="1" dirty="0">
              <a:solidFill>
                <a:srgbClr val="490092"/>
              </a:solidFill>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3000" b="1" dirty="0">
                <a:solidFill>
                  <a:srgbClr val="490092"/>
                </a:solidFill>
                <a:latin typeface="Times New Roman" panose="02020603050405020304" pitchFamily="18" charset="0"/>
                <a:ea typeface="华文楷体" panose="02010600040101010101" pitchFamily="2" charset="-122"/>
              </a:rPr>
              <a:t>&gt;&gt;m=size(a)</a:t>
            </a:r>
            <a:endParaRPr lang="en-US" altLang="zh-CN" sz="3000" b="1" dirty="0">
              <a:solidFill>
                <a:srgbClr val="490092"/>
              </a:solidFill>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3000" b="1" dirty="0">
                <a:solidFill>
                  <a:srgbClr val="490092"/>
                </a:solidFill>
                <a:latin typeface="Times New Roman" panose="02020603050405020304" pitchFamily="18" charset="0"/>
                <a:ea typeface="华文楷体" panose="02010600040101010101" pitchFamily="2" charset="-122"/>
              </a:rPr>
              <a:t>&gt;&gt;</a:t>
            </a:r>
            <a:r>
              <a:rPr lang="en-US" altLang="zh-CN" sz="3000" b="1" dirty="0" err="1">
                <a:solidFill>
                  <a:srgbClr val="490092"/>
                </a:solidFill>
                <a:latin typeface="Times New Roman" panose="02020603050405020304" pitchFamily="18" charset="0"/>
                <a:ea typeface="华文楷体" panose="02010600040101010101" pitchFamily="2" charset="-122"/>
              </a:rPr>
              <a:t>len</a:t>
            </a:r>
            <a:r>
              <a:rPr lang="en-US" altLang="zh-CN" sz="3000" b="1" dirty="0">
                <a:solidFill>
                  <a:srgbClr val="490092"/>
                </a:solidFill>
                <a:latin typeface="Times New Roman" panose="02020603050405020304" pitchFamily="18" charset="0"/>
                <a:ea typeface="华文楷体" panose="02010600040101010101" pitchFamily="2" charset="-122"/>
              </a:rPr>
              <a:t>=length(a)</a:t>
            </a:r>
            <a:endParaRPr lang="en-US" altLang="zh-CN" sz="3000" b="1" dirty="0">
              <a:solidFill>
                <a:srgbClr val="490092"/>
              </a:solidFill>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3000" b="1" dirty="0">
                <a:solidFill>
                  <a:srgbClr val="490092"/>
                </a:solidFill>
                <a:latin typeface="Times New Roman" panose="02020603050405020304" pitchFamily="18" charset="0"/>
                <a:ea typeface="华文楷体" panose="02010600040101010101" pitchFamily="2" charset="-122"/>
              </a:rPr>
              <a:t>&gt;&gt;b=1:5;</a:t>
            </a:r>
            <a:endParaRPr lang="en-US" altLang="zh-CN" sz="3000" b="1" dirty="0">
              <a:solidFill>
                <a:srgbClr val="490092"/>
              </a:solidFill>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3000" b="1" dirty="0">
                <a:solidFill>
                  <a:srgbClr val="490092"/>
                </a:solidFill>
                <a:latin typeface="Times New Roman" panose="02020603050405020304" pitchFamily="18" charset="0"/>
                <a:ea typeface="华文楷体" panose="02010600040101010101" pitchFamily="2" charset="-122"/>
              </a:rPr>
              <a:t>&gt;&gt;length(b)</a:t>
            </a:r>
            <a:endParaRPr lang="en-US" altLang="zh-CN" sz="3000" b="1" dirty="0">
              <a:solidFill>
                <a:srgbClr val="490092"/>
              </a:solidFill>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3000" b="1" dirty="0">
                <a:solidFill>
                  <a:srgbClr val="490092"/>
                </a:solidFill>
                <a:latin typeface="Times New Roman" panose="02020603050405020304" pitchFamily="18" charset="0"/>
                <a:ea typeface="华文楷体" panose="02010600040101010101" pitchFamily="2" charset="-122"/>
              </a:rPr>
              <a:t>&gt;&gt;c=b’</a:t>
            </a:r>
            <a:endParaRPr lang="en-US" altLang="zh-CN" sz="3000" b="1" dirty="0">
              <a:solidFill>
                <a:srgbClr val="490092"/>
              </a:solidFill>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3000" b="1" dirty="0">
                <a:solidFill>
                  <a:srgbClr val="490092"/>
                </a:solidFill>
                <a:latin typeface="Times New Roman" panose="02020603050405020304" pitchFamily="18" charset="0"/>
                <a:ea typeface="华文楷体" panose="02010600040101010101" pitchFamily="2" charset="-122"/>
              </a:rPr>
              <a:t>&gt;&gt;length(c)</a:t>
            </a:r>
            <a:endParaRPr lang="en-US" altLang="zh-CN" sz="3000" b="1" dirty="0">
              <a:solidFill>
                <a:srgbClr val="490092"/>
              </a:solidFill>
              <a:latin typeface="Times New Roman" panose="02020603050405020304" pitchFamily="18" charset="0"/>
              <a:ea typeface="华文楷体" panose="02010600040101010101" pitchFamily="2" charset="-122"/>
            </a:endParaRPr>
          </a:p>
        </p:txBody>
      </p:sp>
      <p:sp>
        <p:nvSpPr>
          <p:cNvPr id="148484" name="文本框 148483"/>
          <p:cNvSpPr txBox="1">
            <a:spLocks noChangeArrowheads="1"/>
          </p:cNvSpPr>
          <p:nvPr/>
        </p:nvSpPr>
        <p:spPr bwMode="auto">
          <a:xfrm>
            <a:off x="5808663" y="2636838"/>
            <a:ext cx="4572000" cy="1754326"/>
          </a:xfrm>
          <a:prstGeom prst="rect">
            <a:avLst/>
          </a:prstGeom>
          <a:noFill/>
          <a:ln w="9525">
            <a:noFill/>
            <a:miter lim="800000"/>
          </a:ln>
        </p:spPr>
        <p:txBody>
          <a:bodyPr>
            <a:spAutoFit/>
          </a:bodyPr>
          <a:lstStyle/>
          <a:p>
            <a:pPr>
              <a:spcBef>
                <a:spcPct val="50000"/>
              </a:spcBef>
              <a:buClr>
                <a:schemeClr val="hlink"/>
              </a:buClr>
              <a:buFont typeface="Wingdings" panose="05000000000000000000" pitchFamily="2" charset="2"/>
              <a:buChar char="Ø"/>
            </a:pPr>
            <a:r>
              <a:rPr lang="en-US" altLang="zh-CN">
                <a:latin typeface="Tahoma" panose="020B0604030504040204" pitchFamily="34" charset="0"/>
              </a:rPr>
              <a:t>  </a:t>
            </a:r>
            <a:r>
              <a:rPr lang="en-US" altLang="zh-CN" sz="2400" b="1">
                <a:solidFill>
                  <a:srgbClr val="0000FF"/>
                </a:solidFill>
                <a:latin typeface="Times New Roman" panose="02020603050405020304" pitchFamily="18" charset="0"/>
                <a:ea typeface="华文楷体" panose="02010600040101010101" pitchFamily="2" charset="-122"/>
              </a:rPr>
              <a:t>size</a:t>
            </a:r>
            <a:r>
              <a:rPr lang="zh-CN" altLang="en-US" sz="2400" b="1">
                <a:solidFill>
                  <a:srgbClr val="0000FF"/>
                </a:solidFill>
                <a:latin typeface="Times New Roman" panose="02020603050405020304" pitchFamily="18" charset="0"/>
                <a:ea typeface="华文楷体" panose="02010600040101010101" pitchFamily="2" charset="-122"/>
              </a:rPr>
              <a:t>函数返回变量的大小，即变量数组的行列数</a:t>
            </a:r>
            <a:endParaRPr lang="zh-CN" altLang="en-US" sz="2400" b="1">
              <a:solidFill>
                <a:srgbClr val="0000FF"/>
              </a:solidFill>
              <a:latin typeface="Times New Roman" panose="02020603050405020304" pitchFamily="18" charset="0"/>
              <a:ea typeface="华文楷体" panose="02010600040101010101" pitchFamily="2" charset="-122"/>
            </a:endParaRPr>
          </a:p>
          <a:p>
            <a:pPr>
              <a:spcBef>
                <a:spcPct val="50000"/>
              </a:spcBef>
              <a:buClr>
                <a:schemeClr val="hlink"/>
              </a:buClr>
              <a:buFont typeface="Wingdings" panose="05000000000000000000" pitchFamily="2" charset="2"/>
              <a:buChar char="Ø"/>
            </a:pPr>
            <a:r>
              <a:rPr lang="zh-CN" altLang="en-US" sz="2400" b="1">
                <a:solidFill>
                  <a:srgbClr val="0000FF"/>
                </a:solidFill>
                <a:latin typeface="Times New Roman" panose="02020603050405020304" pitchFamily="18" charset="0"/>
                <a:ea typeface="华文楷体" panose="02010600040101010101" pitchFamily="2" charset="-122"/>
              </a:rPr>
              <a:t>  </a:t>
            </a:r>
            <a:r>
              <a:rPr lang="en-US" altLang="zh-CN" sz="2400" b="1">
                <a:solidFill>
                  <a:srgbClr val="0000FF"/>
                </a:solidFill>
                <a:latin typeface="Times New Roman" panose="02020603050405020304" pitchFamily="18" charset="0"/>
                <a:ea typeface="华文楷体" panose="02010600040101010101" pitchFamily="2" charset="-122"/>
              </a:rPr>
              <a:t>length</a:t>
            </a:r>
            <a:r>
              <a:rPr lang="zh-CN" altLang="en-US" sz="2400" b="1">
                <a:solidFill>
                  <a:srgbClr val="0000FF"/>
                </a:solidFill>
                <a:latin typeface="Times New Roman" panose="02020603050405020304" pitchFamily="18" charset="0"/>
                <a:ea typeface="华文楷体" panose="02010600040101010101" pitchFamily="2" charset="-122"/>
              </a:rPr>
              <a:t>函数返回变量数组的最大维数</a:t>
            </a:r>
            <a:endParaRPr lang="zh-CN" altLang="en-US" sz="2400" b="1">
              <a:solidFill>
                <a:srgbClr val="0000FF"/>
              </a:solidFill>
              <a:latin typeface="Times New Roman" panose="02020603050405020304" pitchFamily="18" charset="0"/>
              <a:ea typeface="华文楷体" panose="02010600040101010101" pitchFamily="2" charset="-122"/>
            </a:endParaRPr>
          </a:p>
        </p:txBody>
      </p:sp>
      <p:sp>
        <p:nvSpPr>
          <p:cNvPr id="74756"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A4D4EB23-5142-4A80-ACB7-FF2C0DC68603}" type="datetime1">
              <a:rPr lang="zh-CN" altLang="en-US" smtClean="0">
                <a:solidFill>
                  <a:srgbClr val="45516B"/>
                </a:solidFill>
              </a:rPr>
            </a:fld>
            <a:endParaRPr lang="zh-CN" altLang="en-US">
              <a:solidFill>
                <a:srgbClr val="45516B"/>
              </a:solidFill>
            </a:endParaRPr>
          </a:p>
        </p:txBody>
      </p:sp>
      <p:sp>
        <p:nvSpPr>
          <p:cNvPr id="74757"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74759" name="灯片编号占位符 3"/>
          <p:cNvSpPr>
            <a:spLocks noGrp="1" noChangeArrowheads="1"/>
          </p:cNvSpPr>
          <p:nvPr>
            <p:ph type="sldNum" sz="quarter" idx="12"/>
          </p:nvPr>
        </p:nvSpPr>
        <p:spPr bwMode="auto">
          <a:noFill/>
          <a:ln>
            <a:miter lim="800000"/>
          </a:ln>
        </p:spPr>
        <p:txBody>
          <a:bodyPr/>
          <a:lstStyle/>
          <a:p>
            <a:fld id="{80BE6BC2-3251-43C6-B6BC-0E2783F0EF34}"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8483">
                                            <p:txEl>
                                              <p:pRg st="0" end="0"/>
                                            </p:txEl>
                                          </p:spTgt>
                                        </p:tgtEl>
                                        <p:attrNameLst>
                                          <p:attrName>style.visibility</p:attrName>
                                        </p:attrNameLst>
                                      </p:cBhvr>
                                      <p:to>
                                        <p:strVal val="visible"/>
                                      </p:to>
                                    </p:set>
                                    <p:animEffect transition="in" filter="blinds(horizontal)">
                                      <p:cBhvr>
                                        <p:cTn id="7" dur="500"/>
                                        <p:tgtEl>
                                          <p:spTgt spid="1484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8483">
                                            <p:txEl>
                                              <p:pRg st="1" end="1"/>
                                            </p:txEl>
                                          </p:spTgt>
                                        </p:tgtEl>
                                        <p:attrNameLst>
                                          <p:attrName>style.visibility</p:attrName>
                                        </p:attrNameLst>
                                      </p:cBhvr>
                                      <p:to>
                                        <p:strVal val="visible"/>
                                      </p:to>
                                    </p:set>
                                    <p:animEffect transition="in" filter="wipe(up)">
                                      <p:cBhvr>
                                        <p:cTn id="12" dur="1000"/>
                                        <p:tgtEl>
                                          <p:spTgt spid="148483">
                                            <p:txEl>
                                              <p:pRg st="1" end="1"/>
                                            </p:txEl>
                                          </p:spTgt>
                                        </p:tgtEl>
                                      </p:cBhvr>
                                    </p:animEffect>
                                  </p:childTnLst>
                                </p:cTn>
                              </p:par>
                              <p:par>
                                <p:cTn id="13" presetID="22" presetClass="entr" presetSubtype="1" fill="hold" nodeType="withEffect">
                                  <p:stCondLst>
                                    <p:cond delay="0"/>
                                  </p:stCondLst>
                                  <p:childTnLst>
                                    <p:set>
                                      <p:cBhvr>
                                        <p:cTn id="14" dur="1" fill="hold">
                                          <p:stCondLst>
                                            <p:cond delay="0"/>
                                          </p:stCondLst>
                                        </p:cTn>
                                        <p:tgtEl>
                                          <p:spTgt spid="148483">
                                            <p:txEl>
                                              <p:pRg st="2" end="2"/>
                                            </p:txEl>
                                          </p:spTgt>
                                        </p:tgtEl>
                                        <p:attrNameLst>
                                          <p:attrName>style.visibility</p:attrName>
                                        </p:attrNameLst>
                                      </p:cBhvr>
                                      <p:to>
                                        <p:strVal val="visible"/>
                                      </p:to>
                                    </p:set>
                                    <p:animEffect transition="in" filter="wipe(up)">
                                      <p:cBhvr>
                                        <p:cTn id="15" dur="1000"/>
                                        <p:tgtEl>
                                          <p:spTgt spid="148483">
                                            <p:txEl>
                                              <p:pRg st="2" end="2"/>
                                            </p:txEl>
                                          </p:spTgt>
                                        </p:tgtEl>
                                      </p:cBhvr>
                                    </p:animEffect>
                                  </p:childTnLst>
                                </p:cTn>
                              </p:par>
                              <p:par>
                                <p:cTn id="16" presetID="22" presetClass="entr" presetSubtype="1" fill="hold" nodeType="withEffect">
                                  <p:stCondLst>
                                    <p:cond delay="0"/>
                                  </p:stCondLst>
                                  <p:childTnLst>
                                    <p:set>
                                      <p:cBhvr>
                                        <p:cTn id="17" dur="1" fill="hold">
                                          <p:stCondLst>
                                            <p:cond delay="0"/>
                                          </p:stCondLst>
                                        </p:cTn>
                                        <p:tgtEl>
                                          <p:spTgt spid="148483">
                                            <p:txEl>
                                              <p:pRg st="3" end="3"/>
                                            </p:txEl>
                                          </p:spTgt>
                                        </p:tgtEl>
                                        <p:attrNameLst>
                                          <p:attrName>style.visibility</p:attrName>
                                        </p:attrNameLst>
                                      </p:cBhvr>
                                      <p:to>
                                        <p:strVal val="visible"/>
                                      </p:to>
                                    </p:set>
                                    <p:animEffect transition="in" filter="wipe(up)">
                                      <p:cBhvr>
                                        <p:cTn id="18" dur="1000"/>
                                        <p:tgtEl>
                                          <p:spTgt spid="148483">
                                            <p:txEl>
                                              <p:pRg st="3" end="3"/>
                                            </p:txEl>
                                          </p:spTgt>
                                        </p:tgtEl>
                                      </p:cBhvr>
                                    </p:animEffect>
                                  </p:childTnLst>
                                </p:cTn>
                              </p:par>
                              <p:par>
                                <p:cTn id="19" presetID="22" presetClass="entr" presetSubtype="1" fill="hold" nodeType="withEffect">
                                  <p:stCondLst>
                                    <p:cond delay="0"/>
                                  </p:stCondLst>
                                  <p:childTnLst>
                                    <p:set>
                                      <p:cBhvr>
                                        <p:cTn id="20" dur="1" fill="hold">
                                          <p:stCondLst>
                                            <p:cond delay="0"/>
                                          </p:stCondLst>
                                        </p:cTn>
                                        <p:tgtEl>
                                          <p:spTgt spid="148483">
                                            <p:txEl>
                                              <p:pRg st="4" end="4"/>
                                            </p:txEl>
                                          </p:spTgt>
                                        </p:tgtEl>
                                        <p:attrNameLst>
                                          <p:attrName>style.visibility</p:attrName>
                                        </p:attrNameLst>
                                      </p:cBhvr>
                                      <p:to>
                                        <p:strVal val="visible"/>
                                      </p:to>
                                    </p:set>
                                    <p:animEffect transition="in" filter="wipe(up)">
                                      <p:cBhvr>
                                        <p:cTn id="21" dur="1000"/>
                                        <p:tgtEl>
                                          <p:spTgt spid="148483">
                                            <p:txEl>
                                              <p:pRg st="4" end="4"/>
                                            </p:txEl>
                                          </p:spTgt>
                                        </p:tgtEl>
                                      </p:cBhvr>
                                    </p:animEffect>
                                  </p:childTnLst>
                                </p:cTn>
                              </p:par>
                              <p:par>
                                <p:cTn id="22" presetID="22" presetClass="entr" presetSubtype="1" fill="hold" nodeType="withEffect">
                                  <p:stCondLst>
                                    <p:cond delay="0"/>
                                  </p:stCondLst>
                                  <p:childTnLst>
                                    <p:set>
                                      <p:cBhvr>
                                        <p:cTn id="23" dur="1" fill="hold">
                                          <p:stCondLst>
                                            <p:cond delay="0"/>
                                          </p:stCondLst>
                                        </p:cTn>
                                        <p:tgtEl>
                                          <p:spTgt spid="148483">
                                            <p:txEl>
                                              <p:pRg st="5" end="5"/>
                                            </p:txEl>
                                          </p:spTgt>
                                        </p:tgtEl>
                                        <p:attrNameLst>
                                          <p:attrName>style.visibility</p:attrName>
                                        </p:attrNameLst>
                                      </p:cBhvr>
                                      <p:to>
                                        <p:strVal val="visible"/>
                                      </p:to>
                                    </p:set>
                                    <p:animEffect transition="in" filter="wipe(up)">
                                      <p:cBhvr>
                                        <p:cTn id="24" dur="1000"/>
                                        <p:tgtEl>
                                          <p:spTgt spid="148483">
                                            <p:txEl>
                                              <p:pRg st="5" end="5"/>
                                            </p:txEl>
                                          </p:spTgt>
                                        </p:tgtEl>
                                      </p:cBhvr>
                                    </p:animEffect>
                                  </p:childTnLst>
                                </p:cTn>
                              </p:par>
                              <p:par>
                                <p:cTn id="25" presetID="22" presetClass="entr" presetSubtype="1" fill="hold" nodeType="withEffect">
                                  <p:stCondLst>
                                    <p:cond delay="0"/>
                                  </p:stCondLst>
                                  <p:childTnLst>
                                    <p:set>
                                      <p:cBhvr>
                                        <p:cTn id="26" dur="1" fill="hold">
                                          <p:stCondLst>
                                            <p:cond delay="0"/>
                                          </p:stCondLst>
                                        </p:cTn>
                                        <p:tgtEl>
                                          <p:spTgt spid="148483">
                                            <p:txEl>
                                              <p:pRg st="6" end="6"/>
                                            </p:txEl>
                                          </p:spTgt>
                                        </p:tgtEl>
                                        <p:attrNameLst>
                                          <p:attrName>style.visibility</p:attrName>
                                        </p:attrNameLst>
                                      </p:cBhvr>
                                      <p:to>
                                        <p:strVal val="visible"/>
                                      </p:to>
                                    </p:set>
                                    <p:animEffect transition="in" filter="wipe(up)">
                                      <p:cBhvr>
                                        <p:cTn id="27" dur="1000"/>
                                        <p:tgtEl>
                                          <p:spTgt spid="148483">
                                            <p:txEl>
                                              <p:pRg st="6" end="6"/>
                                            </p:txEl>
                                          </p:spTgt>
                                        </p:tgtEl>
                                      </p:cBhvr>
                                    </p:animEffect>
                                  </p:childTnLst>
                                </p:cTn>
                              </p:par>
                              <p:par>
                                <p:cTn id="28" presetID="22" presetClass="entr" presetSubtype="1" fill="hold" nodeType="withEffect">
                                  <p:stCondLst>
                                    <p:cond delay="0"/>
                                  </p:stCondLst>
                                  <p:childTnLst>
                                    <p:set>
                                      <p:cBhvr>
                                        <p:cTn id="29" dur="1" fill="hold">
                                          <p:stCondLst>
                                            <p:cond delay="0"/>
                                          </p:stCondLst>
                                        </p:cTn>
                                        <p:tgtEl>
                                          <p:spTgt spid="148483">
                                            <p:txEl>
                                              <p:pRg st="7" end="7"/>
                                            </p:txEl>
                                          </p:spTgt>
                                        </p:tgtEl>
                                        <p:attrNameLst>
                                          <p:attrName>style.visibility</p:attrName>
                                        </p:attrNameLst>
                                      </p:cBhvr>
                                      <p:to>
                                        <p:strVal val="visible"/>
                                      </p:to>
                                    </p:set>
                                    <p:animEffect transition="in" filter="wipe(up)">
                                      <p:cBhvr>
                                        <p:cTn id="30" dur="1000"/>
                                        <p:tgtEl>
                                          <p:spTgt spid="14848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48484">
                                            <p:txEl>
                                              <p:pRg st="0" end="0"/>
                                            </p:txEl>
                                          </p:spTgt>
                                        </p:tgtEl>
                                        <p:attrNameLst>
                                          <p:attrName>style.visibility</p:attrName>
                                        </p:attrNameLst>
                                      </p:cBhvr>
                                      <p:to>
                                        <p:strVal val="visible"/>
                                      </p:to>
                                    </p:set>
                                    <p:animEffect transition="in" filter="blinds(horizontal)">
                                      <p:cBhvr>
                                        <p:cTn id="35" dur="500"/>
                                        <p:tgtEl>
                                          <p:spTgt spid="148484">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148484">
                                            <p:txEl>
                                              <p:pRg st="1" end="1"/>
                                            </p:txEl>
                                          </p:spTgt>
                                        </p:tgtEl>
                                        <p:attrNameLst>
                                          <p:attrName>style.visibility</p:attrName>
                                        </p:attrNameLst>
                                      </p:cBhvr>
                                      <p:to>
                                        <p:strVal val="visible"/>
                                      </p:to>
                                    </p:set>
                                    <p:animEffect transition="in" filter="blinds(horizontal)">
                                      <p:cBhvr>
                                        <p:cTn id="40" dur="500"/>
                                        <p:tgtEl>
                                          <p:spTgt spid="14848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80225"/>
          <p:cNvSpPr>
            <a:spLocks noGrp="1" noChangeArrowheads="1"/>
          </p:cNvSpPr>
          <p:nvPr>
            <p:ph type="title"/>
          </p:nvPr>
        </p:nvSpPr>
        <p:spPr>
          <a:xfrm>
            <a:off x="2874964" y="333375"/>
            <a:ext cx="7793037" cy="647700"/>
          </a:xfrm>
        </p:spPr>
        <p:txBody>
          <a:bodyPr/>
          <a:lstStyle/>
          <a:p>
            <a:pPr marL="685800" indent="-685800"/>
            <a:r>
              <a:rPr lang="en-US" altLang="zh-CN" sz="3600" b="1">
                <a:solidFill>
                  <a:srgbClr val="4D009A"/>
                </a:solidFill>
                <a:latin typeface="Times New Roman" panose="02020603050405020304" pitchFamily="18" charset="0"/>
                <a:ea typeface="华文楷体" panose="02010600040101010101" pitchFamily="2" charset="-122"/>
              </a:rPr>
              <a:t>6</a:t>
            </a:r>
            <a:r>
              <a:rPr lang="zh-CN" altLang="en-US" sz="3600" b="1">
                <a:solidFill>
                  <a:srgbClr val="4D009A"/>
                </a:solidFill>
                <a:latin typeface="Times New Roman" panose="02020603050405020304" pitchFamily="18" charset="0"/>
                <a:ea typeface="华文楷体" panose="02010600040101010101" pitchFamily="2" charset="-122"/>
              </a:rPr>
              <a:t>、数组的算术运算</a:t>
            </a:r>
            <a:endParaRPr lang="zh-CN" altLang="en-US" sz="3600" b="1">
              <a:solidFill>
                <a:srgbClr val="4D009A"/>
              </a:solidFill>
              <a:latin typeface="Times New Roman" panose="02020603050405020304" pitchFamily="18" charset="0"/>
              <a:ea typeface="华文楷体" panose="02010600040101010101" pitchFamily="2" charset="-122"/>
            </a:endParaRPr>
          </a:p>
        </p:txBody>
      </p:sp>
      <p:sp>
        <p:nvSpPr>
          <p:cNvPr id="180227" name="内容占位符 180226"/>
          <p:cNvSpPr>
            <a:spLocks noGrp="1" noChangeArrowheads="1"/>
          </p:cNvSpPr>
          <p:nvPr>
            <p:ph idx="1"/>
          </p:nvPr>
        </p:nvSpPr>
        <p:spPr>
          <a:xfrm>
            <a:off x="2459038" y="1268414"/>
            <a:ext cx="7772400" cy="4791075"/>
          </a:xfrm>
        </p:spPr>
        <p:txBody>
          <a:bodyPr/>
          <a:lstStyle/>
          <a:p>
            <a:pPr lvl="1" eaLnBrk="1" hangingPunct="1"/>
            <a:r>
              <a:rPr lang="en-US" altLang="zh-CN" sz="2000" b="1">
                <a:solidFill>
                  <a:srgbClr val="4D009A"/>
                </a:solidFill>
                <a:latin typeface="Times New Roman" panose="02020603050405020304" pitchFamily="18" charset="0"/>
                <a:ea typeface="华文楷体" panose="02010600040101010101" pitchFamily="2" charset="-122"/>
              </a:rPr>
              <a:t>MATLAB</a:t>
            </a:r>
            <a:r>
              <a:rPr lang="zh-CN" altLang="en-US" sz="2000" b="1">
                <a:solidFill>
                  <a:srgbClr val="4D009A"/>
                </a:solidFill>
                <a:latin typeface="Times New Roman" panose="02020603050405020304" pitchFamily="18" charset="0"/>
                <a:ea typeface="华文楷体" panose="02010600040101010101" pitchFamily="2" charset="-122"/>
              </a:rPr>
              <a:t>数组支持线性代数中所有的矩阵运算。</a:t>
            </a:r>
            <a:endParaRPr lang="zh-CN" altLang="en-US" sz="2000" b="1">
              <a:solidFill>
                <a:srgbClr val="4D009A"/>
              </a:solidFill>
              <a:latin typeface="Times New Roman" panose="02020603050405020304" pitchFamily="18" charset="0"/>
              <a:ea typeface="华文楷体" panose="02010600040101010101" pitchFamily="2" charset="-122"/>
            </a:endParaRPr>
          </a:p>
          <a:p>
            <a:pPr lvl="1" eaLnBrk="1" hangingPunct="1"/>
            <a:r>
              <a:rPr lang="zh-CN" altLang="en-US" sz="2000" b="1">
                <a:solidFill>
                  <a:srgbClr val="4D009A"/>
                </a:solidFill>
                <a:latin typeface="Times New Roman" panose="02020603050405020304" pitchFamily="18" charset="0"/>
                <a:ea typeface="华文楷体" panose="02010600040101010101" pitchFamily="2" charset="-122"/>
              </a:rPr>
              <a:t>建立特有的数组运算符，如：“</a:t>
            </a:r>
            <a:r>
              <a:rPr lang="en-US" altLang="zh-CN" sz="2000" b="1">
                <a:solidFill>
                  <a:srgbClr val="4D009A"/>
                </a:solidFill>
                <a:latin typeface="Times New Roman" panose="02020603050405020304" pitchFamily="18" charset="0"/>
                <a:ea typeface="华文楷体" panose="02010600040101010101" pitchFamily="2" charset="-122"/>
              </a:rPr>
              <a:t>.*”</a:t>
            </a:r>
            <a:r>
              <a:rPr lang="zh-CN" altLang="en-US" sz="2000" b="1">
                <a:solidFill>
                  <a:srgbClr val="4D009A"/>
                </a:solidFill>
                <a:latin typeface="Times New Roman" panose="02020603050405020304" pitchFamily="18" charset="0"/>
                <a:ea typeface="华文楷体" panose="02010600040101010101" pitchFamily="2" charset="-122"/>
              </a:rPr>
              <a:t>、“</a:t>
            </a:r>
            <a:r>
              <a:rPr lang="en-US" altLang="zh-CN" sz="2000" b="1">
                <a:solidFill>
                  <a:srgbClr val="4D009A"/>
                </a:solidFill>
                <a:latin typeface="Times New Roman" panose="02020603050405020304" pitchFamily="18" charset="0"/>
                <a:ea typeface="华文楷体" panose="02010600040101010101" pitchFamily="2" charset="-122"/>
              </a:rPr>
              <a:t>./”</a:t>
            </a:r>
            <a:r>
              <a:rPr lang="zh-CN" altLang="en-US" sz="2000" b="1">
                <a:solidFill>
                  <a:srgbClr val="4D009A"/>
                </a:solidFill>
                <a:latin typeface="Times New Roman" panose="02020603050405020304" pitchFamily="18" charset="0"/>
                <a:ea typeface="华文楷体" panose="02010600040101010101" pitchFamily="2" charset="-122"/>
              </a:rPr>
              <a:t>等。</a:t>
            </a:r>
            <a:endParaRPr lang="zh-CN" altLang="en-US" sz="2000" b="1">
              <a:solidFill>
                <a:srgbClr val="4D009A"/>
              </a:solidFill>
              <a:latin typeface="Times New Roman" panose="02020603050405020304" pitchFamily="18" charset="0"/>
              <a:ea typeface="华文楷体" panose="02010600040101010101" pitchFamily="2" charset="-122"/>
            </a:endParaRPr>
          </a:p>
          <a:p>
            <a:pPr lvl="1" eaLnBrk="1" hangingPunct="1">
              <a:spcBef>
                <a:spcPct val="50000"/>
              </a:spcBef>
              <a:buFont typeface="Wingdings" panose="05000000000000000000" pitchFamily="2" charset="2"/>
              <a:buNone/>
            </a:pPr>
            <a:r>
              <a:rPr lang="zh-CN" altLang="en-US" sz="2000" b="1">
                <a:latin typeface="宋体" panose="02010600030101010101" pitchFamily="2" charset="-122"/>
              </a:rPr>
              <a:t>         </a:t>
            </a:r>
            <a:r>
              <a:rPr lang="en-US" altLang="zh-CN" sz="2000" b="1">
                <a:solidFill>
                  <a:srgbClr val="FF00FF"/>
                </a:solidFill>
                <a:latin typeface="Times New Roman" panose="02020603050405020304" pitchFamily="18" charset="0"/>
              </a:rPr>
              <a:t>MATLAB</a:t>
            </a:r>
            <a:r>
              <a:rPr lang="zh-CN" altLang="en-US" sz="2000" b="1">
                <a:solidFill>
                  <a:srgbClr val="FF00FF"/>
                </a:solidFill>
                <a:latin typeface="Times New Roman" panose="02020603050405020304" pitchFamily="18" charset="0"/>
              </a:rPr>
              <a:t>数组运算符列表</a:t>
            </a:r>
            <a:endParaRPr lang="zh-CN" altLang="en-US" sz="2000" b="1">
              <a:solidFill>
                <a:srgbClr val="FF00FF"/>
              </a:solidFill>
              <a:latin typeface="Times New Roman" panose="02020603050405020304" pitchFamily="18" charset="0"/>
            </a:endParaRPr>
          </a:p>
          <a:p>
            <a:pPr lvl="1" eaLnBrk="1" hangingPunct="1">
              <a:buFont typeface="Wingdings" panose="05000000000000000000" pitchFamily="2" charset="2"/>
              <a:buNone/>
            </a:pPr>
            <a:r>
              <a:rPr lang="zh-CN" altLang="en-US" sz="2000" b="1">
                <a:solidFill>
                  <a:srgbClr val="0000FF"/>
                </a:solidFill>
                <a:latin typeface="Times New Roman" panose="02020603050405020304" pitchFamily="18" charset="0"/>
                <a:ea typeface="华文楷体" panose="02010600040101010101" pitchFamily="2" charset="-122"/>
              </a:rPr>
              <a:t>运算		 	运算符		含义说明</a:t>
            </a:r>
            <a:r>
              <a:rPr lang="zh-CN" altLang="en-US" sz="2000" b="1">
                <a:latin typeface="Times New Roman" panose="02020603050405020304" pitchFamily="18" charset="0"/>
                <a:ea typeface="华文楷体" panose="02010600040101010101" pitchFamily="2" charset="-122"/>
              </a:rPr>
              <a:t>	</a:t>
            </a:r>
            <a:endParaRPr lang="zh-CN" altLang="en-US" sz="2000" b="1">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zh-CN" altLang="en-US" sz="2000" b="1">
                <a:latin typeface="Times New Roman" panose="02020603050405020304" pitchFamily="18" charset="0"/>
                <a:ea typeface="华文楷体" panose="02010600040101010101" pitchFamily="2" charset="-122"/>
              </a:rPr>
              <a:t>加        	  	 </a:t>
            </a:r>
            <a:r>
              <a:rPr lang="en-US" altLang="zh-CN" sz="2000" b="1">
                <a:latin typeface="Times New Roman" panose="02020603050405020304" pitchFamily="18" charset="0"/>
                <a:ea typeface="华文楷体" panose="02010600040101010101" pitchFamily="2" charset="-122"/>
              </a:rPr>
              <a:t>+                         </a:t>
            </a:r>
            <a:r>
              <a:rPr lang="zh-CN" altLang="en-US" sz="2000" b="1">
                <a:latin typeface="Times New Roman" panose="02020603050405020304" pitchFamily="18" charset="0"/>
                <a:ea typeface="华文楷体" panose="02010600040101010101" pitchFamily="2" charset="-122"/>
              </a:rPr>
              <a:t>相应元素相加    </a:t>
            </a:r>
            <a:endParaRPr lang="zh-CN" altLang="en-US" sz="2000" b="1">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zh-CN" altLang="en-US" sz="2000" b="1">
                <a:latin typeface="Times New Roman" panose="02020603050405020304" pitchFamily="18" charset="0"/>
                <a:ea typeface="华文楷体" panose="02010600040101010101" pitchFamily="2" charset="-122"/>
              </a:rPr>
              <a:t>减      	  	 </a:t>
            </a:r>
            <a:r>
              <a:rPr lang="en-US" altLang="zh-CN" sz="2000" b="1">
                <a:latin typeface="Times New Roman" panose="02020603050405020304" pitchFamily="18" charset="0"/>
                <a:ea typeface="华文楷体" panose="02010600040101010101" pitchFamily="2" charset="-122"/>
              </a:rPr>
              <a:t>-		</a:t>
            </a:r>
            <a:r>
              <a:rPr lang="zh-CN" altLang="en-US" sz="2000" b="1">
                <a:latin typeface="Times New Roman" panose="02020603050405020304" pitchFamily="18" charset="0"/>
                <a:ea typeface="华文楷体" panose="02010600040101010101" pitchFamily="2" charset="-122"/>
              </a:rPr>
              <a:t>相应元素相减    </a:t>
            </a:r>
            <a:endParaRPr lang="zh-CN" altLang="en-US" sz="2000" b="1">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zh-CN" altLang="en-US" sz="2000" b="1">
                <a:latin typeface="Times New Roman" panose="02020603050405020304" pitchFamily="18" charset="0"/>
                <a:ea typeface="华文楷体" panose="02010600040101010101" pitchFamily="2" charset="-122"/>
              </a:rPr>
              <a:t>乘      	  	 </a:t>
            </a:r>
            <a:r>
              <a:rPr lang="en-US" altLang="zh-CN" sz="2000" b="1">
                <a:latin typeface="Times New Roman" panose="02020603050405020304" pitchFamily="18" charset="0"/>
                <a:ea typeface="华文楷体" panose="02010600040101010101" pitchFamily="2" charset="-122"/>
              </a:rPr>
              <a:t>*		</a:t>
            </a:r>
            <a:r>
              <a:rPr lang="zh-CN" altLang="en-US" sz="2000" b="1">
                <a:latin typeface="Times New Roman" panose="02020603050405020304" pitchFamily="18" charset="0"/>
                <a:ea typeface="华文楷体" panose="02010600040101010101" pitchFamily="2" charset="-122"/>
              </a:rPr>
              <a:t>矩阵乘法</a:t>
            </a:r>
            <a:endParaRPr lang="zh-CN" altLang="en-US" sz="2000" b="1">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zh-CN" altLang="en-US" sz="2000" b="1">
                <a:latin typeface="Times New Roman" panose="02020603050405020304" pitchFamily="18" charset="0"/>
                <a:ea typeface="华文楷体" panose="02010600040101010101" pitchFamily="2" charset="-122"/>
              </a:rPr>
              <a:t>点乘      	 	 </a:t>
            </a:r>
            <a:r>
              <a:rPr lang="en-US" altLang="zh-CN" sz="2000" b="1">
                <a:latin typeface="Times New Roman" panose="02020603050405020304" pitchFamily="18" charset="0"/>
                <a:ea typeface="华文楷体" panose="02010600040101010101" pitchFamily="2" charset="-122"/>
              </a:rPr>
              <a:t>.* 		</a:t>
            </a:r>
            <a:r>
              <a:rPr lang="zh-CN" altLang="en-US" sz="2000" b="1">
                <a:latin typeface="Times New Roman" panose="02020603050405020304" pitchFamily="18" charset="0"/>
                <a:ea typeface="华文楷体" panose="02010600040101010101" pitchFamily="2" charset="-122"/>
              </a:rPr>
              <a:t>相应元素相乘</a:t>
            </a:r>
            <a:endParaRPr lang="zh-CN" altLang="en-US" sz="2000" b="1">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zh-CN" altLang="en-US" sz="2000" b="1">
                <a:latin typeface="Times New Roman" panose="02020603050405020304" pitchFamily="18" charset="0"/>
                <a:ea typeface="华文楷体" panose="02010600040101010101" pitchFamily="2" charset="-122"/>
              </a:rPr>
              <a:t>幂	 	  	 </a:t>
            </a:r>
            <a:r>
              <a:rPr lang="en-US" altLang="zh-CN" sz="2000" b="1">
                <a:latin typeface="Times New Roman" panose="02020603050405020304" pitchFamily="18" charset="0"/>
                <a:ea typeface="华文楷体" panose="02010600040101010101" pitchFamily="2" charset="-122"/>
              </a:rPr>
              <a:t>^ 		</a:t>
            </a:r>
            <a:r>
              <a:rPr lang="zh-CN" altLang="en-US" sz="2000" b="1">
                <a:latin typeface="Times New Roman" panose="02020603050405020304" pitchFamily="18" charset="0"/>
                <a:ea typeface="华文楷体" panose="02010600040101010101" pitchFamily="2" charset="-122"/>
              </a:rPr>
              <a:t>矩阵幂运算</a:t>
            </a:r>
            <a:endParaRPr lang="zh-CN" altLang="en-US" sz="2000" b="1">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zh-CN" altLang="en-US" sz="2000" b="1">
                <a:latin typeface="Times New Roman" panose="02020603050405020304" pitchFamily="18" charset="0"/>
                <a:ea typeface="华文楷体" panose="02010600040101010101" pitchFamily="2" charset="-122"/>
              </a:rPr>
              <a:t>点幂	  	 	 </a:t>
            </a:r>
            <a:r>
              <a:rPr lang="en-US" altLang="zh-CN" sz="2000" b="1">
                <a:latin typeface="Times New Roman" panose="02020603050405020304" pitchFamily="18" charset="0"/>
                <a:ea typeface="华文楷体" panose="02010600040101010101" pitchFamily="2" charset="-122"/>
              </a:rPr>
              <a:t>.^		</a:t>
            </a:r>
            <a:r>
              <a:rPr lang="zh-CN" altLang="en-US" sz="2000" b="1">
                <a:latin typeface="Times New Roman" panose="02020603050405020304" pitchFamily="18" charset="0"/>
                <a:ea typeface="华文楷体" panose="02010600040101010101" pitchFamily="2" charset="-122"/>
              </a:rPr>
              <a:t>相应元素进行幂运算</a:t>
            </a:r>
            <a:endParaRPr lang="zh-CN" altLang="en-US" sz="2000" b="1">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zh-CN" altLang="en-US" sz="2000" b="1">
                <a:latin typeface="Times New Roman" panose="02020603050405020304" pitchFamily="18" charset="0"/>
                <a:ea typeface="华文楷体" panose="02010600040101010101" pitchFamily="2" charset="-122"/>
              </a:rPr>
              <a:t>左除或右除		</a:t>
            </a:r>
            <a:r>
              <a:rPr lang="en-US" altLang="zh-CN" sz="2000" b="1">
                <a:latin typeface="Times New Roman" panose="02020603050405020304" pitchFamily="18" charset="0"/>
                <a:ea typeface="华文楷体" panose="02010600040101010101" pitchFamily="2" charset="-122"/>
              </a:rPr>
              <a:t>\</a:t>
            </a:r>
            <a:r>
              <a:rPr lang="zh-CN" altLang="en-US" sz="2000" b="1">
                <a:latin typeface="Times New Roman" panose="02020603050405020304" pitchFamily="18" charset="0"/>
                <a:ea typeface="华文楷体" panose="02010600040101010101" pitchFamily="2" charset="-122"/>
              </a:rPr>
              <a:t>或</a:t>
            </a:r>
            <a:r>
              <a:rPr lang="en-US" altLang="zh-CN" sz="2000" b="1">
                <a:latin typeface="Times New Roman" panose="02020603050405020304" pitchFamily="18" charset="0"/>
                <a:ea typeface="华文楷体" panose="02010600040101010101" pitchFamily="2" charset="-122"/>
              </a:rPr>
              <a:t>	</a:t>
            </a:r>
            <a:r>
              <a:rPr lang="zh-CN" altLang="en-US" sz="2000" b="1">
                <a:latin typeface="Times New Roman" panose="02020603050405020304" pitchFamily="18" charset="0"/>
                <a:ea typeface="华文楷体" panose="02010600040101010101" pitchFamily="2" charset="-122"/>
              </a:rPr>
              <a:t>矩阵左除或右除 </a:t>
            </a:r>
            <a:endParaRPr lang="zh-CN" altLang="en-US" sz="2000" b="1">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zh-CN" altLang="en-US" sz="2000" b="1">
                <a:latin typeface="Times New Roman" panose="02020603050405020304" pitchFamily="18" charset="0"/>
                <a:ea typeface="华文楷体" panose="02010600040101010101" pitchFamily="2" charset="-122"/>
              </a:rPr>
              <a:t>左点除或右点除      </a:t>
            </a:r>
            <a:r>
              <a:rPr lang="en-US" altLang="zh-CN" sz="2000" b="1">
                <a:latin typeface="Times New Roman" panose="02020603050405020304" pitchFamily="18" charset="0"/>
                <a:ea typeface="华文楷体" panose="02010600040101010101" pitchFamily="2" charset="-122"/>
              </a:rPr>
              <a:t>.\</a:t>
            </a:r>
            <a:r>
              <a:rPr lang="zh-CN" altLang="en-US" sz="2000" b="1">
                <a:latin typeface="Times New Roman" panose="02020603050405020304" pitchFamily="18" charset="0"/>
                <a:ea typeface="华文楷体" panose="02010600040101010101" pitchFamily="2" charset="-122"/>
              </a:rPr>
              <a:t>或</a:t>
            </a:r>
            <a:r>
              <a:rPr lang="en-US" altLang="zh-CN" sz="2000" b="1">
                <a:latin typeface="Times New Roman" panose="02020603050405020304" pitchFamily="18" charset="0"/>
                <a:ea typeface="华文楷体" panose="02010600040101010101" pitchFamily="2" charset="-122"/>
              </a:rPr>
              <a:t>./		A</a:t>
            </a:r>
            <a:r>
              <a:rPr lang="zh-CN" altLang="en-US" sz="2000" b="1">
                <a:latin typeface="Times New Roman" panose="02020603050405020304" pitchFamily="18" charset="0"/>
                <a:ea typeface="华文楷体" panose="02010600040101010101" pitchFamily="2" charset="-122"/>
              </a:rPr>
              <a:t>的元素被</a:t>
            </a:r>
            <a:r>
              <a:rPr lang="en-US" altLang="zh-CN" sz="2000" b="1">
                <a:latin typeface="Times New Roman" panose="02020603050405020304" pitchFamily="18" charset="0"/>
                <a:ea typeface="华文楷体" panose="02010600040101010101" pitchFamily="2" charset="-122"/>
              </a:rPr>
              <a:t>B</a:t>
            </a:r>
            <a:r>
              <a:rPr lang="zh-CN" altLang="en-US" sz="2000" b="1">
                <a:latin typeface="Times New Roman" panose="02020603050405020304" pitchFamily="18" charset="0"/>
                <a:ea typeface="华文楷体" panose="02010600040101010101" pitchFamily="2" charset="-122"/>
              </a:rPr>
              <a:t>的对应元素除 </a:t>
            </a:r>
            <a:endParaRPr lang="zh-CN" altLang="en-US" sz="2000" b="1">
              <a:latin typeface="Times New Roman" panose="02020603050405020304" pitchFamily="18" charset="0"/>
              <a:ea typeface="华文楷体" panose="02010600040101010101" pitchFamily="2" charset="-122"/>
            </a:endParaRPr>
          </a:p>
        </p:txBody>
      </p:sp>
      <p:grpSp>
        <p:nvGrpSpPr>
          <p:cNvPr id="2" name="组合 180227"/>
          <p:cNvGrpSpPr/>
          <p:nvPr/>
        </p:nvGrpSpPr>
        <p:grpSpPr bwMode="auto">
          <a:xfrm>
            <a:off x="3035300" y="2673351"/>
            <a:ext cx="5653088" cy="396875"/>
            <a:chOff x="1088" y="1729"/>
            <a:chExt cx="3561" cy="250"/>
          </a:xfrm>
        </p:grpSpPr>
        <p:sp>
          <p:nvSpPr>
            <p:cNvPr id="82952" name="直接连接符 180228"/>
            <p:cNvSpPr>
              <a:spLocks noChangeShapeType="1"/>
            </p:cNvSpPr>
            <p:nvPr/>
          </p:nvSpPr>
          <p:spPr bwMode="auto">
            <a:xfrm>
              <a:off x="1088" y="1729"/>
              <a:ext cx="3561" cy="0"/>
            </a:xfrm>
            <a:prstGeom prst="line">
              <a:avLst/>
            </a:prstGeom>
            <a:noFill/>
            <a:ln w="9525">
              <a:solidFill>
                <a:srgbClr val="0000FF"/>
              </a:solidFill>
              <a:prstDash val="dash"/>
              <a:round/>
            </a:ln>
          </p:spPr>
          <p:txBody>
            <a:bodyPr/>
            <a:lstStyle/>
            <a:p>
              <a:endParaRPr lang="zh-CN" altLang="en-US"/>
            </a:p>
          </p:txBody>
        </p:sp>
        <p:sp>
          <p:nvSpPr>
            <p:cNvPr id="82953" name="直接连接符 180229"/>
            <p:cNvSpPr>
              <a:spLocks noChangeShapeType="1"/>
            </p:cNvSpPr>
            <p:nvPr/>
          </p:nvSpPr>
          <p:spPr bwMode="auto">
            <a:xfrm>
              <a:off x="1088" y="1979"/>
              <a:ext cx="3561" cy="0"/>
            </a:xfrm>
            <a:prstGeom prst="line">
              <a:avLst/>
            </a:prstGeom>
            <a:noFill/>
            <a:ln w="9525">
              <a:solidFill>
                <a:srgbClr val="0000FF"/>
              </a:solidFill>
              <a:prstDash val="dash"/>
              <a:round/>
            </a:ln>
          </p:spPr>
          <p:txBody>
            <a:bodyPr/>
            <a:lstStyle/>
            <a:p>
              <a:endParaRPr lang="zh-CN" altLang="en-US"/>
            </a:p>
          </p:txBody>
        </p:sp>
      </p:grpSp>
      <p:sp>
        <p:nvSpPr>
          <p:cNvPr id="83974"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1BABE830-A973-42E4-A39B-E9C85D231757}" type="datetime1">
              <a:rPr lang="zh-CN" altLang="en-US" smtClean="0">
                <a:solidFill>
                  <a:srgbClr val="45516B"/>
                </a:solidFill>
              </a:rPr>
            </a:fld>
            <a:endParaRPr lang="zh-CN" altLang="en-US">
              <a:solidFill>
                <a:srgbClr val="45516B"/>
              </a:solidFill>
            </a:endParaRPr>
          </a:p>
        </p:txBody>
      </p:sp>
      <p:sp>
        <p:nvSpPr>
          <p:cNvPr id="83975"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82951" name="灯片编号占位符 3"/>
          <p:cNvSpPr>
            <a:spLocks noGrp="1" noChangeArrowheads="1"/>
          </p:cNvSpPr>
          <p:nvPr>
            <p:ph type="sldNum" sz="quarter" idx="12"/>
          </p:nvPr>
        </p:nvSpPr>
        <p:spPr bwMode="auto">
          <a:noFill/>
          <a:ln>
            <a:miter lim="800000"/>
          </a:ln>
        </p:spPr>
        <p:txBody>
          <a:bodyPr/>
          <a:lstStyle/>
          <a:p>
            <a:fld id="{93FB308B-E637-4797-8FE0-AE2F66F350C3}"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0227">
                                            <p:txEl>
                                              <p:pRg st="0" end="0"/>
                                            </p:txEl>
                                          </p:spTgt>
                                        </p:tgtEl>
                                        <p:attrNameLst>
                                          <p:attrName>style.visibility</p:attrName>
                                        </p:attrNameLst>
                                      </p:cBhvr>
                                      <p:to>
                                        <p:strVal val="visible"/>
                                      </p:to>
                                    </p:set>
                                    <p:animEffect transition="in" filter="blinds(horizontal)">
                                      <p:cBhvr>
                                        <p:cTn id="7" dur="500"/>
                                        <p:tgtEl>
                                          <p:spTgt spid="1802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0227">
                                            <p:txEl>
                                              <p:pRg st="1" end="1"/>
                                            </p:txEl>
                                          </p:spTgt>
                                        </p:tgtEl>
                                        <p:attrNameLst>
                                          <p:attrName>style.visibility</p:attrName>
                                        </p:attrNameLst>
                                      </p:cBhvr>
                                      <p:to>
                                        <p:strVal val="visible"/>
                                      </p:to>
                                    </p:set>
                                    <p:animEffect transition="in" filter="blinds(horizontal)">
                                      <p:cBhvr>
                                        <p:cTn id="12" dur="500"/>
                                        <p:tgtEl>
                                          <p:spTgt spid="1802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80227">
                                            <p:txEl>
                                              <p:pRg st="2" end="2"/>
                                            </p:txEl>
                                          </p:spTgt>
                                        </p:tgtEl>
                                        <p:attrNameLst>
                                          <p:attrName>style.visibility</p:attrName>
                                        </p:attrNameLst>
                                      </p:cBhvr>
                                      <p:to>
                                        <p:strVal val="visible"/>
                                      </p:to>
                                    </p:set>
                                    <p:animEffect transition="in" filter="blinds(horizontal)">
                                      <p:cBhvr>
                                        <p:cTn id="17" dur="500"/>
                                        <p:tgtEl>
                                          <p:spTgt spid="1802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80227">
                                            <p:txEl>
                                              <p:pRg st="3" end="3"/>
                                            </p:txEl>
                                          </p:spTgt>
                                        </p:tgtEl>
                                        <p:attrNameLst>
                                          <p:attrName>style.visibility</p:attrName>
                                        </p:attrNameLst>
                                      </p:cBhvr>
                                      <p:to>
                                        <p:strVal val="visible"/>
                                      </p:to>
                                    </p:set>
                                    <p:animEffect transition="in" filter="blinds(horizontal)">
                                      <p:cBhvr>
                                        <p:cTn id="27" dur="500"/>
                                        <p:tgtEl>
                                          <p:spTgt spid="18022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80227">
                                            <p:txEl>
                                              <p:pRg st="4" end="4"/>
                                            </p:txEl>
                                          </p:spTgt>
                                        </p:tgtEl>
                                        <p:attrNameLst>
                                          <p:attrName>style.visibility</p:attrName>
                                        </p:attrNameLst>
                                      </p:cBhvr>
                                      <p:to>
                                        <p:strVal val="visible"/>
                                      </p:to>
                                    </p:set>
                                    <p:animEffect transition="in" filter="wipe(up)">
                                      <p:cBhvr>
                                        <p:cTn id="32" dur="500"/>
                                        <p:tgtEl>
                                          <p:spTgt spid="180227">
                                            <p:txEl>
                                              <p:pRg st="4" end="4"/>
                                            </p:txEl>
                                          </p:spTgt>
                                        </p:tgtEl>
                                      </p:cBhvr>
                                    </p:animEffect>
                                  </p:childTnLst>
                                </p:cTn>
                              </p:par>
                              <p:par>
                                <p:cTn id="33" presetID="22" presetClass="entr" presetSubtype="1" fill="hold" nodeType="withEffect">
                                  <p:stCondLst>
                                    <p:cond delay="0"/>
                                  </p:stCondLst>
                                  <p:childTnLst>
                                    <p:set>
                                      <p:cBhvr>
                                        <p:cTn id="34" dur="1" fill="hold">
                                          <p:stCondLst>
                                            <p:cond delay="0"/>
                                          </p:stCondLst>
                                        </p:cTn>
                                        <p:tgtEl>
                                          <p:spTgt spid="180227">
                                            <p:txEl>
                                              <p:pRg st="5" end="5"/>
                                            </p:txEl>
                                          </p:spTgt>
                                        </p:tgtEl>
                                        <p:attrNameLst>
                                          <p:attrName>style.visibility</p:attrName>
                                        </p:attrNameLst>
                                      </p:cBhvr>
                                      <p:to>
                                        <p:strVal val="visible"/>
                                      </p:to>
                                    </p:set>
                                    <p:animEffect transition="in" filter="wipe(up)">
                                      <p:cBhvr>
                                        <p:cTn id="35" dur="500"/>
                                        <p:tgtEl>
                                          <p:spTgt spid="180227">
                                            <p:txEl>
                                              <p:pRg st="5" end="5"/>
                                            </p:txEl>
                                          </p:spTgt>
                                        </p:tgtEl>
                                      </p:cBhvr>
                                    </p:animEffect>
                                  </p:childTnLst>
                                </p:cTn>
                              </p:par>
                              <p:par>
                                <p:cTn id="36" presetID="22" presetClass="entr" presetSubtype="1" fill="hold" nodeType="withEffect">
                                  <p:stCondLst>
                                    <p:cond delay="0"/>
                                  </p:stCondLst>
                                  <p:childTnLst>
                                    <p:set>
                                      <p:cBhvr>
                                        <p:cTn id="37" dur="1" fill="hold">
                                          <p:stCondLst>
                                            <p:cond delay="0"/>
                                          </p:stCondLst>
                                        </p:cTn>
                                        <p:tgtEl>
                                          <p:spTgt spid="180227">
                                            <p:txEl>
                                              <p:pRg st="6" end="6"/>
                                            </p:txEl>
                                          </p:spTgt>
                                        </p:tgtEl>
                                        <p:attrNameLst>
                                          <p:attrName>style.visibility</p:attrName>
                                        </p:attrNameLst>
                                      </p:cBhvr>
                                      <p:to>
                                        <p:strVal val="visible"/>
                                      </p:to>
                                    </p:set>
                                    <p:animEffect transition="in" filter="wipe(up)">
                                      <p:cBhvr>
                                        <p:cTn id="38" dur="500"/>
                                        <p:tgtEl>
                                          <p:spTgt spid="180227">
                                            <p:txEl>
                                              <p:pRg st="6" end="6"/>
                                            </p:txEl>
                                          </p:spTgt>
                                        </p:tgtEl>
                                      </p:cBhvr>
                                    </p:animEffect>
                                  </p:childTnLst>
                                </p:cTn>
                              </p:par>
                              <p:par>
                                <p:cTn id="39" presetID="22" presetClass="entr" presetSubtype="1" fill="hold" nodeType="withEffect">
                                  <p:stCondLst>
                                    <p:cond delay="0"/>
                                  </p:stCondLst>
                                  <p:childTnLst>
                                    <p:set>
                                      <p:cBhvr>
                                        <p:cTn id="40" dur="1" fill="hold">
                                          <p:stCondLst>
                                            <p:cond delay="0"/>
                                          </p:stCondLst>
                                        </p:cTn>
                                        <p:tgtEl>
                                          <p:spTgt spid="180227">
                                            <p:txEl>
                                              <p:pRg st="7" end="7"/>
                                            </p:txEl>
                                          </p:spTgt>
                                        </p:tgtEl>
                                        <p:attrNameLst>
                                          <p:attrName>style.visibility</p:attrName>
                                        </p:attrNameLst>
                                      </p:cBhvr>
                                      <p:to>
                                        <p:strVal val="visible"/>
                                      </p:to>
                                    </p:set>
                                    <p:animEffect transition="in" filter="wipe(up)">
                                      <p:cBhvr>
                                        <p:cTn id="41" dur="500"/>
                                        <p:tgtEl>
                                          <p:spTgt spid="180227">
                                            <p:txEl>
                                              <p:pRg st="7" end="7"/>
                                            </p:txEl>
                                          </p:spTgt>
                                        </p:tgtEl>
                                      </p:cBhvr>
                                    </p:animEffect>
                                  </p:childTnLst>
                                </p:cTn>
                              </p:par>
                              <p:par>
                                <p:cTn id="42" presetID="22" presetClass="entr" presetSubtype="1" fill="hold" nodeType="withEffect">
                                  <p:stCondLst>
                                    <p:cond delay="0"/>
                                  </p:stCondLst>
                                  <p:childTnLst>
                                    <p:set>
                                      <p:cBhvr>
                                        <p:cTn id="43" dur="1" fill="hold">
                                          <p:stCondLst>
                                            <p:cond delay="0"/>
                                          </p:stCondLst>
                                        </p:cTn>
                                        <p:tgtEl>
                                          <p:spTgt spid="180227">
                                            <p:txEl>
                                              <p:pRg st="8" end="8"/>
                                            </p:txEl>
                                          </p:spTgt>
                                        </p:tgtEl>
                                        <p:attrNameLst>
                                          <p:attrName>style.visibility</p:attrName>
                                        </p:attrNameLst>
                                      </p:cBhvr>
                                      <p:to>
                                        <p:strVal val="visible"/>
                                      </p:to>
                                    </p:set>
                                    <p:animEffect transition="in" filter="wipe(up)">
                                      <p:cBhvr>
                                        <p:cTn id="44" dur="500"/>
                                        <p:tgtEl>
                                          <p:spTgt spid="180227">
                                            <p:txEl>
                                              <p:pRg st="8" end="8"/>
                                            </p:txEl>
                                          </p:spTgt>
                                        </p:tgtEl>
                                      </p:cBhvr>
                                    </p:animEffect>
                                  </p:childTnLst>
                                </p:cTn>
                              </p:par>
                              <p:par>
                                <p:cTn id="45" presetID="22" presetClass="entr" presetSubtype="1" fill="hold" nodeType="withEffect">
                                  <p:stCondLst>
                                    <p:cond delay="0"/>
                                  </p:stCondLst>
                                  <p:childTnLst>
                                    <p:set>
                                      <p:cBhvr>
                                        <p:cTn id="46" dur="1" fill="hold">
                                          <p:stCondLst>
                                            <p:cond delay="0"/>
                                          </p:stCondLst>
                                        </p:cTn>
                                        <p:tgtEl>
                                          <p:spTgt spid="180227">
                                            <p:txEl>
                                              <p:pRg st="9" end="9"/>
                                            </p:txEl>
                                          </p:spTgt>
                                        </p:tgtEl>
                                        <p:attrNameLst>
                                          <p:attrName>style.visibility</p:attrName>
                                        </p:attrNameLst>
                                      </p:cBhvr>
                                      <p:to>
                                        <p:strVal val="visible"/>
                                      </p:to>
                                    </p:set>
                                    <p:animEffect transition="in" filter="wipe(up)">
                                      <p:cBhvr>
                                        <p:cTn id="47" dur="500"/>
                                        <p:tgtEl>
                                          <p:spTgt spid="180227">
                                            <p:txEl>
                                              <p:pRg st="9" end="9"/>
                                            </p:txEl>
                                          </p:spTgt>
                                        </p:tgtEl>
                                      </p:cBhvr>
                                    </p:animEffect>
                                  </p:childTnLst>
                                </p:cTn>
                              </p:par>
                              <p:par>
                                <p:cTn id="48" presetID="22" presetClass="entr" presetSubtype="1" fill="hold" nodeType="withEffect">
                                  <p:stCondLst>
                                    <p:cond delay="0"/>
                                  </p:stCondLst>
                                  <p:childTnLst>
                                    <p:set>
                                      <p:cBhvr>
                                        <p:cTn id="49" dur="1" fill="hold">
                                          <p:stCondLst>
                                            <p:cond delay="0"/>
                                          </p:stCondLst>
                                        </p:cTn>
                                        <p:tgtEl>
                                          <p:spTgt spid="180227">
                                            <p:txEl>
                                              <p:pRg st="10" end="10"/>
                                            </p:txEl>
                                          </p:spTgt>
                                        </p:tgtEl>
                                        <p:attrNameLst>
                                          <p:attrName>style.visibility</p:attrName>
                                        </p:attrNameLst>
                                      </p:cBhvr>
                                      <p:to>
                                        <p:strVal val="visible"/>
                                      </p:to>
                                    </p:set>
                                    <p:animEffect transition="in" filter="wipe(up)">
                                      <p:cBhvr>
                                        <p:cTn id="50" dur="500"/>
                                        <p:tgtEl>
                                          <p:spTgt spid="180227">
                                            <p:txEl>
                                              <p:pRg st="10" end="10"/>
                                            </p:txEl>
                                          </p:spTgt>
                                        </p:tgtEl>
                                      </p:cBhvr>
                                    </p:animEffect>
                                  </p:childTnLst>
                                </p:cTn>
                              </p:par>
                              <p:par>
                                <p:cTn id="51" presetID="22" presetClass="entr" presetSubtype="1" fill="hold" nodeType="withEffect">
                                  <p:stCondLst>
                                    <p:cond delay="0"/>
                                  </p:stCondLst>
                                  <p:childTnLst>
                                    <p:set>
                                      <p:cBhvr>
                                        <p:cTn id="52" dur="1" fill="hold">
                                          <p:stCondLst>
                                            <p:cond delay="0"/>
                                          </p:stCondLst>
                                        </p:cTn>
                                        <p:tgtEl>
                                          <p:spTgt spid="180227">
                                            <p:txEl>
                                              <p:pRg st="11" end="11"/>
                                            </p:txEl>
                                          </p:spTgt>
                                        </p:tgtEl>
                                        <p:attrNameLst>
                                          <p:attrName>style.visibility</p:attrName>
                                        </p:attrNameLst>
                                      </p:cBhvr>
                                      <p:to>
                                        <p:strVal val="visible"/>
                                      </p:to>
                                    </p:set>
                                    <p:animEffect transition="in" filter="wipe(up)">
                                      <p:cBhvr>
                                        <p:cTn id="53" dur="500"/>
                                        <p:tgtEl>
                                          <p:spTgt spid="18022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95585"/>
          <p:cNvSpPr>
            <a:spLocks noGrp="1" noChangeArrowheads="1"/>
          </p:cNvSpPr>
          <p:nvPr>
            <p:ph type="title"/>
          </p:nvPr>
        </p:nvSpPr>
        <p:spPr>
          <a:xfrm>
            <a:off x="2674939" y="260350"/>
            <a:ext cx="7793037" cy="647700"/>
          </a:xfrm>
        </p:spPr>
        <p:txBody>
          <a:bodyPr/>
          <a:lstStyle/>
          <a:p>
            <a:pPr marL="685800" indent="-685800"/>
            <a:r>
              <a:rPr lang="en-US" altLang="zh-CN" sz="3600" b="1">
                <a:latin typeface="Times New Roman" panose="02020603050405020304" pitchFamily="18" charset="0"/>
                <a:ea typeface="华文楷体" panose="02010600040101010101" pitchFamily="2" charset="-122"/>
              </a:rPr>
              <a:t>6.1 </a:t>
            </a:r>
            <a:r>
              <a:rPr lang="zh-CN" altLang="en-US" sz="3600" b="1">
                <a:latin typeface="Times New Roman" panose="02020603050405020304" pitchFamily="18" charset="0"/>
                <a:ea typeface="华文楷体" panose="02010600040101010101" pitchFamily="2" charset="-122"/>
              </a:rPr>
              <a:t>矩阵函数</a:t>
            </a:r>
            <a:endParaRPr lang="zh-CN" altLang="en-US" sz="3600" b="1">
              <a:latin typeface="Times New Roman" panose="02020603050405020304" pitchFamily="18" charset="0"/>
              <a:ea typeface="华文楷体" panose="02010600040101010101" pitchFamily="2" charset="-122"/>
            </a:endParaRPr>
          </a:p>
        </p:txBody>
      </p:sp>
      <p:sp>
        <p:nvSpPr>
          <p:cNvPr id="195587" name="内容占位符 195586"/>
          <p:cNvSpPr>
            <a:spLocks noGrp="1" noChangeArrowheads="1"/>
          </p:cNvSpPr>
          <p:nvPr>
            <p:ph idx="1"/>
          </p:nvPr>
        </p:nvSpPr>
        <p:spPr/>
        <p:txBody>
          <a:bodyPr/>
          <a:lstStyle/>
          <a:p>
            <a:pPr eaLnBrk="1" hangingPunct="1">
              <a:lnSpc>
                <a:spcPct val="125000"/>
              </a:lnSpc>
            </a:pPr>
            <a:r>
              <a:rPr lang="zh-CN" altLang="en-US" sz="2000" b="1" dirty="0">
                <a:solidFill>
                  <a:srgbClr val="0000FF"/>
                </a:solidFill>
                <a:latin typeface="Times New Roman" panose="02020603050405020304" pitchFamily="18" charset="0"/>
                <a:ea typeface="华文楷体" panose="02010600040101010101" pitchFamily="2" charset="-122"/>
              </a:rPr>
              <a:t>矩阵运算</a:t>
            </a:r>
            <a:endParaRPr lang="zh-CN" altLang="en-US" sz="2000" b="1" dirty="0">
              <a:solidFill>
                <a:srgbClr val="0000FF"/>
              </a:solidFill>
              <a:latin typeface="Times New Roman" panose="02020603050405020304" pitchFamily="18" charset="0"/>
              <a:ea typeface="华文楷体" panose="02010600040101010101" pitchFamily="2" charset="-122"/>
            </a:endParaRPr>
          </a:p>
          <a:p>
            <a:pPr>
              <a:lnSpc>
                <a:spcPct val="125000"/>
              </a:lnSpc>
              <a:buNone/>
            </a:pPr>
            <a:r>
              <a:rPr lang="en-US" altLang="zh-CN" sz="2000" b="1" dirty="0">
                <a:solidFill>
                  <a:schemeClr val="hlink"/>
                </a:solidFill>
                <a:latin typeface="Times New Roman" panose="02020603050405020304" pitchFamily="18" charset="0"/>
                <a:ea typeface="华文楷体" panose="02010600040101010101" pitchFamily="2" charset="-122"/>
              </a:rPr>
              <a:t>inv(X)</a:t>
            </a:r>
            <a:r>
              <a:rPr lang="zh-CN" altLang="en-US" sz="2000" b="1" dirty="0">
                <a:solidFill>
                  <a:schemeClr val="hlink"/>
                </a:solidFill>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返回</a:t>
            </a:r>
            <a:r>
              <a:rPr lang="zh-CN" altLang="en-US" sz="2000" b="1" dirty="0">
                <a:latin typeface="Times New Roman" panose="02020603050405020304" pitchFamily="18" charset="0"/>
                <a:ea typeface="华文楷体" panose="02010600040101010101" pitchFamily="2" charset="-122"/>
                <a:sym typeface="+mn-ea"/>
              </a:rPr>
              <a:t>方阵</a:t>
            </a:r>
            <a:r>
              <a:rPr lang="en-US" altLang="zh-CN" sz="2000" b="1" dirty="0">
                <a:latin typeface="Times New Roman" panose="02020603050405020304" pitchFamily="18" charset="0"/>
                <a:ea typeface="华文楷体" panose="02010600040101010101" pitchFamily="2" charset="-122"/>
                <a:sym typeface="+mn-ea"/>
              </a:rPr>
              <a:t>X</a:t>
            </a:r>
            <a:r>
              <a:rPr lang="zh-CN" altLang="en-US" sz="2000" b="1" dirty="0">
                <a:latin typeface="Times New Roman" panose="02020603050405020304" pitchFamily="18" charset="0"/>
                <a:ea typeface="华文楷体" panose="02010600040101010101" pitchFamily="2" charset="-122"/>
              </a:rPr>
              <a:t>的逆矩阵。        </a:t>
            </a:r>
            <a:r>
              <a:rPr lang="en-US" altLang="zh-CN" sz="2000" b="1" dirty="0">
                <a:solidFill>
                  <a:schemeClr val="hlink"/>
                </a:solidFill>
                <a:latin typeface="Times New Roman" panose="02020603050405020304" pitchFamily="18" charset="0"/>
                <a:ea typeface="华文楷体" panose="02010600040101010101" pitchFamily="2" charset="-122"/>
              </a:rPr>
              <a:t>det(X)</a:t>
            </a:r>
            <a:r>
              <a:rPr lang="zh-CN" altLang="en-US" sz="2000" b="1" dirty="0">
                <a:solidFill>
                  <a:schemeClr val="hlink"/>
                </a:solidFill>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返回方阵</a:t>
            </a:r>
            <a:r>
              <a:rPr lang="en-US" altLang="zh-CN" sz="2000" b="1" dirty="0">
                <a:latin typeface="Times New Roman" panose="02020603050405020304" pitchFamily="18" charset="0"/>
                <a:ea typeface="华文楷体" panose="02010600040101010101" pitchFamily="2" charset="-122"/>
              </a:rPr>
              <a:t>X</a:t>
            </a:r>
            <a:r>
              <a:rPr lang="zh-CN" altLang="en-US" sz="2000" b="1" dirty="0">
                <a:latin typeface="Times New Roman" panose="02020603050405020304" pitchFamily="18" charset="0"/>
                <a:ea typeface="华文楷体" panose="02010600040101010101" pitchFamily="2" charset="-122"/>
              </a:rPr>
              <a:t>的行列</a:t>
            </a:r>
            <a:r>
              <a:rPr lang="zh-CN" altLang="en-US" sz="2000" b="1" dirty="0">
                <a:latin typeface="Times New Roman" panose="02020603050405020304" pitchFamily="18" charset="0"/>
                <a:ea typeface="华文楷体" panose="02010600040101010101" pitchFamily="2" charset="-122"/>
              </a:rPr>
              <a:t>式值。       </a:t>
            </a:r>
            <a:endParaRPr lang="zh-CN" altLang="en-US" sz="2000" b="1" dirty="0">
              <a:latin typeface="Times New Roman" panose="02020603050405020304" pitchFamily="18" charset="0"/>
              <a:ea typeface="华文楷体" panose="02010600040101010101" pitchFamily="2" charset="-122"/>
            </a:endParaRPr>
          </a:p>
          <a:p>
            <a:pPr>
              <a:lnSpc>
                <a:spcPct val="125000"/>
              </a:lnSpc>
              <a:buNone/>
            </a:pPr>
            <a:r>
              <a:rPr lang="en-US" altLang="zh-CN" sz="2000" b="1" dirty="0" err="1">
                <a:solidFill>
                  <a:schemeClr val="hlink"/>
                </a:solidFill>
                <a:latin typeface="Times New Roman" panose="02020603050405020304" pitchFamily="18" charset="0"/>
                <a:ea typeface="华文楷体" panose="02010600040101010101" pitchFamily="2" charset="-122"/>
              </a:rPr>
              <a:t>pinv</a:t>
            </a:r>
            <a:r>
              <a:rPr lang="en-US" altLang="zh-CN" sz="2000" b="1" dirty="0">
                <a:solidFill>
                  <a:schemeClr val="hlink"/>
                </a:solidFill>
                <a:latin typeface="Times New Roman" panose="02020603050405020304" pitchFamily="18" charset="0"/>
                <a:ea typeface="华文楷体" panose="02010600040101010101" pitchFamily="2" charset="-122"/>
              </a:rPr>
              <a:t>(X)</a:t>
            </a:r>
            <a:r>
              <a:rPr lang="zh-CN" altLang="en-US" sz="2000" b="1" dirty="0">
                <a:solidFill>
                  <a:schemeClr val="hlink"/>
                </a:solidFill>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返回向量</a:t>
            </a:r>
            <a:r>
              <a:rPr lang="en-US" altLang="zh-CN" sz="2000" b="1" dirty="0">
                <a:latin typeface="Times New Roman" panose="02020603050405020304" pitchFamily="18" charset="0"/>
                <a:ea typeface="华文楷体" panose="02010600040101010101" pitchFamily="2" charset="-122"/>
              </a:rPr>
              <a:t>X</a:t>
            </a:r>
            <a:r>
              <a:rPr lang="zh-CN" altLang="en-US" sz="2000" b="1" dirty="0">
                <a:latin typeface="Times New Roman" panose="02020603050405020304" pitchFamily="18" charset="0"/>
                <a:ea typeface="华文楷体" panose="02010600040101010101" pitchFamily="2" charset="-122"/>
              </a:rPr>
              <a:t>的伪逆矩阵。 </a:t>
            </a:r>
            <a:r>
              <a:rPr lang="en-US" altLang="zh-CN" sz="2000" b="1" dirty="0">
                <a:solidFill>
                  <a:schemeClr val="hlink"/>
                </a:solidFill>
                <a:latin typeface="Times New Roman" panose="02020603050405020304" pitchFamily="18" charset="0"/>
                <a:ea typeface="华文楷体" panose="02010600040101010101" pitchFamily="2" charset="-122"/>
              </a:rPr>
              <a:t>X’</a:t>
            </a:r>
            <a:r>
              <a:rPr lang="zh-CN" altLang="en-US" sz="2000" b="1" dirty="0">
                <a:solidFill>
                  <a:schemeClr val="hlink"/>
                </a:solidFill>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返回向量</a:t>
            </a:r>
            <a:r>
              <a:rPr lang="en-US" altLang="zh-CN" sz="2000" b="1" dirty="0">
                <a:latin typeface="Times New Roman" panose="02020603050405020304" pitchFamily="18" charset="0"/>
                <a:ea typeface="华文楷体" panose="02010600040101010101" pitchFamily="2" charset="-122"/>
              </a:rPr>
              <a:t>X</a:t>
            </a:r>
            <a:r>
              <a:rPr lang="zh-CN" altLang="en-US" sz="2000" b="1" dirty="0">
                <a:latin typeface="Times New Roman" panose="02020603050405020304" pitchFamily="18" charset="0"/>
                <a:ea typeface="华文楷体" panose="02010600040101010101" pitchFamily="2" charset="-122"/>
              </a:rPr>
              <a:t>的转置矩阵。        </a:t>
            </a:r>
            <a:endParaRPr lang="zh-CN" altLang="en-US" sz="2000" b="1" dirty="0">
              <a:latin typeface="Times New Roman" panose="02020603050405020304" pitchFamily="18" charset="0"/>
              <a:ea typeface="华文楷体" panose="02010600040101010101" pitchFamily="2" charset="-122"/>
            </a:endParaRPr>
          </a:p>
          <a:p>
            <a:pPr eaLnBrk="1" hangingPunct="1">
              <a:lnSpc>
                <a:spcPct val="125000"/>
              </a:lnSpc>
              <a:buFont typeface="Wingdings" panose="05000000000000000000" pitchFamily="2" charset="2"/>
              <a:buNone/>
            </a:pPr>
            <a:r>
              <a:rPr lang="en-US" altLang="zh-CN" sz="2000" b="1" dirty="0">
                <a:solidFill>
                  <a:schemeClr val="hlink"/>
                </a:solidFill>
                <a:latin typeface="Times New Roman" panose="02020603050405020304" pitchFamily="18" charset="0"/>
                <a:ea typeface="华文楷体" panose="02010600040101010101" pitchFamily="2" charset="-122"/>
              </a:rPr>
              <a:t>[</a:t>
            </a:r>
            <a:r>
              <a:rPr lang="en-US" altLang="zh-CN" sz="2000" b="1" dirty="0" err="1">
                <a:solidFill>
                  <a:schemeClr val="hlink"/>
                </a:solidFill>
                <a:latin typeface="Times New Roman" panose="02020603050405020304" pitchFamily="18" charset="0"/>
                <a:ea typeface="华文楷体" panose="02010600040101010101" pitchFamily="2" charset="-122"/>
              </a:rPr>
              <a:t>u,v</a:t>
            </a:r>
            <a:r>
              <a:rPr lang="en-US" altLang="zh-CN" sz="2000" b="1" dirty="0">
                <a:solidFill>
                  <a:schemeClr val="hlink"/>
                </a:solidFill>
                <a:latin typeface="Times New Roman" panose="02020603050405020304" pitchFamily="18" charset="0"/>
                <a:ea typeface="华文楷体" panose="02010600040101010101" pitchFamily="2" charset="-122"/>
              </a:rPr>
              <a:t>]=</a:t>
            </a:r>
            <a:r>
              <a:rPr lang="en-US" altLang="zh-CN" sz="2000" b="1" dirty="0" err="1">
                <a:solidFill>
                  <a:schemeClr val="hlink"/>
                </a:solidFill>
                <a:latin typeface="Times New Roman" panose="02020603050405020304" pitchFamily="18" charset="0"/>
                <a:ea typeface="华文楷体" panose="02010600040101010101" pitchFamily="2" charset="-122"/>
              </a:rPr>
              <a:t>eig</a:t>
            </a:r>
            <a:r>
              <a:rPr lang="en-US" altLang="zh-CN" sz="2000" b="1" dirty="0">
                <a:solidFill>
                  <a:schemeClr val="hlink"/>
                </a:solidFill>
                <a:latin typeface="Times New Roman" panose="02020603050405020304" pitchFamily="18" charset="0"/>
                <a:ea typeface="华文楷体" panose="02010600040101010101" pitchFamily="2" charset="-122"/>
              </a:rPr>
              <a:t>(A)</a:t>
            </a:r>
            <a:r>
              <a:rPr lang="zh-CN" altLang="en-US" sz="2000" b="1" dirty="0">
                <a:solidFill>
                  <a:schemeClr val="hlink"/>
                </a:solidFill>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返回特征向量和特征值。</a:t>
            </a:r>
            <a:endParaRPr lang="zh-CN" altLang="en-US" sz="2000" b="1" dirty="0">
              <a:latin typeface="Times New Roman" panose="02020603050405020304" pitchFamily="18" charset="0"/>
              <a:ea typeface="华文楷体" panose="02010600040101010101" pitchFamily="2" charset="-122"/>
            </a:endParaRPr>
          </a:p>
          <a:p>
            <a:pPr eaLnBrk="1" hangingPunct="1">
              <a:lnSpc>
                <a:spcPct val="125000"/>
              </a:lnSpc>
              <a:buFont typeface="Wingdings" panose="05000000000000000000" pitchFamily="2" charset="2"/>
              <a:buNone/>
            </a:pPr>
            <a:r>
              <a:rPr lang="en-US" altLang="zh-CN" sz="2000" b="1" dirty="0">
                <a:solidFill>
                  <a:schemeClr val="hlink"/>
                </a:solidFill>
                <a:latin typeface="Times New Roman" panose="02020603050405020304" pitchFamily="18" charset="0"/>
                <a:ea typeface="华文楷体" panose="02010600040101010101" pitchFamily="2" charset="-122"/>
              </a:rPr>
              <a:t>rot90(A)</a:t>
            </a:r>
            <a:r>
              <a:rPr lang="zh-CN" altLang="en-US" sz="2000" b="1" dirty="0">
                <a:solidFill>
                  <a:schemeClr val="hlink"/>
                </a:solidFill>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旋转</a:t>
            </a:r>
            <a:r>
              <a:rPr lang="en-US" altLang="zh-CN" sz="2000" b="1" dirty="0">
                <a:latin typeface="Times New Roman" panose="02020603050405020304" pitchFamily="18" charset="0"/>
                <a:ea typeface="华文楷体" panose="02010600040101010101" pitchFamily="2" charset="-122"/>
              </a:rPr>
              <a:t>90</a:t>
            </a:r>
            <a:r>
              <a:rPr lang="zh-CN" altLang="en-US" sz="2000" b="1" dirty="0">
                <a:latin typeface="Times New Roman" panose="02020603050405020304" pitchFamily="18" charset="0"/>
                <a:ea typeface="华文楷体" panose="02010600040101010101" pitchFamily="2" charset="-122"/>
              </a:rPr>
              <a:t>。</a:t>
            </a:r>
            <a:endParaRPr lang="zh-CN" altLang="en-US" sz="2000" b="1" dirty="0">
              <a:latin typeface="Times New Roman" panose="02020603050405020304" pitchFamily="18" charset="0"/>
              <a:ea typeface="华文楷体" panose="02010600040101010101" pitchFamily="2" charset="-122"/>
            </a:endParaRPr>
          </a:p>
          <a:p>
            <a:pPr eaLnBrk="1" hangingPunct="1">
              <a:lnSpc>
                <a:spcPct val="125000"/>
              </a:lnSpc>
              <a:buFont typeface="Wingdings" panose="05000000000000000000" pitchFamily="2" charset="2"/>
              <a:buNone/>
            </a:pPr>
            <a:r>
              <a:rPr lang="en-US" altLang="zh-CN" sz="2000" b="1" dirty="0" err="1">
                <a:solidFill>
                  <a:schemeClr val="hlink"/>
                </a:solidFill>
                <a:latin typeface="Times New Roman" panose="02020603050405020304" pitchFamily="18" charset="0"/>
                <a:ea typeface="华文楷体" panose="02010600040101010101" pitchFamily="2" charset="-122"/>
              </a:rPr>
              <a:t>qr</a:t>
            </a:r>
            <a:r>
              <a:rPr lang="en-US" altLang="zh-CN" sz="2000" b="1" dirty="0">
                <a:solidFill>
                  <a:schemeClr val="hlink"/>
                </a:solidFill>
                <a:latin typeface="Times New Roman" panose="02020603050405020304" pitchFamily="18" charset="0"/>
                <a:ea typeface="华文楷体" panose="02010600040101010101" pitchFamily="2" charset="-122"/>
              </a:rPr>
              <a:t>(a)</a:t>
            </a:r>
            <a:r>
              <a:rPr lang="zh-CN" altLang="en-US" sz="2000" b="1" dirty="0">
                <a:solidFill>
                  <a:schemeClr val="hlink"/>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华文楷体" panose="02010600040101010101" pitchFamily="2" charset="-122"/>
              </a:rPr>
              <a:t> </a:t>
            </a:r>
            <a:r>
              <a:rPr lang="zh-CN" altLang="en-US" sz="2000" b="1" dirty="0">
                <a:latin typeface="Times New Roman" panose="02020603050405020304" pitchFamily="18" charset="0"/>
                <a:ea typeface="华文楷体" panose="02010600040101010101" pitchFamily="2" charset="-122"/>
              </a:rPr>
              <a:t>正交分解。</a:t>
            </a:r>
            <a:r>
              <a:rPr lang="en-US" altLang="zh-CN" sz="2000" b="1" dirty="0">
                <a:latin typeface="Times New Roman" panose="02020603050405020304" pitchFamily="18" charset="0"/>
                <a:ea typeface="华文楷体" panose="02010600040101010101" pitchFamily="2" charset="-122"/>
              </a:rPr>
              <a:t>*</a:t>
            </a:r>
            <a:endParaRPr lang="zh-CN" altLang="en-US" sz="2000" b="1" dirty="0">
              <a:latin typeface="Times New Roman" panose="02020603050405020304" pitchFamily="18" charset="0"/>
              <a:ea typeface="华文楷体" panose="02010600040101010101" pitchFamily="2" charset="-122"/>
            </a:endParaRPr>
          </a:p>
          <a:p>
            <a:pPr eaLnBrk="1" hangingPunct="1">
              <a:lnSpc>
                <a:spcPct val="125000"/>
              </a:lnSpc>
              <a:buFont typeface="Wingdings" panose="05000000000000000000" pitchFamily="2" charset="2"/>
              <a:buNone/>
            </a:pPr>
            <a:r>
              <a:rPr lang="en-US" altLang="zh-CN" sz="2000" b="1" dirty="0">
                <a:solidFill>
                  <a:schemeClr val="hlink"/>
                </a:solidFill>
                <a:latin typeface="Times New Roman" panose="02020603050405020304" pitchFamily="18" charset="0"/>
                <a:ea typeface="华文楷体" panose="02010600040101010101" pitchFamily="2" charset="-122"/>
              </a:rPr>
              <a:t>[</a:t>
            </a:r>
            <a:r>
              <a:rPr lang="en-US" altLang="zh-CN" sz="2000" b="1" dirty="0" err="1">
                <a:solidFill>
                  <a:schemeClr val="hlink"/>
                </a:solidFill>
                <a:latin typeface="Times New Roman" panose="02020603050405020304" pitchFamily="18" charset="0"/>
                <a:ea typeface="华文楷体" panose="02010600040101010101" pitchFamily="2" charset="-122"/>
              </a:rPr>
              <a:t>u,s,v</a:t>
            </a:r>
            <a:r>
              <a:rPr lang="en-US" altLang="zh-CN" sz="2000" b="1" dirty="0">
                <a:solidFill>
                  <a:schemeClr val="hlink"/>
                </a:solidFill>
                <a:latin typeface="Times New Roman" panose="02020603050405020304" pitchFamily="18" charset="0"/>
                <a:ea typeface="华文楷体" panose="02010600040101010101" pitchFamily="2" charset="-122"/>
              </a:rPr>
              <a:t>]=</a:t>
            </a:r>
            <a:r>
              <a:rPr lang="en-US" altLang="zh-CN" sz="2000" b="1" dirty="0" err="1">
                <a:solidFill>
                  <a:schemeClr val="hlink"/>
                </a:solidFill>
                <a:latin typeface="Times New Roman" panose="02020603050405020304" pitchFamily="18" charset="0"/>
                <a:ea typeface="华文楷体" panose="02010600040101010101" pitchFamily="2" charset="-122"/>
              </a:rPr>
              <a:t>svd</a:t>
            </a:r>
            <a:r>
              <a:rPr lang="en-US" altLang="zh-CN" sz="2000" b="1" dirty="0">
                <a:solidFill>
                  <a:schemeClr val="hlink"/>
                </a:solidFill>
                <a:latin typeface="Times New Roman" panose="02020603050405020304" pitchFamily="18" charset="0"/>
                <a:ea typeface="华文楷体" panose="02010600040101010101" pitchFamily="2" charset="-122"/>
              </a:rPr>
              <a:t>(a)</a:t>
            </a:r>
            <a:r>
              <a:rPr lang="zh-CN" altLang="en-US" sz="2000" b="1" dirty="0">
                <a:solidFill>
                  <a:schemeClr val="hlink"/>
                </a:solidFill>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华文楷体" panose="02010600040101010101" pitchFamily="2" charset="-122"/>
              </a:rPr>
              <a:t>SVD</a:t>
            </a:r>
            <a:r>
              <a:rPr lang="zh-CN" altLang="en-US" sz="2000" b="1" dirty="0">
                <a:latin typeface="Times New Roman" panose="02020603050405020304" pitchFamily="18" charset="0"/>
                <a:ea typeface="华文楷体" panose="02010600040101010101" pitchFamily="2" charset="-122"/>
              </a:rPr>
              <a:t>奇异值分解。</a:t>
            </a:r>
            <a:r>
              <a:rPr lang="en-US" altLang="zh-CN" sz="2000" b="1" dirty="0">
                <a:latin typeface="Times New Roman" panose="02020603050405020304" pitchFamily="18" charset="0"/>
                <a:ea typeface="华文楷体" panose="02010600040101010101" pitchFamily="2" charset="-122"/>
              </a:rPr>
              <a:t>*</a:t>
            </a:r>
            <a:endParaRPr lang="zh-CN" altLang="en-US" sz="2000" b="1" dirty="0">
              <a:latin typeface="Times New Roman" panose="02020603050405020304" pitchFamily="18" charset="0"/>
              <a:ea typeface="华文楷体" panose="02010600040101010101" pitchFamily="2" charset="-122"/>
            </a:endParaRPr>
          </a:p>
        </p:txBody>
      </p:sp>
      <p:sp>
        <p:nvSpPr>
          <p:cNvPr id="96259"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53F879F8-F770-43B5-8B5D-83EDAF928BAF}" type="datetime1">
              <a:rPr lang="zh-CN" altLang="en-US" smtClean="0">
                <a:solidFill>
                  <a:srgbClr val="45516B"/>
                </a:solidFill>
              </a:rPr>
            </a:fld>
            <a:endParaRPr lang="zh-CN" altLang="en-US">
              <a:solidFill>
                <a:srgbClr val="45516B"/>
              </a:solidFill>
            </a:endParaRPr>
          </a:p>
        </p:txBody>
      </p:sp>
      <p:sp>
        <p:nvSpPr>
          <p:cNvPr id="96260"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83974" name="灯片编号占位符 3"/>
          <p:cNvSpPr>
            <a:spLocks noGrp="1" noChangeArrowheads="1"/>
          </p:cNvSpPr>
          <p:nvPr>
            <p:ph type="sldNum" sz="quarter" idx="12"/>
          </p:nvPr>
        </p:nvSpPr>
        <p:spPr bwMode="auto">
          <a:noFill/>
          <a:ln>
            <a:miter lim="800000"/>
          </a:ln>
        </p:spPr>
        <p:txBody>
          <a:bodyPr/>
          <a:lstStyle/>
          <a:p>
            <a:fld id="{28E6774F-0728-4218-907D-DF530E579E66}"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95587">
                                            <p:txEl>
                                              <p:pRg st="1" end="1"/>
                                            </p:txEl>
                                          </p:spTgt>
                                        </p:tgtEl>
                                        <p:attrNameLst>
                                          <p:attrName>style.visibility</p:attrName>
                                        </p:attrNameLst>
                                      </p:cBhvr>
                                      <p:to>
                                        <p:strVal val="visible"/>
                                      </p:to>
                                    </p:set>
                                    <p:animEffect transition="in" filter="wipe(up)">
                                      <p:cBhvr>
                                        <p:cTn id="7" dur="500"/>
                                        <p:tgtEl>
                                          <p:spTgt spid="195587">
                                            <p:txEl>
                                              <p:pRg st="1" end="1"/>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195587">
                                            <p:txEl>
                                              <p:pRg st="0" end="0"/>
                                            </p:txEl>
                                          </p:spTgt>
                                        </p:tgtEl>
                                        <p:attrNameLst>
                                          <p:attrName>style.visibility</p:attrName>
                                        </p:attrNameLst>
                                      </p:cBhvr>
                                      <p:to>
                                        <p:strVal val="visible"/>
                                      </p:to>
                                    </p:set>
                                    <p:animEffect transition="in" filter="wipe(up)">
                                      <p:cBhvr>
                                        <p:cTn id="10" dur="500"/>
                                        <p:tgtEl>
                                          <p:spTgt spid="195587">
                                            <p:txEl>
                                              <p:pRg st="0" end="0"/>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195587">
                                            <p:txEl>
                                              <p:pRg st="2" end="2"/>
                                            </p:txEl>
                                          </p:spTgt>
                                        </p:tgtEl>
                                        <p:attrNameLst>
                                          <p:attrName>style.visibility</p:attrName>
                                        </p:attrNameLst>
                                      </p:cBhvr>
                                      <p:to>
                                        <p:strVal val="visible"/>
                                      </p:to>
                                    </p:set>
                                    <p:animEffect transition="in" filter="wipe(up)">
                                      <p:cBhvr>
                                        <p:cTn id="13" dur="500"/>
                                        <p:tgtEl>
                                          <p:spTgt spid="195587">
                                            <p:txEl>
                                              <p:pRg st="2" end="2"/>
                                            </p:txEl>
                                          </p:spTgt>
                                        </p:tgtEl>
                                      </p:cBhvr>
                                    </p:animEffect>
                                  </p:childTnLst>
                                </p:cTn>
                              </p:par>
                              <p:par>
                                <p:cTn id="14" presetID="22" presetClass="entr" presetSubtype="1" fill="hold" nodeType="withEffect">
                                  <p:stCondLst>
                                    <p:cond delay="0"/>
                                  </p:stCondLst>
                                  <p:childTnLst>
                                    <p:set>
                                      <p:cBhvr>
                                        <p:cTn id="15" dur="1" fill="hold">
                                          <p:stCondLst>
                                            <p:cond delay="0"/>
                                          </p:stCondLst>
                                        </p:cTn>
                                        <p:tgtEl>
                                          <p:spTgt spid="195587">
                                            <p:txEl>
                                              <p:pRg st="3" end="3"/>
                                            </p:txEl>
                                          </p:spTgt>
                                        </p:tgtEl>
                                        <p:attrNameLst>
                                          <p:attrName>style.visibility</p:attrName>
                                        </p:attrNameLst>
                                      </p:cBhvr>
                                      <p:to>
                                        <p:strVal val="visible"/>
                                      </p:to>
                                    </p:set>
                                    <p:animEffect transition="in" filter="wipe(up)">
                                      <p:cBhvr>
                                        <p:cTn id="16" dur="500"/>
                                        <p:tgtEl>
                                          <p:spTgt spid="195587">
                                            <p:txEl>
                                              <p:pRg st="3" end="3"/>
                                            </p:txEl>
                                          </p:spTgt>
                                        </p:tgtEl>
                                      </p:cBhvr>
                                    </p:animEffect>
                                  </p:childTnLst>
                                </p:cTn>
                              </p:par>
                              <p:par>
                                <p:cTn id="17" presetID="22" presetClass="entr" presetSubtype="1" fill="hold" nodeType="withEffect">
                                  <p:stCondLst>
                                    <p:cond delay="0"/>
                                  </p:stCondLst>
                                  <p:childTnLst>
                                    <p:set>
                                      <p:cBhvr>
                                        <p:cTn id="18" dur="1" fill="hold">
                                          <p:stCondLst>
                                            <p:cond delay="0"/>
                                          </p:stCondLst>
                                        </p:cTn>
                                        <p:tgtEl>
                                          <p:spTgt spid="195587">
                                            <p:txEl>
                                              <p:pRg st="4" end="4"/>
                                            </p:txEl>
                                          </p:spTgt>
                                        </p:tgtEl>
                                        <p:attrNameLst>
                                          <p:attrName>style.visibility</p:attrName>
                                        </p:attrNameLst>
                                      </p:cBhvr>
                                      <p:to>
                                        <p:strVal val="visible"/>
                                      </p:to>
                                    </p:set>
                                    <p:animEffect transition="in" filter="wipe(up)">
                                      <p:cBhvr>
                                        <p:cTn id="19" dur="500"/>
                                        <p:tgtEl>
                                          <p:spTgt spid="195587">
                                            <p:txEl>
                                              <p:pRg st="4" end="4"/>
                                            </p:txEl>
                                          </p:spTgt>
                                        </p:tgtEl>
                                      </p:cBhvr>
                                    </p:animEffect>
                                  </p:childTnLst>
                                </p:cTn>
                              </p:par>
                              <p:par>
                                <p:cTn id="20" presetID="22" presetClass="entr" presetSubtype="1" fill="hold" nodeType="withEffect">
                                  <p:stCondLst>
                                    <p:cond delay="0"/>
                                  </p:stCondLst>
                                  <p:childTnLst>
                                    <p:set>
                                      <p:cBhvr>
                                        <p:cTn id="21" dur="1" fill="hold">
                                          <p:stCondLst>
                                            <p:cond delay="0"/>
                                          </p:stCondLst>
                                        </p:cTn>
                                        <p:tgtEl>
                                          <p:spTgt spid="195587">
                                            <p:txEl>
                                              <p:pRg st="5" end="5"/>
                                            </p:txEl>
                                          </p:spTgt>
                                        </p:tgtEl>
                                        <p:attrNameLst>
                                          <p:attrName>style.visibility</p:attrName>
                                        </p:attrNameLst>
                                      </p:cBhvr>
                                      <p:to>
                                        <p:strVal val="visible"/>
                                      </p:to>
                                    </p:set>
                                    <p:animEffect transition="in" filter="wipe(up)">
                                      <p:cBhvr>
                                        <p:cTn id="22" dur="500"/>
                                        <p:tgtEl>
                                          <p:spTgt spid="195587">
                                            <p:txEl>
                                              <p:pRg st="5" end="5"/>
                                            </p:txEl>
                                          </p:spTgt>
                                        </p:tgtEl>
                                      </p:cBhvr>
                                    </p:animEffect>
                                  </p:childTnLst>
                                </p:cTn>
                              </p:par>
                              <p:par>
                                <p:cTn id="23" presetID="22" presetClass="entr" presetSubtype="1" fill="hold" nodeType="withEffect">
                                  <p:stCondLst>
                                    <p:cond delay="0"/>
                                  </p:stCondLst>
                                  <p:childTnLst>
                                    <p:set>
                                      <p:cBhvr>
                                        <p:cTn id="24" dur="1" fill="hold">
                                          <p:stCondLst>
                                            <p:cond delay="0"/>
                                          </p:stCondLst>
                                        </p:cTn>
                                        <p:tgtEl>
                                          <p:spTgt spid="195587">
                                            <p:txEl>
                                              <p:pRg st="6" end="6"/>
                                            </p:txEl>
                                          </p:spTgt>
                                        </p:tgtEl>
                                        <p:attrNameLst>
                                          <p:attrName>style.visibility</p:attrName>
                                        </p:attrNameLst>
                                      </p:cBhvr>
                                      <p:to>
                                        <p:strVal val="visible"/>
                                      </p:to>
                                    </p:set>
                                    <p:animEffect transition="in" filter="wipe(up)">
                                      <p:cBhvr>
                                        <p:cTn id="25" dur="500"/>
                                        <p:tgtEl>
                                          <p:spTgt spid="19558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95585"/>
          <p:cNvSpPr>
            <a:spLocks noGrp="1" noChangeArrowheads="1"/>
          </p:cNvSpPr>
          <p:nvPr>
            <p:ph type="title"/>
          </p:nvPr>
        </p:nvSpPr>
        <p:spPr>
          <a:xfrm>
            <a:off x="2674939" y="260350"/>
            <a:ext cx="7793037" cy="647700"/>
          </a:xfrm>
        </p:spPr>
        <p:txBody>
          <a:bodyPr/>
          <a:lstStyle/>
          <a:p>
            <a:pPr marL="685800" indent="-685800"/>
            <a:r>
              <a:rPr lang="en-US" altLang="zh-CN" sz="3600" b="1">
                <a:latin typeface="Times New Roman" panose="02020603050405020304" pitchFamily="18" charset="0"/>
                <a:ea typeface="华文楷体" panose="02010600040101010101" pitchFamily="2" charset="-122"/>
              </a:rPr>
              <a:t>6.1 </a:t>
            </a:r>
            <a:r>
              <a:rPr lang="zh-CN" altLang="en-US" sz="3600" b="1">
                <a:latin typeface="Times New Roman" panose="02020603050405020304" pitchFamily="18" charset="0"/>
                <a:ea typeface="华文楷体" panose="02010600040101010101" pitchFamily="2" charset="-122"/>
              </a:rPr>
              <a:t>矩阵函数</a:t>
            </a:r>
            <a:endParaRPr lang="zh-CN" altLang="en-US" sz="3600" b="1">
              <a:latin typeface="Times New Roman" panose="02020603050405020304" pitchFamily="18" charset="0"/>
              <a:ea typeface="华文楷体" panose="02010600040101010101" pitchFamily="2" charset="-122"/>
            </a:endParaRPr>
          </a:p>
        </p:txBody>
      </p:sp>
      <p:sp>
        <p:nvSpPr>
          <p:cNvPr id="195587" name="内容占位符 195586"/>
          <p:cNvSpPr>
            <a:spLocks noGrp="1" noChangeArrowheads="1"/>
          </p:cNvSpPr>
          <p:nvPr>
            <p:ph idx="1"/>
          </p:nvPr>
        </p:nvSpPr>
        <p:spPr/>
        <p:txBody>
          <a:bodyPr>
            <a:normAutofit/>
          </a:bodyPr>
          <a:lstStyle/>
          <a:p>
            <a:pPr eaLnBrk="1" hangingPunct="1">
              <a:lnSpc>
                <a:spcPct val="125000"/>
              </a:lnSpc>
            </a:pPr>
            <a:r>
              <a:rPr lang="zh-CN" altLang="en-US" sz="2000" b="1" dirty="0">
                <a:solidFill>
                  <a:srgbClr val="0000FF"/>
                </a:solidFill>
                <a:latin typeface="Times New Roman" panose="02020603050405020304" pitchFamily="18" charset="0"/>
                <a:ea typeface="华文楷体" panose="02010600040101010101" pitchFamily="2" charset="-122"/>
              </a:rPr>
              <a:t>矩阵运算</a:t>
            </a:r>
            <a:r>
              <a:rPr lang="en-US" altLang="zh-CN" sz="2000" b="1" dirty="0">
                <a:solidFill>
                  <a:srgbClr val="0000FF"/>
                </a:solidFill>
                <a:latin typeface="Times New Roman" panose="02020603050405020304" pitchFamily="18" charset="0"/>
                <a:ea typeface="华文楷体" panose="02010600040101010101" pitchFamily="2" charset="-122"/>
              </a:rPr>
              <a:t>(</a:t>
            </a:r>
            <a:r>
              <a:rPr lang="zh-CN" altLang="en-US" sz="2000" b="1" dirty="0">
                <a:solidFill>
                  <a:srgbClr val="0000FF"/>
                </a:solidFill>
                <a:latin typeface="Times New Roman" panose="02020603050405020304" pitchFamily="18" charset="0"/>
                <a:ea typeface="华文楷体" panose="02010600040101010101" pitchFamily="2" charset="-122"/>
              </a:rPr>
              <a:t>续）</a:t>
            </a:r>
            <a:endParaRPr lang="zh-CN" altLang="en-US" sz="2000" b="1" dirty="0">
              <a:solidFill>
                <a:srgbClr val="0000FF"/>
              </a:solidFill>
              <a:latin typeface="Times New Roman" panose="02020603050405020304" pitchFamily="18" charset="0"/>
              <a:ea typeface="华文楷体" panose="02010600040101010101" pitchFamily="2" charset="-122"/>
            </a:endParaRPr>
          </a:p>
          <a:p>
            <a:pPr>
              <a:lnSpc>
                <a:spcPct val="125000"/>
              </a:lnSpc>
              <a:buNone/>
            </a:pPr>
            <a:r>
              <a:rPr lang="en-US" altLang="zh-CN" sz="2000" b="1" dirty="0">
                <a:solidFill>
                  <a:schemeClr val="hlink"/>
                </a:solidFill>
                <a:latin typeface="Times New Roman" panose="02020603050405020304" pitchFamily="18" charset="0"/>
                <a:ea typeface="华文楷体" panose="02010600040101010101" pitchFamily="2" charset="-122"/>
              </a:rPr>
              <a:t>max(X)</a:t>
            </a:r>
            <a:r>
              <a:rPr lang="zh-CN" altLang="en-US" sz="2000" b="1" dirty="0">
                <a:solidFill>
                  <a:schemeClr val="hlink"/>
                </a:solidFill>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返回矩阵</a:t>
            </a:r>
            <a:r>
              <a:rPr lang="en-US" altLang="zh-CN" sz="2000" b="1" dirty="0">
                <a:latin typeface="Times New Roman" panose="02020603050405020304" pitchFamily="18" charset="0"/>
                <a:ea typeface="华文楷体" panose="02010600040101010101" pitchFamily="2" charset="-122"/>
              </a:rPr>
              <a:t>X</a:t>
            </a:r>
            <a:r>
              <a:rPr lang="zh-CN" altLang="en-US" sz="2000" b="1" dirty="0">
                <a:latin typeface="Times New Roman" panose="02020603050405020304" pitchFamily="18" charset="0"/>
                <a:ea typeface="华文楷体" panose="02010600040101010101" pitchFamily="2" charset="-122"/>
              </a:rPr>
              <a:t>的每列最大值。        </a:t>
            </a:r>
            <a:endParaRPr lang="en-US" altLang="zh-CN" sz="2000" b="1" dirty="0">
              <a:latin typeface="Times New Roman" panose="02020603050405020304" pitchFamily="18" charset="0"/>
              <a:ea typeface="华文楷体" panose="02010600040101010101" pitchFamily="2" charset="-122"/>
            </a:endParaRPr>
          </a:p>
          <a:p>
            <a:pPr>
              <a:lnSpc>
                <a:spcPct val="125000"/>
              </a:lnSpc>
              <a:buNone/>
            </a:pPr>
            <a:r>
              <a:rPr lang="en-US" altLang="zh-CN" sz="2000" b="1" dirty="0">
                <a:solidFill>
                  <a:schemeClr val="hlink"/>
                </a:solidFill>
                <a:latin typeface="Times New Roman" panose="02020603050405020304" pitchFamily="18" charset="0"/>
                <a:ea typeface="华文楷体" panose="02010600040101010101" pitchFamily="2" charset="-122"/>
              </a:rPr>
              <a:t>min(X)</a:t>
            </a:r>
            <a:r>
              <a:rPr lang="zh-CN" altLang="en-US" sz="2000" b="1" dirty="0">
                <a:solidFill>
                  <a:schemeClr val="hlink"/>
                </a:solidFill>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返回矩阵</a:t>
            </a:r>
            <a:r>
              <a:rPr lang="en-US" altLang="zh-CN" sz="2000" b="1" dirty="0">
                <a:latin typeface="Times New Roman" panose="02020603050405020304" pitchFamily="18" charset="0"/>
                <a:ea typeface="华文楷体" panose="02010600040101010101" pitchFamily="2" charset="-122"/>
              </a:rPr>
              <a:t>X</a:t>
            </a:r>
            <a:r>
              <a:rPr lang="zh-CN" altLang="en-US" sz="2000" b="1" dirty="0">
                <a:latin typeface="Times New Roman" panose="02020603050405020304" pitchFamily="18" charset="0"/>
                <a:ea typeface="华文楷体" panose="02010600040101010101" pitchFamily="2" charset="-122"/>
              </a:rPr>
              <a:t>的每列最小值。 </a:t>
            </a:r>
            <a:endParaRPr lang="zh-CN" altLang="en-US" sz="2000" b="1" dirty="0">
              <a:latin typeface="Times New Roman" panose="02020603050405020304" pitchFamily="18" charset="0"/>
              <a:ea typeface="华文楷体" panose="02010600040101010101" pitchFamily="2" charset="-122"/>
            </a:endParaRPr>
          </a:p>
          <a:p>
            <a:pPr>
              <a:lnSpc>
                <a:spcPct val="125000"/>
              </a:lnSpc>
              <a:buNone/>
            </a:pPr>
            <a:r>
              <a:rPr lang="en-US" altLang="zh-CN" sz="2000" b="1" dirty="0">
                <a:solidFill>
                  <a:schemeClr val="hlink"/>
                </a:solidFill>
                <a:latin typeface="Times New Roman" panose="02020603050405020304" pitchFamily="18" charset="0"/>
                <a:ea typeface="华文楷体" panose="02010600040101010101" pitchFamily="2" charset="-122"/>
              </a:rPr>
              <a:t>sum(X)</a:t>
            </a:r>
            <a:r>
              <a:rPr lang="zh-CN" altLang="en-US" sz="2000" b="1" dirty="0">
                <a:solidFill>
                  <a:schemeClr val="hlink"/>
                </a:solidFill>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返回矩阵</a:t>
            </a:r>
            <a:r>
              <a:rPr lang="en-US" altLang="zh-CN" sz="2000" b="1" dirty="0">
                <a:latin typeface="Times New Roman" panose="02020603050405020304" pitchFamily="18" charset="0"/>
                <a:ea typeface="华文楷体" panose="02010600040101010101" pitchFamily="2" charset="-122"/>
              </a:rPr>
              <a:t>X</a:t>
            </a:r>
            <a:r>
              <a:rPr lang="zh-CN" altLang="en-US" sz="2000" b="1" dirty="0">
                <a:latin typeface="Times New Roman" panose="02020603050405020304" pitchFamily="18" charset="0"/>
                <a:ea typeface="华文楷体" panose="02010600040101010101" pitchFamily="2" charset="-122"/>
              </a:rPr>
              <a:t>的每列和。 </a:t>
            </a:r>
            <a:endParaRPr lang="en-US" altLang="zh-CN" sz="2000" b="1" dirty="0">
              <a:latin typeface="Times New Roman" panose="02020603050405020304" pitchFamily="18" charset="0"/>
              <a:ea typeface="华文楷体" panose="02010600040101010101" pitchFamily="2" charset="-122"/>
            </a:endParaRPr>
          </a:p>
          <a:p>
            <a:pPr>
              <a:lnSpc>
                <a:spcPct val="125000"/>
              </a:lnSpc>
              <a:buNone/>
            </a:pPr>
            <a:endParaRPr lang="zh-CN" altLang="en-US" sz="2000" b="1" dirty="0">
              <a:latin typeface="Times New Roman" panose="02020603050405020304" pitchFamily="18" charset="0"/>
              <a:ea typeface="华文楷体" panose="02010600040101010101" pitchFamily="2" charset="-122"/>
            </a:endParaRPr>
          </a:p>
        </p:txBody>
      </p:sp>
      <p:sp>
        <p:nvSpPr>
          <p:cNvPr id="96259"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53F879F8-F770-43B5-8B5D-83EDAF928BAF}" type="datetime1">
              <a:rPr lang="zh-CN" altLang="en-US" smtClean="0">
                <a:solidFill>
                  <a:srgbClr val="45516B"/>
                </a:solidFill>
              </a:rPr>
            </a:fld>
            <a:endParaRPr lang="zh-CN" altLang="en-US">
              <a:solidFill>
                <a:srgbClr val="45516B"/>
              </a:solidFill>
            </a:endParaRPr>
          </a:p>
        </p:txBody>
      </p:sp>
      <p:sp>
        <p:nvSpPr>
          <p:cNvPr id="96260"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83974" name="灯片编号占位符 3"/>
          <p:cNvSpPr>
            <a:spLocks noGrp="1" noChangeArrowheads="1"/>
          </p:cNvSpPr>
          <p:nvPr>
            <p:ph type="sldNum" sz="quarter" idx="12"/>
          </p:nvPr>
        </p:nvSpPr>
        <p:spPr bwMode="auto">
          <a:noFill/>
          <a:ln>
            <a:miter lim="800000"/>
          </a:ln>
        </p:spPr>
        <p:txBody>
          <a:bodyPr/>
          <a:lstStyle/>
          <a:p>
            <a:fld id="{28E6774F-0728-4218-907D-DF530E579E66}"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95587">
                                            <p:txEl>
                                              <p:pRg st="1" end="1"/>
                                            </p:txEl>
                                          </p:spTgt>
                                        </p:tgtEl>
                                        <p:attrNameLst>
                                          <p:attrName>style.visibility</p:attrName>
                                        </p:attrNameLst>
                                      </p:cBhvr>
                                      <p:to>
                                        <p:strVal val="visible"/>
                                      </p:to>
                                    </p:set>
                                    <p:animEffect transition="in" filter="wipe(up)">
                                      <p:cBhvr>
                                        <p:cTn id="7" dur="500"/>
                                        <p:tgtEl>
                                          <p:spTgt spid="195587">
                                            <p:txEl>
                                              <p:pRg st="1" end="1"/>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195587">
                                            <p:txEl>
                                              <p:pRg st="2" end="2"/>
                                            </p:txEl>
                                          </p:spTgt>
                                        </p:tgtEl>
                                        <p:attrNameLst>
                                          <p:attrName>style.visibility</p:attrName>
                                        </p:attrNameLst>
                                      </p:cBhvr>
                                      <p:to>
                                        <p:strVal val="visible"/>
                                      </p:to>
                                    </p:set>
                                    <p:animEffect transition="in" filter="wipe(up)">
                                      <p:cBhvr>
                                        <p:cTn id="10" dur="500"/>
                                        <p:tgtEl>
                                          <p:spTgt spid="195587">
                                            <p:txEl>
                                              <p:pRg st="2" end="2"/>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195587">
                                            <p:txEl>
                                              <p:pRg st="0" end="0"/>
                                            </p:txEl>
                                          </p:spTgt>
                                        </p:tgtEl>
                                        <p:attrNameLst>
                                          <p:attrName>style.visibility</p:attrName>
                                        </p:attrNameLst>
                                      </p:cBhvr>
                                      <p:to>
                                        <p:strVal val="visible"/>
                                      </p:to>
                                    </p:set>
                                    <p:animEffect transition="in" filter="wipe(up)">
                                      <p:cBhvr>
                                        <p:cTn id="13" dur="500"/>
                                        <p:tgtEl>
                                          <p:spTgt spid="195587">
                                            <p:txEl>
                                              <p:pRg st="0" end="0"/>
                                            </p:txEl>
                                          </p:spTgt>
                                        </p:tgtEl>
                                      </p:cBhvr>
                                    </p:animEffect>
                                  </p:childTnLst>
                                </p:cTn>
                              </p:par>
                              <p:par>
                                <p:cTn id="14" presetID="22" presetClass="entr" presetSubtype="1" fill="hold" nodeType="withEffect">
                                  <p:stCondLst>
                                    <p:cond delay="0"/>
                                  </p:stCondLst>
                                  <p:childTnLst>
                                    <p:set>
                                      <p:cBhvr>
                                        <p:cTn id="15" dur="1" fill="hold">
                                          <p:stCondLst>
                                            <p:cond delay="0"/>
                                          </p:stCondLst>
                                        </p:cTn>
                                        <p:tgtEl>
                                          <p:spTgt spid="195587">
                                            <p:txEl>
                                              <p:pRg st="3" end="3"/>
                                            </p:txEl>
                                          </p:spTgt>
                                        </p:tgtEl>
                                        <p:attrNameLst>
                                          <p:attrName>style.visibility</p:attrName>
                                        </p:attrNameLst>
                                      </p:cBhvr>
                                      <p:to>
                                        <p:strVal val="visible"/>
                                      </p:to>
                                    </p:set>
                                    <p:animEffect transition="in" filter="wipe(up)">
                                      <p:cBhvr>
                                        <p:cTn id="16" dur="500"/>
                                        <p:tgtEl>
                                          <p:spTgt spid="1955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81249"/>
          <p:cNvSpPr>
            <a:spLocks noGrp="1" noChangeArrowheads="1"/>
          </p:cNvSpPr>
          <p:nvPr>
            <p:ph type="title"/>
          </p:nvPr>
        </p:nvSpPr>
        <p:spPr>
          <a:xfrm>
            <a:off x="2874964" y="260350"/>
            <a:ext cx="7793037" cy="647700"/>
          </a:xfrm>
        </p:spPr>
        <p:txBody>
          <a:bodyPr/>
          <a:lstStyle/>
          <a:p>
            <a:pPr marL="685800" indent="-685800"/>
            <a:r>
              <a:rPr lang="en-US" altLang="zh-CN" sz="3600" b="1">
                <a:solidFill>
                  <a:srgbClr val="4D009A"/>
                </a:solidFill>
                <a:latin typeface="Times New Roman" panose="02020603050405020304" pitchFamily="18" charset="0"/>
                <a:ea typeface="华文楷体" panose="02010600040101010101" pitchFamily="2" charset="-122"/>
              </a:rPr>
              <a:t>6</a:t>
            </a:r>
            <a:r>
              <a:rPr lang="zh-CN" altLang="en-US" sz="3600" b="1">
                <a:solidFill>
                  <a:srgbClr val="4D009A"/>
                </a:solidFill>
                <a:latin typeface="Times New Roman" panose="02020603050405020304" pitchFamily="18" charset="0"/>
                <a:ea typeface="华文楷体" panose="02010600040101010101" pitchFamily="2" charset="-122"/>
              </a:rPr>
              <a:t>、算术运算  （续）</a:t>
            </a:r>
            <a:r>
              <a:rPr lang="zh-CN" altLang="en-US" sz="4000">
                <a:solidFill>
                  <a:srgbClr val="4D009A"/>
                </a:solidFill>
              </a:rPr>
              <a:t> </a:t>
            </a:r>
            <a:endParaRPr lang="zh-CN" altLang="en-US" sz="4000">
              <a:solidFill>
                <a:srgbClr val="4D009A"/>
              </a:solidFill>
            </a:endParaRPr>
          </a:p>
        </p:txBody>
      </p:sp>
      <p:sp>
        <p:nvSpPr>
          <p:cNvPr id="181251" name="内容占位符 181250"/>
          <p:cNvSpPr>
            <a:spLocks noGrp="1" noChangeArrowheads="1"/>
          </p:cNvSpPr>
          <p:nvPr>
            <p:ph idx="1"/>
          </p:nvPr>
        </p:nvSpPr>
        <p:spPr/>
        <p:txBody>
          <a:bodyPr/>
          <a:lstStyle/>
          <a:p>
            <a:pPr lvl="1" eaLnBrk="1" hangingPunct="1">
              <a:spcBef>
                <a:spcPct val="50000"/>
              </a:spcBef>
              <a:buFont typeface="Wingdings" panose="05000000000000000000" pitchFamily="2" charset="2"/>
              <a:buNone/>
            </a:pPr>
            <a:r>
              <a:rPr lang="zh-CN" altLang="en-US" b="1" dirty="0">
                <a:solidFill>
                  <a:srgbClr val="0000FF"/>
                </a:solidFill>
                <a:latin typeface="Times New Roman" panose="02020603050405020304" pitchFamily="18" charset="0"/>
                <a:ea typeface="华文楷体" panose="02010600040101010101" pitchFamily="2" charset="-122"/>
              </a:rPr>
              <a:t>【例</a:t>
            </a:r>
            <a:r>
              <a:rPr lang="en-US" altLang="zh-CN" b="1" dirty="0">
                <a:solidFill>
                  <a:srgbClr val="0000FF"/>
                </a:solidFill>
                <a:latin typeface="Times New Roman" panose="02020603050405020304" pitchFamily="18" charset="0"/>
                <a:ea typeface="华文楷体" panose="02010600040101010101" pitchFamily="2" charset="-122"/>
              </a:rPr>
              <a:t>5-1</a:t>
            </a:r>
            <a:r>
              <a:rPr lang="zh-CN" altLang="en-US" b="1" dirty="0">
                <a:solidFill>
                  <a:srgbClr val="0000FF"/>
                </a:solidFill>
                <a:latin typeface="Times New Roman" panose="02020603050405020304" pitchFamily="18" charset="0"/>
                <a:ea typeface="华文楷体" panose="02010600040101010101" pitchFamily="2" charset="-122"/>
              </a:rPr>
              <a:t>】</a:t>
            </a:r>
            <a:r>
              <a:rPr lang="zh-CN" altLang="en-US" b="1" dirty="0">
                <a:solidFill>
                  <a:srgbClr val="490092"/>
                </a:solidFill>
                <a:latin typeface="Times New Roman" panose="02020603050405020304" pitchFamily="18" charset="0"/>
                <a:ea typeface="华文楷体" panose="02010600040101010101" pitchFamily="2" charset="-122"/>
              </a:rPr>
              <a:t>数组加减法</a:t>
            </a:r>
            <a:endParaRPr lang="zh-CN" altLang="en-US" b="1" dirty="0">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dirty="0">
                <a:solidFill>
                  <a:srgbClr val="490092"/>
                </a:solidFill>
                <a:latin typeface="Times New Roman" panose="02020603050405020304" pitchFamily="18" charset="0"/>
                <a:ea typeface="华文楷体" panose="02010600040101010101" pitchFamily="2" charset="-122"/>
              </a:rPr>
              <a:t>&gt;&gt;a=zeros(2, 3);</a:t>
            </a:r>
            <a:endParaRPr lang="en-US" altLang="zh-CN" b="1" dirty="0">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dirty="0">
                <a:solidFill>
                  <a:srgbClr val="490092"/>
                </a:solidFill>
                <a:latin typeface="Times New Roman" panose="02020603050405020304" pitchFamily="18" charset="0"/>
                <a:ea typeface="华文楷体" panose="02010600040101010101" pitchFamily="2" charset="-122"/>
              </a:rPr>
              <a:t>&gt;&gt;a(:)=1:6;</a:t>
            </a:r>
            <a:endParaRPr lang="en-US" altLang="zh-CN" b="1" dirty="0">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dirty="0">
                <a:solidFill>
                  <a:srgbClr val="490092"/>
                </a:solidFill>
                <a:latin typeface="Times New Roman" panose="02020603050405020304" pitchFamily="18" charset="0"/>
                <a:ea typeface="华文楷体" panose="02010600040101010101" pitchFamily="2" charset="-122"/>
              </a:rPr>
              <a:t>&gt;&gt;b=a+1.5</a:t>
            </a:r>
            <a:endParaRPr lang="en-US" altLang="zh-CN" b="1" dirty="0">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dirty="0">
                <a:solidFill>
                  <a:srgbClr val="490092"/>
                </a:solidFill>
                <a:latin typeface="Times New Roman" panose="02020603050405020304" pitchFamily="18" charset="0"/>
                <a:ea typeface="华文楷体" panose="02010600040101010101" pitchFamily="2" charset="-122"/>
              </a:rPr>
              <a:t>b =</a:t>
            </a:r>
            <a:endParaRPr lang="en-US" altLang="zh-CN" b="1" dirty="0">
              <a:solidFill>
                <a:srgbClr val="490092"/>
              </a:solidFill>
              <a:latin typeface="Times New Roman" panose="02020603050405020304" pitchFamily="18" charset="0"/>
              <a:ea typeface="华文楷体" panose="02010600040101010101" pitchFamily="2" charset="-122"/>
            </a:endParaRPr>
          </a:p>
          <a:p>
            <a:pPr lvl="2" eaLnBrk="1" hangingPunct="1">
              <a:spcBef>
                <a:spcPct val="0"/>
              </a:spcBef>
              <a:buFont typeface="Wingdings" panose="05000000000000000000" pitchFamily="2" charset="2"/>
              <a:buNone/>
            </a:pPr>
            <a:r>
              <a:rPr lang="en-US" altLang="zh-CN" b="1" dirty="0">
                <a:solidFill>
                  <a:srgbClr val="490092"/>
                </a:solidFill>
                <a:latin typeface="Times New Roman" panose="02020603050405020304" pitchFamily="18" charset="0"/>
                <a:ea typeface="华文楷体" panose="02010600040101010101" pitchFamily="2" charset="-122"/>
              </a:rPr>
              <a:t>    3.5000    5.5000    7.5000</a:t>
            </a:r>
            <a:endParaRPr lang="en-US" altLang="zh-CN" b="1" dirty="0">
              <a:solidFill>
                <a:srgbClr val="490092"/>
              </a:solidFill>
              <a:latin typeface="Times New Roman" panose="02020603050405020304" pitchFamily="18" charset="0"/>
              <a:ea typeface="华文楷体" panose="02010600040101010101" pitchFamily="2" charset="-122"/>
            </a:endParaRPr>
          </a:p>
          <a:p>
            <a:pPr lvl="2" eaLnBrk="1" hangingPunct="1">
              <a:spcBef>
                <a:spcPct val="0"/>
              </a:spcBef>
              <a:buFont typeface="Wingdings" panose="05000000000000000000" pitchFamily="2" charset="2"/>
              <a:buNone/>
            </a:pPr>
            <a:r>
              <a:rPr lang="en-US" altLang="zh-CN" b="1" dirty="0">
                <a:solidFill>
                  <a:srgbClr val="490092"/>
                </a:solidFill>
                <a:latin typeface="Times New Roman" panose="02020603050405020304" pitchFamily="18" charset="0"/>
                <a:ea typeface="华文楷体" panose="02010600040101010101" pitchFamily="2" charset="-122"/>
              </a:rPr>
              <a:t>    4.5000    6.5000    8.5000</a:t>
            </a:r>
            <a:endParaRPr lang="en-US" altLang="zh-CN" b="1" dirty="0">
              <a:solidFill>
                <a:srgbClr val="490092"/>
              </a:solidFill>
              <a:latin typeface="Times New Roman" panose="02020603050405020304" pitchFamily="18" charset="0"/>
              <a:ea typeface="华文楷体" panose="02010600040101010101" pitchFamily="2" charset="-122"/>
            </a:endParaRPr>
          </a:p>
          <a:p>
            <a:pPr lvl="1" eaLnBrk="1" hangingPunct="1">
              <a:buFont typeface="Wingdings" panose="05000000000000000000" pitchFamily="2" charset="2"/>
              <a:buNone/>
            </a:pPr>
            <a:r>
              <a:rPr lang="en-US" altLang="zh-CN" b="1" dirty="0">
                <a:solidFill>
                  <a:srgbClr val="490092"/>
                </a:solidFill>
                <a:latin typeface="Times New Roman" panose="02020603050405020304" pitchFamily="18" charset="0"/>
                <a:ea typeface="华文楷体" panose="02010600040101010101" pitchFamily="2" charset="-122"/>
              </a:rPr>
              <a:t>&gt;&gt;c=b-a</a:t>
            </a:r>
            <a:endParaRPr lang="en-US" altLang="zh-CN" b="1" dirty="0">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en-US" altLang="zh-CN" b="1" dirty="0">
                <a:solidFill>
                  <a:srgbClr val="490092"/>
                </a:solidFill>
                <a:latin typeface="Times New Roman" panose="02020603050405020304" pitchFamily="18" charset="0"/>
                <a:ea typeface="华文楷体" panose="02010600040101010101" pitchFamily="2" charset="-122"/>
              </a:rPr>
              <a:t>c =</a:t>
            </a:r>
            <a:endParaRPr lang="en-US" altLang="zh-CN" b="1" dirty="0">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en-US" altLang="zh-CN" b="1" dirty="0">
                <a:solidFill>
                  <a:srgbClr val="490092"/>
                </a:solidFill>
                <a:latin typeface="Times New Roman" panose="02020603050405020304" pitchFamily="18" charset="0"/>
                <a:ea typeface="华文楷体" panose="02010600040101010101" pitchFamily="2" charset="-122"/>
              </a:rPr>
              <a:t>    1.5000    1.5000    1.5000</a:t>
            </a:r>
            <a:endParaRPr lang="en-US" altLang="zh-CN" b="1" dirty="0">
              <a:solidFill>
                <a:srgbClr val="490092"/>
              </a:solidFill>
              <a:latin typeface="Times New Roman" panose="02020603050405020304" pitchFamily="18" charset="0"/>
              <a:ea typeface="华文楷体" panose="02010600040101010101" pitchFamily="2" charset="-122"/>
            </a:endParaRPr>
          </a:p>
          <a:p>
            <a:pPr lvl="2" eaLnBrk="1" hangingPunct="1">
              <a:buFont typeface="Wingdings" panose="05000000000000000000" pitchFamily="2" charset="2"/>
              <a:buNone/>
            </a:pPr>
            <a:r>
              <a:rPr lang="en-US" altLang="zh-CN" b="1" dirty="0">
                <a:solidFill>
                  <a:srgbClr val="490092"/>
                </a:solidFill>
                <a:latin typeface="Times New Roman" panose="02020603050405020304" pitchFamily="18" charset="0"/>
                <a:ea typeface="华文楷体" panose="02010600040101010101" pitchFamily="2" charset="-122"/>
              </a:rPr>
              <a:t>    1.5000    1.5000    1.5000</a:t>
            </a:r>
            <a:endParaRPr lang="en-US" altLang="zh-CN" b="1" dirty="0">
              <a:solidFill>
                <a:srgbClr val="490092"/>
              </a:solidFill>
              <a:latin typeface="Times New Roman" panose="02020603050405020304" pitchFamily="18" charset="0"/>
              <a:ea typeface="华文楷体" panose="02010600040101010101" pitchFamily="2" charset="-122"/>
            </a:endParaRPr>
          </a:p>
        </p:txBody>
      </p:sp>
      <p:sp>
        <p:nvSpPr>
          <p:cNvPr id="84995"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95F08BAA-E93D-460B-A07A-23F6DE420EE1}" type="datetime1">
              <a:rPr lang="zh-CN" altLang="en-US" smtClean="0">
                <a:solidFill>
                  <a:srgbClr val="45516B"/>
                </a:solidFill>
              </a:rPr>
            </a:fld>
            <a:endParaRPr lang="zh-CN" altLang="en-US">
              <a:solidFill>
                <a:srgbClr val="45516B"/>
              </a:solidFill>
            </a:endParaRPr>
          </a:p>
        </p:txBody>
      </p:sp>
      <p:sp>
        <p:nvSpPr>
          <p:cNvPr id="84996"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84998" name="灯片编号占位符 3"/>
          <p:cNvSpPr>
            <a:spLocks noGrp="1" noChangeArrowheads="1"/>
          </p:cNvSpPr>
          <p:nvPr>
            <p:ph type="sldNum" sz="quarter" idx="12"/>
          </p:nvPr>
        </p:nvSpPr>
        <p:spPr bwMode="auto">
          <a:noFill/>
          <a:ln>
            <a:miter lim="800000"/>
          </a:ln>
        </p:spPr>
        <p:txBody>
          <a:bodyPr/>
          <a:lstStyle/>
          <a:p>
            <a:fld id="{507D42EA-10E6-4A6D-B3EC-18980558A644}"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1251">
                                            <p:txEl>
                                              <p:pRg st="0" end="0"/>
                                            </p:txEl>
                                          </p:spTgt>
                                        </p:tgtEl>
                                        <p:attrNameLst>
                                          <p:attrName>style.visibility</p:attrName>
                                        </p:attrNameLst>
                                      </p:cBhvr>
                                      <p:to>
                                        <p:strVal val="visible"/>
                                      </p:to>
                                    </p:set>
                                    <p:animEffect transition="in" filter="blinds(horizontal)">
                                      <p:cBhvr>
                                        <p:cTn id="7" dur="500"/>
                                        <p:tgtEl>
                                          <p:spTgt spid="1812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1251">
                                            <p:txEl>
                                              <p:pRg st="1" end="1"/>
                                            </p:txEl>
                                          </p:spTgt>
                                        </p:tgtEl>
                                        <p:attrNameLst>
                                          <p:attrName>style.visibility</p:attrName>
                                        </p:attrNameLst>
                                      </p:cBhvr>
                                      <p:to>
                                        <p:strVal val="visible"/>
                                      </p:to>
                                    </p:set>
                                    <p:animEffect transition="in" filter="blinds(horizontal)">
                                      <p:cBhvr>
                                        <p:cTn id="12" dur="500"/>
                                        <p:tgtEl>
                                          <p:spTgt spid="181251">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81251">
                                            <p:txEl>
                                              <p:pRg st="2" end="2"/>
                                            </p:txEl>
                                          </p:spTgt>
                                        </p:tgtEl>
                                        <p:attrNameLst>
                                          <p:attrName>style.visibility</p:attrName>
                                        </p:attrNameLst>
                                      </p:cBhvr>
                                      <p:to>
                                        <p:strVal val="visible"/>
                                      </p:to>
                                    </p:set>
                                    <p:animEffect transition="in" filter="blinds(horizontal)">
                                      <p:cBhvr>
                                        <p:cTn id="15" dur="500"/>
                                        <p:tgtEl>
                                          <p:spTgt spid="18125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81251">
                                            <p:txEl>
                                              <p:pRg st="3" end="3"/>
                                            </p:txEl>
                                          </p:spTgt>
                                        </p:tgtEl>
                                        <p:attrNameLst>
                                          <p:attrName>style.visibility</p:attrName>
                                        </p:attrNameLst>
                                      </p:cBhvr>
                                      <p:to>
                                        <p:strVal val="visible"/>
                                      </p:to>
                                    </p:set>
                                    <p:animEffect transition="in" filter="blinds(horizontal)">
                                      <p:cBhvr>
                                        <p:cTn id="20" dur="500"/>
                                        <p:tgtEl>
                                          <p:spTgt spid="18125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81251">
                                            <p:txEl>
                                              <p:pRg st="4" end="4"/>
                                            </p:txEl>
                                          </p:spTgt>
                                        </p:tgtEl>
                                        <p:attrNameLst>
                                          <p:attrName>style.visibility</p:attrName>
                                        </p:attrNameLst>
                                      </p:cBhvr>
                                      <p:to>
                                        <p:strVal val="visible"/>
                                      </p:to>
                                    </p:set>
                                    <p:animEffect transition="in" filter="blinds(horizontal)">
                                      <p:cBhvr>
                                        <p:cTn id="25" dur="500"/>
                                        <p:tgtEl>
                                          <p:spTgt spid="181251">
                                            <p:txEl>
                                              <p:pRg st="4" end="4"/>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181251">
                                            <p:txEl>
                                              <p:pRg st="5" end="5"/>
                                            </p:txEl>
                                          </p:spTgt>
                                        </p:tgtEl>
                                        <p:attrNameLst>
                                          <p:attrName>style.visibility</p:attrName>
                                        </p:attrNameLst>
                                      </p:cBhvr>
                                      <p:to>
                                        <p:strVal val="visible"/>
                                      </p:to>
                                    </p:set>
                                    <p:animEffect transition="in" filter="blinds(horizontal)">
                                      <p:cBhvr>
                                        <p:cTn id="28" dur="500"/>
                                        <p:tgtEl>
                                          <p:spTgt spid="181251">
                                            <p:txEl>
                                              <p:pRg st="5" end="5"/>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181251">
                                            <p:txEl>
                                              <p:pRg st="6" end="6"/>
                                            </p:txEl>
                                          </p:spTgt>
                                        </p:tgtEl>
                                        <p:attrNameLst>
                                          <p:attrName>style.visibility</p:attrName>
                                        </p:attrNameLst>
                                      </p:cBhvr>
                                      <p:to>
                                        <p:strVal val="visible"/>
                                      </p:to>
                                    </p:set>
                                    <p:animEffect transition="in" filter="blinds(horizontal)">
                                      <p:cBhvr>
                                        <p:cTn id="31" dur="500"/>
                                        <p:tgtEl>
                                          <p:spTgt spid="181251">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181251">
                                            <p:txEl>
                                              <p:pRg st="7" end="7"/>
                                            </p:txEl>
                                          </p:spTgt>
                                        </p:tgtEl>
                                        <p:attrNameLst>
                                          <p:attrName>style.visibility</p:attrName>
                                        </p:attrNameLst>
                                      </p:cBhvr>
                                      <p:to>
                                        <p:strVal val="visible"/>
                                      </p:to>
                                    </p:set>
                                    <p:animEffect transition="in" filter="blinds(horizontal)">
                                      <p:cBhvr>
                                        <p:cTn id="36" dur="500"/>
                                        <p:tgtEl>
                                          <p:spTgt spid="181251">
                                            <p:txEl>
                                              <p:pRg st="7" end="7"/>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181251">
                                            <p:txEl>
                                              <p:pRg st="8" end="8"/>
                                            </p:txEl>
                                          </p:spTgt>
                                        </p:tgtEl>
                                        <p:attrNameLst>
                                          <p:attrName>style.visibility</p:attrName>
                                        </p:attrNameLst>
                                      </p:cBhvr>
                                      <p:to>
                                        <p:strVal val="visible"/>
                                      </p:to>
                                    </p:set>
                                    <p:animEffect transition="in" filter="blinds(horizontal)">
                                      <p:cBhvr>
                                        <p:cTn id="39" dur="500"/>
                                        <p:tgtEl>
                                          <p:spTgt spid="181251">
                                            <p:txEl>
                                              <p:pRg st="8" end="8"/>
                                            </p:txEl>
                                          </p:spTgt>
                                        </p:tgtEl>
                                      </p:cBhvr>
                                    </p:animEffect>
                                  </p:childTnLst>
                                </p:cTn>
                              </p:par>
                              <p:par>
                                <p:cTn id="40" presetID="3" presetClass="entr" presetSubtype="10" fill="hold" nodeType="withEffect">
                                  <p:stCondLst>
                                    <p:cond delay="0"/>
                                  </p:stCondLst>
                                  <p:childTnLst>
                                    <p:set>
                                      <p:cBhvr>
                                        <p:cTn id="41" dur="1" fill="hold">
                                          <p:stCondLst>
                                            <p:cond delay="0"/>
                                          </p:stCondLst>
                                        </p:cTn>
                                        <p:tgtEl>
                                          <p:spTgt spid="181251">
                                            <p:txEl>
                                              <p:pRg st="9" end="9"/>
                                            </p:txEl>
                                          </p:spTgt>
                                        </p:tgtEl>
                                        <p:attrNameLst>
                                          <p:attrName>style.visibility</p:attrName>
                                        </p:attrNameLst>
                                      </p:cBhvr>
                                      <p:to>
                                        <p:strVal val="visible"/>
                                      </p:to>
                                    </p:set>
                                    <p:animEffect transition="in" filter="blinds(horizontal)">
                                      <p:cBhvr>
                                        <p:cTn id="42" dur="500"/>
                                        <p:tgtEl>
                                          <p:spTgt spid="181251">
                                            <p:txEl>
                                              <p:pRg st="9" end="9"/>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181251">
                                            <p:txEl>
                                              <p:pRg st="10" end="10"/>
                                            </p:txEl>
                                          </p:spTgt>
                                        </p:tgtEl>
                                        <p:attrNameLst>
                                          <p:attrName>style.visibility</p:attrName>
                                        </p:attrNameLst>
                                      </p:cBhvr>
                                      <p:to>
                                        <p:strVal val="visible"/>
                                      </p:to>
                                    </p:set>
                                    <p:animEffect transition="in" filter="blinds(horizontal)">
                                      <p:cBhvr>
                                        <p:cTn id="45" dur="500"/>
                                        <p:tgtEl>
                                          <p:spTgt spid="18125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85345"/>
          <p:cNvSpPr>
            <a:spLocks noGrp="1" noChangeArrowheads="1"/>
          </p:cNvSpPr>
          <p:nvPr>
            <p:ph type="title"/>
          </p:nvPr>
        </p:nvSpPr>
        <p:spPr>
          <a:xfrm>
            <a:off x="2674939" y="260350"/>
            <a:ext cx="7793037" cy="647700"/>
          </a:xfrm>
        </p:spPr>
        <p:txBody>
          <a:bodyPr/>
          <a:lstStyle/>
          <a:p>
            <a:pPr marL="685800" indent="-685800"/>
            <a:r>
              <a:rPr lang="en-US" altLang="zh-CN" sz="3600" b="1">
                <a:solidFill>
                  <a:srgbClr val="4D009A"/>
                </a:solidFill>
                <a:latin typeface="Times New Roman" panose="02020603050405020304" pitchFamily="18" charset="0"/>
                <a:ea typeface="华文楷体" panose="02010600040101010101" pitchFamily="2" charset="-122"/>
              </a:rPr>
              <a:t>6</a:t>
            </a:r>
            <a:r>
              <a:rPr lang="zh-CN" altLang="en-US" sz="3600" b="1">
                <a:solidFill>
                  <a:srgbClr val="4D009A"/>
                </a:solidFill>
                <a:latin typeface="Times New Roman" panose="02020603050405020304" pitchFamily="18" charset="0"/>
                <a:ea typeface="华文楷体" panose="02010600040101010101" pitchFamily="2" charset="-122"/>
              </a:rPr>
              <a:t>、算术运算  （续）</a:t>
            </a:r>
            <a:endParaRPr lang="zh-CN" altLang="en-US" sz="3600" b="1">
              <a:solidFill>
                <a:srgbClr val="4D009A"/>
              </a:solidFill>
              <a:latin typeface="Times New Roman" panose="02020603050405020304" pitchFamily="18" charset="0"/>
              <a:ea typeface="华文楷体" panose="02010600040101010101" pitchFamily="2" charset="-122"/>
            </a:endParaRPr>
          </a:p>
        </p:txBody>
      </p:sp>
      <p:sp>
        <p:nvSpPr>
          <p:cNvPr id="185347" name="内容占位符 185346"/>
          <p:cNvSpPr>
            <a:spLocks noGrp="1" noChangeArrowheads="1"/>
          </p:cNvSpPr>
          <p:nvPr>
            <p:ph idx="1"/>
          </p:nvPr>
        </p:nvSpPr>
        <p:spPr>
          <a:xfrm>
            <a:off x="2706688" y="1341439"/>
            <a:ext cx="3713162" cy="4791075"/>
          </a:xfrm>
        </p:spPr>
        <p:txBody>
          <a:bodyPr/>
          <a:lstStyle/>
          <a:p>
            <a:pPr eaLnBrk="1" hangingPunct="1">
              <a:buFont typeface="Wingdings" panose="05000000000000000000" pitchFamily="2" charset="2"/>
              <a:buNone/>
            </a:pPr>
            <a:r>
              <a:rPr lang="zh-CN" altLang="en-US" sz="3000" b="1" dirty="0">
                <a:solidFill>
                  <a:srgbClr val="0000FF"/>
                </a:solidFill>
                <a:latin typeface="Times New Roman" panose="02020603050405020304" pitchFamily="18" charset="0"/>
              </a:rPr>
              <a:t>【例</a:t>
            </a:r>
            <a:r>
              <a:rPr lang="en-US" altLang="zh-CN" sz="3000" b="1" dirty="0">
                <a:solidFill>
                  <a:srgbClr val="0000FF"/>
                </a:solidFill>
                <a:latin typeface="Times New Roman" panose="02020603050405020304" pitchFamily="18" charset="0"/>
              </a:rPr>
              <a:t>5-2</a:t>
            </a:r>
            <a:r>
              <a:rPr lang="zh-CN" altLang="en-US" sz="3000" b="1" dirty="0">
                <a:solidFill>
                  <a:srgbClr val="0000FF"/>
                </a:solidFill>
                <a:latin typeface="Times New Roman" panose="02020603050405020304" pitchFamily="18" charset="0"/>
              </a:rPr>
              <a:t>】</a:t>
            </a:r>
            <a:r>
              <a:rPr lang="zh-CN" altLang="en-US" sz="3000" b="1" dirty="0">
                <a:solidFill>
                  <a:srgbClr val="490092"/>
                </a:solidFill>
                <a:latin typeface="Times New Roman" panose="02020603050405020304" pitchFamily="18" charset="0"/>
              </a:rPr>
              <a:t>点幂“</a:t>
            </a:r>
            <a:r>
              <a:rPr lang="en-US" altLang="zh-CN" sz="3000" b="1" dirty="0">
                <a:solidFill>
                  <a:srgbClr val="490092"/>
                </a:solidFill>
                <a:latin typeface="Times New Roman" panose="02020603050405020304" pitchFamily="18" charset="0"/>
              </a:rPr>
              <a:t>.^”</a:t>
            </a:r>
            <a:r>
              <a:rPr lang="zh-CN" altLang="en-US" sz="3000" b="1" dirty="0">
                <a:solidFill>
                  <a:srgbClr val="490092"/>
                </a:solidFill>
                <a:latin typeface="Times New Roman" panose="02020603050405020304" pitchFamily="18" charset="0"/>
              </a:rPr>
              <a:t>举例</a:t>
            </a:r>
            <a:endParaRPr lang="zh-CN" altLang="en-US" sz="3000" b="1" dirty="0">
              <a:solidFill>
                <a:srgbClr val="490092"/>
              </a:solidFill>
              <a:latin typeface="Times New Roman" panose="02020603050405020304" pitchFamily="18" charset="0"/>
            </a:endParaRPr>
          </a:p>
          <a:p>
            <a:pPr eaLnBrk="1" hangingPunct="1">
              <a:spcBef>
                <a:spcPct val="50000"/>
              </a:spcBef>
              <a:buFont typeface="Wingdings" panose="05000000000000000000" pitchFamily="2" charset="2"/>
              <a:buNone/>
            </a:pPr>
            <a:r>
              <a:rPr lang="en-US" altLang="zh-CN" sz="3000" b="1" dirty="0">
                <a:solidFill>
                  <a:srgbClr val="490092"/>
                </a:solidFill>
                <a:latin typeface="Times New Roman" panose="02020603050405020304" pitchFamily="18" charset="0"/>
              </a:rPr>
              <a:t>&gt;&gt;a=1:6</a:t>
            </a:r>
            <a:endParaRPr lang="en-US" altLang="zh-CN" sz="3000" b="1" dirty="0">
              <a:solidFill>
                <a:srgbClr val="490092"/>
              </a:solidFill>
              <a:latin typeface="Times New Roman" panose="02020603050405020304" pitchFamily="18" charset="0"/>
            </a:endParaRPr>
          </a:p>
          <a:p>
            <a:pPr lvl="1" eaLnBrk="1" hangingPunct="1">
              <a:buFont typeface="Wingdings" panose="05000000000000000000" pitchFamily="2" charset="2"/>
              <a:buNone/>
            </a:pPr>
            <a:r>
              <a:rPr lang="pt-BR" altLang="zh-CN" sz="2600" b="1" dirty="0">
                <a:solidFill>
                  <a:srgbClr val="490092"/>
                </a:solidFill>
                <a:latin typeface="Times New Roman" panose="02020603050405020304" pitchFamily="18" charset="0"/>
              </a:rPr>
              <a:t>a =</a:t>
            </a:r>
            <a:endParaRPr lang="pt-BR" altLang="zh-CN" sz="2600" b="1" dirty="0">
              <a:solidFill>
                <a:srgbClr val="490092"/>
              </a:solidFill>
              <a:latin typeface="Times New Roman" panose="02020603050405020304" pitchFamily="18" charset="0"/>
            </a:endParaRPr>
          </a:p>
          <a:p>
            <a:pPr lvl="1" eaLnBrk="1" hangingPunct="1">
              <a:buFont typeface="Wingdings" panose="05000000000000000000" pitchFamily="2" charset="2"/>
              <a:buNone/>
            </a:pPr>
            <a:r>
              <a:rPr lang="pt-BR" altLang="zh-CN" sz="2600" b="1" dirty="0">
                <a:solidFill>
                  <a:srgbClr val="490092"/>
                </a:solidFill>
                <a:latin typeface="Times New Roman" panose="02020603050405020304" pitchFamily="18" charset="0"/>
              </a:rPr>
              <a:t>     1   2   3   4   5  6</a:t>
            </a:r>
            <a:endParaRPr lang="pt-BR" altLang="zh-CN" sz="2600" b="1" dirty="0">
              <a:solidFill>
                <a:srgbClr val="490092"/>
              </a:solidFill>
              <a:latin typeface="Times New Roman" panose="02020603050405020304" pitchFamily="18" charset="0"/>
            </a:endParaRPr>
          </a:p>
          <a:p>
            <a:pPr eaLnBrk="1" hangingPunct="1">
              <a:spcBef>
                <a:spcPct val="50000"/>
              </a:spcBef>
              <a:buFont typeface="Wingdings" panose="05000000000000000000" pitchFamily="2" charset="2"/>
              <a:buNone/>
            </a:pPr>
            <a:r>
              <a:rPr lang="en-US" altLang="zh-CN" sz="3000" b="1" dirty="0">
                <a:solidFill>
                  <a:srgbClr val="490092"/>
                </a:solidFill>
                <a:latin typeface="Times New Roman" panose="02020603050405020304" pitchFamily="18" charset="0"/>
              </a:rPr>
              <a:t>&gt;&gt;b=reshape(a,2,3)</a:t>
            </a:r>
            <a:endParaRPr lang="en-US" altLang="zh-CN" sz="3000" b="1" dirty="0">
              <a:solidFill>
                <a:srgbClr val="490092"/>
              </a:solidFill>
              <a:latin typeface="Times New Roman" panose="02020603050405020304" pitchFamily="18" charset="0"/>
            </a:endParaRPr>
          </a:p>
          <a:p>
            <a:pPr lvl="1" eaLnBrk="1" hangingPunct="1">
              <a:buFont typeface="Wingdings" panose="05000000000000000000" pitchFamily="2" charset="2"/>
              <a:buNone/>
            </a:pPr>
            <a:r>
              <a:rPr lang="en-US" altLang="zh-CN" b="1" dirty="0">
                <a:solidFill>
                  <a:srgbClr val="490092"/>
                </a:solidFill>
                <a:latin typeface="Times New Roman" panose="02020603050405020304" pitchFamily="18" charset="0"/>
              </a:rPr>
              <a:t>b =</a:t>
            </a:r>
            <a:endParaRPr lang="en-US" altLang="zh-CN" b="1" dirty="0">
              <a:solidFill>
                <a:srgbClr val="490092"/>
              </a:solidFill>
              <a:latin typeface="Times New Roman" panose="02020603050405020304" pitchFamily="18" charset="0"/>
            </a:endParaRPr>
          </a:p>
          <a:p>
            <a:pPr lvl="1" eaLnBrk="1" hangingPunct="1">
              <a:buFont typeface="Wingdings" panose="05000000000000000000" pitchFamily="2" charset="2"/>
              <a:buNone/>
            </a:pPr>
            <a:r>
              <a:rPr lang="en-US" altLang="zh-CN" b="1" dirty="0">
                <a:solidFill>
                  <a:srgbClr val="490092"/>
                </a:solidFill>
                <a:latin typeface="Times New Roman" panose="02020603050405020304" pitchFamily="18" charset="0"/>
              </a:rPr>
              <a:t>     1     3     5</a:t>
            </a:r>
            <a:endParaRPr lang="en-US" altLang="zh-CN" b="1" dirty="0">
              <a:solidFill>
                <a:srgbClr val="490092"/>
              </a:solidFill>
              <a:latin typeface="Times New Roman" panose="02020603050405020304" pitchFamily="18" charset="0"/>
            </a:endParaRPr>
          </a:p>
          <a:p>
            <a:pPr lvl="1" eaLnBrk="1" hangingPunct="1">
              <a:buFont typeface="Wingdings" panose="05000000000000000000" pitchFamily="2" charset="2"/>
              <a:buNone/>
            </a:pPr>
            <a:r>
              <a:rPr lang="en-US" altLang="zh-CN" b="1" dirty="0">
                <a:solidFill>
                  <a:srgbClr val="490092"/>
                </a:solidFill>
                <a:latin typeface="Times New Roman" panose="02020603050405020304" pitchFamily="18" charset="0"/>
              </a:rPr>
              <a:t>     2     4     6</a:t>
            </a:r>
            <a:endParaRPr lang="en-US" altLang="zh-CN" b="1" dirty="0">
              <a:solidFill>
                <a:srgbClr val="490092"/>
              </a:solidFill>
              <a:latin typeface="Times New Roman" panose="02020603050405020304" pitchFamily="18" charset="0"/>
            </a:endParaRPr>
          </a:p>
        </p:txBody>
      </p:sp>
      <p:sp>
        <p:nvSpPr>
          <p:cNvPr id="185348" name="矩形 185347"/>
          <p:cNvSpPr>
            <a:spLocks noChangeArrowheads="1"/>
          </p:cNvSpPr>
          <p:nvPr/>
        </p:nvSpPr>
        <p:spPr bwMode="auto">
          <a:xfrm>
            <a:off x="6419851" y="1304926"/>
            <a:ext cx="3713163" cy="4791075"/>
          </a:xfrm>
          <a:prstGeom prst="rect">
            <a:avLst/>
          </a:prstGeom>
          <a:noFill/>
          <a:ln w="9525">
            <a:noFill/>
            <a:miter lim="800000"/>
          </a:ln>
        </p:spPr>
        <p:txBody>
          <a:bodyPr/>
          <a:lstStyle/>
          <a:p>
            <a:pPr marL="609600" indent="-609600">
              <a:buClr>
                <a:srgbClr val="4D009A"/>
              </a:buClr>
            </a:pPr>
            <a:endParaRPr lang="en-US" altLang="zh-CN" sz="3000">
              <a:solidFill>
                <a:srgbClr val="490092"/>
              </a:solidFill>
              <a:latin typeface="Tahoma" panose="020B0604030504040204" pitchFamily="34" charset="0"/>
            </a:endParaRPr>
          </a:p>
          <a:p>
            <a:pPr marL="609600" indent="-609600">
              <a:spcBef>
                <a:spcPct val="50000"/>
              </a:spcBef>
              <a:buClr>
                <a:srgbClr val="4D009A"/>
              </a:buClr>
            </a:pPr>
            <a:r>
              <a:rPr lang="en-US" altLang="zh-CN" sz="3000" b="1">
                <a:solidFill>
                  <a:srgbClr val="490092"/>
                </a:solidFill>
                <a:latin typeface="Times New Roman" panose="02020603050405020304" pitchFamily="18" charset="0"/>
              </a:rPr>
              <a:t>&gt;&gt;a=a.^2</a:t>
            </a:r>
            <a:endParaRPr lang="en-US" altLang="zh-CN" sz="3000" b="1">
              <a:solidFill>
                <a:srgbClr val="490092"/>
              </a:solidFill>
              <a:latin typeface="Times New Roman" panose="02020603050405020304" pitchFamily="18" charset="0"/>
            </a:endParaRPr>
          </a:p>
          <a:p>
            <a:pPr marL="990600" lvl="1" indent="-533400">
              <a:buClr>
                <a:srgbClr val="0000FF"/>
              </a:buClr>
            </a:pPr>
            <a:r>
              <a:rPr lang="pt-BR" altLang="zh-CN" sz="2600" b="1" i="1">
                <a:solidFill>
                  <a:srgbClr val="490092"/>
                </a:solidFill>
                <a:latin typeface="Times New Roman" panose="02020603050405020304" pitchFamily="18" charset="0"/>
              </a:rPr>
              <a:t>a =</a:t>
            </a:r>
            <a:endParaRPr lang="pt-BR" altLang="zh-CN" sz="2600" b="1" i="1">
              <a:solidFill>
                <a:srgbClr val="490092"/>
              </a:solidFill>
              <a:latin typeface="Times New Roman" panose="02020603050405020304" pitchFamily="18" charset="0"/>
            </a:endParaRPr>
          </a:p>
          <a:p>
            <a:pPr marL="990600" lvl="1" indent="-533400">
              <a:buClr>
                <a:srgbClr val="0000FF"/>
              </a:buClr>
            </a:pPr>
            <a:r>
              <a:rPr lang="pt-BR" altLang="zh-CN" sz="2600" b="1" i="1">
                <a:solidFill>
                  <a:srgbClr val="490092"/>
                </a:solidFill>
                <a:latin typeface="Times New Roman" panose="02020603050405020304" pitchFamily="18" charset="0"/>
              </a:rPr>
              <a:t>     1   4   9   16   25  36</a:t>
            </a:r>
            <a:endParaRPr lang="pt-BR" altLang="zh-CN" sz="2600" b="1" i="1">
              <a:solidFill>
                <a:srgbClr val="490092"/>
              </a:solidFill>
              <a:latin typeface="Times New Roman" panose="02020603050405020304" pitchFamily="18" charset="0"/>
            </a:endParaRPr>
          </a:p>
          <a:p>
            <a:pPr marL="609600" indent="-609600">
              <a:spcBef>
                <a:spcPct val="50000"/>
              </a:spcBef>
              <a:buClr>
                <a:srgbClr val="4D009A"/>
              </a:buClr>
            </a:pPr>
            <a:r>
              <a:rPr lang="en-US" altLang="zh-CN" sz="3000" b="1">
                <a:solidFill>
                  <a:srgbClr val="490092"/>
                </a:solidFill>
                <a:latin typeface="Times New Roman" panose="02020603050405020304" pitchFamily="18" charset="0"/>
              </a:rPr>
              <a:t>&gt;&gt;b=b.^2</a:t>
            </a:r>
            <a:endParaRPr lang="en-US" altLang="zh-CN" sz="3000" b="1">
              <a:solidFill>
                <a:srgbClr val="490092"/>
              </a:solidFill>
              <a:latin typeface="Times New Roman" panose="02020603050405020304" pitchFamily="18" charset="0"/>
            </a:endParaRPr>
          </a:p>
          <a:p>
            <a:pPr marL="990600" lvl="1" indent="-533400">
              <a:buClr>
                <a:srgbClr val="0000FF"/>
              </a:buClr>
            </a:pPr>
            <a:r>
              <a:rPr lang="en-US" altLang="zh-CN" sz="2800" b="1" i="1">
                <a:solidFill>
                  <a:srgbClr val="490092"/>
                </a:solidFill>
                <a:latin typeface="Times New Roman" panose="02020603050405020304" pitchFamily="18" charset="0"/>
              </a:rPr>
              <a:t>b =</a:t>
            </a:r>
            <a:endParaRPr lang="en-US" altLang="zh-CN" sz="2800" b="1" i="1">
              <a:solidFill>
                <a:srgbClr val="490092"/>
              </a:solidFill>
              <a:latin typeface="Times New Roman" panose="02020603050405020304" pitchFamily="18" charset="0"/>
            </a:endParaRPr>
          </a:p>
          <a:p>
            <a:pPr marL="990600" lvl="1" indent="-533400">
              <a:buClr>
                <a:srgbClr val="0000FF"/>
              </a:buClr>
            </a:pPr>
            <a:r>
              <a:rPr lang="en-US" altLang="zh-CN" sz="2800" b="1" i="1">
                <a:solidFill>
                  <a:srgbClr val="490092"/>
                </a:solidFill>
                <a:latin typeface="Times New Roman" panose="02020603050405020304" pitchFamily="18" charset="0"/>
              </a:rPr>
              <a:t>     1     9     25</a:t>
            </a:r>
            <a:endParaRPr lang="en-US" altLang="zh-CN" sz="2800" b="1" i="1">
              <a:solidFill>
                <a:srgbClr val="490092"/>
              </a:solidFill>
              <a:latin typeface="Times New Roman" panose="02020603050405020304" pitchFamily="18" charset="0"/>
            </a:endParaRPr>
          </a:p>
          <a:p>
            <a:pPr marL="990600" lvl="1" indent="-533400">
              <a:buClr>
                <a:srgbClr val="0000FF"/>
              </a:buClr>
            </a:pPr>
            <a:r>
              <a:rPr lang="en-US" altLang="zh-CN" sz="2800" b="1" i="1">
                <a:solidFill>
                  <a:srgbClr val="490092"/>
                </a:solidFill>
                <a:latin typeface="Times New Roman" panose="02020603050405020304" pitchFamily="18" charset="0"/>
              </a:rPr>
              <a:t>     4     16    36</a:t>
            </a:r>
            <a:endParaRPr lang="en-US" altLang="zh-CN" sz="2800" b="1" i="1">
              <a:solidFill>
                <a:srgbClr val="490092"/>
              </a:solidFill>
              <a:latin typeface="Times New Roman" panose="02020603050405020304" pitchFamily="18" charset="0"/>
            </a:endParaRPr>
          </a:p>
        </p:txBody>
      </p:sp>
      <p:sp>
        <p:nvSpPr>
          <p:cNvPr id="86020"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FEDBE51E-D6FF-4FD1-843D-0FE8B57761A1}" type="datetime1">
              <a:rPr lang="zh-CN" altLang="en-US" smtClean="0">
                <a:solidFill>
                  <a:srgbClr val="45516B"/>
                </a:solidFill>
              </a:rPr>
            </a:fld>
            <a:endParaRPr lang="zh-CN" altLang="en-US">
              <a:solidFill>
                <a:srgbClr val="45516B"/>
              </a:solidFill>
            </a:endParaRPr>
          </a:p>
        </p:txBody>
      </p:sp>
      <p:sp>
        <p:nvSpPr>
          <p:cNvPr id="86021"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86023" name="灯片编号占位符 3"/>
          <p:cNvSpPr>
            <a:spLocks noGrp="1" noChangeArrowheads="1"/>
          </p:cNvSpPr>
          <p:nvPr>
            <p:ph type="sldNum" sz="quarter" idx="12"/>
          </p:nvPr>
        </p:nvSpPr>
        <p:spPr bwMode="auto">
          <a:noFill/>
          <a:ln>
            <a:miter lim="800000"/>
          </a:ln>
        </p:spPr>
        <p:txBody>
          <a:bodyPr/>
          <a:lstStyle/>
          <a:p>
            <a:fld id="{3DD3322F-16BB-417D-9D77-585DA65F87B4}"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5347">
                                            <p:txEl>
                                              <p:pRg st="0" end="0"/>
                                            </p:txEl>
                                          </p:spTgt>
                                        </p:tgtEl>
                                        <p:attrNameLst>
                                          <p:attrName>style.visibility</p:attrName>
                                        </p:attrNameLst>
                                      </p:cBhvr>
                                      <p:to>
                                        <p:strVal val="visible"/>
                                      </p:to>
                                    </p:set>
                                    <p:animEffect transition="in" filter="blinds(horizontal)">
                                      <p:cBhvr>
                                        <p:cTn id="7" dur="500"/>
                                        <p:tgtEl>
                                          <p:spTgt spid="1853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5347">
                                            <p:txEl>
                                              <p:pRg st="1" end="1"/>
                                            </p:txEl>
                                          </p:spTgt>
                                        </p:tgtEl>
                                        <p:attrNameLst>
                                          <p:attrName>style.visibility</p:attrName>
                                        </p:attrNameLst>
                                      </p:cBhvr>
                                      <p:to>
                                        <p:strVal val="visible"/>
                                      </p:to>
                                    </p:set>
                                    <p:animEffect transition="in" filter="blinds(horizontal)">
                                      <p:cBhvr>
                                        <p:cTn id="12" dur="500"/>
                                        <p:tgtEl>
                                          <p:spTgt spid="1853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85347">
                                            <p:txEl>
                                              <p:pRg st="2" end="2"/>
                                            </p:txEl>
                                          </p:spTgt>
                                        </p:tgtEl>
                                        <p:attrNameLst>
                                          <p:attrName>style.visibility</p:attrName>
                                        </p:attrNameLst>
                                      </p:cBhvr>
                                      <p:to>
                                        <p:strVal val="visible"/>
                                      </p:to>
                                    </p:set>
                                    <p:animEffect transition="in" filter="blinds(horizontal)">
                                      <p:cBhvr>
                                        <p:cTn id="17" dur="500"/>
                                        <p:tgtEl>
                                          <p:spTgt spid="185347">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185347">
                                            <p:txEl>
                                              <p:pRg st="3" end="3"/>
                                            </p:txEl>
                                          </p:spTgt>
                                        </p:tgtEl>
                                        <p:attrNameLst>
                                          <p:attrName>style.visibility</p:attrName>
                                        </p:attrNameLst>
                                      </p:cBhvr>
                                      <p:to>
                                        <p:strVal val="visible"/>
                                      </p:to>
                                    </p:set>
                                    <p:animEffect transition="in" filter="blinds(horizontal)">
                                      <p:cBhvr>
                                        <p:cTn id="20" dur="500"/>
                                        <p:tgtEl>
                                          <p:spTgt spid="185347">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85347">
                                            <p:txEl>
                                              <p:pRg st="4" end="4"/>
                                            </p:txEl>
                                          </p:spTgt>
                                        </p:tgtEl>
                                        <p:attrNameLst>
                                          <p:attrName>style.visibility</p:attrName>
                                        </p:attrNameLst>
                                      </p:cBhvr>
                                      <p:to>
                                        <p:strVal val="visible"/>
                                      </p:to>
                                    </p:set>
                                    <p:animEffect transition="in" filter="blinds(horizontal)">
                                      <p:cBhvr>
                                        <p:cTn id="25" dur="500"/>
                                        <p:tgtEl>
                                          <p:spTgt spid="185347">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85347">
                                            <p:txEl>
                                              <p:pRg st="5" end="5"/>
                                            </p:txEl>
                                          </p:spTgt>
                                        </p:tgtEl>
                                        <p:attrNameLst>
                                          <p:attrName>style.visibility</p:attrName>
                                        </p:attrNameLst>
                                      </p:cBhvr>
                                      <p:to>
                                        <p:strVal val="visible"/>
                                      </p:to>
                                    </p:set>
                                    <p:animEffect transition="in" filter="blinds(horizontal)">
                                      <p:cBhvr>
                                        <p:cTn id="30" dur="500"/>
                                        <p:tgtEl>
                                          <p:spTgt spid="185347">
                                            <p:txEl>
                                              <p:pRg st="5" end="5"/>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185347">
                                            <p:txEl>
                                              <p:pRg st="6" end="6"/>
                                            </p:txEl>
                                          </p:spTgt>
                                        </p:tgtEl>
                                        <p:attrNameLst>
                                          <p:attrName>style.visibility</p:attrName>
                                        </p:attrNameLst>
                                      </p:cBhvr>
                                      <p:to>
                                        <p:strVal val="visible"/>
                                      </p:to>
                                    </p:set>
                                    <p:animEffect transition="in" filter="blinds(horizontal)">
                                      <p:cBhvr>
                                        <p:cTn id="33" dur="500"/>
                                        <p:tgtEl>
                                          <p:spTgt spid="185347">
                                            <p:txEl>
                                              <p:pRg st="6" end="6"/>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185347">
                                            <p:txEl>
                                              <p:pRg st="7" end="7"/>
                                            </p:txEl>
                                          </p:spTgt>
                                        </p:tgtEl>
                                        <p:attrNameLst>
                                          <p:attrName>style.visibility</p:attrName>
                                        </p:attrNameLst>
                                      </p:cBhvr>
                                      <p:to>
                                        <p:strVal val="visible"/>
                                      </p:to>
                                    </p:set>
                                    <p:animEffect transition="in" filter="blinds(horizontal)">
                                      <p:cBhvr>
                                        <p:cTn id="36" dur="500"/>
                                        <p:tgtEl>
                                          <p:spTgt spid="185347">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185348">
                                            <p:txEl>
                                              <p:pRg st="1" end="1"/>
                                            </p:txEl>
                                          </p:spTgt>
                                        </p:tgtEl>
                                        <p:attrNameLst>
                                          <p:attrName>style.visibility</p:attrName>
                                        </p:attrNameLst>
                                      </p:cBhvr>
                                      <p:to>
                                        <p:strVal val="visible"/>
                                      </p:to>
                                    </p:set>
                                    <p:animEffect transition="in" filter="blinds(horizontal)">
                                      <p:cBhvr>
                                        <p:cTn id="41" dur="500"/>
                                        <p:tgtEl>
                                          <p:spTgt spid="185348">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185348">
                                            <p:txEl>
                                              <p:pRg st="2" end="2"/>
                                            </p:txEl>
                                          </p:spTgt>
                                        </p:tgtEl>
                                        <p:attrNameLst>
                                          <p:attrName>style.visibility</p:attrName>
                                        </p:attrNameLst>
                                      </p:cBhvr>
                                      <p:to>
                                        <p:strVal val="visible"/>
                                      </p:to>
                                    </p:set>
                                    <p:animEffect transition="in" filter="blinds(horizontal)">
                                      <p:cBhvr>
                                        <p:cTn id="46" dur="500"/>
                                        <p:tgtEl>
                                          <p:spTgt spid="185348">
                                            <p:txEl>
                                              <p:pRg st="2" end="2"/>
                                            </p:txEl>
                                          </p:spTgt>
                                        </p:tgtEl>
                                      </p:cBhvr>
                                    </p:animEffect>
                                  </p:childTnLst>
                                </p:cTn>
                              </p:par>
                              <p:par>
                                <p:cTn id="47" presetID="3" presetClass="entr" presetSubtype="10" fill="hold" nodeType="withEffect">
                                  <p:stCondLst>
                                    <p:cond delay="0"/>
                                  </p:stCondLst>
                                  <p:childTnLst>
                                    <p:set>
                                      <p:cBhvr>
                                        <p:cTn id="48" dur="1" fill="hold">
                                          <p:stCondLst>
                                            <p:cond delay="0"/>
                                          </p:stCondLst>
                                        </p:cTn>
                                        <p:tgtEl>
                                          <p:spTgt spid="185348">
                                            <p:txEl>
                                              <p:pRg st="3" end="3"/>
                                            </p:txEl>
                                          </p:spTgt>
                                        </p:tgtEl>
                                        <p:attrNameLst>
                                          <p:attrName>style.visibility</p:attrName>
                                        </p:attrNameLst>
                                      </p:cBhvr>
                                      <p:to>
                                        <p:strVal val="visible"/>
                                      </p:to>
                                    </p:set>
                                    <p:animEffect transition="in" filter="blinds(horizontal)">
                                      <p:cBhvr>
                                        <p:cTn id="49" dur="500"/>
                                        <p:tgtEl>
                                          <p:spTgt spid="185348">
                                            <p:txEl>
                                              <p:pRg st="3" end="3"/>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185348">
                                            <p:txEl>
                                              <p:pRg st="4" end="4"/>
                                            </p:txEl>
                                          </p:spTgt>
                                        </p:tgtEl>
                                        <p:attrNameLst>
                                          <p:attrName>style.visibility</p:attrName>
                                        </p:attrNameLst>
                                      </p:cBhvr>
                                      <p:to>
                                        <p:strVal val="visible"/>
                                      </p:to>
                                    </p:set>
                                    <p:animEffect transition="in" filter="blinds(horizontal)">
                                      <p:cBhvr>
                                        <p:cTn id="54" dur="500"/>
                                        <p:tgtEl>
                                          <p:spTgt spid="185348">
                                            <p:txEl>
                                              <p:pRg st="4" end="4"/>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185348">
                                            <p:txEl>
                                              <p:pRg st="5" end="5"/>
                                            </p:txEl>
                                          </p:spTgt>
                                        </p:tgtEl>
                                        <p:attrNameLst>
                                          <p:attrName>style.visibility</p:attrName>
                                        </p:attrNameLst>
                                      </p:cBhvr>
                                      <p:to>
                                        <p:strVal val="visible"/>
                                      </p:to>
                                    </p:set>
                                    <p:animEffect transition="in" filter="blinds(horizontal)">
                                      <p:cBhvr>
                                        <p:cTn id="59" dur="500"/>
                                        <p:tgtEl>
                                          <p:spTgt spid="185348">
                                            <p:txEl>
                                              <p:pRg st="5" end="5"/>
                                            </p:txEl>
                                          </p:spTgt>
                                        </p:tgtEl>
                                      </p:cBhvr>
                                    </p:animEffect>
                                  </p:childTnLst>
                                </p:cTn>
                              </p:par>
                              <p:par>
                                <p:cTn id="60" presetID="3" presetClass="entr" presetSubtype="10" fill="hold" nodeType="withEffect">
                                  <p:stCondLst>
                                    <p:cond delay="0"/>
                                  </p:stCondLst>
                                  <p:childTnLst>
                                    <p:set>
                                      <p:cBhvr>
                                        <p:cTn id="61" dur="1" fill="hold">
                                          <p:stCondLst>
                                            <p:cond delay="0"/>
                                          </p:stCondLst>
                                        </p:cTn>
                                        <p:tgtEl>
                                          <p:spTgt spid="185348">
                                            <p:txEl>
                                              <p:pRg st="6" end="6"/>
                                            </p:txEl>
                                          </p:spTgt>
                                        </p:tgtEl>
                                        <p:attrNameLst>
                                          <p:attrName>style.visibility</p:attrName>
                                        </p:attrNameLst>
                                      </p:cBhvr>
                                      <p:to>
                                        <p:strVal val="visible"/>
                                      </p:to>
                                    </p:set>
                                    <p:animEffect transition="in" filter="blinds(horizontal)">
                                      <p:cBhvr>
                                        <p:cTn id="62" dur="500"/>
                                        <p:tgtEl>
                                          <p:spTgt spid="185348">
                                            <p:txEl>
                                              <p:pRg st="6" end="6"/>
                                            </p:txEl>
                                          </p:spTgt>
                                        </p:tgtEl>
                                      </p:cBhvr>
                                    </p:animEffect>
                                  </p:childTnLst>
                                </p:cTn>
                              </p:par>
                              <p:par>
                                <p:cTn id="63" presetID="3" presetClass="entr" presetSubtype="10" fill="hold" nodeType="withEffect">
                                  <p:stCondLst>
                                    <p:cond delay="0"/>
                                  </p:stCondLst>
                                  <p:childTnLst>
                                    <p:set>
                                      <p:cBhvr>
                                        <p:cTn id="64" dur="1" fill="hold">
                                          <p:stCondLst>
                                            <p:cond delay="0"/>
                                          </p:stCondLst>
                                        </p:cTn>
                                        <p:tgtEl>
                                          <p:spTgt spid="185348">
                                            <p:txEl>
                                              <p:pRg st="7" end="7"/>
                                            </p:txEl>
                                          </p:spTgt>
                                        </p:tgtEl>
                                        <p:attrNameLst>
                                          <p:attrName>style.visibility</p:attrName>
                                        </p:attrNameLst>
                                      </p:cBhvr>
                                      <p:to>
                                        <p:strVal val="visible"/>
                                      </p:to>
                                    </p:set>
                                    <p:animEffect transition="in" filter="blinds(horizontal)">
                                      <p:cBhvr>
                                        <p:cTn id="65" dur="500"/>
                                        <p:tgtEl>
                                          <p:spTgt spid="18534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85345"/>
          <p:cNvSpPr>
            <a:spLocks noGrp="1" noChangeArrowheads="1"/>
          </p:cNvSpPr>
          <p:nvPr>
            <p:ph type="title"/>
          </p:nvPr>
        </p:nvSpPr>
        <p:spPr>
          <a:xfrm>
            <a:off x="2674939" y="260350"/>
            <a:ext cx="7793037" cy="647700"/>
          </a:xfrm>
        </p:spPr>
        <p:txBody>
          <a:bodyPr/>
          <a:lstStyle/>
          <a:p>
            <a:pPr marL="685800" indent="-685800"/>
            <a:r>
              <a:rPr lang="en-US" altLang="zh-CN" sz="3600" b="1" dirty="0">
                <a:solidFill>
                  <a:srgbClr val="4D009A"/>
                </a:solidFill>
                <a:latin typeface="Times New Roman" panose="02020603050405020304" pitchFamily="18" charset="0"/>
                <a:ea typeface="华文楷体" panose="02010600040101010101" pitchFamily="2" charset="-122"/>
              </a:rPr>
              <a:t>6</a:t>
            </a:r>
            <a:r>
              <a:rPr lang="zh-CN" altLang="en-US" sz="3600" b="1" dirty="0">
                <a:solidFill>
                  <a:srgbClr val="4D009A"/>
                </a:solidFill>
                <a:latin typeface="Times New Roman" panose="02020603050405020304" pitchFamily="18" charset="0"/>
                <a:ea typeface="华文楷体" panose="02010600040101010101" pitchFamily="2" charset="-122"/>
              </a:rPr>
              <a:t>、算术运算  （续）</a:t>
            </a:r>
            <a:endParaRPr lang="zh-CN" altLang="en-US" sz="3600" b="1" dirty="0">
              <a:solidFill>
                <a:srgbClr val="4D009A"/>
              </a:solidFill>
              <a:latin typeface="Times New Roman" panose="02020603050405020304" pitchFamily="18" charset="0"/>
              <a:ea typeface="华文楷体" panose="02010600040101010101" pitchFamily="2" charset="-122"/>
            </a:endParaRPr>
          </a:p>
        </p:txBody>
      </p:sp>
      <p:sp>
        <p:nvSpPr>
          <p:cNvPr id="185347" name="内容占位符 185346"/>
          <p:cNvSpPr>
            <a:spLocks noGrp="1" noChangeArrowheads="1"/>
          </p:cNvSpPr>
          <p:nvPr>
            <p:ph idx="1"/>
          </p:nvPr>
        </p:nvSpPr>
        <p:spPr>
          <a:xfrm>
            <a:off x="2706687" y="1341439"/>
            <a:ext cx="5313187" cy="4791075"/>
          </a:xfrm>
        </p:spPr>
        <p:txBody>
          <a:bodyPr/>
          <a:lstStyle/>
          <a:p>
            <a:pPr eaLnBrk="1" hangingPunct="1">
              <a:buFont typeface="Wingdings" panose="05000000000000000000" pitchFamily="2" charset="2"/>
              <a:buNone/>
            </a:pPr>
            <a:r>
              <a:rPr lang="zh-CN" altLang="en-US" sz="3000" b="1" dirty="0">
                <a:solidFill>
                  <a:srgbClr val="0000FF"/>
                </a:solidFill>
                <a:latin typeface="Times New Roman" panose="02020603050405020304" pitchFamily="18" charset="0"/>
              </a:rPr>
              <a:t>【例</a:t>
            </a:r>
            <a:r>
              <a:rPr lang="en-US" altLang="zh-CN" sz="3000" b="1" dirty="0">
                <a:solidFill>
                  <a:srgbClr val="0000FF"/>
                </a:solidFill>
                <a:latin typeface="Times New Roman" panose="02020603050405020304" pitchFamily="18" charset="0"/>
              </a:rPr>
              <a:t>5-3</a:t>
            </a:r>
            <a:r>
              <a:rPr lang="zh-CN" altLang="en-US" sz="3000" b="1" dirty="0">
                <a:solidFill>
                  <a:srgbClr val="0000FF"/>
                </a:solidFill>
                <a:latin typeface="Times New Roman" panose="02020603050405020304" pitchFamily="18" charset="0"/>
              </a:rPr>
              <a:t>】</a:t>
            </a:r>
            <a:r>
              <a:rPr lang="zh-CN" altLang="en-US" sz="3000" b="1" dirty="0">
                <a:solidFill>
                  <a:srgbClr val="490092"/>
                </a:solidFill>
                <a:latin typeface="Times New Roman" panose="02020603050405020304" pitchFamily="18" charset="0"/>
              </a:rPr>
              <a:t>求逆矩阵，行列式</a:t>
            </a:r>
            <a:endParaRPr lang="zh-CN" altLang="en-US" sz="3000" b="1" dirty="0">
              <a:solidFill>
                <a:srgbClr val="490092"/>
              </a:solidFill>
              <a:latin typeface="Times New Roman" panose="02020603050405020304" pitchFamily="18" charset="0"/>
            </a:endParaRPr>
          </a:p>
          <a:p>
            <a:pPr>
              <a:spcBef>
                <a:spcPct val="50000"/>
              </a:spcBef>
              <a:buNone/>
            </a:pPr>
            <a:r>
              <a:rPr lang="en-US" altLang="zh-CN" sz="3000" b="1" dirty="0">
                <a:solidFill>
                  <a:srgbClr val="490092"/>
                </a:solidFill>
                <a:latin typeface="Times New Roman" panose="02020603050405020304" pitchFamily="18" charset="0"/>
              </a:rPr>
              <a:t>&gt;&gt;a=[1 2</a:t>
            </a:r>
            <a:endParaRPr lang="en-US" altLang="zh-CN" sz="3000" b="1" dirty="0">
              <a:solidFill>
                <a:srgbClr val="490092"/>
              </a:solidFill>
              <a:latin typeface="Times New Roman" panose="02020603050405020304" pitchFamily="18" charset="0"/>
            </a:endParaRPr>
          </a:p>
          <a:p>
            <a:pPr>
              <a:spcBef>
                <a:spcPct val="50000"/>
              </a:spcBef>
              <a:buNone/>
            </a:pPr>
            <a:r>
              <a:rPr lang="en-US" altLang="zh-CN" sz="3000" b="1" dirty="0">
                <a:solidFill>
                  <a:srgbClr val="490092"/>
                </a:solidFill>
                <a:latin typeface="Times New Roman" panose="02020603050405020304" pitchFamily="18" charset="0"/>
              </a:rPr>
              <a:t>2 1]</a:t>
            </a:r>
            <a:endParaRPr lang="en-US" altLang="zh-CN" sz="3000" b="1" dirty="0">
              <a:solidFill>
                <a:srgbClr val="490092"/>
              </a:solidFill>
              <a:latin typeface="Times New Roman" panose="02020603050405020304" pitchFamily="18" charset="0"/>
            </a:endParaRPr>
          </a:p>
          <a:p>
            <a:pPr>
              <a:spcBef>
                <a:spcPct val="50000"/>
              </a:spcBef>
              <a:buNone/>
            </a:pPr>
            <a:r>
              <a:rPr lang="en-US" altLang="zh-CN" sz="3000" b="1" dirty="0">
                <a:solidFill>
                  <a:srgbClr val="490092"/>
                </a:solidFill>
                <a:latin typeface="Times New Roman" panose="02020603050405020304" pitchFamily="18" charset="0"/>
              </a:rPr>
              <a:t>&gt;&gt;b=inv(a)</a:t>
            </a:r>
            <a:endParaRPr lang="en-US" altLang="zh-CN" sz="3000" b="1" dirty="0">
              <a:solidFill>
                <a:srgbClr val="490092"/>
              </a:solidFill>
              <a:latin typeface="Times New Roman" panose="02020603050405020304" pitchFamily="18" charset="0"/>
            </a:endParaRPr>
          </a:p>
          <a:p>
            <a:pPr lvl="1" eaLnBrk="1" hangingPunct="1">
              <a:buFont typeface="Wingdings" panose="05000000000000000000" pitchFamily="2" charset="2"/>
              <a:buNone/>
            </a:pPr>
            <a:r>
              <a:rPr lang="en-US" altLang="zh-CN" b="1" dirty="0">
                <a:solidFill>
                  <a:srgbClr val="490092"/>
                </a:solidFill>
                <a:latin typeface="Times New Roman" panose="02020603050405020304" pitchFamily="18" charset="0"/>
              </a:rPr>
              <a:t>b =</a:t>
            </a:r>
            <a:endParaRPr lang="en-US" altLang="zh-CN" b="1" dirty="0">
              <a:solidFill>
                <a:srgbClr val="490092"/>
              </a:solidFill>
              <a:latin typeface="Times New Roman" panose="02020603050405020304" pitchFamily="18" charset="0"/>
            </a:endParaRPr>
          </a:p>
          <a:p>
            <a:pPr lvl="1">
              <a:buNone/>
            </a:pPr>
            <a:r>
              <a:rPr lang="en-US" altLang="zh-CN" b="1" dirty="0">
                <a:solidFill>
                  <a:srgbClr val="490092"/>
                </a:solidFill>
                <a:latin typeface="Times New Roman" panose="02020603050405020304" pitchFamily="18" charset="0"/>
              </a:rPr>
              <a:t>     -0.3333    0.6667</a:t>
            </a:r>
            <a:endParaRPr lang="en-US" altLang="zh-CN" b="1" dirty="0">
              <a:solidFill>
                <a:srgbClr val="490092"/>
              </a:solidFill>
              <a:latin typeface="Times New Roman" panose="02020603050405020304" pitchFamily="18" charset="0"/>
            </a:endParaRPr>
          </a:p>
          <a:p>
            <a:pPr lvl="1">
              <a:buNone/>
            </a:pPr>
            <a:r>
              <a:rPr lang="en-US" altLang="zh-CN" b="1" dirty="0">
                <a:solidFill>
                  <a:srgbClr val="490092"/>
                </a:solidFill>
                <a:latin typeface="Times New Roman" panose="02020603050405020304" pitchFamily="18" charset="0"/>
              </a:rPr>
              <a:t>    0.6667   -0.3333</a:t>
            </a:r>
            <a:endParaRPr lang="en-US" altLang="zh-CN" b="1" dirty="0">
              <a:solidFill>
                <a:srgbClr val="490092"/>
              </a:solidFill>
              <a:latin typeface="Times New Roman" panose="02020603050405020304" pitchFamily="18" charset="0"/>
            </a:endParaRPr>
          </a:p>
        </p:txBody>
      </p:sp>
      <p:sp>
        <p:nvSpPr>
          <p:cNvPr id="185348" name="矩形 185347"/>
          <p:cNvSpPr>
            <a:spLocks noChangeArrowheads="1"/>
          </p:cNvSpPr>
          <p:nvPr/>
        </p:nvSpPr>
        <p:spPr bwMode="auto">
          <a:xfrm>
            <a:off x="6419851" y="1304926"/>
            <a:ext cx="3713163" cy="4791075"/>
          </a:xfrm>
          <a:prstGeom prst="rect">
            <a:avLst/>
          </a:prstGeom>
          <a:noFill/>
          <a:ln w="9525">
            <a:noFill/>
            <a:miter lim="800000"/>
          </a:ln>
        </p:spPr>
        <p:txBody>
          <a:bodyPr/>
          <a:lstStyle/>
          <a:p>
            <a:pPr marL="609600" indent="-609600">
              <a:buClr>
                <a:srgbClr val="4D009A"/>
              </a:buClr>
            </a:pPr>
            <a:endParaRPr lang="en-US" altLang="zh-CN" sz="3000" dirty="0">
              <a:solidFill>
                <a:srgbClr val="490092"/>
              </a:solidFill>
              <a:latin typeface="Tahoma" panose="020B0604030504040204" pitchFamily="34" charset="0"/>
            </a:endParaRPr>
          </a:p>
          <a:p>
            <a:pPr marL="609600" indent="-609600">
              <a:spcBef>
                <a:spcPct val="50000"/>
              </a:spcBef>
              <a:buClr>
                <a:srgbClr val="4D009A"/>
              </a:buClr>
            </a:pPr>
            <a:r>
              <a:rPr lang="en-US" altLang="zh-CN" sz="3000" b="1" dirty="0">
                <a:solidFill>
                  <a:srgbClr val="490092"/>
                </a:solidFill>
                <a:latin typeface="Times New Roman" panose="02020603050405020304" pitchFamily="18" charset="0"/>
              </a:rPr>
              <a:t>&gt;&gt;c=det(a)</a:t>
            </a:r>
            <a:endParaRPr lang="en-US" altLang="zh-CN" sz="3000" b="1" dirty="0">
              <a:solidFill>
                <a:srgbClr val="490092"/>
              </a:solidFill>
              <a:latin typeface="Times New Roman" panose="02020603050405020304" pitchFamily="18" charset="0"/>
            </a:endParaRPr>
          </a:p>
          <a:p>
            <a:pPr marL="990600" lvl="1" indent="-533400">
              <a:buClr>
                <a:srgbClr val="0000FF"/>
              </a:buClr>
            </a:pPr>
            <a:r>
              <a:rPr lang="pt-BR" altLang="zh-CN" sz="2600" b="1" i="1" dirty="0">
                <a:solidFill>
                  <a:srgbClr val="490092"/>
                </a:solidFill>
                <a:latin typeface="Times New Roman" panose="02020603050405020304" pitchFamily="18" charset="0"/>
              </a:rPr>
              <a:t>c =</a:t>
            </a:r>
            <a:endParaRPr lang="pt-BR" altLang="zh-CN" sz="2600" b="1" i="1" dirty="0">
              <a:solidFill>
                <a:srgbClr val="490092"/>
              </a:solidFill>
              <a:latin typeface="Times New Roman" panose="02020603050405020304" pitchFamily="18" charset="0"/>
            </a:endParaRPr>
          </a:p>
          <a:p>
            <a:pPr marL="990600" lvl="1" indent="-533400">
              <a:buClr>
                <a:srgbClr val="0000FF"/>
              </a:buClr>
            </a:pPr>
            <a:r>
              <a:rPr lang="pt-BR" altLang="zh-CN" sz="2600" b="1" i="1" dirty="0">
                <a:solidFill>
                  <a:srgbClr val="490092"/>
                </a:solidFill>
                <a:latin typeface="Times New Roman" panose="02020603050405020304" pitchFamily="18" charset="0"/>
              </a:rPr>
              <a:t>     -3</a:t>
            </a:r>
            <a:endParaRPr lang="pt-BR" altLang="zh-CN" sz="2600" b="1" i="1" dirty="0">
              <a:solidFill>
                <a:srgbClr val="490092"/>
              </a:solidFill>
              <a:latin typeface="Times New Roman" panose="02020603050405020304" pitchFamily="18" charset="0"/>
            </a:endParaRPr>
          </a:p>
          <a:p>
            <a:pPr marL="609600" indent="-609600">
              <a:spcBef>
                <a:spcPct val="50000"/>
              </a:spcBef>
              <a:buClr>
                <a:srgbClr val="4D009A"/>
              </a:buClr>
            </a:pPr>
            <a:endParaRPr lang="en-US" altLang="zh-CN" sz="2800" b="1" i="1" dirty="0">
              <a:solidFill>
                <a:srgbClr val="490092"/>
              </a:solidFill>
              <a:latin typeface="Times New Roman" panose="02020603050405020304" pitchFamily="18" charset="0"/>
            </a:endParaRPr>
          </a:p>
        </p:txBody>
      </p:sp>
      <p:sp>
        <p:nvSpPr>
          <p:cNvPr id="86020" name="日期占位符 1"/>
          <p:cNvSpPr>
            <a:spLocks noGrp="1" noChangeArrowheads="1"/>
          </p:cNvSpPr>
          <p:nvPr>
            <p:ph type="dt" sz="quarter" idx="10"/>
          </p:nvPr>
        </p:nvSpPr>
        <p:spPr bwMode="auto">
          <a:ln>
            <a:miter lim="800000"/>
          </a:ln>
        </p:spPr>
        <p:txBody>
          <a:bodyPr vert="horz" wrap="square" lIns="91440" tIns="45720" rIns="91440" bIns="45720" numCol="1" rtlCol="0" anchor="ctr" anchorCtr="0" compatLnSpc="1"/>
          <a:lstStyle/>
          <a:p>
            <a:pPr>
              <a:buClrTx/>
              <a:defRPr/>
            </a:pPr>
            <a:r>
              <a:rPr lang="en-US" altLang="zh-CN"/>
              <a:t> </a:t>
            </a:r>
            <a:fld id="{FEDBE51E-D6FF-4FD1-843D-0FE8B57761A1}" type="datetime1">
              <a:rPr lang="zh-CN" altLang="en-US" smtClean="0">
                <a:solidFill>
                  <a:srgbClr val="45516B"/>
                </a:solidFill>
              </a:rPr>
            </a:fld>
            <a:endParaRPr lang="zh-CN" altLang="en-US">
              <a:solidFill>
                <a:srgbClr val="45516B"/>
              </a:solidFill>
            </a:endParaRPr>
          </a:p>
        </p:txBody>
      </p:sp>
      <p:sp>
        <p:nvSpPr>
          <p:cNvPr id="86021" name="页脚占位符 2"/>
          <p:cNvSpPr>
            <a:spLocks noGrp="1" noChangeArrowheads="1"/>
          </p:cNvSpPr>
          <p:nvPr>
            <p:ph type="ftr" sz="quarter" idx="11"/>
          </p:nvPr>
        </p:nvSpPr>
        <p:spPr bwMode="auto">
          <a:ln>
            <a:miter lim="800000"/>
          </a:ln>
        </p:spPr>
        <p:txBody>
          <a:bodyPr vert="horz" wrap="square" lIns="91440" tIns="45720" rIns="91440" bIns="45720" numCol="1" rtlCol="0" anchor="ctr" anchorCtr="0" compatLnSpc="1"/>
          <a:lstStyle/>
          <a:p>
            <a:pPr>
              <a:buClrTx/>
              <a:defRPr/>
            </a:pPr>
            <a:r>
              <a:rPr lang="en-US" altLang="zh-CN"/>
              <a:t>Application of </a:t>
            </a:r>
            <a:r>
              <a:rPr lang="en-US" altLang="zh-CN">
                <a:latin typeface="ESSTIXThirteen" pitchFamily="2" charset="0"/>
              </a:rPr>
              <a:t>Matlab Language</a:t>
            </a:r>
            <a:endParaRPr lang="en-US" altLang="zh-CN">
              <a:latin typeface="ESSTIXThirteen" pitchFamily="2" charset="0"/>
            </a:endParaRPr>
          </a:p>
        </p:txBody>
      </p:sp>
      <p:sp>
        <p:nvSpPr>
          <p:cNvPr id="86023" name="灯片编号占位符 3"/>
          <p:cNvSpPr>
            <a:spLocks noGrp="1" noChangeArrowheads="1"/>
          </p:cNvSpPr>
          <p:nvPr>
            <p:ph type="sldNum" sz="quarter" idx="12"/>
          </p:nvPr>
        </p:nvSpPr>
        <p:spPr bwMode="auto">
          <a:noFill/>
          <a:ln>
            <a:miter lim="800000"/>
          </a:ln>
        </p:spPr>
        <p:txBody>
          <a:bodyPr/>
          <a:lstStyle/>
          <a:p>
            <a:fld id="{3DD3322F-16BB-417D-9D77-585DA65F87B4}" type="slidenum">
              <a:rPr lang="zh-CN" altLang="en-US">
                <a:latin typeface="Arial" panose="020B0604020202020204" pitchFamily="34" charset="0"/>
              </a:rPr>
            </a:fld>
            <a:r>
              <a:rPr lang="en-US" altLang="zh-CN">
                <a:solidFill>
                  <a:schemeClr val="accent2"/>
                </a:solidFill>
              </a:rPr>
              <a:t> </a:t>
            </a:r>
            <a:endParaRPr lang="en-US" altLang="zh-CN">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5347">
                                            <p:txEl>
                                              <p:pRg st="0" end="0"/>
                                            </p:txEl>
                                          </p:spTgt>
                                        </p:tgtEl>
                                        <p:attrNameLst>
                                          <p:attrName>style.visibility</p:attrName>
                                        </p:attrNameLst>
                                      </p:cBhvr>
                                      <p:to>
                                        <p:strVal val="visible"/>
                                      </p:to>
                                    </p:set>
                                    <p:animEffect transition="in" filter="blinds(horizontal)">
                                      <p:cBhvr>
                                        <p:cTn id="7" dur="500"/>
                                        <p:tgtEl>
                                          <p:spTgt spid="1853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5347">
                                            <p:txEl>
                                              <p:pRg st="1" end="1"/>
                                            </p:txEl>
                                          </p:spTgt>
                                        </p:tgtEl>
                                        <p:attrNameLst>
                                          <p:attrName>style.visibility</p:attrName>
                                        </p:attrNameLst>
                                      </p:cBhvr>
                                      <p:to>
                                        <p:strVal val="visible"/>
                                      </p:to>
                                    </p:set>
                                    <p:animEffect transition="in" filter="blinds(horizontal)">
                                      <p:cBhvr>
                                        <p:cTn id="12" dur="500"/>
                                        <p:tgtEl>
                                          <p:spTgt spid="1853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85347">
                                            <p:txEl>
                                              <p:pRg st="2" end="2"/>
                                            </p:txEl>
                                          </p:spTgt>
                                        </p:tgtEl>
                                        <p:attrNameLst>
                                          <p:attrName>style.visibility</p:attrName>
                                        </p:attrNameLst>
                                      </p:cBhvr>
                                      <p:to>
                                        <p:strVal val="visible"/>
                                      </p:to>
                                    </p:set>
                                    <p:animEffect transition="in" filter="blinds(horizontal)">
                                      <p:cBhvr>
                                        <p:cTn id="17" dur="500"/>
                                        <p:tgtEl>
                                          <p:spTgt spid="1853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85347">
                                            <p:txEl>
                                              <p:pRg st="3" end="3"/>
                                            </p:txEl>
                                          </p:spTgt>
                                        </p:tgtEl>
                                        <p:attrNameLst>
                                          <p:attrName>style.visibility</p:attrName>
                                        </p:attrNameLst>
                                      </p:cBhvr>
                                      <p:to>
                                        <p:strVal val="visible"/>
                                      </p:to>
                                    </p:set>
                                    <p:animEffect transition="in" filter="blinds(horizontal)">
                                      <p:cBhvr>
                                        <p:cTn id="22" dur="500"/>
                                        <p:tgtEl>
                                          <p:spTgt spid="1853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85347">
                                            <p:txEl>
                                              <p:pRg st="4" end="4"/>
                                            </p:txEl>
                                          </p:spTgt>
                                        </p:tgtEl>
                                        <p:attrNameLst>
                                          <p:attrName>style.visibility</p:attrName>
                                        </p:attrNameLst>
                                      </p:cBhvr>
                                      <p:to>
                                        <p:strVal val="visible"/>
                                      </p:to>
                                    </p:set>
                                    <p:animEffect transition="in" filter="blinds(horizontal)">
                                      <p:cBhvr>
                                        <p:cTn id="27" dur="500"/>
                                        <p:tgtEl>
                                          <p:spTgt spid="185347">
                                            <p:txEl>
                                              <p:pRg st="4" end="4"/>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185347">
                                            <p:txEl>
                                              <p:pRg st="5" end="5"/>
                                            </p:txEl>
                                          </p:spTgt>
                                        </p:tgtEl>
                                        <p:attrNameLst>
                                          <p:attrName>style.visibility</p:attrName>
                                        </p:attrNameLst>
                                      </p:cBhvr>
                                      <p:to>
                                        <p:strVal val="visible"/>
                                      </p:to>
                                    </p:set>
                                    <p:animEffect transition="in" filter="blinds(horizontal)">
                                      <p:cBhvr>
                                        <p:cTn id="30" dur="500"/>
                                        <p:tgtEl>
                                          <p:spTgt spid="185347">
                                            <p:txEl>
                                              <p:pRg st="5" end="5"/>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185347">
                                            <p:txEl>
                                              <p:pRg st="6" end="6"/>
                                            </p:txEl>
                                          </p:spTgt>
                                        </p:tgtEl>
                                        <p:attrNameLst>
                                          <p:attrName>style.visibility</p:attrName>
                                        </p:attrNameLst>
                                      </p:cBhvr>
                                      <p:to>
                                        <p:strVal val="visible"/>
                                      </p:to>
                                    </p:set>
                                    <p:animEffect transition="in" filter="blinds(horizontal)">
                                      <p:cBhvr>
                                        <p:cTn id="33" dur="500"/>
                                        <p:tgtEl>
                                          <p:spTgt spid="185347">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185348">
                                            <p:txEl>
                                              <p:pRg st="1" end="1"/>
                                            </p:txEl>
                                          </p:spTgt>
                                        </p:tgtEl>
                                        <p:attrNameLst>
                                          <p:attrName>style.visibility</p:attrName>
                                        </p:attrNameLst>
                                      </p:cBhvr>
                                      <p:to>
                                        <p:strVal val="visible"/>
                                      </p:to>
                                    </p:set>
                                    <p:animEffect transition="in" filter="blinds(horizontal)">
                                      <p:cBhvr>
                                        <p:cTn id="38" dur="500"/>
                                        <p:tgtEl>
                                          <p:spTgt spid="185348">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85348">
                                            <p:txEl>
                                              <p:pRg st="2" end="2"/>
                                            </p:txEl>
                                          </p:spTgt>
                                        </p:tgtEl>
                                        <p:attrNameLst>
                                          <p:attrName>style.visibility</p:attrName>
                                        </p:attrNameLst>
                                      </p:cBhvr>
                                      <p:to>
                                        <p:strVal val="visible"/>
                                      </p:to>
                                    </p:set>
                                    <p:animEffect transition="in" filter="blinds(horizontal)">
                                      <p:cBhvr>
                                        <p:cTn id="43" dur="500"/>
                                        <p:tgtEl>
                                          <p:spTgt spid="185348">
                                            <p:txEl>
                                              <p:pRg st="2" end="2"/>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185348">
                                            <p:txEl>
                                              <p:pRg st="3" end="3"/>
                                            </p:txEl>
                                          </p:spTgt>
                                        </p:tgtEl>
                                        <p:attrNameLst>
                                          <p:attrName>style.visibility</p:attrName>
                                        </p:attrNameLst>
                                      </p:cBhvr>
                                      <p:to>
                                        <p:strVal val="visible"/>
                                      </p:to>
                                    </p:set>
                                    <p:animEffect transition="in" filter="blinds(horizontal)">
                                      <p:cBhvr>
                                        <p:cTn id="46" dur="500"/>
                                        <p:tgtEl>
                                          <p:spTgt spid="18534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b="1" dirty="0">
                <a:solidFill>
                  <a:srgbClr val="FF0000"/>
                </a:solidFill>
                <a:latin typeface="Times New Roman" panose="02020603050405020304" pitchFamily="18" charset="0"/>
                <a:ea typeface="华文楷体" panose="02010600040101010101" pitchFamily="2" charset="-122"/>
              </a:rPr>
              <a:t>第一次实验课后作业</a:t>
            </a:r>
            <a:endParaRPr lang="zh-CN" altLang="en-US" sz="3600" b="1" dirty="0">
              <a:solidFill>
                <a:srgbClr val="FF0000"/>
              </a:solidFill>
              <a:latin typeface="Times New Roman" panose="02020603050405020304" pitchFamily="18" charset="0"/>
              <a:ea typeface="华文楷体" panose="02010600040101010101" pitchFamily="2" charset="-122"/>
            </a:endParaRPr>
          </a:p>
        </p:txBody>
      </p:sp>
      <p:grpSp>
        <p:nvGrpSpPr>
          <p:cNvPr id="4" name="组合 66574"/>
          <p:cNvGrpSpPr/>
          <p:nvPr/>
        </p:nvGrpSpPr>
        <p:grpSpPr bwMode="auto">
          <a:xfrm>
            <a:off x="1229193" y="1658937"/>
            <a:ext cx="4991106" cy="654050"/>
            <a:chOff x="703" y="1162"/>
            <a:chExt cx="3144" cy="412"/>
          </a:xfrm>
        </p:grpSpPr>
        <p:sp>
          <p:nvSpPr>
            <p:cNvPr id="5" name="文本框 66575"/>
            <p:cNvSpPr txBox="1">
              <a:spLocks noChangeArrowheads="1"/>
            </p:cNvSpPr>
            <p:nvPr/>
          </p:nvSpPr>
          <p:spPr bwMode="auto">
            <a:xfrm>
              <a:off x="703" y="1220"/>
              <a:ext cx="3144" cy="271"/>
            </a:xfrm>
            <a:prstGeom prst="rect">
              <a:avLst/>
            </a:prstGeom>
            <a:noFill/>
            <a:ln w="9525">
              <a:noFill/>
              <a:miter lim="800000"/>
            </a:ln>
          </p:spPr>
          <p:txBody>
            <a:bodyPr wrap="none">
              <a:spAutoFit/>
            </a:bodyPr>
            <a:lstStyle/>
            <a:p>
              <a:pPr marL="342900" indent="-342900"/>
              <a:r>
                <a:rPr lang="zh-CN" altLang="en-US" sz="2200" b="1" dirty="0">
                  <a:solidFill>
                    <a:srgbClr val="4D009A"/>
                  </a:solidFill>
                  <a:latin typeface="楷体_GB2312" pitchFamily="49" charset="-122"/>
                  <a:ea typeface="楷体_GB2312" pitchFamily="49" charset="-122"/>
                </a:rPr>
                <a:t>【</a:t>
              </a:r>
              <a:r>
                <a:rPr lang="en-US" altLang="zh-CN" sz="2200" b="1" dirty="0">
                  <a:solidFill>
                    <a:srgbClr val="4D009A"/>
                  </a:solidFill>
                  <a:latin typeface="楷体_GB2312" pitchFamily="49" charset="-122"/>
                  <a:ea typeface="楷体_GB2312" pitchFamily="49" charset="-122"/>
                </a:rPr>
                <a:t>1</a:t>
              </a:r>
              <a:r>
                <a:rPr lang="zh-CN" altLang="en-US" sz="2200" b="1" dirty="0">
                  <a:solidFill>
                    <a:srgbClr val="4D009A"/>
                  </a:solidFill>
                  <a:latin typeface="楷体_GB2312" pitchFamily="49" charset="-122"/>
                  <a:ea typeface="楷体_GB2312" pitchFamily="49" charset="-122"/>
                </a:rPr>
                <a:t>】计算                               的值。</a:t>
              </a:r>
              <a:r>
                <a:rPr lang="zh-CN" altLang="en-US" dirty="0">
                  <a:latin typeface="Tahoma" panose="020B0604030504040204" pitchFamily="34" charset="0"/>
                </a:rPr>
                <a:t> </a:t>
              </a:r>
              <a:endParaRPr lang="zh-CN" altLang="en-US" dirty="0">
                <a:latin typeface="Tahoma" panose="020B0604030504040204" pitchFamily="34" charset="0"/>
              </a:endParaRPr>
            </a:p>
          </p:txBody>
        </p:sp>
        <p:graphicFrame>
          <p:nvGraphicFramePr>
            <p:cNvPr id="6" name="对象 66576"/>
            <p:cNvGraphicFramePr/>
            <p:nvPr/>
          </p:nvGraphicFramePr>
          <p:xfrm>
            <a:off x="2093" y="1162"/>
            <a:ext cx="929" cy="412"/>
          </p:xfrm>
          <a:graphic>
            <a:graphicData uri="http://schemas.openxmlformats.org/presentationml/2006/ole">
              <mc:AlternateContent xmlns:mc="http://schemas.openxmlformats.org/markup-compatibility/2006">
                <mc:Choice xmlns:v="urn:schemas-microsoft-com:vml" Requires="v">
                  <p:oleObj spid="_x0000_s12293" name="Equation" r:id="rId1" imgW="21640800" imgH="9753600" progId="Equation.DSMT4">
                    <p:embed/>
                  </p:oleObj>
                </mc:Choice>
                <mc:Fallback>
                  <p:oleObj name="Equation" r:id="rId1" imgW="21640800" imgH="9753600" progId="Equation.DSMT4">
                    <p:embed/>
                    <p:pic>
                      <p:nvPicPr>
                        <p:cNvPr id="0" name="对象 6657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3" y="1162"/>
                          <a:ext cx="929"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0" name="文本框 66575"/>
          <p:cNvSpPr txBox="1">
            <a:spLocks noChangeArrowheads="1"/>
          </p:cNvSpPr>
          <p:nvPr/>
        </p:nvSpPr>
        <p:spPr bwMode="auto">
          <a:xfrm>
            <a:off x="1229193" y="2549364"/>
            <a:ext cx="6518131" cy="430887"/>
          </a:xfrm>
          <a:prstGeom prst="rect">
            <a:avLst/>
          </a:prstGeom>
          <a:noFill/>
          <a:ln w="9525">
            <a:noFill/>
            <a:miter lim="800000"/>
          </a:ln>
        </p:spPr>
        <p:txBody>
          <a:bodyPr wrap="none">
            <a:spAutoFit/>
          </a:bodyPr>
          <a:lstStyle/>
          <a:p>
            <a:pPr marL="342900" indent="-342900"/>
            <a:r>
              <a:rPr lang="zh-CN" altLang="en-US" sz="2200" b="1" dirty="0">
                <a:solidFill>
                  <a:srgbClr val="4D009A"/>
                </a:solidFill>
                <a:latin typeface="楷体_GB2312" pitchFamily="49" charset="-122"/>
                <a:ea typeface="楷体_GB2312" pitchFamily="49" charset="-122"/>
              </a:rPr>
              <a:t>【</a:t>
            </a:r>
            <a:r>
              <a:rPr lang="en-US" altLang="zh-CN" sz="2200" b="1" dirty="0">
                <a:solidFill>
                  <a:srgbClr val="4D009A"/>
                </a:solidFill>
                <a:latin typeface="楷体_GB2312" pitchFamily="49" charset="-122"/>
                <a:ea typeface="楷体_GB2312" pitchFamily="49" charset="-122"/>
              </a:rPr>
              <a:t>2</a:t>
            </a:r>
            <a:r>
              <a:rPr lang="zh-CN" altLang="en-US" sz="2200" b="1" dirty="0">
                <a:solidFill>
                  <a:srgbClr val="4D009A"/>
                </a:solidFill>
                <a:latin typeface="楷体_GB2312" pitchFamily="49" charset="-122"/>
                <a:ea typeface="楷体_GB2312" pitchFamily="49" charset="-122"/>
              </a:rPr>
              <a:t>】将分母中的</a:t>
            </a:r>
            <a:r>
              <a:rPr lang="en-US" altLang="zh-CN" sz="2200" b="1" dirty="0">
                <a:solidFill>
                  <a:srgbClr val="4D009A"/>
                </a:solidFill>
                <a:latin typeface="楷体_GB2312" pitchFamily="49" charset="-122"/>
                <a:ea typeface="楷体_GB2312" pitchFamily="49" charset="-122"/>
              </a:rPr>
              <a:t>5</a:t>
            </a:r>
            <a:r>
              <a:rPr lang="zh-CN" altLang="en-US" sz="2200" b="1" dirty="0">
                <a:solidFill>
                  <a:srgbClr val="4D009A"/>
                </a:solidFill>
                <a:latin typeface="楷体_GB2312" pitchFamily="49" charset="-122"/>
                <a:ea typeface="楷体_GB2312" pitchFamily="49" charset="-122"/>
              </a:rPr>
              <a:t>替换成</a:t>
            </a:r>
            <a:r>
              <a:rPr lang="en-US" altLang="zh-CN" sz="2200" b="1" dirty="0">
                <a:solidFill>
                  <a:srgbClr val="4D009A"/>
                </a:solidFill>
                <a:latin typeface="楷体_GB2312" pitchFamily="49" charset="-122"/>
                <a:ea typeface="楷体_GB2312" pitchFamily="49" charset="-122"/>
              </a:rPr>
              <a:t>e</a:t>
            </a:r>
            <a:r>
              <a:rPr lang="en-US" altLang="zh-CN" sz="2000" b="1" baseline="30000" dirty="0">
                <a:solidFill>
                  <a:srgbClr val="4D009A"/>
                </a:solidFill>
                <a:latin typeface="楷体_GB2312" pitchFamily="49" charset="-122"/>
                <a:ea typeface="楷体_GB2312" pitchFamily="49" charset="-122"/>
              </a:rPr>
              <a:t>2</a:t>
            </a:r>
            <a:r>
              <a:rPr lang="en-US" altLang="zh-CN" sz="2200" b="1" dirty="0">
                <a:solidFill>
                  <a:srgbClr val="4D009A"/>
                </a:solidFill>
                <a:latin typeface="楷体_GB2312" pitchFamily="49" charset="-122"/>
                <a:ea typeface="楷体_GB2312" pitchFamily="49" charset="-122"/>
              </a:rPr>
              <a:t>+1,x=-3:3,</a:t>
            </a:r>
            <a:r>
              <a:rPr lang="zh-CN" altLang="en-US" sz="2200" b="1" dirty="0">
                <a:solidFill>
                  <a:srgbClr val="4D009A"/>
                </a:solidFill>
                <a:latin typeface="楷体_GB2312" pitchFamily="49" charset="-122"/>
                <a:ea typeface="楷体_GB2312" pitchFamily="49" charset="-122"/>
              </a:rPr>
              <a:t>结果如何。</a:t>
            </a:r>
            <a:endParaRPr lang="zh-CN" altLang="en-US" dirty="0">
              <a:latin typeface="Tahoma" panose="020B0604030504040204" pitchFamily="34" charset="0"/>
            </a:endParaRPr>
          </a:p>
        </p:txBody>
      </p:sp>
      <p:sp>
        <p:nvSpPr>
          <p:cNvPr id="12" name="文本框 66575"/>
          <p:cNvSpPr txBox="1">
            <a:spLocks noChangeArrowheads="1"/>
          </p:cNvSpPr>
          <p:nvPr/>
        </p:nvSpPr>
        <p:spPr bwMode="auto">
          <a:xfrm>
            <a:off x="1229193" y="3001184"/>
            <a:ext cx="8111516" cy="1107996"/>
          </a:xfrm>
          <a:prstGeom prst="rect">
            <a:avLst/>
          </a:prstGeom>
          <a:noFill/>
          <a:ln w="9525">
            <a:noFill/>
            <a:miter lim="800000"/>
          </a:ln>
        </p:spPr>
        <p:txBody>
          <a:bodyPr wrap="none">
            <a:spAutoFit/>
          </a:bodyPr>
          <a:lstStyle/>
          <a:p>
            <a:pPr marL="342900" indent="-342900"/>
            <a:r>
              <a:rPr lang="zh-CN" altLang="en-US" sz="2200" b="1" dirty="0">
                <a:solidFill>
                  <a:srgbClr val="4D009A"/>
                </a:solidFill>
                <a:latin typeface="楷体_GB2312" pitchFamily="49" charset="-122"/>
                <a:ea typeface="楷体_GB2312" pitchFamily="49" charset="-122"/>
              </a:rPr>
              <a:t>【</a:t>
            </a:r>
            <a:r>
              <a:rPr lang="en-US" altLang="zh-CN" sz="2200" b="1" dirty="0">
                <a:solidFill>
                  <a:srgbClr val="4D009A"/>
                </a:solidFill>
                <a:latin typeface="楷体_GB2312" pitchFamily="49" charset="-122"/>
                <a:ea typeface="楷体_GB2312" pitchFamily="49" charset="-122"/>
              </a:rPr>
              <a:t>3</a:t>
            </a:r>
            <a:r>
              <a:rPr lang="zh-CN" altLang="en-US" sz="2200" b="1" dirty="0">
                <a:solidFill>
                  <a:srgbClr val="4D009A"/>
                </a:solidFill>
                <a:latin typeface="楷体_GB2312" pitchFamily="49" charset="-122"/>
                <a:ea typeface="楷体_GB2312" pitchFamily="49" charset="-122"/>
              </a:rPr>
              <a:t>】一个序列</a:t>
            </a:r>
            <a:r>
              <a:rPr lang="en-US" altLang="zh-CN" sz="2200" b="1" dirty="0">
                <a:solidFill>
                  <a:srgbClr val="4D009A"/>
                </a:solidFill>
                <a:latin typeface="楷体_GB2312" pitchFamily="49" charset="-122"/>
                <a:ea typeface="楷体_GB2312" pitchFamily="49" charset="-122"/>
              </a:rPr>
              <a:t>1</a:t>
            </a:r>
            <a:r>
              <a:rPr lang="zh-CN" altLang="en-US" sz="2200" b="1" dirty="0">
                <a:solidFill>
                  <a:srgbClr val="4D009A"/>
                </a:solidFill>
                <a:latin typeface="楷体_GB2312" pitchFamily="49" charset="-122"/>
                <a:ea typeface="楷体_GB2312" pitchFamily="49" charset="-122"/>
              </a:rPr>
              <a:t>：</a:t>
            </a:r>
            <a:r>
              <a:rPr lang="en-US" altLang="zh-CN" sz="2200" b="1" dirty="0">
                <a:solidFill>
                  <a:srgbClr val="4D009A"/>
                </a:solidFill>
                <a:latin typeface="楷体_GB2312" pitchFamily="49" charset="-122"/>
                <a:ea typeface="楷体_GB2312" pitchFamily="49" charset="-122"/>
              </a:rPr>
              <a:t>16</a:t>
            </a:r>
            <a:r>
              <a:rPr lang="zh-CN" altLang="en-US" sz="2200" b="1" dirty="0">
                <a:solidFill>
                  <a:srgbClr val="4D009A"/>
                </a:solidFill>
                <a:latin typeface="楷体_GB2312" pitchFamily="49" charset="-122"/>
                <a:ea typeface="楷体_GB2312" pitchFamily="49" charset="-122"/>
              </a:rPr>
              <a:t>，变成</a:t>
            </a:r>
            <a:r>
              <a:rPr lang="en-US" altLang="zh-CN" sz="2200" b="1" dirty="0">
                <a:solidFill>
                  <a:srgbClr val="4D009A"/>
                </a:solidFill>
                <a:latin typeface="楷体_GB2312" pitchFamily="49" charset="-122"/>
                <a:ea typeface="楷体_GB2312" pitchFamily="49" charset="-122"/>
              </a:rPr>
              <a:t>4</a:t>
            </a:r>
            <a:r>
              <a:rPr lang="zh-CN" altLang="en-US" sz="2200" b="1" dirty="0">
                <a:solidFill>
                  <a:srgbClr val="4D009A"/>
                </a:solidFill>
                <a:latin typeface="楷体_GB2312" pitchFamily="49" charset="-122"/>
                <a:ea typeface="楷体_GB2312" pitchFamily="49" charset="-122"/>
              </a:rPr>
              <a:t>阶矩阵，求逆和行列式？结果如何</a:t>
            </a:r>
            <a:endParaRPr lang="en-US" altLang="zh-CN" sz="2200" b="1" dirty="0">
              <a:solidFill>
                <a:srgbClr val="4D009A"/>
              </a:solidFill>
              <a:latin typeface="楷体_GB2312" pitchFamily="49" charset="-122"/>
              <a:ea typeface="楷体_GB2312" pitchFamily="49" charset="-122"/>
            </a:endParaRPr>
          </a:p>
          <a:p>
            <a:pPr marL="342900" indent="-342900"/>
            <a:r>
              <a:rPr lang="zh-CN" altLang="en-US" sz="2200" b="1" dirty="0">
                <a:solidFill>
                  <a:srgbClr val="4D009A"/>
                </a:solidFill>
                <a:latin typeface="楷体_GB2312" pitchFamily="49" charset="-122"/>
                <a:ea typeface="楷体_GB2312" pitchFamily="49" charset="-122"/>
              </a:rPr>
              <a:t>        加上一个希尔伯特阵，分别求逆和行列式。</a:t>
            </a:r>
            <a:endParaRPr lang="en-US" altLang="zh-CN" sz="2200" b="1" dirty="0">
              <a:solidFill>
                <a:srgbClr val="4D009A"/>
              </a:solidFill>
              <a:latin typeface="楷体_GB2312" pitchFamily="49" charset="-122"/>
              <a:ea typeface="楷体_GB2312" pitchFamily="49" charset="-122"/>
            </a:endParaRPr>
          </a:p>
          <a:p>
            <a:pPr marL="342900" indent="-342900"/>
            <a:r>
              <a:rPr lang="en-US" altLang="zh-CN" sz="2200" b="1" dirty="0">
                <a:solidFill>
                  <a:srgbClr val="4D009A"/>
                </a:solidFill>
                <a:latin typeface="Tahoma" panose="020B0604030504040204" pitchFamily="34" charset="0"/>
                <a:ea typeface="楷体_GB2312" pitchFamily="49" charset="-122"/>
              </a:rPr>
              <a:t>        </a:t>
            </a:r>
            <a:r>
              <a:rPr lang="zh-CN" altLang="en-US" sz="2200" b="1" dirty="0">
                <a:solidFill>
                  <a:srgbClr val="4D009A"/>
                </a:solidFill>
                <a:latin typeface="Tahoma" panose="020B0604030504040204" pitchFamily="34" charset="0"/>
                <a:ea typeface="楷体_GB2312" pitchFamily="49" charset="-122"/>
              </a:rPr>
              <a:t>分析一下原因？</a:t>
            </a:r>
            <a:endParaRPr lang="zh-CN" altLang="en-US" dirty="0">
              <a:latin typeface="Tahoma" panose="020B0604030504040204" pitchFamily="34" charset="0"/>
            </a:endParaRPr>
          </a:p>
        </p:txBody>
      </p:sp>
      <p:sp>
        <p:nvSpPr>
          <p:cNvPr id="13" name="文本框 66575"/>
          <p:cNvSpPr txBox="1">
            <a:spLocks noChangeArrowheads="1"/>
          </p:cNvSpPr>
          <p:nvPr/>
        </p:nvSpPr>
        <p:spPr bwMode="auto">
          <a:xfrm>
            <a:off x="1229193" y="4023033"/>
            <a:ext cx="6458819" cy="430887"/>
          </a:xfrm>
          <a:prstGeom prst="rect">
            <a:avLst/>
          </a:prstGeom>
          <a:noFill/>
          <a:ln w="9525">
            <a:noFill/>
            <a:miter lim="800000"/>
          </a:ln>
        </p:spPr>
        <p:txBody>
          <a:bodyPr wrap="none">
            <a:spAutoFit/>
          </a:bodyPr>
          <a:lstStyle/>
          <a:p>
            <a:pPr marL="342900" indent="-342900"/>
            <a:r>
              <a:rPr lang="zh-CN" altLang="en-US" sz="2200" b="1" dirty="0">
                <a:solidFill>
                  <a:srgbClr val="4D009A"/>
                </a:solidFill>
                <a:latin typeface="楷体_GB2312" pitchFamily="49" charset="-122"/>
                <a:ea typeface="楷体_GB2312" pitchFamily="49" charset="-122"/>
              </a:rPr>
              <a:t>【</a:t>
            </a:r>
            <a:r>
              <a:rPr lang="en-US" altLang="zh-CN" sz="2200" b="1" dirty="0">
                <a:solidFill>
                  <a:srgbClr val="4D009A"/>
                </a:solidFill>
                <a:latin typeface="楷体_GB2312" pitchFamily="49" charset="-122"/>
                <a:ea typeface="楷体_GB2312" pitchFamily="49" charset="-122"/>
              </a:rPr>
              <a:t>4</a:t>
            </a:r>
            <a:r>
              <a:rPr lang="zh-CN" altLang="en-US" sz="2200" b="1" dirty="0">
                <a:solidFill>
                  <a:srgbClr val="4D009A"/>
                </a:solidFill>
                <a:latin typeface="楷体_GB2312" pitchFamily="49" charset="-122"/>
                <a:ea typeface="楷体_GB2312" pitchFamily="49" charset="-122"/>
              </a:rPr>
              <a:t>】生成一个</a:t>
            </a:r>
            <a:r>
              <a:rPr lang="en-US" altLang="zh-CN" sz="2200" b="1" dirty="0">
                <a:solidFill>
                  <a:srgbClr val="4D009A"/>
                </a:solidFill>
                <a:latin typeface="楷体_GB2312" pitchFamily="49" charset="-122"/>
                <a:ea typeface="楷体_GB2312" pitchFamily="49" charset="-122"/>
              </a:rPr>
              <a:t>4</a:t>
            </a:r>
            <a:r>
              <a:rPr lang="zh-CN" altLang="en-US" sz="2200" b="1" dirty="0">
                <a:solidFill>
                  <a:srgbClr val="4D009A"/>
                </a:solidFill>
                <a:latin typeface="楷体_GB2312" pitchFamily="49" charset="-122"/>
                <a:ea typeface="楷体_GB2312" pitchFamily="49" charset="-122"/>
              </a:rPr>
              <a:t>阶随机阵，求特征值和特征向量。</a:t>
            </a:r>
            <a:endParaRPr lang="zh-CN" altLang="en-US" dirty="0">
              <a:latin typeface="Tahoma" panose="020B0604030504040204" pitchFamily="34"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commondata" val="eyJoZGlkIjoiODFjMzZmMzA5NzlkZDNlNzAwNzg3NzY2MTk0YWM2MG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10910</Words>
  <Application>WPS 演示</Application>
  <PresentationFormat>宽屏</PresentationFormat>
  <Paragraphs>1023</Paragraphs>
  <Slides>48</Slides>
  <Notes>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7</vt:i4>
      </vt:variant>
      <vt:variant>
        <vt:lpstr>幻灯片标题</vt:lpstr>
      </vt:variant>
      <vt:variant>
        <vt:i4>48</vt:i4>
      </vt:variant>
    </vt:vector>
  </HeadingPairs>
  <TitlesOfParts>
    <vt:vector size="74" baseType="lpstr">
      <vt:lpstr>Arial</vt:lpstr>
      <vt:lpstr>宋体</vt:lpstr>
      <vt:lpstr>Wingdings</vt:lpstr>
      <vt:lpstr>ESSTIXThirteen</vt:lpstr>
      <vt:lpstr>Segoe Print</vt:lpstr>
      <vt:lpstr>华文细黑</vt:lpstr>
      <vt:lpstr>Monotype Corsiva</vt:lpstr>
      <vt:lpstr>楷体_GB2312</vt:lpstr>
      <vt:lpstr>新宋体</vt:lpstr>
      <vt:lpstr>华文楷体</vt:lpstr>
      <vt:lpstr>Tahoma</vt:lpstr>
      <vt:lpstr>Times New Roman</vt:lpstr>
      <vt:lpstr>微软雅黑</vt:lpstr>
      <vt:lpstr>Arial Unicode MS</vt:lpstr>
      <vt:lpstr>等线 Light</vt:lpstr>
      <vt:lpstr>等线</vt:lpstr>
      <vt:lpstr>Calibri</vt:lpstr>
      <vt:lpstr>Wingdings 2</vt:lpstr>
      <vt:lpstr>Office 主题​​</vt:lpstr>
      <vt:lpstr>Equation.DSMT4</vt:lpstr>
      <vt:lpstr>Equation.DSMT4</vt:lpstr>
      <vt:lpstr>Equation.DSMT4</vt:lpstr>
      <vt:lpstr>Equation.DSMT4</vt:lpstr>
      <vt:lpstr>Equation.DSMT4</vt:lpstr>
      <vt:lpstr>Equation.DSMT4</vt:lpstr>
      <vt:lpstr>Equation.DSMT4</vt:lpstr>
      <vt:lpstr>数学实验第一次实验课</vt:lpstr>
      <vt:lpstr>PowerPoint 演示文稿</vt:lpstr>
      <vt:lpstr>1.2 命令窗口的使用</vt:lpstr>
      <vt:lpstr>1.2 命令窗口 （续）</vt:lpstr>
      <vt:lpstr>1.2 命令窗口 （续）</vt:lpstr>
      <vt:lpstr>1.2 命令窗口 （续）</vt:lpstr>
      <vt:lpstr>1.2 命令窗口 （续）</vt:lpstr>
      <vt:lpstr>1.2 命令窗口 （续）</vt:lpstr>
      <vt:lpstr>1.2 命令窗口 （续）</vt:lpstr>
      <vt:lpstr>1.2 命令窗口 （续）</vt:lpstr>
      <vt:lpstr>1.3   工作空间</vt:lpstr>
      <vt:lpstr>1.4 历史窗口</vt:lpstr>
      <vt:lpstr>PowerPoint 演示文稿</vt:lpstr>
      <vt:lpstr>PowerPoint 演示文稿</vt:lpstr>
      <vt:lpstr>1.6  获取在线帮助</vt:lpstr>
      <vt:lpstr>1.3 数值表示、变量及表达式</vt:lpstr>
      <vt:lpstr>1.3 数值表示、变量及表达式 （续）</vt:lpstr>
      <vt:lpstr>1.3 数值表示、变量及表达式 （续）</vt:lpstr>
      <vt:lpstr>1.3 数值表示、变量及表达式 （续）</vt:lpstr>
      <vt:lpstr>1.1.1. 数组(array)的概念</vt:lpstr>
      <vt:lpstr>1.1.1. 数组(array)的概念</vt:lpstr>
      <vt:lpstr>1.1.1、数组(array)的概念 （续）</vt:lpstr>
      <vt:lpstr>1.1.2、创建一维数组变量</vt:lpstr>
      <vt:lpstr>1.1.2、创建一维数组变量（续）</vt:lpstr>
      <vt:lpstr>1.1.2、创建一维数组变量（续）</vt:lpstr>
      <vt:lpstr>1.1.2、创建一维数组变量（续）</vt:lpstr>
      <vt:lpstr>1.1.2、创建一维数组变量 （续）</vt:lpstr>
      <vt:lpstr>1.1.2、创建一维数组变量 （续）</vt:lpstr>
      <vt:lpstr>1.1.3、创建二维数组变量</vt:lpstr>
      <vt:lpstr>1.1.3、创建二维数组变量（续）</vt:lpstr>
      <vt:lpstr>1.1.3、创建二维数组变量（续）</vt:lpstr>
      <vt:lpstr>1.1.3、创建二维数组变量（续）</vt:lpstr>
      <vt:lpstr>1.1.3、创建二维数组变量（续）</vt:lpstr>
      <vt:lpstr>4、数组元素的标识与寻访 （续）</vt:lpstr>
      <vt:lpstr>4、数组元素的标识与寻访 （续）</vt:lpstr>
      <vt:lpstr>4、数组元素的标识与寻访 （续）</vt:lpstr>
      <vt:lpstr>4、数组元素的标识与寻访 （续）</vt:lpstr>
      <vt:lpstr>4、数组元素的标识与寻访 （续）</vt:lpstr>
      <vt:lpstr>4、数组元素的标识与寻访 （续）</vt:lpstr>
      <vt:lpstr>4、数组元素的标识与寻访 （续）</vt:lpstr>
      <vt:lpstr>4、数组元素的标识与寻访 （续）</vt:lpstr>
      <vt:lpstr>6、数组的算术运算</vt:lpstr>
      <vt:lpstr>6.1 矩阵函数</vt:lpstr>
      <vt:lpstr>6.1 矩阵函数</vt:lpstr>
      <vt:lpstr>6、算术运算  （续） </vt:lpstr>
      <vt:lpstr>6、算术运算  （续）</vt:lpstr>
      <vt:lpstr>6、算术运算  （续）</vt:lpstr>
      <vt:lpstr>第一次实验课后作业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谭军</cp:lastModifiedBy>
  <cp:revision>9</cp:revision>
  <dcterms:created xsi:type="dcterms:W3CDTF">2022-09-09T01:18:00Z</dcterms:created>
  <dcterms:modified xsi:type="dcterms:W3CDTF">2024-09-24T13:54:45Z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C07655F4FDA8493B91E48120A8F454A8_12</vt:lpwstr>
  </property>
  <property fmtid="{D5CDD505-2E9C-101B-9397-08002B2CF9AE}" pid="3" name="KSOProductBuildVer">
    <vt:lpwstr>2052-12.1.0.18276</vt:lpwstr>
  </property>
</Properties>
</file>