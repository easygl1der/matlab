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bookmarkIdSeed="7">
  <p:sldMasterIdLst>
    <p:sldMasterId id="2147483672" r:id="rId1"/>
    <p:sldMasterId id="2147483684" r:id="rId2"/>
    <p:sldMasterId id="2147483696" r:id="rId3"/>
  </p:sldMasterIdLst>
  <p:notesMasterIdLst>
    <p:notesMasterId r:id="rId49"/>
  </p:notesMasterIdLst>
  <p:sldIdLst>
    <p:sldId id="256" r:id="rId4"/>
    <p:sldId id="407" r:id="rId5"/>
    <p:sldId id="408" r:id="rId6"/>
    <p:sldId id="409" r:id="rId7"/>
    <p:sldId id="410" r:id="rId8"/>
    <p:sldId id="331" r:id="rId9"/>
    <p:sldId id="367" r:id="rId10"/>
    <p:sldId id="374" r:id="rId11"/>
    <p:sldId id="377" r:id="rId12"/>
    <p:sldId id="378" r:id="rId13"/>
    <p:sldId id="381" r:id="rId14"/>
    <p:sldId id="382" r:id="rId15"/>
    <p:sldId id="383" r:id="rId16"/>
    <p:sldId id="369" r:id="rId17"/>
    <p:sldId id="370" r:id="rId18"/>
    <p:sldId id="386" r:id="rId19"/>
    <p:sldId id="388" r:id="rId20"/>
    <p:sldId id="389" r:id="rId21"/>
    <p:sldId id="390" r:id="rId22"/>
    <p:sldId id="391" r:id="rId23"/>
    <p:sldId id="392" r:id="rId24"/>
    <p:sldId id="393" r:id="rId25"/>
    <p:sldId id="394" r:id="rId26"/>
    <p:sldId id="412" r:id="rId27"/>
    <p:sldId id="413" r:id="rId28"/>
    <p:sldId id="395" r:id="rId29"/>
    <p:sldId id="396" r:id="rId30"/>
    <p:sldId id="397" r:id="rId31"/>
    <p:sldId id="399" r:id="rId32"/>
    <p:sldId id="400" r:id="rId33"/>
    <p:sldId id="401" r:id="rId34"/>
    <p:sldId id="402" r:id="rId35"/>
    <p:sldId id="403" r:id="rId36"/>
    <p:sldId id="411" r:id="rId37"/>
    <p:sldId id="414" r:id="rId38"/>
    <p:sldId id="415" r:id="rId39"/>
    <p:sldId id="417" r:id="rId40"/>
    <p:sldId id="418" r:id="rId41"/>
    <p:sldId id="419" r:id="rId42"/>
    <p:sldId id="420" r:id="rId43"/>
    <p:sldId id="421" r:id="rId44"/>
    <p:sldId id="405" r:id="rId45"/>
    <p:sldId id="406" r:id="rId46"/>
    <p:sldId id="329" r:id="rId47"/>
    <p:sldId id="271" r:id="rId48"/>
  </p:sldIdLst>
  <p:sldSz cx="9144000" cy="6858000" type="screen4x3"/>
  <p:notesSz cx="6858000" cy="9144000"/>
  <p:embeddedFontLst>
    <p:embeddedFont>
      <p:font typeface="Arial Narrow" panose="020B0606020202030204" pitchFamily="34" charset="0"/>
      <p:regular r:id="rId50"/>
      <p:bold r:id="rId51"/>
      <p:italic r:id="rId52"/>
      <p:boldItalic r:id="rId53"/>
    </p:embeddedFont>
    <p:embeddedFont>
      <p:font typeface="Calibri" panose="020F0502020204030204" pitchFamily="34" charset="0"/>
      <p:regular r:id="rId54"/>
      <p:bold r:id="rId55"/>
      <p:italic r:id="rId56"/>
      <p:boldItalic r:id="rId57"/>
    </p:embeddedFont>
    <p:embeddedFont>
      <p:font typeface="Cambria Math" panose="02040503050406030204" pitchFamily="18" charset="0"/>
      <p:regular r:id="rId58"/>
    </p:embeddedFont>
    <p:embeddedFont>
      <p:font typeface="Franklin Gothic Book" panose="020B0503020102020204" pitchFamily="34" charset="0"/>
      <p:regular r:id="rId59"/>
      <p:italic r:id="rId60"/>
    </p:embeddedFont>
    <p:embeddedFont>
      <p:font typeface="Franklin Gothic Medium" panose="020B0603020102020204" pitchFamily="34" charset="0"/>
      <p:regular r:id="rId61"/>
      <p:italic r:id="rId62"/>
    </p:embeddedFont>
    <p:embeddedFont>
      <p:font typeface="Perpetua" panose="02020502060401020303" pitchFamily="18" charset="0"/>
      <p:regular r:id="rId63"/>
      <p:bold r:id="rId64"/>
      <p:italic r:id="rId65"/>
      <p:boldItalic r:id="rId66"/>
    </p:embeddedFont>
    <p:embeddedFont>
      <p:font typeface="Wingdings 2" panose="05020102010507070707" pitchFamily="18" charset="2"/>
      <p:regular r:id="rId67"/>
    </p:embeddedFont>
    <p:embeddedFont>
      <p:font typeface="微软雅黑" panose="020B0503020204020204" pitchFamily="34" charset="-122"/>
      <p:regular r:id="rId68"/>
      <p:bold r:id="rId69"/>
    </p:embeddedFont>
    <p:embeddedFont>
      <p:font typeface="幼圆" panose="02010509060101010101" pitchFamily="49" charset="-122"/>
      <p:regular r:id="rId70"/>
    </p:embeddedFont>
  </p:embeddedFontLst>
  <p:custDataLst>
    <p:tags r:id="rId7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79" autoAdjust="0"/>
    <p:restoredTop sz="93089" autoAdjust="0"/>
  </p:normalViewPr>
  <p:slideViewPr>
    <p:cSldViewPr>
      <p:cViewPr varScale="1">
        <p:scale>
          <a:sx n="114" d="100"/>
          <a:sy n="114" d="100"/>
        </p:scale>
        <p:origin x="144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font" Target="fonts/font14.fntdata"/><Relationship Id="rId68" Type="http://schemas.openxmlformats.org/officeDocument/2006/relationships/font" Target="fonts/font19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font" Target="fonts/font4.fntdata"/><Relationship Id="rId58" Type="http://schemas.openxmlformats.org/officeDocument/2006/relationships/font" Target="fonts/font9.fntdata"/><Relationship Id="rId66" Type="http://schemas.openxmlformats.org/officeDocument/2006/relationships/font" Target="fonts/font17.fntdata"/><Relationship Id="rId74" Type="http://schemas.openxmlformats.org/officeDocument/2006/relationships/theme" Target="theme/theme1.xml"/><Relationship Id="rId5" Type="http://schemas.openxmlformats.org/officeDocument/2006/relationships/slide" Target="slides/slide2.xml"/><Relationship Id="rId61" Type="http://schemas.openxmlformats.org/officeDocument/2006/relationships/font" Target="fonts/font12.fntdata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font" Target="fonts/font7.fntdata"/><Relationship Id="rId64" Type="http://schemas.openxmlformats.org/officeDocument/2006/relationships/font" Target="fonts/font15.fntdata"/><Relationship Id="rId69" Type="http://schemas.openxmlformats.org/officeDocument/2006/relationships/font" Target="fonts/font20.fntdata"/><Relationship Id="rId8" Type="http://schemas.openxmlformats.org/officeDocument/2006/relationships/slide" Target="slides/slide5.xml"/><Relationship Id="rId51" Type="http://schemas.openxmlformats.org/officeDocument/2006/relationships/font" Target="fonts/font2.fntdata"/><Relationship Id="rId72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font" Target="fonts/font10.fntdata"/><Relationship Id="rId67" Type="http://schemas.openxmlformats.org/officeDocument/2006/relationships/font" Target="fonts/font18.fntdata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font" Target="fonts/font5.fntdata"/><Relationship Id="rId62" Type="http://schemas.openxmlformats.org/officeDocument/2006/relationships/font" Target="fonts/font13.fntdata"/><Relationship Id="rId70" Type="http://schemas.openxmlformats.org/officeDocument/2006/relationships/font" Target="fonts/font21.fntdata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notesMaster" Target="notesMasters/notesMaster1.xml"/><Relationship Id="rId57" Type="http://schemas.openxmlformats.org/officeDocument/2006/relationships/font" Target="fonts/font8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font" Target="fonts/font3.fntdata"/><Relationship Id="rId60" Type="http://schemas.openxmlformats.org/officeDocument/2006/relationships/font" Target="fonts/font11.fntdata"/><Relationship Id="rId65" Type="http://schemas.openxmlformats.org/officeDocument/2006/relationships/font" Target="fonts/font16.fntdata"/><Relationship Id="rId73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7" Type="http://schemas.openxmlformats.org/officeDocument/2006/relationships/slide" Target="slides/slide4.xml"/><Relationship Id="rId71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0183DD-ABDB-4EB1-A726-EE72F71F6393}" type="datetimeFigureOut">
              <a:rPr lang="zh-CN" altLang="en-US" smtClean="0"/>
              <a:t>2022/09/19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AC750A-E720-45E3-B984-FED77418FD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6237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AC750A-E720-45E3-B984-FED77418FD21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93800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AC750A-E720-45E3-B984-FED77418FD21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53709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AC750A-E720-45E3-B984-FED77418FD21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278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9/19/2022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868903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9/19/2022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307614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9/19/2022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2438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9/19/2022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144828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9/19/2022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0555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9/19/2022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039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9/19/2022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31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9/19/2022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497679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9/19/2022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791317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9/19/2022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578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9/19/2022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7496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96686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676401"/>
            <a:ext cx="7772400" cy="1538286"/>
          </a:xfrm>
        </p:spPr>
        <p:txBody>
          <a:bodyPr anchor="b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1468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srgbClr val="FFFFCC"/>
                </a:solidFill>
              </a:rPr>
              <a:t>2011/8/17</a:t>
            </a: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99691A7-1C81-401E-8E67-300AC1F1246F}" type="slidenum">
              <a:rPr lang="en-US" altLang="zh-CN" smtClean="0">
                <a:solidFill>
                  <a:srgbClr val="FFFFCC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FFFF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45770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3152" y="6400800"/>
            <a:ext cx="3200400" cy="283800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srgbClr val="FFFFCC"/>
                </a:solidFill>
              </a:rPr>
              <a:t>2011/8/17</a:t>
            </a: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330952" y="6400800"/>
            <a:ext cx="3733800" cy="283800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99691A7-1C81-401E-8E67-300AC1F1246F}" type="slidenum">
              <a:rPr lang="en-US" altLang="zh-CN" smtClean="0">
                <a:solidFill>
                  <a:srgbClr val="FFFFCC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FFFF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93331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43248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143248"/>
            <a:ext cx="7772400" cy="1362075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643061"/>
            <a:ext cx="77724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srgbClr val="FFFFCC"/>
                </a:solidFill>
              </a:rPr>
              <a:t>2011/8/17</a:t>
            </a: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99691A7-1C81-401E-8E67-300AC1F1246F}" type="slidenum">
              <a:rPr lang="en-US" altLang="zh-CN" smtClean="0">
                <a:solidFill>
                  <a:srgbClr val="FFFFCC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FFFF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2855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srgbClr val="FFFFCC"/>
                </a:solidFill>
              </a:rPr>
              <a:t>2011/8/17</a:t>
            </a: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99691A7-1C81-401E-8E67-300AC1F1246F}" type="slidenum">
              <a:rPr lang="en-US" altLang="zh-CN" smtClean="0">
                <a:solidFill>
                  <a:srgbClr val="FFFFCC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FFFF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51295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srgbClr val="FFFFCC"/>
                </a:solidFill>
              </a:rPr>
              <a:t>2011/8/17</a:t>
            </a: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99691A7-1C81-401E-8E67-300AC1F1246F}" type="slidenum">
              <a:rPr lang="en-US" altLang="zh-CN" smtClean="0">
                <a:solidFill>
                  <a:srgbClr val="FFFFCC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FFFF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34652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srgbClr val="FFFFCC"/>
                </a:solidFill>
              </a:rPr>
              <a:t>2011/8/17</a:t>
            </a: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99691A7-1C81-401E-8E67-300AC1F1246F}" type="slidenum">
              <a:rPr lang="en-US" altLang="zh-CN" smtClean="0">
                <a:solidFill>
                  <a:srgbClr val="FFFFCC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FFFF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03708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srgbClr val="FFFFCC"/>
                </a:solidFill>
              </a:rPr>
              <a:t>2011/8/17</a:t>
            </a: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99691A7-1C81-401E-8E67-300AC1F1246F}" type="slidenum">
              <a:rPr lang="en-US" altLang="zh-CN" smtClean="0">
                <a:solidFill>
                  <a:srgbClr val="FFFFCC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FFFF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96986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786050" y="1053546"/>
            <a:ext cx="59040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86050" y="228600"/>
            <a:ext cx="5900752" cy="84294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86050" y="1142984"/>
            <a:ext cx="5900750" cy="51435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5" y="1142984"/>
            <a:ext cx="2257408" cy="5143536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srgbClr val="FFFFCC"/>
                </a:solidFill>
              </a:rPr>
              <a:t>2011/8/17</a:t>
            </a: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99691A7-1C81-401E-8E67-300AC1F1246F}" type="slidenum">
              <a:rPr lang="en-US" altLang="zh-CN" smtClean="0">
                <a:solidFill>
                  <a:srgbClr val="FFFFCC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FFFF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39024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6400800" cy="685800"/>
          </a:xfrm>
        </p:spPr>
        <p:txBody>
          <a:bodyPr anchor="ctr"/>
          <a:lstStyle>
            <a:lvl1pPr algn="l">
              <a:defRPr sz="24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701552" y="1143000"/>
            <a:ext cx="7223248" cy="3980172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62200" y="5410200"/>
            <a:ext cx="5657888" cy="804862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200" indent="0" algn="r">
              <a:buNone/>
              <a:defRPr sz="1200" b="0"/>
            </a:lvl2pPr>
            <a:lvl3pPr marL="914400" indent="0" algn="r">
              <a:buNone/>
              <a:defRPr sz="1200" b="0"/>
            </a:lvl3pPr>
            <a:lvl4pPr marL="1371600" indent="0" algn="r">
              <a:buNone/>
              <a:defRPr sz="1200" b="0"/>
            </a:lvl4pPr>
            <a:lvl5pPr marL="1828800" indent="0" algn="r">
              <a:buNone/>
              <a:defRPr sz="1200" b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srgbClr val="FFFFCC"/>
                </a:solidFill>
              </a:rPr>
              <a:t>2011/8/17</a:t>
            </a: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99691A7-1C81-401E-8E67-300AC1F1246F}" type="slidenum">
              <a:rPr lang="en-US" altLang="zh-CN" smtClean="0">
                <a:solidFill>
                  <a:srgbClr val="FFFFCC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FFFF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619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srgbClr val="FFFFCC"/>
                </a:solidFill>
              </a:rPr>
              <a:t>2011/8/17</a:t>
            </a: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99691A7-1C81-401E-8E67-300AC1F1246F}" type="slidenum">
              <a:rPr lang="en-US" altLang="zh-CN" smtClean="0">
                <a:solidFill>
                  <a:srgbClr val="FFFFCC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FFFFCC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01369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15206" y="274638"/>
            <a:ext cx="1471594" cy="6011882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686568" cy="6011882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srgbClr val="FFFFCC"/>
                </a:solidFill>
              </a:rPr>
              <a:t>2011/8/17</a:t>
            </a: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99691A7-1C81-401E-8E67-300AC1F1246F}" type="slidenum">
              <a:rPr lang="en-US" altLang="zh-CN" smtClean="0">
                <a:solidFill>
                  <a:srgbClr val="FFFFCC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FFFF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22255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2" cstate="print"/>
          <a:srcRect t="33333"/>
          <a:stretch>
            <a:fillRect/>
          </a:stretch>
        </p:blipFill>
        <p:spPr>
          <a:xfrm>
            <a:off x="0" y="0"/>
            <a:ext cx="9144000" cy="4572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0E83E-3DDC-4057-BD42-0C3CE9F543F4}" type="datetimeFigureOut">
              <a:rPr lang="zh-CN" altLang="en-US" smtClean="0"/>
              <a:t>2022/09/19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5C9AC-B17D-4002-9342-307711A3563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17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07888"/>
            <a:ext cx="7772400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541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0E83E-3DDC-4057-BD42-0C3CE9F543F4}" type="datetimeFigureOut">
              <a:rPr lang="zh-CN" altLang="en-US" smtClean="0"/>
              <a:t>2022/09/19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5C9AC-B17D-4002-9342-307711A3563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9588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62525"/>
            <a:ext cx="7885113" cy="1362075"/>
          </a:xfrm>
        </p:spPr>
        <p:txBody>
          <a:bodyPr anchor="t"/>
          <a:lstStyle>
            <a:lvl1pPr algn="l">
              <a:defRPr sz="3200" b="0" i="0" cap="all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462338"/>
            <a:ext cx="7885113" cy="1500187"/>
          </a:xfrm>
        </p:spPr>
        <p:txBody>
          <a:bodyPr anchor="b">
            <a:normAutofit/>
          </a:bodyPr>
          <a:lstStyle>
            <a:lvl1pPr marL="0" indent="0">
              <a:buNone/>
              <a:defRPr sz="170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0E83E-3DDC-4057-BD42-0C3CE9F543F4}" type="datetimeFigureOut">
              <a:rPr lang="zh-CN" altLang="en-US" smtClean="0"/>
              <a:t>2022/09/19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5C9AC-B17D-4002-9342-307711A356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227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3733800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itchFamily="34" charset="0"/>
              <a:buChar char="•"/>
              <a:defRPr/>
            </a:lvl6pPr>
            <a:lvl7pPr>
              <a:buClr>
                <a:schemeClr val="tx2"/>
              </a:buClr>
              <a:buFont typeface="Arial" pitchFamily="34" charset="0"/>
              <a:buChar char="•"/>
              <a:defRPr/>
            </a:lvl7pPr>
            <a:lvl8pPr>
              <a:buClr>
                <a:schemeClr val="tx2"/>
              </a:buClr>
              <a:buFont typeface="Arial" pitchFamily="34" charset="0"/>
              <a:buChar char="•"/>
              <a:defRPr/>
            </a:lvl8pPr>
            <a:lvl9pPr>
              <a:buClr>
                <a:schemeClr val="tx2"/>
              </a:buClr>
              <a:buFont typeface="Arial" pitchFamily="34" charset="0"/>
              <a:buChar char="•"/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600200"/>
            <a:ext cx="3733800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0E83E-3DDC-4057-BD42-0C3CE9F543F4}" type="datetimeFigureOut">
              <a:rPr lang="zh-CN" altLang="en-US" smtClean="0"/>
              <a:t>2022/09/19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5C9AC-B17D-4002-9342-307711A356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77318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0E83E-3DDC-4057-BD42-0C3CE9F543F4}" type="datetimeFigureOut">
              <a:rPr lang="zh-CN" altLang="en-US" smtClean="0"/>
              <a:t>2022/09/19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5C9AC-B17D-4002-9342-307711A356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91670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0E83E-3DDC-4057-BD42-0C3CE9F543F4}" type="datetimeFigureOut">
              <a:rPr lang="zh-CN" altLang="en-US" smtClean="0"/>
              <a:t>2022/09/19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5C9AC-B17D-4002-9342-307711A356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94633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0E83E-3DDC-4057-BD42-0C3CE9F543F4}" type="datetimeFigureOut">
              <a:rPr lang="zh-CN" altLang="en-US" smtClean="0"/>
              <a:t>2022/09/19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5C9AC-B17D-4002-9342-307711A356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52005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962400" y="1447800"/>
            <a:ext cx="46482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648" y="2547891"/>
            <a:ext cx="2971800" cy="3167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0E83E-3DDC-4057-BD42-0C3CE9F543F4}" type="datetimeFigureOut">
              <a:rPr lang="zh-CN" altLang="en-US" smtClean="0"/>
              <a:t>2022/09/19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5C9AC-B17D-4002-9342-307711A356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43460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riz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7344" y="1447800"/>
            <a:ext cx="3419856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21806 w 3419856"/>
              <a:gd name="connsiteY9" fmla="*/ 3407194 h 3429000"/>
              <a:gd name="connsiteX10" fmla="*/ 0 w 3419856"/>
              <a:gd name="connsiteY10" fmla="*/ 3354550 h 3429000"/>
              <a:gd name="connsiteX11" fmla="*/ 0 w 3419856"/>
              <a:gd name="connsiteY11" fmla="*/ 74450 h 3429000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8026"/>
              <a:gd name="connsiteY0" fmla="*/ 74450 h 3910007"/>
              <a:gd name="connsiteX1" fmla="*/ 21806 w 3968026"/>
              <a:gd name="connsiteY1" fmla="*/ 21806 h 3910007"/>
              <a:gd name="connsiteX2" fmla="*/ 74450 w 3968026"/>
              <a:gd name="connsiteY2" fmla="*/ 0 h 3910007"/>
              <a:gd name="connsiteX3" fmla="*/ 3345406 w 3968026"/>
              <a:gd name="connsiteY3" fmla="*/ 0 h 3910007"/>
              <a:gd name="connsiteX4" fmla="*/ 3398050 w 3968026"/>
              <a:gd name="connsiteY4" fmla="*/ 21806 h 3910007"/>
              <a:gd name="connsiteX5" fmla="*/ 3419856 w 3968026"/>
              <a:gd name="connsiteY5" fmla="*/ 74450 h 3910007"/>
              <a:gd name="connsiteX6" fmla="*/ 3419856 w 3968026"/>
              <a:gd name="connsiteY6" fmla="*/ 3354550 h 3910007"/>
              <a:gd name="connsiteX7" fmla="*/ 3398050 w 3968026"/>
              <a:gd name="connsiteY7" fmla="*/ 3407194 h 3910007"/>
              <a:gd name="connsiteX8" fmla="*/ 0 w 3968026"/>
              <a:gd name="connsiteY8" fmla="*/ 3354550 h 3910007"/>
              <a:gd name="connsiteX9" fmla="*/ 0 w 3968026"/>
              <a:gd name="connsiteY9" fmla="*/ 74450 h 3910007"/>
              <a:gd name="connsiteX0" fmla="*/ 0 w 3419856"/>
              <a:gd name="connsiteY0" fmla="*/ 74450 h 3901233"/>
              <a:gd name="connsiteX1" fmla="*/ 21806 w 3419856"/>
              <a:gd name="connsiteY1" fmla="*/ 21806 h 3901233"/>
              <a:gd name="connsiteX2" fmla="*/ 74450 w 3419856"/>
              <a:gd name="connsiteY2" fmla="*/ 0 h 3901233"/>
              <a:gd name="connsiteX3" fmla="*/ 3345406 w 3419856"/>
              <a:gd name="connsiteY3" fmla="*/ 0 h 3901233"/>
              <a:gd name="connsiteX4" fmla="*/ 3398050 w 3419856"/>
              <a:gd name="connsiteY4" fmla="*/ 21806 h 3901233"/>
              <a:gd name="connsiteX5" fmla="*/ 3419856 w 3419856"/>
              <a:gd name="connsiteY5" fmla="*/ 74450 h 3901233"/>
              <a:gd name="connsiteX6" fmla="*/ 3419856 w 3419856"/>
              <a:gd name="connsiteY6" fmla="*/ 3354550 h 3901233"/>
              <a:gd name="connsiteX7" fmla="*/ 0 w 3419856"/>
              <a:gd name="connsiteY7" fmla="*/ 3354550 h 3901233"/>
              <a:gd name="connsiteX8" fmla="*/ 0 w 3419856"/>
              <a:gd name="connsiteY8" fmla="*/ 74450 h 3901233"/>
              <a:gd name="connsiteX0" fmla="*/ 0 w 3419856"/>
              <a:gd name="connsiteY0" fmla="*/ 74450 h 3354550"/>
              <a:gd name="connsiteX1" fmla="*/ 21806 w 3419856"/>
              <a:gd name="connsiteY1" fmla="*/ 21806 h 3354550"/>
              <a:gd name="connsiteX2" fmla="*/ 74450 w 3419856"/>
              <a:gd name="connsiteY2" fmla="*/ 0 h 3354550"/>
              <a:gd name="connsiteX3" fmla="*/ 3345406 w 3419856"/>
              <a:gd name="connsiteY3" fmla="*/ 0 h 3354550"/>
              <a:gd name="connsiteX4" fmla="*/ 3398050 w 3419856"/>
              <a:gd name="connsiteY4" fmla="*/ 21806 h 3354550"/>
              <a:gd name="connsiteX5" fmla="*/ 3419856 w 3419856"/>
              <a:gd name="connsiteY5" fmla="*/ 74450 h 3354550"/>
              <a:gd name="connsiteX6" fmla="*/ 3419856 w 3419856"/>
              <a:gd name="connsiteY6" fmla="*/ 3354550 h 3354550"/>
              <a:gd name="connsiteX7" fmla="*/ 0 w 3419856"/>
              <a:gd name="connsiteY7" fmla="*/ 3354550 h 3354550"/>
              <a:gd name="connsiteX8" fmla="*/ 0 w 3419856"/>
              <a:gd name="connsiteY8" fmla="*/ 74450 h 33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547890"/>
            <a:ext cx="2971800" cy="2405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0E83E-3DDC-4057-BD42-0C3CE9F543F4}" type="datetimeFigureOut">
              <a:rPr lang="zh-CN" altLang="en-US" smtClean="0"/>
              <a:t>2022/09/19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5C9AC-B17D-4002-9342-307711A356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06832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0E83E-3DDC-4057-BD42-0C3CE9F543F4}" type="datetimeFigureOut">
              <a:rPr lang="zh-CN" altLang="en-US" smtClean="0"/>
              <a:t>2022/09/19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5C9AC-B17D-4002-9342-307711A356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2580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0E83E-3DDC-4057-BD42-0C3CE9F543F4}" type="datetimeFigureOut">
              <a:rPr lang="zh-CN" altLang="en-US" smtClean="0"/>
              <a:t>2022/09/19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5C9AC-B17D-4002-9342-307711A356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9756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9/19/2022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220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6678000"/>
            <a:ext cx="9144000" cy="180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68632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3800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>
                <a:solidFill>
                  <a:srgbClr val="2F2F2F">
                    <a:lumMod val="75000"/>
                    <a:lumOff val="25000"/>
                  </a:srgbClr>
                </a:solidFill>
              </a:rPr>
              <a:t>2011/8/17</a:t>
            </a:r>
            <a:endParaRPr lang="zh-CN" altLang="en-US">
              <a:solidFill>
                <a:srgbClr val="2F2F2F">
                  <a:lumMod val="75000"/>
                  <a:lumOff val="2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3800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>
              <a:solidFill>
                <a:srgbClr val="2F2F2F">
                  <a:lumMod val="75000"/>
                  <a:lumOff val="2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3464"/>
          </a:xfrm>
          <a:prstGeom prst="rect">
            <a:avLst/>
          </a:prstGeom>
          <a:noFill/>
        </p:spPr>
        <p:txBody>
          <a:bodyPr vert="horz" lIns="45720" rIns="45720" rtlCol="0" anchor="ctr"/>
          <a:lstStyle>
            <a:lvl1pPr algn="ctr" eaLnBrk="1" latinLnBrk="0" hangingPunct="1">
              <a:defRPr kumimoji="0" sz="1100" b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1F9C30EF-BED7-4227-AEDB-FD1CDC6CCC52}" type="slidenum">
              <a:rPr lang="zh-CN" altLang="en-US" smtClean="0">
                <a:solidFill>
                  <a:srgbClr val="2F2F2F">
                    <a:lumMod val="75000"/>
                    <a:lumOff val="2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2F2F2F">
                  <a:lumMod val="75000"/>
                  <a:lumOff val="25000"/>
                </a:srgbClr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8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8817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ß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Þ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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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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792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15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trike="noStrike" spc="60" baseline="0">
                <a:solidFill>
                  <a:schemeClr val="tx1"/>
                </a:solidFill>
              </a:defRPr>
            </a:lvl1pPr>
          </a:lstStyle>
          <a:p>
            <a:fld id="{7200E83E-3DDC-4057-BD42-0C3CE9F543F4}" type="datetimeFigureOut">
              <a:rPr lang="zh-CN" altLang="en-US" smtClean="0"/>
              <a:t>2022/09/19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60" baseline="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56350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</a:defRPr>
            </a:lvl1pPr>
          </a:lstStyle>
          <a:p>
            <a:fld id="{36E5C9AC-B17D-4002-9342-307711A356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7204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00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7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&#8220;&#24184;&#36816;&#8221;&#23398;&#29983;&#25277;&#36873;&#22120;.exe" TargetMode="Externa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&#8220;&#24184;&#36816;&#8221;&#23398;&#29983;&#25277;&#36873;&#22120;.exe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mailto:mcstj@163.com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12F22"/>
            </a:gs>
            <a:gs pos="31000">
              <a:srgbClr val="0B7B3E"/>
            </a:gs>
            <a:gs pos="100000">
              <a:srgbClr val="1E241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340768"/>
            <a:ext cx="7772400" cy="1470025"/>
          </a:xfrm>
        </p:spPr>
        <p:txBody>
          <a:bodyPr/>
          <a:lstStyle/>
          <a:p>
            <a:r>
              <a:rPr lang="zh-CN" altLang="en-US" sz="4800" b="1" dirty="0">
                <a:solidFill>
                  <a:srgbClr val="FFC000"/>
                </a:solidFill>
              </a:rPr>
              <a:t>数学实验与数学软件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286000" y="2643852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方正姚体" panose="02010601030101010101" pitchFamily="2" charset="-122"/>
                <a:cs typeface="+mn-cs"/>
              </a:rPr>
              <a:t>第二课：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方正姚体" panose="02010601030101010101" pitchFamily="2" charset="-122"/>
                <a:cs typeface="+mn-cs"/>
              </a:rPr>
              <a:t>MATLAB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方正姚体" panose="02010601030101010101" pitchFamily="2" charset="-122"/>
                <a:cs typeface="+mn-cs"/>
              </a:rPr>
              <a:t>基础运算与符号计算（二）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/>
              <a:ea typeface="方正姚体" panose="02010601030101010101" pitchFamily="2" charset="-122"/>
              <a:cs typeface="+mn-cs"/>
            </a:endParaRP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9C89D33F-6E83-470F-8B0B-7C812FB876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564" y="4581128"/>
            <a:ext cx="1616968" cy="1552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9C7DC33-F25D-4A9E-95F0-884290B22A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1476" y="4581817"/>
            <a:ext cx="1551600" cy="1551600"/>
          </a:xfrm>
          <a:prstGeom prst="rect">
            <a:avLst/>
          </a:prstGeom>
        </p:spPr>
      </p:pic>
      <p:sp>
        <p:nvSpPr>
          <p:cNvPr id="10" name="副标题 2">
            <a:extLst>
              <a:ext uri="{FF2B5EF4-FFF2-40B4-BE49-F238E27FC236}">
                <a16:creationId xmlns:a16="http://schemas.microsoft.com/office/drawing/2014/main" id="{CE6359EB-83BA-4E75-8043-00AB86EDD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3429000"/>
            <a:ext cx="6400800" cy="1752600"/>
          </a:xfrm>
        </p:spPr>
        <p:txBody>
          <a:bodyPr/>
          <a:lstStyle/>
          <a:p>
            <a:endParaRPr lang="en-US" altLang="zh-CN" sz="2400" dirty="0"/>
          </a:p>
          <a:p>
            <a:r>
              <a:rPr lang="zh-CN" altLang="en-US" sz="2400" dirty="0"/>
              <a:t>谭军</a:t>
            </a:r>
            <a:endParaRPr lang="en-US" altLang="zh-CN" sz="2400" dirty="0"/>
          </a:p>
          <a:p>
            <a:r>
              <a:rPr lang="zh-CN" altLang="en-US" sz="2400" b="1" dirty="0">
                <a:ea typeface="新細明體" pitchFamily="18" charset="-120"/>
              </a:rPr>
              <a:t>中山大学数学学院</a:t>
            </a:r>
            <a:endParaRPr lang="en-US" altLang="zh-CN" sz="2400" b="1" dirty="0">
              <a:ea typeface="新細明體" pitchFamily="18" charset="-120"/>
            </a:endParaRPr>
          </a:p>
          <a:p>
            <a:endParaRPr lang="en-US" altLang="zh-CN" sz="1600" b="1" dirty="0">
              <a:ea typeface="新細明體" pitchFamily="18" charset="-120"/>
            </a:endParaRPr>
          </a:p>
          <a:p>
            <a:endParaRPr lang="zh-CN" altLang="en-US" sz="1600" dirty="0"/>
          </a:p>
          <a:p>
            <a:endParaRPr lang="zh-CN" altLang="en-US" dirty="0"/>
          </a:p>
        </p:txBody>
      </p:sp>
      <p:sp>
        <p:nvSpPr>
          <p:cNvPr id="11" name="副标题 2">
            <a:extLst>
              <a:ext uri="{FF2B5EF4-FFF2-40B4-BE49-F238E27FC236}">
                <a16:creationId xmlns:a16="http://schemas.microsoft.com/office/drawing/2014/main" id="{C0696DA1-7B49-43E6-AFCB-38151DE1E6E6}"/>
              </a:ext>
            </a:extLst>
          </p:cNvPr>
          <p:cNvSpPr txBox="1">
            <a:spLocks/>
          </p:cNvSpPr>
          <p:nvPr/>
        </p:nvSpPr>
        <p:spPr>
          <a:xfrm>
            <a:off x="1187624" y="4725144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None/>
              <a:defRPr sz="1700" kern="1200" spc="3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None/>
              <a:defRPr sz="1700" kern="1200" spc="3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None/>
              <a:defRPr sz="1700" kern="1200" spc="3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None/>
              <a:defRPr sz="1700" kern="1200" spc="3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None/>
              <a:defRPr sz="1700" kern="1200" spc="3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None/>
              <a:defRPr sz="1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None/>
              <a:defRPr sz="1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None/>
              <a:defRPr sz="1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None/>
              <a:defRPr sz="1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DC9E1F"/>
              </a:buClr>
              <a:buSzTx/>
              <a:buFont typeface="Arial" pitchFamily="34" charset="0"/>
              <a:buNone/>
              <a:tabLst/>
              <a:defRPr/>
            </a:pPr>
            <a:endParaRPr kumimoji="0" lang="en-US" altLang="zh-CN" sz="1700" b="0" i="0" u="none" strike="noStrike" kern="1200" cap="none" spc="30" normalizeH="0" baseline="0" noProof="0" dirty="0">
              <a:ln>
                <a:noFill/>
              </a:ln>
              <a:solidFill>
                <a:srgbClr val="DC9E1F"/>
              </a:solidFill>
              <a:effectLst/>
              <a:uLnTx/>
              <a:uFillTx/>
              <a:latin typeface="Arial Narrow"/>
              <a:ea typeface="方正姚体" panose="02010601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DC9E1F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zh-CN" altLang="en-US" sz="2400" b="0" i="0" u="none" strike="noStrike" kern="1200" cap="none" spc="30" normalizeH="0" baseline="0" noProof="0" dirty="0">
                <a:ln>
                  <a:noFill/>
                </a:ln>
                <a:solidFill>
                  <a:srgbClr val="DC9E1F"/>
                </a:solidFill>
                <a:effectLst/>
                <a:uLnTx/>
                <a:uFillTx/>
                <a:latin typeface="Arial Narrow"/>
                <a:ea typeface="方正姚体" panose="02010601030101010101" pitchFamily="2" charset="-122"/>
                <a:cs typeface="+mn-cs"/>
              </a:rPr>
              <a:t>教师邮箱：</a:t>
            </a:r>
            <a:r>
              <a:rPr kumimoji="0" lang="en-US" altLang="zh-CN" sz="2400" b="0" i="0" u="none" strike="noStrike" kern="1200" cap="none" spc="30" normalizeH="0" baseline="0" noProof="0" dirty="0">
                <a:ln>
                  <a:noFill/>
                </a:ln>
                <a:solidFill>
                  <a:srgbClr val="DC9E1F"/>
                </a:solidFill>
                <a:effectLst/>
                <a:uLnTx/>
                <a:uFillTx/>
                <a:latin typeface="Arial Narrow"/>
                <a:ea typeface="方正姚体" panose="02010601030101010101" pitchFamily="2" charset="-122"/>
                <a:cs typeface="+mn-cs"/>
              </a:rPr>
              <a:t>mcstj@mail.sysu.edu.cn </a:t>
            </a:r>
            <a:endParaRPr kumimoji="0" lang="en-US" altLang="zh-CN" sz="2400" b="1" i="0" u="none" strike="noStrike" kern="1200" cap="none" spc="30" normalizeH="0" baseline="0" noProof="0" dirty="0">
              <a:ln>
                <a:noFill/>
              </a:ln>
              <a:solidFill>
                <a:srgbClr val="DC9E1F"/>
              </a:solidFill>
              <a:effectLst/>
              <a:uLnTx/>
              <a:uFillTx/>
              <a:latin typeface="Arial Narrow"/>
              <a:ea typeface="新細明體" pitchFamily="18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DC9E1F"/>
              </a:buClr>
              <a:buSzTx/>
              <a:buFont typeface="Arial" pitchFamily="34" charset="0"/>
              <a:buNone/>
              <a:tabLst/>
              <a:defRPr/>
            </a:pPr>
            <a:endParaRPr kumimoji="0" lang="en-US" altLang="zh-CN" sz="1600" b="1" i="0" u="none" strike="noStrike" kern="1200" cap="none" spc="30" normalizeH="0" baseline="0" noProof="0" dirty="0">
              <a:ln>
                <a:noFill/>
              </a:ln>
              <a:solidFill>
                <a:srgbClr val="DC9E1F"/>
              </a:solidFill>
              <a:effectLst/>
              <a:uLnTx/>
              <a:uFillTx/>
              <a:latin typeface="Arial Narrow"/>
              <a:ea typeface="新細明體" pitchFamily="18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DC9E1F"/>
              </a:buClr>
              <a:buSzTx/>
              <a:buFont typeface="Arial" pitchFamily="34" charset="0"/>
              <a:buNone/>
              <a:tabLst/>
              <a:defRPr/>
            </a:pPr>
            <a:endParaRPr kumimoji="0" lang="zh-CN" altLang="en-US" sz="1600" b="0" i="0" u="none" strike="noStrike" kern="1200" cap="none" spc="30" normalizeH="0" baseline="0" noProof="0" dirty="0">
              <a:ln>
                <a:noFill/>
              </a:ln>
              <a:solidFill>
                <a:srgbClr val="DC9E1F"/>
              </a:solidFill>
              <a:effectLst/>
              <a:uLnTx/>
              <a:uFillTx/>
              <a:latin typeface="Arial Narrow"/>
              <a:ea typeface="方正姚体" panose="02010601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DC9E1F"/>
              </a:buClr>
              <a:buSzTx/>
              <a:buFont typeface="Arial" pitchFamily="34" charset="0"/>
              <a:buNone/>
              <a:tabLst/>
              <a:defRPr/>
            </a:pPr>
            <a:endParaRPr kumimoji="0" lang="zh-CN" altLang="en-US" sz="1700" b="0" i="0" u="none" strike="noStrike" kern="1200" cap="none" spc="30" normalizeH="0" baseline="0" noProof="0" dirty="0">
              <a:ln>
                <a:noFill/>
              </a:ln>
              <a:solidFill>
                <a:srgbClr val="DC9E1F"/>
              </a:solidFill>
              <a:effectLst/>
              <a:uLnTx/>
              <a:uFillTx/>
              <a:latin typeface="Arial Narrow"/>
              <a:ea typeface="方正姚体" panose="02010601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65047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202993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符号数组的创建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862E801-C025-4490-874D-D1F33BEB3C10}"/>
              </a:ext>
            </a:extLst>
          </p:cNvPr>
          <p:cNvSpPr/>
          <p:nvPr/>
        </p:nvSpPr>
        <p:spPr>
          <a:xfrm>
            <a:off x="467544" y="955705"/>
            <a:ext cx="82809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B050"/>
              </a:buClr>
              <a:buSzPct val="85000"/>
              <a:buFont typeface="Wingdings" pitchFamily="2" charset="2"/>
              <a:buChar char="q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多个已指定的符号常量或变量可以直接组成符号数组。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7560B5C-BED9-468D-A213-F18320DF26F3}"/>
              </a:ext>
            </a:extLst>
          </p:cNvPr>
          <p:cNvSpPr/>
          <p:nvPr/>
        </p:nvSpPr>
        <p:spPr>
          <a:xfrm>
            <a:off x="467544" y="1483972"/>
            <a:ext cx="79208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itchFamily="2" charset="2"/>
              <a:buChar char="q"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函数</a:t>
            </a:r>
            <a:r>
              <a:rPr lang="en-US" altLang="zh-CN" sz="2400" b="1" dirty="0" err="1">
                <a:solidFill>
                  <a:srgbClr val="9B2D1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sym</a:t>
            </a:r>
            <a:r>
              <a:rPr lang="en-US" altLang="zh-CN" sz="2400" b="1" dirty="0">
                <a:solidFill>
                  <a:srgbClr val="9B2D1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('a',[</a:t>
            </a:r>
            <a:r>
              <a:rPr lang="en-US" altLang="zh-CN" sz="2400" b="1" dirty="0">
                <a:solidFill>
                  <a:srgbClr val="9B2D1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1,n])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幼圆" panose="02010509060101010101" pitchFamily="49" charset="-122"/>
                <a:ea typeface="宋体" panose="02010600030101010101" pitchFamily="2" charset="-122"/>
                <a:cs typeface="+mn-cs"/>
              </a:rPr>
              <a:t>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可以生成形如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a1</a:t>
            </a:r>
            <a:r>
              <a:rPr lang="en-US" altLang="zh-CN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,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a2</a:t>
            </a:r>
            <a:r>
              <a:rPr lang="en-US" altLang="zh-CN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,...an</a:t>
            </a:r>
            <a:r>
              <a:rPr lang="zh-CN" altLang="en-US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这样的</a:t>
            </a:r>
            <a:r>
              <a:rPr lang="en-US" altLang="zh-CN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zh-CN" altLang="en-US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行</a:t>
            </a:r>
            <a:r>
              <a:rPr lang="en-US" altLang="zh-CN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n</a:t>
            </a:r>
            <a:r>
              <a:rPr lang="zh-CN" altLang="en-US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列的行向量。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19BDD03D-92E4-4B26-A804-872510824AA6}"/>
                  </a:ext>
                </a:extLst>
              </p:cNvPr>
              <p:cNvSpPr/>
              <p:nvPr/>
            </p:nvSpPr>
            <p:spPr>
              <a:xfrm>
                <a:off x="463222" y="4624331"/>
                <a:ext cx="8118648" cy="206210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269875" algn="l"/>
                  </a:tabLst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clear</a:t>
                </a:r>
              </a:p>
              <a:p>
                <a:pPr marL="0" marR="0" lvl="0" indent="0" algn="just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269875" algn="l"/>
                  </a:tabLst>
                  <a:defRPr/>
                </a:pPr>
                <a:r>
                  <a:rPr kumimoji="0" lang="en-US" altLang="zh-CN" sz="1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8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sym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s a b c d e f g h k		%</a:t>
                </a:r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定义若干基本元素变量</a:t>
                </a:r>
                <a:endParaRPr lang="en-US" altLang="zh-CN" b="1" dirty="0">
                  <a:solidFill>
                    <a:srgbClr val="FF0000"/>
                  </a:solidFill>
                  <a:latin typeface="Courier New" panose="020703090202050204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just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269875" algn="l"/>
                  </a:tabLst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 = [</a:t>
                </a:r>
                <a:r>
                  <a:rPr kumimoji="0" lang="en-US" altLang="zh-CN" sz="1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8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a,b,c;d,e,f;g,h,k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]		%</a:t>
                </a:r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再依次生成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𝟑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𝟑</m:t>
                    </m:r>
                  </m:oMath>
                </a14:m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的矩阵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</a:t>
                </a:r>
                <a:endParaRPr kumimoji="0" lang="zh-CN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  <a:p>
                <a:pPr lvl="0" algn="just" hangingPunct="0">
                  <a:tabLst>
                    <a:tab pos="269875" algn="l"/>
                  </a:tabLst>
                </a:pPr>
                <a:r>
                  <a:rPr lang="pt-BR" altLang="zh-CN" dirty="0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A = </a:t>
                </a:r>
              </a:p>
              <a:p>
                <a:pPr lvl="0" algn="just" hangingPunct="0">
                  <a:tabLst>
                    <a:tab pos="269875" algn="l"/>
                  </a:tabLst>
                </a:pPr>
                <a:r>
                  <a:rPr lang="pt-BR" altLang="zh-CN" dirty="0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[ a, b, c]</a:t>
                </a:r>
              </a:p>
              <a:p>
                <a:pPr lvl="0" algn="just" hangingPunct="0">
                  <a:tabLst>
                    <a:tab pos="269875" algn="l"/>
                  </a:tabLst>
                </a:pPr>
                <a:r>
                  <a:rPr lang="pt-BR" altLang="zh-CN" dirty="0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[ d, e, f]</a:t>
                </a:r>
              </a:p>
              <a:p>
                <a:pPr lvl="0" algn="just" hangingPunct="0">
                  <a:tabLst>
                    <a:tab pos="269875" algn="l"/>
                  </a:tabLst>
                </a:pPr>
                <a:r>
                  <a:rPr lang="pt-BR" altLang="zh-CN" dirty="0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[ g, h, k]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19BDD03D-92E4-4B26-A804-872510824A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222" y="4624331"/>
                <a:ext cx="8118648" cy="2062103"/>
              </a:xfrm>
              <a:prstGeom prst="rect">
                <a:avLst/>
              </a:prstGeom>
              <a:blipFill>
                <a:blip r:embed="rId2"/>
                <a:stretch>
                  <a:fillRect l="-676" t="-1775" b="-35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>
            <a:extLst>
              <a:ext uri="{FF2B5EF4-FFF2-40B4-BE49-F238E27FC236}">
                <a16:creationId xmlns:a16="http://schemas.microsoft.com/office/drawing/2014/main" id="{7CFC5ABE-BF15-41FB-BBEF-29B70D16978D}"/>
              </a:ext>
            </a:extLst>
          </p:cNvPr>
          <p:cNvSpPr/>
          <p:nvPr/>
        </p:nvSpPr>
        <p:spPr>
          <a:xfrm>
            <a:off x="467544" y="2384478"/>
            <a:ext cx="79208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itchFamily="2" charset="2"/>
              <a:buChar char="q"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函数</a:t>
            </a:r>
            <a:r>
              <a:rPr lang="en-US" altLang="zh-CN" sz="2400" b="1" dirty="0" err="1">
                <a:solidFill>
                  <a:srgbClr val="9B2D1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sym</a:t>
            </a:r>
            <a:r>
              <a:rPr lang="en-US" altLang="zh-CN" sz="2400" b="1" dirty="0">
                <a:solidFill>
                  <a:srgbClr val="9B2D1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('a',[m</a:t>
            </a:r>
            <a:r>
              <a:rPr lang="en-US" altLang="zh-CN" sz="2400" b="1" dirty="0">
                <a:solidFill>
                  <a:srgbClr val="9B2D1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,1])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幼圆" panose="02010509060101010101" pitchFamily="49" charset="-122"/>
                <a:ea typeface="宋体" panose="02010600030101010101" pitchFamily="2" charset="-122"/>
                <a:cs typeface="+mn-cs"/>
              </a:rPr>
              <a:t>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可以生成形如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a1</a:t>
            </a:r>
            <a:r>
              <a:rPr lang="en-US" altLang="zh-CN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,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a2</a:t>
            </a:r>
            <a:r>
              <a:rPr lang="en-US" altLang="zh-CN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,...am</a:t>
            </a:r>
            <a:r>
              <a:rPr lang="zh-CN" altLang="en-US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这样的</a:t>
            </a:r>
            <a:r>
              <a:rPr lang="en-US" altLang="zh-CN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m</a:t>
            </a:r>
            <a:r>
              <a:rPr lang="zh-CN" altLang="en-US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行</a:t>
            </a:r>
            <a:r>
              <a:rPr lang="en-US" altLang="zh-CN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zh-CN" altLang="en-US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列的列向量。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EE717DA-E585-48A4-BC8C-8913133DB09C}"/>
              </a:ext>
            </a:extLst>
          </p:cNvPr>
          <p:cNvSpPr/>
          <p:nvPr/>
        </p:nvSpPr>
        <p:spPr>
          <a:xfrm>
            <a:off x="467544" y="3284984"/>
            <a:ext cx="79208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itchFamily="2" charset="2"/>
              <a:buChar char="q"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函数</a:t>
            </a:r>
            <a:r>
              <a:rPr lang="en-US" altLang="zh-CN" sz="2400" b="1" dirty="0" err="1">
                <a:solidFill>
                  <a:srgbClr val="9B2D1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sym</a:t>
            </a:r>
            <a:r>
              <a:rPr lang="en-US" altLang="zh-CN" sz="2400" b="1" dirty="0">
                <a:solidFill>
                  <a:srgbClr val="9B2D1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altLang="zh-CN" sz="2400" b="1" dirty="0" err="1">
                <a:solidFill>
                  <a:srgbClr val="9B2D1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a%d%d</a:t>
            </a:r>
            <a:r>
              <a:rPr lang="en-US" altLang="zh-CN" sz="2400" b="1" dirty="0">
                <a:solidFill>
                  <a:srgbClr val="9B2D1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',[</a:t>
            </a:r>
            <a:r>
              <a:rPr lang="en-US" altLang="zh-CN" sz="2400" b="1" dirty="0" err="1">
                <a:solidFill>
                  <a:srgbClr val="9B2D1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en-US" altLang="zh-CN" sz="2400" b="1" dirty="0" err="1">
                <a:solidFill>
                  <a:srgbClr val="9B2D1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,n</a:t>
            </a:r>
            <a:r>
              <a:rPr lang="en-US" altLang="zh-CN" sz="2400" b="1" dirty="0">
                <a:solidFill>
                  <a:srgbClr val="9B2D1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])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幼圆" panose="02010509060101010101" pitchFamily="49" charset="-122"/>
                <a:ea typeface="宋体" panose="02010600030101010101" pitchFamily="2" charset="-122"/>
                <a:cs typeface="+mn-cs"/>
              </a:rPr>
              <a:t>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可以生成形如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a11</a:t>
            </a:r>
            <a:r>
              <a:rPr lang="en-US" altLang="zh-CN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,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a12</a:t>
            </a:r>
            <a:r>
              <a:rPr lang="en-US" altLang="zh-CN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,...</a:t>
            </a:r>
            <a:r>
              <a:rPr lang="en-US" altLang="zh-CN" sz="2400" b="1" dirty="0" err="1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amn</a:t>
            </a:r>
            <a:r>
              <a:rPr lang="zh-CN" altLang="en-US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这样的</a:t>
            </a:r>
            <a:r>
              <a:rPr lang="en-US" altLang="zh-CN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m</a:t>
            </a:r>
            <a:r>
              <a:rPr lang="zh-CN" altLang="en-US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行</a:t>
            </a:r>
            <a:r>
              <a:rPr lang="en-US" altLang="zh-CN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n</a:t>
            </a:r>
            <a:r>
              <a:rPr lang="zh-CN" altLang="en-US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列的二维数组（矩阵）。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F0B45EB-8E90-4869-B33A-58AF4AF9A416}"/>
              </a:ext>
            </a:extLst>
          </p:cNvPr>
          <p:cNvSpPr txBox="1"/>
          <p:nvPr/>
        </p:nvSpPr>
        <p:spPr>
          <a:xfrm>
            <a:off x="130058" y="4185490"/>
            <a:ext cx="8784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prstClr val="black"/>
                </a:solidFill>
                <a:latin typeface="+mn-ea"/>
              </a:rPr>
              <a:t>【</a:t>
            </a:r>
            <a:r>
              <a:rPr lang="zh-CN" altLang="en-US" b="1" dirty="0">
                <a:solidFill>
                  <a:prstClr val="black"/>
                </a:solidFill>
                <a:latin typeface="+mn-ea"/>
              </a:rPr>
              <a:t>例</a:t>
            </a:r>
            <a:r>
              <a:rPr lang="en-US" altLang="zh-CN" b="1" dirty="0">
                <a:solidFill>
                  <a:prstClr val="black"/>
                </a:solidFill>
                <a:latin typeface="+mn-ea"/>
              </a:rPr>
              <a:t>2.2-3】</a:t>
            </a:r>
            <a:r>
              <a:rPr lang="zh-CN" altLang="en-US" b="1" dirty="0">
                <a:solidFill>
                  <a:prstClr val="black"/>
                </a:solidFill>
                <a:latin typeface="+mn-ea"/>
              </a:rPr>
              <a:t>分步法创造符号数组</a:t>
            </a:r>
            <a:endParaRPr lang="zh-CN" altLang="en-US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1274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2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202993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符号数组的创建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9BDD03D-92E4-4B26-A804-872510824AA6}"/>
              </a:ext>
            </a:extLst>
          </p:cNvPr>
          <p:cNvSpPr/>
          <p:nvPr/>
        </p:nvSpPr>
        <p:spPr>
          <a:xfrm>
            <a:off x="463222" y="1366897"/>
            <a:ext cx="8573274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987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 = [3*a+4*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b,sin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(c)*exp(d);sqrt(c/b),log(d*f)]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9875" algn="l"/>
              </a:tabLst>
              <a:defRPr/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复合型抽象符号矩阵，适合使用这种方法定义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just" hangingPunct="0">
              <a:tabLst>
                <a:tab pos="269875" algn="l"/>
              </a:tabLst>
            </a:pPr>
            <a:r>
              <a:rPr lang="pt-BR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B = </a:t>
            </a:r>
          </a:p>
          <a:p>
            <a:pPr lvl="0" algn="just" hangingPunct="0">
              <a:tabLst>
                <a:tab pos="269875" algn="l"/>
              </a:tabLst>
            </a:pPr>
            <a:r>
              <a:rPr lang="pt-BR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[   3*a + 4*b, exp(d)*sin(c)]</a:t>
            </a:r>
          </a:p>
          <a:p>
            <a:pPr lvl="0" algn="just" hangingPunct="0">
              <a:tabLst>
                <a:tab pos="269875" algn="l"/>
              </a:tabLst>
            </a:pPr>
            <a:r>
              <a:rPr lang="pt-BR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[ (c/b)^(1/2),      log(d*f)]</a:t>
            </a:r>
          </a:p>
          <a:p>
            <a:pPr lvl="0" algn="just" hangingPunct="0">
              <a:tabLst>
                <a:tab pos="269875" algn="l"/>
              </a:tabLst>
            </a:pPr>
            <a:endParaRPr kumimoji="0" lang="pt-BR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just" hangingPunct="0"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whos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		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显示所有内存区变量详细信息。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who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则只显示变量名。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 hangingPunct="0"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Name      Size            Bytes  Class    Attributes</a:t>
            </a:r>
          </a:p>
          <a:p>
            <a:pPr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A         3x3                 8 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           </a:t>
            </a:r>
          </a:p>
          <a:p>
            <a:pPr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B         2x2                 8 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           </a:t>
            </a:r>
          </a:p>
          <a:p>
            <a:pPr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a         1x1                 8 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           </a:t>
            </a:r>
          </a:p>
          <a:p>
            <a:pPr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b         1x1                 8 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           </a:t>
            </a:r>
          </a:p>
          <a:p>
            <a:pPr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c         1x1                 8 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           </a:t>
            </a:r>
          </a:p>
          <a:p>
            <a:pPr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d         1x1                 8 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           </a:t>
            </a:r>
          </a:p>
          <a:p>
            <a:pPr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e         1x1                 8 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           </a:t>
            </a:r>
          </a:p>
          <a:p>
            <a:pPr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f         1x1                 8 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           </a:t>
            </a:r>
          </a:p>
          <a:p>
            <a:pPr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g         1x1                 8 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           </a:t>
            </a:r>
          </a:p>
          <a:p>
            <a:pPr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h         1x1                 8 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           </a:t>
            </a:r>
          </a:p>
          <a:p>
            <a:pPr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k         1x1                 8 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</a:t>
            </a:r>
            <a:endParaRPr lang="zh-CN" altLang="en-US" dirty="0">
              <a:solidFill>
                <a:srgbClr val="0000FF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F0B45EB-8E90-4869-B33A-58AF4AF9A416}"/>
              </a:ext>
            </a:extLst>
          </p:cNvPr>
          <p:cNvSpPr txBox="1"/>
          <p:nvPr/>
        </p:nvSpPr>
        <p:spPr>
          <a:xfrm>
            <a:off x="130058" y="953426"/>
            <a:ext cx="8784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prstClr val="black"/>
                </a:solidFill>
                <a:latin typeface="+mn-ea"/>
              </a:rPr>
              <a:t>【</a:t>
            </a:r>
            <a:r>
              <a:rPr lang="zh-CN" altLang="en-US" b="1" dirty="0">
                <a:solidFill>
                  <a:prstClr val="black"/>
                </a:solidFill>
                <a:latin typeface="+mn-ea"/>
              </a:rPr>
              <a:t>例</a:t>
            </a:r>
            <a:r>
              <a:rPr lang="en-US" altLang="zh-CN" b="1" dirty="0">
                <a:solidFill>
                  <a:prstClr val="black"/>
                </a:solidFill>
                <a:latin typeface="+mn-ea"/>
              </a:rPr>
              <a:t>2.2-3】</a:t>
            </a:r>
            <a:r>
              <a:rPr lang="zh-CN" altLang="en-US" b="1" dirty="0">
                <a:solidFill>
                  <a:prstClr val="black"/>
                </a:solidFill>
                <a:latin typeface="+mn-ea"/>
              </a:rPr>
              <a:t>分步法创造符号数组</a:t>
            </a:r>
            <a:endParaRPr lang="zh-CN" altLang="en-US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43852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202993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符号数组的创建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19BDD03D-92E4-4B26-A804-872510824AA6}"/>
                  </a:ext>
                </a:extLst>
              </p:cNvPr>
              <p:cNvSpPr/>
              <p:nvPr/>
            </p:nvSpPr>
            <p:spPr>
              <a:xfrm>
                <a:off x="285363" y="1412776"/>
                <a:ext cx="8573274" cy="48013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269875" algn="l"/>
                  </a:tabLst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clear</a:t>
                </a:r>
              </a:p>
              <a:p>
                <a:pPr lvl="0" algn="just" hangingPunct="0">
                  <a:tabLst>
                    <a:tab pos="269875" algn="l"/>
                  </a:tabLst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A1 = </a:t>
                </a:r>
                <a:r>
                  <a:rPr kumimoji="0" lang="en-US" altLang="zh-CN" sz="1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8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sym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('a',[1,15])	                %</a:t>
                </a:r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创建抽象符号数组行向量</a:t>
                </a:r>
                <a:endParaRPr lang="en-US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lvl="0" algn="just" hangingPunct="0">
                  <a:tabLst>
                    <a:tab pos="269875" algn="l"/>
                  </a:tabLst>
                </a:pPr>
                <a:r>
                  <a:rPr lang="pt-BR" altLang="zh-CN" dirty="0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A1 = [ a1, a2, a3, a4, a5, a6, a7, a8, a9, a10, a11, a12, a13, a14, a15]</a:t>
                </a:r>
              </a:p>
              <a:p>
                <a:pPr lvl="0" algn="just" hangingPunct="0">
                  <a:tabLst>
                    <a:tab pos="269875" algn="l"/>
                  </a:tabLst>
                </a:pPr>
                <a:endParaRPr lang="en-US" altLang="zh-CN" dirty="0">
                  <a:solidFill>
                    <a:srgbClr val="0000FF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tabLst>
                    <a:tab pos="269875" algn="l"/>
                  </a:tabLst>
                </a:pP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B1 = 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sym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('b',[3,1])	                %</a:t>
                </a:r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创建抽象符号数组列向量</a:t>
                </a:r>
                <a:endParaRPr lang="en-US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lvl="0" algn="just" hangingPunct="0">
                  <a:tabLst>
                    <a:tab pos="269875" algn="l"/>
                  </a:tabLst>
                </a:pPr>
                <a:r>
                  <a:rPr lang="en-US" altLang="zh-CN" dirty="0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B1 = </a:t>
                </a:r>
              </a:p>
              <a:p>
                <a:pPr lvl="0" algn="just" hangingPunct="0">
                  <a:tabLst>
                    <a:tab pos="269875" algn="l"/>
                  </a:tabLst>
                </a:pPr>
                <a:r>
                  <a:rPr lang="en-US" altLang="zh-CN" dirty="0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b1</a:t>
                </a:r>
              </a:p>
              <a:p>
                <a:pPr lvl="0" algn="just" hangingPunct="0">
                  <a:tabLst>
                    <a:tab pos="269875" algn="l"/>
                  </a:tabLst>
                </a:pPr>
                <a:r>
                  <a:rPr lang="en-US" altLang="zh-CN" dirty="0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b2</a:t>
                </a:r>
              </a:p>
              <a:p>
                <a:pPr lvl="0" algn="just" hangingPunct="0">
                  <a:tabLst>
                    <a:tab pos="269875" algn="l"/>
                  </a:tabLst>
                </a:pPr>
                <a:r>
                  <a:rPr lang="en-US" altLang="zh-CN" dirty="0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b3</a:t>
                </a:r>
              </a:p>
              <a:p>
                <a:pPr lvl="0" algn="just" hangingPunct="0">
                  <a:tabLst>
                    <a:tab pos="269875" algn="l"/>
                  </a:tabLst>
                </a:pPr>
                <a:endParaRPr lang="pt-BR" altLang="zh-CN" dirty="0">
                  <a:solidFill>
                    <a:srgbClr val="0000FF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tabLst>
                    <a:tab pos="269875" algn="l"/>
                  </a:tabLst>
                </a:pP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A2 = 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sym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('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a%d%d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',[2,2]);            %</a:t>
                </a:r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创建抽象符号型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𝟐</m:t>
                    </m:r>
                  </m:oMath>
                </a14:m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矩阵</a:t>
                </a:r>
                <a:endParaRPr lang="en-US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tabLst>
                    <a:tab pos="269875" algn="l"/>
                  </a:tabLst>
                </a:pP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B2 = 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sym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('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b%d%d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',[2,2])             %</a:t>
                </a:r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创建抽象符号型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𝟐</m:t>
                    </m:r>
                  </m:oMath>
                </a14:m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矩阵</a:t>
                </a:r>
                <a:endParaRPr lang="en-US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tabLst>
                    <a:tab pos="269875" algn="l"/>
                  </a:tabLst>
                </a:pPr>
                <a:endParaRPr lang="en-US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tabLst>
                    <a:tab pos="269875" algn="l"/>
                  </a:tabLst>
                </a:pPr>
                <a:r>
                  <a:rPr lang="pt-BR" altLang="zh-CN" dirty="0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B2 = </a:t>
                </a:r>
              </a:p>
              <a:p>
                <a:pPr algn="just" hangingPunct="0">
                  <a:tabLst>
                    <a:tab pos="269875" algn="l"/>
                  </a:tabLst>
                </a:pPr>
                <a:r>
                  <a:rPr lang="pt-BR" altLang="zh-CN" dirty="0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[ b11, b12]</a:t>
                </a:r>
              </a:p>
              <a:p>
                <a:pPr algn="just" hangingPunct="0">
                  <a:tabLst>
                    <a:tab pos="269875" algn="l"/>
                  </a:tabLst>
                </a:pPr>
                <a:r>
                  <a:rPr lang="pt-BR" altLang="zh-CN" dirty="0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[ b21, b22] </a:t>
                </a: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19BDD03D-92E4-4B26-A804-872510824A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363" y="1412776"/>
                <a:ext cx="8573274" cy="4801314"/>
              </a:xfrm>
              <a:prstGeom prst="rect">
                <a:avLst/>
              </a:prstGeom>
              <a:blipFill>
                <a:blip r:embed="rId2"/>
                <a:stretch>
                  <a:fillRect l="-640" t="-762" r="-569" b="-11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7F0B45EB-8E90-4869-B33A-58AF4AF9A416}"/>
              </a:ext>
            </a:extLst>
          </p:cNvPr>
          <p:cNvSpPr txBox="1"/>
          <p:nvPr/>
        </p:nvSpPr>
        <p:spPr>
          <a:xfrm>
            <a:off x="130058" y="953426"/>
            <a:ext cx="8784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prstClr val="black"/>
                </a:solidFill>
                <a:latin typeface="+mn-ea"/>
              </a:rPr>
              <a:t>【</a:t>
            </a:r>
            <a:r>
              <a:rPr lang="zh-CN" altLang="en-US" b="1" dirty="0">
                <a:solidFill>
                  <a:prstClr val="black"/>
                </a:solidFill>
                <a:latin typeface="+mn-ea"/>
              </a:rPr>
              <a:t>例</a:t>
            </a:r>
            <a:r>
              <a:rPr lang="en-US" altLang="zh-CN" b="1" dirty="0">
                <a:solidFill>
                  <a:prstClr val="black"/>
                </a:solidFill>
                <a:latin typeface="+mn-ea"/>
              </a:rPr>
              <a:t>2.2-4】</a:t>
            </a:r>
            <a:r>
              <a:rPr lang="zh-CN" altLang="en-US" b="1" dirty="0">
                <a:solidFill>
                  <a:prstClr val="black"/>
                </a:solidFill>
                <a:latin typeface="+mn-ea"/>
              </a:rPr>
              <a:t>抽象符号数组的创建</a:t>
            </a:r>
            <a:endParaRPr lang="zh-CN" altLang="en-US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44476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202993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符号数组的创建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9BDD03D-92E4-4B26-A804-872510824AA6}"/>
              </a:ext>
            </a:extLst>
          </p:cNvPr>
          <p:cNvSpPr/>
          <p:nvPr/>
        </p:nvSpPr>
        <p:spPr>
          <a:xfrm>
            <a:off x="285363" y="1412776"/>
            <a:ext cx="8573274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987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whos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Name      Size            Bytes  Class    Attributes</a:t>
            </a:r>
          </a:p>
          <a:p>
            <a:pPr lvl="0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A1        1x15                8 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           </a:t>
            </a:r>
          </a:p>
          <a:p>
            <a:pPr lvl="0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A2        2x2                 8 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     </a:t>
            </a:r>
          </a:p>
          <a:p>
            <a:pPr lvl="0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B1        3x1                 8 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           </a:t>
            </a:r>
          </a:p>
          <a:p>
            <a:pPr lvl="0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B2        2x2                 8 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           </a:t>
            </a:r>
          </a:p>
          <a:p>
            <a:pPr algn="just" hangingPunct="0">
              <a:tabLst>
                <a:tab pos="269875" algn="l"/>
              </a:tabLst>
            </a:pP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 = A2*B2		                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矩阵乘法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tabLst>
                <a:tab pos="269875" algn="l"/>
              </a:tabLst>
            </a:pPr>
            <a:r>
              <a:rPr lang="pt-BR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 = [ a11*b11 + a12*b21, a11*b12 + a12*b22]</a:t>
            </a:r>
          </a:p>
          <a:p>
            <a:pPr algn="just" hangingPunct="0">
              <a:tabLst>
                <a:tab pos="269875" algn="l"/>
              </a:tabLst>
            </a:pPr>
            <a:r>
              <a:rPr lang="pt-BR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[ a21*b11 + a22*b21, a21*b12 + a22*b22]</a:t>
            </a:r>
          </a:p>
          <a:p>
            <a:pPr algn="just" hangingPunct="0">
              <a:tabLst>
                <a:tab pos="269875" algn="l"/>
              </a:tabLst>
            </a:pPr>
            <a:endParaRPr lang="pt-BR" altLang="zh-CN" dirty="0">
              <a:solidFill>
                <a:srgbClr val="0000FF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 = det(A2)		                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行列式计算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tabLst>
                <a:tab pos="269875" algn="l"/>
              </a:tabLst>
            </a:pPr>
            <a:r>
              <a:rPr lang="pt-BR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 = a11*a22 - a12*a21</a:t>
            </a:r>
          </a:p>
          <a:p>
            <a:pPr algn="just" hangingPunct="0">
              <a:tabLst>
                <a:tab pos="269875" algn="l"/>
              </a:tabLst>
            </a:pPr>
            <a:endParaRPr lang="pt-BR" altLang="zh-CN" dirty="0">
              <a:solidFill>
                <a:srgbClr val="0000FF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G = A2.*B2		                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数组元素对应乘法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tabLst>
                <a:tab pos="269875" algn="l"/>
              </a:tabLst>
            </a:pPr>
            <a:r>
              <a:rPr lang="pt-BR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G = [ a11*b11, a12*b12]</a:t>
            </a:r>
          </a:p>
          <a:p>
            <a:pPr algn="just" hangingPunct="0">
              <a:tabLst>
                <a:tab pos="269875" algn="l"/>
              </a:tabLst>
            </a:pPr>
            <a:r>
              <a:rPr lang="pt-BR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[ a21*b21, a22*b22] 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F0B45EB-8E90-4869-B33A-58AF4AF9A416}"/>
              </a:ext>
            </a:extLst>
          </p:cNvPr>
          <p:cNvSpPr txBox="1"/>
          <p:nvPr/>
        </p:nvSpPr>
        <p:spPr>
          <a:xfrm>
            <a:off x="130058" y="953426"/>
            <a:ext cx="8784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prstClr val="black"/>
                </a:solidFill>
                <a:latin typeface="+mn-ea"/>
              </a:rPr>
              <a:t>【</a:t>
            </a:r>
            <a:r>
              <a:rPr lang="zh-CN" altLang="en-US" b="1" dirty="0">
                <a:solidFill>
                  <a:prstClr val="black"/>
                </a:solidFill>
                <a:latin typeface="+mn-ea"/>
              </a:rPr>
              <a:t>例</a:t>
            </a:r>
            <a:r>
              <a:rPr lang="en-US" altLang="zh-CN" b="1" dirty="0">
                <a:solidFill>
                  <a:prstClr val="black"/>
                </a:solidFill>
                <a:latin typeface="+mn-ea"/>
              </a:rPr>
              <a:t>2.2-4】</a:t>
            </a:r>
            <a:r>
              <a:rPr lang="zh-CN" altLang="en-US" b="1" dirty="0">
                <a:solidFill>
                  <a:prstClr val="black"/>
                </a:solidFill>
                <a:latin typeface="+mn-ea"/>
              </a:rPr>
              <a:t>抽象符号数组的创建</a:t>
            </a:r>
            <a:endParaRPr lang="zh-CN" altLang="en-US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18775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9939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符号对象的识别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0923E40-669E-4CEE-ABD2-7A8AD9C4E4E2}"/>
              </a:ext>
            </a:extLst>
          </p:cNvPr>
          <p:cNvSpPr/>
          <p:nvPr/>
        </p:nvSpPr>
        <p:spPr>
          <a:xfrm>
            <a:off x="323528" y="980728"/>
            <a:ext cx="9558808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clear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a=1;b=2;c=3;d=4;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四个数值变量（默认双精度）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Mn=[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a,b;c,d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]		%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Mn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为数值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2X2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矩阵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Mc='[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a,b;c,d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]'	%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Mc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为长度为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9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的字符串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Ms=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(Mc)	%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Ms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为表示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2X2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矩阵的符号对象（</a:t>
            </a:r>
            <a:r>
              <a:rPr lang="zh-CN" altLang="en-US" b="1" dirty="0">
                <a:solidFill>
                  <a:schemeClr val="accent2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新版本报错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！需用</a:t>
            </a:r>
            <a:r>
              <a:rPr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syms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预定义）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Mn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1     2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3     4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Mc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'[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a,b;c,d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]'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Ms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[ a, b]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[ c, d]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0879FAF-7719-4B29-A64A-4F1D98598001}"/>
              </a:ext>
            </a:extLst>
          </p:cNvPr>
          <p:cNvSpPr/>
          <p:nvPr/>
        </p:nvSpPr>
        <p:spPr>
          <a:xfrm>
            <a:off x="539552" y="4813994"/>
            <a:ext cx="71949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itchFamily="2" charset="2"/>
              <a:buChar char="q"/>
            </a:pP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函数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size</a:t>
            </a:r>
            <a:r>
              <a:rPr lang="en-US" altLang="zh-CN" sz="2400" b="1" dirty="0">
                <a:solidFill>
                  <a:srgbClr val="0070C0"/>
                </a:solidFill>
                <a:latin typeface="+mj-ea"/>
                <a:ea typeface="+mj-ea"/>
              </a:rPr>
              <a:t>  </a:t>
            </a:r>
            <a:r>
              <a:rPr lang="zh-CN" altLang="en-US" sz="2400" b="1" dirty="0">
                <a:latin typeface="+mj-ea"/>
                <a:ea typeface="+mj-ea"/>
              </a:rPr>
              <a:t>可以用于显示矩阵的尺寸（行数列数</a:t>
            </a:r>
            <a:r>
              <a:rPr lang="zh-CN" altLang="en-US" sz="2400" b="1" dirty="0">
                <a:latin typeface="+mj-ea"/>
              </a:rPr>
              <a:t>）</a:t>
            </a:r>
            <a:endParaRPr lang="en-US" altLang="zh-CN" sz="2400" b="1" dirty="0">
              <a:latin typeface="+mj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E73B55E-0AB9-4126-BD6B-23E2E0DDBF38}"/>
              </a:ext>
            </a:extLst>
          </p:cNvPr>
          <p:cNvSpPr/>
          <p:nvPr/>
        </p:nvSpPr>
        <p:spPr>
          <a:xfrm>
            <a:off x="467544" y="5384829"/>
            <a:ext cx="908162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SizeMn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=size(Mn)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SizeMn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= 2     2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SizeMc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=size(Mc)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SizeMc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=1     9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SizeMs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=size(Ms)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SizeMs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=2     2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65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202993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符号对象</a:t>
            </a:r>
            <a:r>
              <a:rPr lang="zh-CN" altLang="en-US" sz="360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的识别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E73B55E-0AB9-4126-BD6B-23E2E0DDBF38}"/>
              </a:ext>
            </a:extLst>
          </p:cNvPr>
          <p:cNvSpPr/>
          <p:nvPr/>
        </p:nvSpPr>
        <p:spPr>
          <a:xfrm>
            <a:off x="467544" y="1464550"/>
            <a:ext cx="908162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CMn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=class(Mn)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CMn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=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double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CMc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=class(Mc)</a:t>
            </a: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CMc</a:t>
            </a: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=</a:t>
            </a:r>
            <a:r>
              <a:rPr lang="en-US" altLang="zh-CN" sz="2000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char</a:t>
            </a:r>
            <a:endParaRPr lang="zh-CN" altLang="zh-CN" sz="2000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CMs=class(Ms)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CMs =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862E801-C025-4490-874D-D1F33BEB3C10}"/>
              </a:ext>
            </a:extLst>
          </p:cNvPr>
          <p:cNvSpPr/>
          <p:nvPr/>
        </p:nvSpPr>
        <p:spPr>
          <a:xfrm>
            <a:off x="467544" y="955705"/>
            <a:ext cx="71949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itchFamily="2" charset="2"/>
              <a:buChar char="q"/>
            </a:pP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函数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altLang="zh-CN" sz="2400" b="1" dirty="0">
                <a:solidFill>
                  <a:srgbClr val="0070C0"/>
                </a:solidFill>
                <a:latin typeface="+mj-ea"/>
              </a:rPr>
              <a:t>  </a:t>
            </a:r>
            <a:r>
              <a:rPr lang="zh-CN" altLang="en-US" sz="2400" b="1" dirty="0">
                <a:latin typeface="+mj-ea"/>
                <a:ea typeface="+mj-ea"/>
              </a:rPr>
              <a:t>可以显示特定变量的类型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7560B5C-BED9-468D-A213-F18320DF26F3}"/>
              </a:ext>
            </a:extLst>
          </p:cNvPr>
          <p:cNvSpPr/>
          <p:nvPr/>
        </p:nvSpPr>
        <p:spPr>
          <a:xfrm>
            <a:off x="467544" y="2564904"/>
            <a:ext cx="79208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itchFamily="2" charset="2"/>
              <a:buChar char="q"/>
            </a:pP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函数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isa</a:t>
            </a:r>
            <a:r>
              <a:rPr lang="en-US" altLang="zh-CN" sz="2400" b="1" dirty="0">
                <a:solidFill>
                  <a:srgbClr val="0070C0"/>
                </a:solidFill>
                <a:latin typeface="+mj-ea"/>
              </a:rPr>
              <a:t>  </a:t>
            </a:r>
            <a:r>
              <a:rPr lang="zh-CN" altLang="en-US" sz="2400" b="1" dirty="0">
                <a:latin typeface="+mj-ea"/>
                <a:ea typeface="+mj-ea"/>
              </a:rPr>
              <a:t>可以用“是与否”（</a:t>
            </a:r>
            <a:r>
              <a:rPr lang="en-US" altLang="zh-CN" sz="2400" b="1" dirty="0">
                <a:latin typeface="+mj-ea"/>
                <a:ea typeface="+mj-ea"/>
              </a:rPr>
              <a:t>1</a:t>
            </a:r>
            <a:r>
              <a:rPr lang="zh-CN" altLang="en-US" sz="2400" b="1" dirty="0">
                <a:latin typeface="+mj-ea"/>
                <a:ea typeface="+mj-ea"/>
              </a:rPr>
              <a:t>或</a:t>
            </a:r>
            <a:r>
              <a:rPr lang="en-US" altLang="zh-CN" sz="2400" b="1" dirty="0">
                <a:latin typeface="+mj-ea"/>
                <a:ea typeface="+mj-ea"/>
              </a:rPr>
              <a:t>0</a:t>
            </a:r>
            <a:r>
              <a:rPr lang="zh-CN" altLang="en-US" sz="2400" b="1" dirty="0">
                <a:latin typeface="+mj-ea"/>
                <a:ea typeface="+mj-ea"/>
              </a:rPr>
              <a:t>）来判断矩阵类型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FE0E09F-0423-4689-8BE8-FAB37FABF5DF}"/>
              </a:ext>
            </a:extLst>
          </p:cNvPr>
          <p:cNvSpPr/>
          <p:nvPr/>
        </p:nvSpPr>
        <p:spPr>
          <a:xfrm>
            <a:off x="467544" y="3142038"/>
            <a:ext cx="703852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isa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Mn,'double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') </a:t>
            </a:r>
            <a:r>
              <a:rPr lang="en-US" altLang="zh-CN" sz="2000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ans</a:t>
            </a: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= 1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isa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Mc,'char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') </a:t>
            </a:r>
            <a:r>
              <a:rPr lang="en-US" altLang="zh-CN" sz="2000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ans</a:t>
            </a: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= 1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isa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(Ms,'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') </a:t>
            </a:r>
            <a:r>
              <a:rPr lang="en-US" altLang="zh-CN" sz="2000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ans</a:t>
            </a: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= 1</a:t>
            </a:r>
            <a:endParaRPr lang="zh-CN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E9BB540-C7D7-44D7-8C86-9A48B1F1734A}"/>
              </a:ext>
            </a:extLst>
          </p:cNvPr>
          <p:cNvSpPr/>
          <p:nvPr/>
        </p:nvSpPr>
        <p:spPr>
          <a:xfrm>
            <a:off x="467544" y="4273170"/>
            <a:ext cx="79208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itchFamily="2" charset="2"/>
              <a:buChar char="q"/>
            </a:pP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函数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whos</a:t>
            </a:r>
            <a:r>
              <a:rPr lang="en-US" altLang="zh-CN" sz="2400" b="1" dirty="0">
                <a:solidFill>
                  <a:srgbClr val="0070C0"/>
                </a:solidFill>
                <a:latin typeface="+mj-ea"/>
              </a:rPr>
              <a:t>  </a:t>
            </a:r>
            <a:r>
              <a:rPr lang="zh-CN" altLang="en-US" sz="2400" b="1" dirty="0">
                <a:latin typeface="+mj-ea"/>
                <a:ea typeface="+mj-ea"/>
              </a:rPr>
              <a:t>可以列表式显示所有内存变量类别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9BDD03D-92E4-4B26-A804-872510824AA6}"/>
              </a:ext>
            </a:extLst>
          </p:cNvPr>
          <p:cNvSpPr/>
          <p:nvPr/>
        </p:nvSpPr>
        <p:spPr>
          <a:xfrm>
            <a:off x="463222" y="4850304"/>
            <a:ext cx="8118648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whos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Mn Mc Ms				% 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Name      Size            Bytes  Class     Attributes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 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Mc        1x9                18  char               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Mn        2x2                32  double             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Ms        2x2          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60</a:t>
            </a:r>
            <a:r>
              <a:rPr lang="zh-CN" altLang="en-US" b="1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8</a:t>
            </a:r>
            <a:r>
              <a:rPr lang="zh-CN" altLang="en-US" b="1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）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11554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3" grpId="0"/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202993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符号表达式的化简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75193A8-9436-4AEA-BEBD-9DC1ABCE5DD7}"/>
              </a:ext>
            </a:extLst>
          </p:cNvPr>
          <p:cNvSpPr/>
          <p:nvPr/>
        </p:nvSpPr>
        <p:spPr>
          <a:xfrm>
            <a:off x="467544" y="1017567"/>
            <a:ext cx="77048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itchFamily="2" charset="2"/>
              <a:buChar char="q"/>
            </a:pP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函数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simplify(S)</a:t>
            </a:r>
            <a:r>
              <a:rPr lang="en-US" altLang="zh-CN" sz="2400" b="1" dirty="0">
                <a:solidFill>
                  <a:srgbClr val="0070C0"/>
                </a:solidFill>
                <a:latin typeface="+mj-ea"/>
              </a:rPr>
              <a:t>  </a:t>
            </a:r>
            <a:r>
              <a:rPr lang="zh-CN" altLang="en-US" sz="2400" b="1" dirty="0">
                <a:latin typeface="+mj-ea"/>
                <a:ea typeface="+mj-ea"/>
              </a:rPr>
              <a:t>一般的符号表达式化简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C232DE0-3D5B-475E-8BB4-D2AC3CBD8A35}"/>
              </a:ext>
            </a:extLst>
          </p:cNvPr>
          <p:cNvSpPr/>
          <p:nvPr/>
        </p:nvSpPr>
        <p:spPr>
          <a:xfrm>
            <a:off x="466701" y="1556792"/>
            <a:ext cx="77048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itchFamily="2" charset="2"/>
              <a:buChar char="q"/>
            </a:pP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函数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simplify(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S,Name,Value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zh-CN" sz="2400" b="1" dirty="0">
                <a:solidFill>
                  <a:srgbClr val="0070C0"/>
                </a:solidFill>
                <a:latin typeface="+mj-ea"/>
              </a:rPr>
              <a:t>  </a:t>
            </a:r>
            <a:r>
              <a:rPr lang="zh-CN" altLang="en-US" sz="2400" b="1" dirty="0">
                <a:latin typeface="+mj-ea"/>
                <a:ea typeface="+mj-ea"/>
              </a:rPr>
              <a:t>带有特殊设置的符号表达式化简。（具体设置法见课本</a:t>
            </a:r>
            <a:r>
              <a:rPr lang="en-US" altLang="zh-CN" sz="2400" b="1" dirty="0">
                <a:latin typeface="+mj-ea"/>
                <a:ea typeface="+mj-ea"/>
              </a:rPr>
              <a:t>P66</a:t>
            </a:r>
            <a:r>
              <a:rPr lang="zh-CN" altLang="en-US" sz="2400" b="1" dirty="0">
                <a:latin typeface="+mj-ea"/>
                <a:ea typeface="+mj-ea"/>
              </a:rPr>
              <a:t>表</a:t>
            </a:r>
            <a:r>
              <a:rPr lang="en-US" altLang="zh-CN" sz="2400" b="1" dirty="0">
                <a:latin typeface="+mj-ea"/>
                <a:ea typeface="+mj-ea"/>
              </a:rPr>
              <a:t>2.5-1</a:t>
            </a:r>
            <a:r>
              <a:rPr lang="zh-CN" altLang="en-US" sz="2400" b="1" dirty="0">
                <a:latin typeface="+mj-ea"/>
                <a:ea typeface="+mj-ea"/>
              </a:rPr>
              <a:t>）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55CE5F2-2D44-407F-8A2B-1DC3D40512D6}"/>
              </a:ext>
            </a:extLst>
          </p:cNvPr>
          <p:cNvSpPr/>
          <p:nvPr/>
        </p:nvSpPr>
        <p:spPr>
          <a:xfrm>
            <a:off x="285362" y="2777853"/>
            <a:ext cx="878497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987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clear all</a:t>
            </a:r>
          </a:p>
          <a:p>
            <a:pPr marL="0" marR="0" lvl="0" indent="0" algn="just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9875" algn="l"/>
              </a:tabLst>
              <a:defRPr/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syms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x</a:t>
            </a:r>
          </a:p>
          <a:p>
            <a:pPr marL="0" marR="0" lvl="0" indent="0" algn="just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987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f1 = ((exp(-x*i)*i)/2-(exp(x*i)*i)/2)/(exp(-x*i)/2+exp(x*i)/2)</a:t>
            </a:r>
          </a:p>
          <a:p>
            <a:pPr lvl="0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f1 = ((exp(-x*1i)*1i)/2 - (exp(x*1i)*1i)/2)/(exp(-x*1i)/2 + exp(x*1i)/2)</a:t>
            </a:r>
          </a:p>
          <a:p>
            <a:pPr lvl="0" algn="just" hangingPunct="0">
              <a:tabLst>
                <a:tab pos="269875" algn="l"/>
              </a:tabLst>
            </a:pPr>
            <a:endParaRPr lang="en-US" altLang="zh-CN" b="1" dirty="0">
              <a:solidFill>
                <a:srgbClr val="0000FF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0" algn="just" hangingPunct="0">
              <a:tabLst>
                <a:tab pos="269875" algn="l"/>
              </a:tabLst>
              <a:defRPr/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S11 = simplify(f1)				  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普通方法化简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步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0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S11 = -(exp(x*2i)*1i - 1i)/(exp(x*2i) + 1)</a:t>
            </a:r>
          </a:p>
          <a:p>
            <a:pPr lvl="0" algn="just" hangingPunct="0">
              <a:tabLst>
                <a:tab pos="269875" algn="l"/>
              </a:tabLst>
            </a:pP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S12 = simplify(f1,'Steps',40)             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不同方法化简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40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步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tabLst>
                <a:tab pos="269875" algn="l"/>
              </a:tabLst>
            </a:pPr>
            <a:r>
              <a:rPr lang="pt-BR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S12 = tan(x)</a:t>
            </a:r>
          </a:p>
          <a:p>
            <a:pPr algn="just" hangingPunct="0">
              <a:tabLst>
                <a:tab pos="269875" algn="l"/>
              </a:tabLst>
            </a:pPr>
            <a:endParaRPr lang="pt-BR" altLang="zh-CN" dirty="0">
              <a:solidFill>
                <a:srgbClr val="0000FF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0" algn="just" hangingPunct="0">
              <a:tabLst>
                <a:tab pos="269875" algn="l"/>
              </a:tabLst>
              <a:defRPr/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w = f1;for k=1:40;w=simplify(w);end;S13=w 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普通方法化简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40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步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0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S13 = -(exp(x*2i)*1i - 1i)/(exp(x*2i) + 1)</a:t>
            </a:r>
            <a:endParaRPr lang="pt-BR" altLang="zh-CN" dirty="0">
              <a:solidFill>
                <a:srgbClr val="0000FF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07EA9BF-1659-40BC-B6BF-B106A5D2CF5A}"/>
              </a:ext>
            </a:extLst>
          </p:cNvPr>
          <p:cNvSpPr txBox="1"/>
          <p:nvPr/>
        </p:nvSpPr>
        <p:spPr>
          <a:xfrm>
            <a:off x="130058" y="2441201"/>
            <a:ext cx="8784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prstClr val="black"/>
                </a:solidFill>
                <a:latin typeface="+mn-ea"/>
              </a:rPr>
              <a:t>【</a:t>
            </a:r>
            <a:r>
              <a:rPr lang="zh-CN" altLang="en-US" b="1" dirty="0">
                <a:solidFill>
                  <a:prstClr val="black"/>
                </a:solidFill>
                <a:latin typeface="+mn-ea"/>
              </a:rPr>
              <a:t>例</a:t>
            </a:r>
            <a:r>
              <a:rPr lang="en-US" altLang="zh-CN" b="1" dirty="0">
                <a:solidFill>
                  <a:prstClr val="black"/>
                </a:solidFill>
                <a:latin typeface="+mn-ea"/>
              </a:rPr>
              <a:t>2.5-1】</a:t>
            </a:r>
            <a:r>
              <a:rPr lang="zh-CN" altLang="en-US" b="1" dirty="0">
                <a:solidFill>
                  <a:prstClr val="black"/>
                </a:solidFill>
                <a:latin typeface="+mn-ea"/>
              </a:rPr>
              <a:t>符号表达式的化简（有改动）</a:t>
            </a:r>
            <a:endParaRPr lang="zh-CN" altLang="en-US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23041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202993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2.5-1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（续）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7DE825-F153-4AD8-ABDA-29F5B40B526D}"/>
              </a:ext>
            </a:extLst>
          </p:cNvPr>
          <p:cNvSpPr/>
          <p:nvPr/>
        </p:nvSpPr>
        <p:spPr>
          <a:xfrm>
            <a:off x="247198" y="940007"/>
            <a:ext cx="8550696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f2 = 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(1i)^(1i+1)		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测试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Criterion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功能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f2 = 1i^(1 + 1i)</a:t>
            </a: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endParaRPr lang="en-US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S21=simplify(f2,'Steps',100)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化简结果为指数为复数的形式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S21 = (-1)^(1/2 + 1i/2)</a:t>
            </a: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S22=simplify(f2,'Steps',100,'Criterion','preferReal')</a:t>
            </a: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使化简结果尽可能避免在括号内层出现虚数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S22 = exp(-pi/2)*1i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 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syms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x, f=(1/x^3+6/x^2+12/x+8)^(1/3)	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 = (12/x + 6/x^2 + 1/x^3 + 8)^(1/3)</a:t>
            </a: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g1=simplify(f)	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g1 = ((2*x + 1)^3/x^3)^(1/3)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 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g2=simplify(f,'Steps',10,'IgnoreAnalyticConstraints', true)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%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IgnoreAnalyticConstraints</a:t>
            </a:r>
            <a:r>
              <a:rPr lang="zh-CN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忽略了可能的复数域重根问题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,3</a:t>
            </a:r>
            <a:r>
              <a:rPr lang="zh-CN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步或以上可得此“最简结果”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g2 = 1/x + 2 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endParaRPr lang="zh-CN" altLang="zh-CN" sz="20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138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202993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符号表达式的“美化”操作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75193A8-9436-4AEA-BEBD-9DC1ABCE5DD7}"/>
              </a:ext>
            </a:extLst>
          </p:cNvPr>
          <p:cNvSpPr/>
          <p:nvPr/>
        </p:nvSpPr>
        <p:spPr>
          <a:xfrm>
            <a:off x="251520" y="1110770"/>
            <a:ext cx="87129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itchFamily="2" charset="2"/>
              <a:buChar char="q"/>
            </a:pP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函数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pretty(S)</a:t>
            </a:r>
            <a:r>
              <a:rPr lang="en-US" altLang="zh-CN" sz="2400" b="1" dirty="0">
                <a:solidFill>
                  <a:srgbClr val="0070C0"/>
                </a:solidFill>
                <a:latin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按照书写格式将符号表达式美化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4BD9C6C-939D-42B0-B224-43E5D9A9FCEC}"/>
              </a:ext>
            </a:extLst>
          </p:cNvPr>
          <p:cNvSpPr txBox="1"/>
          <p:nvPr/>
        </p:nvSpPr>
        <p:spPr>
          <a:xfrm>
            <a:off x="539552" y="1776912"/>
            <a:ext cx="760633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Calibri" panose="020F0502020204030204" pitchFamily="34" charset="0"/>
                <a:cs typeface="Calibri" panose="020F0502020204030204" pitchFamily="34" charset="0"/>
              </a:rPr>
              <a:t>&gt;&gt; </a:t>
            </a:r>
            <a:r>
              <a:rPr lang="en-US" altLang="zh-CN" sz="2800" b="1" dirty="0" err="1">
                <a:latin typeface="Calibri" panose="020F0502020204030204" pitchFamily="34" charset="0"/>
                <a:cs typeface="Calibri" panose="020F0502020204030204" pitchFamily="34" charset="0"/>
              </a:rPr>
              <a:t>syms</a:t>
            </a:r>
            <a:r>
              <a:rPr lang="en-US" altLang="zh-CN" sz="2800" b="1" dirty="0">
                <a:latin typeface="Calibri" panose="020F0502020204030204" pitchFamily="34" charset="0"/>
                <a:cs typeface="Calibri" panose="020F0502020204030204" pitchFamily="34" charset="0"/>
              </a:rPr>
              <a:t> x t; f=(x^2+x*</a:t>
            </a:r>
            <a:r>
              <a:rPr lang="en-US" altLang="zh-CN" sz="2800" b="1" dirty="0" err="1">
                <a:latin typeface="Calibri" panose="020F0502020204030204" pitchFamily="34" charset="0"/>
                <a:cs typeface="Calibri" panose="020F0502020204030204" pitchFamily="34" charset="0"/>
              </a:rPr>
              <a:t>exp</a:t>
            </a:r>
            <a:r>
              <a:rPr lang="en-US" altLang="zh-CN" sz="2800" b="1" dirty="0">
                <a:latin typeface="Calibri" panose="020F0502020204030204" pitchFamily="34" charset="0"/>
                <a:cs typeface="Calibri" panose="020F0502020204030204" pitchFamily="34" charset="0"/>
              </a:rPr>
              <a:t>(-t)+1)*(</a:t>
            </a:r>
            <a:r>
              <a:rPr lang="en-US" altLang="zh-CN" sz="2800" b="1" dirty="0" err="1">
                <a:latin typeface="Calibri" panose="020F0502020204030204" pitchFamily="34" charset="0"/>
                <a:cs typeface="Calibri" panose="020F0502020204030204" pitchFamily="34" charset="0"/>
              </a:rPr>
              <a:t>x+exp</a:t>
            </a:r>
            <a:r>
              <a:rPr lang="en-US" altLang="zh-CN" sz="2800" b="1" dirty="0">
                <a:latin typeface="Calibri" panose="020F0502020204030204" pitchFamily="34" charset="0"/>
                <a:cs typeface="Calibri" panose="020F0502020204030204" pitchFamily="34" charset="0"/>
              </a:rPr>
              <a:t>(-t));</a:t>
            </a:r>
          </a:p>
          <a:p>
            <a:r>
              <a:rPr lang="en-US" altLang="zh-CN" sz="2800" b="1" dirty="0">
                <a:latin typeface="Calibri" panose="020F0502020204030204" pitchFamily="34" charset="0"/>
                <a:cs typeface="Calibri" panose="020F0502020204030204" pitchFamily="34" charset="0"/>
              </a:rPr>
              <a:t>&gt;&gt;f1 = collect(f)        </a:t>
            </a:r>
            <a:r>
              <a:rPr lang="en-US" altLang="zh-CN" sz="2800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%</a:t>
            </a:r>
            <a:r>
              <a:rPr lang="en-US" altLang="zh-CN" sz="2800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collect</a:t>
            </a:r>
            <a:r>
              <a:rPr lang="zh-CN" alt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合并同类项</a:t>
            </a:r>
            <a:endParaRPr lang="en-US" altLang="zh-CN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28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f1 = </a:t>
            </a:r>
          </a:p>
          <a:p>
            <a:r>
              <a:rPr lang="en-US" altLang="zh-CN" sz="28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x^3 + 2*</a:t>
            </a:r>
            <a:r>
              <a:rPr lang="en-US" altLang="zh-CN" sz="2800" b="1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</a:t>
            </a:r>
            <a:r>
              <a:rPr lang="en-US" altLang="zh-CN" sz="28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(-t)*x^2 + (</a:t>
            </a:r>
            <a:r>
              <a:rPr lang="en-US" altLang="zh-CN" sz="2800" b="1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</a:t>
            </a:r>
            <a:r>
              <a:rPr lang="en-US" altLang="zh-CN" sz="28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(-2*t) + 1)*x + </a:t>
            </a:r>
            <a:r>
              <a:rPr lang="en-US" altLang="zh-CN" sz="2800" b="1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</a:t>
            </a:r>
            <a:r>
              <a:rPr lang="en-US" altLang="zh-CN" sz="28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(-t)</a:t>
            </a:r>
          </a:p>
          <a:p>
            <a:endParaRPr lang="en-US" altLang="zh-CN" sz="2800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sz="2800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2800" b="1" dirty="0">
                <a:latin typeface="Calibri" panose="020F0502020204030204" pitchFamily="34" charset="0"/>
                <a:cs typeface="Calibri" panose="020F0502020204030204" pitchFamily="34" charset="0"/>
              </a:rPr>
              <a:t>&gt;&gt;pretty(f1)</a:t>
            </a:r>
          </a:p>
          <a:p>
            <a:r>
              <a:rPr lang="en-US" altLang="zh-CN" sz="28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3            2</a:t>
            </a:r>
          </a:p>
          <a:p>
            <a:r>
              <a:rPr lang="en-US" altLang="zh-CN" sz="28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  + exp(-t) x  2 + (exp(-2 t) + 1) x + exp(-t)</a:t>
            </a:r>
            <a:endParaRPr lang="zh-CN" altLang="en-US" sz="2800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4705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202993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通用置换命令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75193A8-9436-4AEA-BEBD-9DC1ABCE5DD7}"/>
              </a:ext>
            </a:extLst>
          </p:cNvPr>
          <p:cNvSpPr/>
          <p:nvPr/>
        </p:nvSpPr>
        <p:spPr>
          <a:xfrm>
            <a:off x="251520" y="980728"/>
            <a:ext cx="8712968" cy="16466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itchFamily="2" charset="2"/>
              <a:buChar char="q"/>
            </a:pP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函数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subs(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ES,old,new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zh-CN" sz="2400" b="1" dirty="0">
                <a:solidFill>
                  <a:srgbClr val="0070C0"/>
                </a:solidFill>
                <a:latin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可得到原表达式</a:t>
            </a:r>
            <a:r>
              <a:rPr lang="en-US" altLang="zh-CN" sz="2400" b="1" dirty="0">
                <a:latin typeface="+mj-ea"/>
                <a:ea typeface="+mj-ea"/>
              </a:rPr>
              <a:t>ES</a:t>
            </a:r>
            <a:r>
              <a:rPr lang="zh-CN" altLang="en-US" sz="2400" b="1" dirty="0">
                <a:latin typeface="+mj-ea"/>
                <a:ea typeface="+mj-ea"/>
              </a:rPr>
              <a:t>中的符号变量（或符号表达式）</a:t>
            </a:r>
            <a:r>
              <a:rPr lang="en-US" altLang="zh-CN" sz="2400" b="1" dirty="0">
                <a:latin typeface="+mj-ea"/>
                <a:ea typeface="+mj-ea"/>
              </a:rPr>
              <a:t>old</a:t>
            </a:r>
            <a:r>
              <a:rPr lang="zh-CN" altLang="en-US" sz="2400" b="1" dirty="0">
                <a:latin typeface="+mj-ea"/>
                <a:ea typeface="+mj-ea"/>
              </a:rPr>
              <a:t>用数值（或符号表达式）</a:t>
            </a:r>
            <a:r>
              <a:rPr lang="en-US" altLang="zh-CN" sz="2400" b="1" dirty="0">
                <a:latin typeface="+mj-ea"/>
                <a:ea typeface="+mj-ea"/>
              </a:rPr>
              <a:t>new</a:t>
            </a:r>
            <a:r>
              <a:rPr lang="zh-CN" altLang="en-US" sz="2400" b="1" dirty="0">
                <a:latin typeface="+mj-ea"/>
                <a:ea typeface="+mj-ea"/>
              </a:rPr>
              <a:t>代入后的新表达式或值。</a:t>
            </a:r>
            <a:endParaRPr lang="en-US" altLang="zh-CN" sz="2400" b="1" dirty="0">
              <a:latin typeface="+mj-ea"/>
              <a:ea typeface="+mj-ea"/>
            </a:endParaRPr>
          </a:p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itchFamily="2" charset="2"/>
              <a:buChar char="q"/>
            </a:pP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函数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subs(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ES,new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zh-CN" sz="2400" b="1" dirty="0">
                <a:solidFill>
                  <a:srgbClr val="0070C0"/>
                </a:solidFill>
                <a:latin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缺省参数</a:t>
            </a:r>
            <a:r>
              <a:rPr lang="en-US" altLang="zh-CN" sz="2400" b="1" dirty="0">
                <a:latin typeface="+mj-ea"/>
                <a:ea typeface="+mj-ea"/>
              </a:rPr>
              <a:t>old</a:t>
            </a:r>
            <a:r>
              <a:rPr lang="zh-CN" altLang="en-US" sz="2400" b="1" dirty="0">
                <a:latin typeface="+mj-ea"/>
                <a:ea typeface="+mj-ea"/>
              </a:rPr>
              <a:t>用自由变量来代替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F71D81-BA57-4D35-B455-194F0294DCCA}"/>
              </a:ext>
            </a:extLst>
          </p:cNvPr>
          <p:cNvSpPr/>
          <p:nvPr/>
        </p:nvSpPr>
        <p:spPr>
          <a:xfrm>
            <a:off x="179512" y="2708920"/>
            <a:ext cx="43588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zh-CN" altLang="zh-CN" dirty="0">
                <a:latin typeface="Times New Roman" panose="02020603050405020304" pitchFamily="18" charset="0"/>
              </a:rPr>
              <a:t>【例</a:t>
            </a:r>
            <a:r>
              <a:rPr lang="en-US" altLang="zh-CN" dirty="0">
                <a:latin typeface="Times New Roman" panose="02020603050405020304" pitchFamily="18" charset="0"/>
              </a:rPr>
              <a:t>2.5-3</a:t>
            </a:r>
            <a:r>
              <a:rPr lang="zh-CN" altLang="zh-CN" dirty="0">
                <a:latin typeface="Times New Roman" panose="02020603050405020304" pitchFamily="18" charset="0"/>
              </a:rPr>
              <a:t>】</a:t>
            </a:r>
            <a:r>
              <a:rPr lang="zh-CN" altLang="en-US" dirty="0">
                <a:latin typeface="Times New Roman" panose="02020603050405020304" pitchFamily="18" charset="0"/>
              </a:rPr>
              <a:t>通用置换命令实例（有改动）</a:t>
            </a:r>
            <a:endParaRPr lang="zh-CN" altLang="zh-CN" dirty="0">
              <a:latin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594C2F-781C-4206-B3AA-9425BC79DB6F}"/>
              </a:ext>
            </a:extLst>
          </p:cNvPr>
          <p:cNvSpPr/>
          <p:nvPr/>
        </p:nvSpPr>
        <p:spPr>
          <a:xfrm>
            <a:off x="279760" y="3163706"/>
            <a:ext cx="861272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clear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syms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a b y x;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f1=a*sin(x)+b  			 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f1 =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b + a*sin(x)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f2=subs(f1,sin(x),log(y))%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整体代换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f2 =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b + a*log(y)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class(f2)			      	 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ans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=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</a:p>
          <a:p>
            <a:pPr algn="just" hangingPunct="0">
              <a:tabLst>
                <a:tab pos="269875" algn="l"/>
              </a:tabLst>
            </a:pPr>
            <a:endParaRPr lang="en-US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f3=subs(f1,a,sym(3.11))		 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f3 =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b + (311*sin(x))/100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class(f3)				 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ans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=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endParaRPr lang="en-US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f4=subs(f1,x,[0,pi/2,pi])		 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f4 =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[ b, a + b, b]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class(f4)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				 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ans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=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tabLst>
                <a:tab pos="269875" algn="l"/>
              </a:tabLst>
            </a:pP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1651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202993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2.5-3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（有改动，续）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594C2F-781C-4206-B3AA-9425BC79DB6F}"/>
              </a:ext>
            </a:extLst>
          </p:cNvPr>
          <p:cNvSpPr/>
          <p:nvPr/>
        </p:nvSpPr>
        <p:spPr>
          <a:xfrm>
            <a:off x="279760" y="940007"/>
            <a:ext cx="861272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format				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默认双精度型四位小数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format compact		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上下换行行距紧凑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t=0:pi/10:2*pi;		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采样点共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21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个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f5=subs(f1,{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a,b,x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},{2,3,t});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按照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a=2,b=3,t=x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采样点数组代入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hangingPunct="0"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class(f5)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				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ans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=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plot(t,f5,'r:','LineWidth',5)	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752FD92-7E3B-4397-B1C9-F92D13FEA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689" y="2694333"/>
            <a:ext cx="5210621" cy="400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277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202993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2.5-3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（有改动，续）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594C2F-781C-4206-B3AA-9425BC79DB6F}"/>
              </a:ext>
            </a:extLst>
          </p:cNvPr>
          <p:cNvSpPr/>
          <p:nvPr/>
        </p:nvSpPr>
        <p:spPr>
          <a:xfrm>
            <a:off x="279760" y="969450"/>
            <a:ext cx="861272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k=[0.6;0.8;1];		%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k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为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行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列的向量，或理解为一维数组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f6=subs(subs(f1,{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a,b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},{k,2}),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x,t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);%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这里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有三种取值，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x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有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21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种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hangingPunct="0"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class(f6)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				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ans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=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%f6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为二维数组</a:t>
            </a:r>
            <a:endParaRPr lang="zh-CN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plot(t,f6) 			</a:t>
            </a: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默认颜色蓝、红、橙，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旧版本可能为蓝、绿、红），默认线条宽度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0.5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磅</a:t>
            </a:r>
            <a:endParaRPr lang="zh-CN" altLang="zh-CN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D5F549A-5C95-44CF-8B2E-2BAF09481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415" y="2490580"/>
            <a:ext cx="5565169" cy="421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920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202993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2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符号转双精度或符号型小数</a:t>
            </a:r>
            <a:endParaRPr lang="en-US" sz="32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FE2F4DA-CB91-4D27-858F-323D80E5F49F}"/>
              </a:ext>
            </a:extLst>
          </p:cNvPr>
          <p:cNvSpPr/>
          <p:nvPr/>
        </p:nvSpPr>
        <p:spPr>
          <a:xfrm>
            <a:off x="211380" y="940007"/>
            <a:ext cx="8825116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itchFamily="2" charset="2"/>
              <a:buChar char="q"/>
            </a:pPr>
            <a:r>
              <a:rPr lang="en-US" altLang="zh-CN" sz="2400" b="1" dirty="0">
                <a:solidFill>
                  <a:prstClr val="black"/>
                </a:solidFill>
                <a:latin typeface="+mj-ea"/>
                <a:ea typeface="+mj-ea"/>
              </a:rPr>
              <a:t>&gt;&gt; </a:t>
            </a:r>
            <a:r>
              <a:rPr lang="en-US" altLang="zh-CN" sz="2400" b="1" dirty="0">
                <a:solidFill>
                  <a:srgbClr val="0070C0"/>
                </a:solidFill>
                <a:latin typeface="+mj-ea"/>
                <a:ea typeface="+mj-ea"/>
              </a:rPr>
              <a:t>A=</a:t>
            </a:r>
            <a:r>
              <a:rPr lang="en-US" altLang="zh-CN" sz="2400" b="1" dirty="0" err="1">
                <a:solidFill>
                  <a:srgbClr val="0070C0"/>
                </a:solidFill>
                <a:latin typeface="+mj-ea"/>
                <a:ea typeface="+mj-ea"/>
              </a:rPr>
              <a:t>exp</a:t>
            </a:r>
            <a:r>
              <a:rPr lang="en-US" altLang="zh-CN" sz="2400" b="1" dirty="0">
                <a:solidFill>
                  <a:srgbClr val="0070C0"/>
                </a:solidFill>
                <a:latin typeface="+mj-ea"/>
                <a:ea typeface="+mj-ea"/>
              </a:rPr>
              <a:t>(</a:t>
            </a:r>
            <a:r>
              <a:rPr lang="en-US" altLang="zh-CN" sz="2400" b="1" dirty="0" err="1">
                <a:solidFill>
                  <a:srgbClr val="0070C0"/>
                </a:solidFill>
                <a:latin typeface="+mj-ea"/>
                <a:ea typeface="+mj-ea"/>
              </a:rPr>
              <a:t>sym</a:t>
            </a:r>
            <a:r>
              <a:rPr lang="en-US" altLang="zh-CN" sz="2400" b="1" dirty="0">
                <a:solidFill>
                  <a:srgbClr val="0070C0"/>
                </a:solidFill>
                <a:latin typeface="+mj-ea"/>
                <a:ea typeface="+mj-ea"/>
              </a:rPr>
              <a:t>(1)); a=double(A)</a:t>
            </a:r>
          </a:p>
          <a:p>
            <a:pPr lvl="0">
              <a:spcBef>
                <a:spcPts val="580"/>
              </a:spcBef>
              <a:buClr>
                <a:srgbClr val="00B050"/>
              </a:buClr>
              <a:buSzPct val="85000"/>
            </a:pPr>
            <a:r>
              <a:rPr lang="en-US" altLang="zh-CN" sz="2400" b="1" dirty="0">
                <a:solidFill>
                  <a:srgbClr val="00B050"/>
                </a:solidFill>
                <a:latin typeface="+mj-ea"/>
              </a:rPr>
              <a:t>%</a:t>
            </a:r>
            <a:r>
              <a:rPr lang="zh-CN" altLang="en-US" sz="2400" b="1" dirty="0">
                <a:solidFill>
                  <a:srgbClr val="00B050"/>
                </a:solidFill>
                <a:latin typeface="+mj-ea"/>
              </a:rPr>
              <a:t>将</a:t>
            </a:r>
            <a:r>
              <a:rPr lang="en-US" altLang="zh-CN" sz="2400" b="1" dirty="0" err="1">
                <a:solidFill>
                  <a:srgbClr val="00B050"/>
                </a:solidFill>
                <a:latin typeface="+mj-ea"/>
              </a:rPr>
              <a:t>sym</a:t>
            </a:r>
            <a:r>
              <a:rPr lang="zh-CN" altLang="en-US" sz="2400" b="1" dirty="0">
                <a:solidFill>
                  <a:srgbClr val="00B050"/>
                </a:solidFill>
                <a:latin typeface="+mj-ea"/>
              </a:rPr>
              <a:t>型变量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</a:rPr>
              <a:t>A=</a:t>
            </a:r>
            <a:r>
              <a:rPr lang="en-US" altLang="zh-CN" sz="2400" b="1" dirty="0" err="1">
                <a:solidFill>
                  <a:srgbClr val="00B050"/>
                </a:solidFill>
                <a:latin typeface="+mj-ea"/>
              </a:rPr>
              <a:t>exp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</a:rPr>
              <a:t>(1)</a:t>
            </a:r>
            <a:r>
              <a:rPr lang="zh-CN" altLang="en-US" sz="2400" b="1" dirty="0">
                <a:solidFill>
                  <a:srgbClr val="00B050"/>
                </a:solidFill>
                <a:latin typeface="+mj-ea"/>
              </a:rPr>
              <a:t>的值转换为双精度（类似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</a:rPr>
              <a:t>C</a:t>
            </a:r>
            <a:r>
              <a:rPr lang="zh-CN" altLang="en-US" sz="2400" b="1" dirty="0">
                <a:solidFill>
                  <a:srgbClr val="00B050"/>
                </a:solidFill>
                <a:latin typeface="+mj-ea"/>
              </a:rPr>
              <a:t>语言）</a:t>
            </a:r>
            <a:endParaRPr lang="en-US" altLang="zh-CN" sz="2400" b="1" dirty="0">
              <a:solidFill>
                <a:srgbClr val="00B050"/>
              </a:solidFill>
              <a:latin typeface="+mj-ea"/>
            </a:endParaRPr>
          </a:p>
          <a:p>
            <a:pPr lvl="0">
              <a:spcBef>
                <a:spcPts val="580"/>
              </a:spcBef>
              <a:buClr>
                <a:srgbClr val="00B050"/>
              </a:buClr>
              <a:buSzPct val="85000"/>
            </a:pPr>
            <a:r>
              <a:rPr lang="en-US" altLang="zh-CN" sz="2400" b="1" dirty="0">
                <a:latin typeface="+mj-ea"/>
                <a:ea typeface="+mj-ea"/>
              </a:rPr>
              <a:t> a =2.7183    </a:t>
            </a:r>
            <a:r>
              <a:rPr lang="zh-CN" altLang="en-US" sz="2400" b="1" dirty="0">
                <a:latin typeface="+mj-ea"/>
                <a:ea typeface="+mj-ea"/>
              </a:rPr>
              <a:t>双精度型数的显示模式取决于定义的</a:t>
            </a:r>
            <a:r>
              <a:rPr lang="en-US" altLang="zh-CN" sz="2400" b="1" dirty="0">
                <a:latin typeface="+mj-ea"/>
                <a:ea typeface="+mj-ea"/>
              </a:rPr>
              <a:t>format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82A0A58-C36D-4B63-8CA4-621F43132BE8}"/>
              </a:ext>
            </a:extLst>
          </p:cNvPr>
          <p:cNvSpPr/>
          <p:nvPr/>
        </p:nvSpPr>
        <p:spPr>
          <a:xfrm>
            <a:off x="251520" y="2294224"/>
            <a:ext cx="8784976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itchFamily="2" charset="2"/>
              <a:buChar char="q"/>
            </a:pP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digits</a:t>
            </a:r>
            <a:r>
              <a:rPr lang="en-US" altLang="zh-CN" sz="2400" b="1" dirty="0">
                <a:solidFill>
                  <a:srgbClr val="0070C0"/>
                </a:solidFill>
                <a:latin typeface="+mj-ea"/>
              </a:rPr>
              <a:t>      </a:t>
            </a:r>
            <a:r>
              <a:rPr lang="zh-CN" altLang="en-US" sz="2400" b="1" dirty="0">
                <a:latin typeface="+mj-ea"/>
                <a:ea typeface="+mj-ea"/>
              </a:rPr>
              <a:t>显示当前</a:t>
            </a:r>
            <a:r>
              <a:rPr lang="en-US" altLang="zh-CN" sz="2400" b="1" dirty="0" err="1">
                <a:latin typeface="+mj-ea"/>
                <a:ea typeface="+mj-ea"/>
              </a:rPr>
              <a:t>vpa</a:t>
            </a:r>
            <a:r>
              <a:rPr lang="zh-CN" altLang="en-US" sz="2400" b="1" dirty="0">
                <a:latin typeface="+mj-ea"/>
                <a:ea typeface="+mj-ea"/>
              </a:rPr>
              <a:t>命令的截断位数</a:t>
            </a:r>
            <a:endParaRPr lang="en-US" altLang="zh-CN" sz="2400" b="1" dirty="0">
              <a:latin typeface="+mj-ea"/>
              <a:ea typeface="+mj-ea"/>
            </a:endParaRPr>
          </a:p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itchFamily="2" charset="2"/>
              <a:buChar char="q"/>
            </a:pP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digits(n)</a:t>
            </a:r>
            <a:r>
              <a:rPr lang="en-US" altLang="zh-CN" sz="2400" b="1" dirty="0">
                <a:solidFill>
                  <a:srgbClr val="0070C0"/>
                </a:solidFill>
                <a:latin typeface="+mj-ea"/>
              </a:rPr>
              <a:t>  </a:t>
            </a:r>
            <a:r>
              <a:rPr lang="zh-CN" altLang="en-US" sz="2400" b="1" dirty="0">
                <a:latin typeface="+mj-ea"/>
                <a:ea typeface="+mj-ea"/>
              </a:rPr>
              <a:t>设置当前</a:t>
            </a:r>
            <a:r>
              <a:rPr lang="en-US" altLang="zh-CN" sz="2400" b="1" dirty="0" err="1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vpa</a:t>
            </a:r>
            <a:r>
              <a:rPr lang="zh-CN" altLang="en-US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命令</a:t>
            </a:r>
            <a:r>
              <a:rPr lang="zh-CN" altLang="en-US" sz="2400" b="1" dirty="0">
                <a:latin typeface="+mj-ea"/>
                <a:ea typeface="+mj-ea"/>
              </a:rPr>
              <a:t>的截断位数为</a:t>
            </a:r>
            <a:r>
              <a:rPr lang="en-US" altLang="zh-CN" sz="2400" b="1" dirty="0">
                <a:latin typeface="+mj-ea"/>
                <a:ea typeface="+mj-ea"/>
              </a:rPr>
              <a:t>n</a:t>
            </a:r>
          </a:p>
          <a:p>
            <a:pPr marL="274320" lvl="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itchFamily="2" charset="2"/>
              <a:buChar char="q"/>
            </a:pPr>
            <a:r>
              <a:rPr lang="en-US" altLang="zh-CN" sz="2400" b="1" dirty="0" err="1">
                <a:solidFill>
                  <a:srgbClr val="9B2D1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xs</a:t>
            </a:r>
            <a:r>
              <a:rPr lang="en-US" altLang="zh-CN" sz="2400" b="1" dirty="0">
                <a:solidFill>
                  <a:srgbClr val="9B2D1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zh-CN" sz="2400" b="1" dirty="0" err="1">
                <a:solidFill>
                  <a:srgbClr val="9B2D1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vpa</a:t>
            </a:r>
            <a:r>
              <a:rPr lang="en-US" altLang="zh-CN" sz="2400" b="1" dirty="0">
                <a:solidFill>
                  <a:srgbClr val="9B2D1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(x)</a:t>
            </a:r>
            <a:r>
              <a:rPr lang="en-US" altLang="zh-CN" sz="2400" b="1" dirty="0">
                <a:solidFill>
                  <a:srgbClr val="0070C0"/>
                </a:solidFill>
                <a:latin typeface="幼圆" panose="02010509060101010101" pitchFamily="49" charset="-122"/>
              </a:rPr>
              <a:t>  </a:t>
            </a:r>
            <a:r>
              <a:rPr lang="zh-CN" altLang="en-US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按照当前</a:t>
            </a:r>
            <a:r>
              <a:rPr lang="en-US" altLang="zh-CN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digits</a:t>
            </a:r>
            <a:r>
              <a:rPr lang="zh-CN" altLang="en-US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位有效数字来对</a:t>
            </a:r>
            <a:r>
              <a:rPr lang="en-US" altLang="zh-CN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x</a:t>
            </a:r>
            <a:r>
              <a:rPr lang="zh-CN" altLang="en-US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截取到小数</a:t>
            </a:r>
            <a:endParaRPr lang="en-US" altLang="zh-CN" sz="2400" b="1" dirty="0">
              <a:solidFill>
                <a:prstClr val="black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itchFamily="2" charset="2"/>
              <a:buChar char="q"/>
            </a:pPr>
            <a:r>
              <a:rPr lang="en-US" altLang="zh-CN" sz="2400" b="1" dirty="0" err="1">
                <a:solidFill>
                  <a:srgbClr val="9B2D1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xs</a:t>
            </a:r>
            <a:r>
              <a:rPr lang="en-US" altLang="zh-CN" sz="2400" b="1" dirty="0">
                <a:solidFill>
                  <a:srgbClr val="9B2D1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zh-CN" sz="2400" b="1" dirty="0" err="1">
                <a:solidFill>
                  <a:srgbClr val="9B2D1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vpa</a:t>
            </a:r>
            <a:r>
              <a:rPr lang="en-US" altLang="zh-CN" sz="2400" b="1" dirty="0">
                <a:solidFill>
                  <a:srgbClr val="9B2D1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 b="1" dirty="0" err="1">
                <a:solidFill>
                  <a:srgbClr val="9B2D1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x,n</a:t>
            </a:r>
            <a:r>
              <a:rPr lang="en-US" altLang="zh-CN" sz="2400" b="1" dirty="0">
                <a:solidFill>
                  <a:srgbClr val="9B2D1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altLang="en-US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对</a:t>
            </a:r>
            <a:r>
              <a:rPr lang="en-US" altLang="zh-CN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x</a:t>
            </a:r>
            <a:r>
              <a:rPr lang="zh-CN" altLang="en-US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按照</a:t>
            </a:r>
            <a:r>
              <a:rPr lang="en-US" altLang="zh-CN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n</a:t>
            </a:r>
            <a:r>
              <a:rPr lang="zh-CN" altLang="en-US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位有效数字来截取到小数</a:t>
            </a:r>
            <a:r>
              <a:rPr lang="en-US" altLang="zh-CN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仍是</a:t>
            </a:r>
            <a:r>
              <a:rPr lang="en-US" altLang="zh-CN" sz="2400" b="1" dirty="0" err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sym</a:t>
            </a:r>
            <a:r>
              <a:rPr lang="en-US" altLang="zh-CN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)</a:t>
            </a:r>
          </a:p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itchFamily="2" charset="2"/>
              <a:buChar char="q"/>
            </a:pPr>
            <a:r>
              <a:rPr lang="en-US" altLang="zh-CN" sz="2400" b="1" dirty="0" err="1">
                <a:solidFill>
                  <a:srgbClr val="9B2D1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xs</a:t>
            </a:r>
            <a:r>
              <a:rPr lang="en-US" altLang="zh-CN" sz="2400" b="1" dirty="0">
                <a:solidFill>
                  <a:srgbClr val="9B2D1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=double(x)</a:t>
            </a:r>
            <a:r>
              <a:rPr lang="en-US" altLang="zh-CN" sz="2400" b="1" dirty="0">
                <a:solidFill>
                  <a:srgbClr val="0070C0"/>
                </a:solidFill>
                <a:latin typeface="幼圆" panose="02010509060101010101" pitchFamily="49" charset="-122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将</a:t>
            </a:r>
            <a:r>
              <a:rPr lang="en-US" altLang="zh-CN" sz="2400" b="1" dirty="0" err="1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sym</a:t>
            </a:r>
            <a:r>
              <a:rPr lang="zh-CN" altLang="en-US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型变量转换为双精度数（允许误差，提高效率）</a:t>
            </a:r>
            <a:endParaRPr lang="en-US" altLang="zh-CN" sz="2400" b="1" dirty="0">
              <a:solidFill>
                <a:prstClr val="black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07B343-AC71-4ACF-92D8-50315F99275E}"/>
              </a:ext>
            </a:extLst>
          </p:cNvPr>
          <p:cNvSpPr/>
          <p:nvPr/>
        </p:nvSpPr>
        <p:spPr>
          <a:xfrm>
            <a:off x="231800" y="4889904"/>
            <a:ext cx="57798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zh-CN" altLang="zh-CN" dirty="0">
                <a:latin typeface="Times New Roman" panose="02020603050405020304" pitchFamily="18" charset="0"/>
              </a:rPr>
              <a:t>【例】</a:t>
            </a:r>
            <a:r>
              <a:rPr lang="zh-CN" altLang="en-US" dirty="0">
                <a:latin typeface="Times New Roman" panose="02020603050405020304" pitchFamily="18" charset="0"/>
              </a:rPr>
              <a:t>符号型数转换为双精度数</a:t>
            </a:r>
            <a:endParaRPr lang="zh-CN" altLang="zh-CN" dirty="0">
              <a:latin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1114E6-DF56-4CAC-BBD3-4C77AD33847B}"/>
              </a:ext>
            </a:extLst>
          </p:cNvPr>
          <p:cNvSpPr/>
          <p:nvPr/>
        </p:nvSpPr>
        <p:spPr>
          <a:xfrm>
            <a:off x="251520" y="5173132"/>
            <a:ext cx="73265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reset(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symengine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  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这一步可以做到符号运算回归默认（精确）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</a:t>
            </a:r>
            <a:endParaRPr lang="zh-CN" altLang="zh-CN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sa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(1/3)+sqrt(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(2)) </a:t>
            </a: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sa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2^(1/2) + 1/3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288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202993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符号转双精度及精度设定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-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2.2-1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itchFamily="34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07B343-AC71-4ACF-92D8-50315F99275E}"/>
              </a:ext>
            </a:extLst>
          </p:cNvPr>
          <p:cNvSpPr/>
          <p:nvPr/>
        </p:nvSpPr>
        <p:spPr>
          <a:xfrm>
            <a:off x="179512" y="920288"/>
            <a:ext cx="64087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zh-CN" altLang="zh-CN" dirty="0">
                <a:latin typeface="Times New Roman" panose="02020603050405020304" pitchFamily="18" charset="0"/>
              </a:rPr>
              <a:t>【例】</a:t>
            </a:r>
            <a:r>
              <a:rPr lang="zh-CN" altLang="en-US" dirty="0">
                <a:latin typeface="Times New Roman" panose="02020603050405020304" pitchFamily="18" charset="0"/>
              </a:rPr>
              <a:t>符号型数转换为双精度数</a:t>
            </a:r>
            <a:endParaRPr lang="zh-CN" altLang="zh-CN" dirty="0">
              <a:latin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294754C-BFCE-4B7F-B8F8-8FECB4563FAE}"/>
              </a:ext>
            </a:extLst>
          </p:cNvPr>
          <p:cNvSpPr/>
          <p:nvPr/>
        </p:nvSpPr>
        <p:spPr>
          <a:xfrm>
            <a:off x="107504" y="1289620"/>
            <a:ext cx="8928992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  <a:tab pos="31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digits		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Digits = 32 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 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format long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a=1/3+sqrt(2)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直接计算数值型，结果：</a:t>
            </a: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 = 1.747546895706428</a:t>
            </a:r>
            <a:endParaRPr lang="zh-CN" altLang="zh-CN" sz="2000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sa_Plus_a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vpa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(sa+a,20)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sa_Minus_a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vpa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(sa-a,20)%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双精度型与符号型求和求差后，再保留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20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位有效数字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sa_Plus_a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3.4950937914128567869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sa_Minus_a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-0.000000000000000022658064826339973669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BAAA80-C734-4DBE-9F29-27EAC0470FFD}"/>
              </a:ext>
            </a:extLst>
          </p:cNvPr>
          <p:cNvSpPr/>
          <p:nvPr/>
        </p:nvSpPr>
        <p:spPr>
          <a:xfrm>
            <a:off x="179512" y="3972563"/>
            <a:ext cx="826266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sa32=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vpa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sa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				%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32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位截取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digits(48)			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改设置为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48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位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sa5=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vpa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(sa,5)				%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5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位截取</a:t>
            </a:r>
            <a:endParaRPr lang="zh-CN" altLang="zh-CN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sa48=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vpa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sa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				%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48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位截取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sa32 =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1.747546895706428382135022057543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sa5 =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1.7475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sa48 =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1.74754689570642838213502205754303141190300520871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21641A-32FB-4989-A594-2B181F339A0E}"/>
              </a:ext>
            </a:extLst>
          </p:cNvPr>
          <p:cNvSpPr/>
          <p:nvPr/>
        </p:nvSpPr>
        <p:spPr>
          <a:xfrm>
            <a:off x="179512" y="6070731"/>
            <a:ext cx="82626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sad=double(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sa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		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命令双精度计算，结果与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相同！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sad = 1.747546895706428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1948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202993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阿基米德螺线长度的计算与图示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47ECA33-A04F-4A8C-8C9A-CA00D4020615}"/>
                  </a:ext>
                </a:extLst>
              </p:cNvPr>
              <p:cNvSpPr/>
              <p:nvPr/>
            </p:nvSpPr>
            <p:spPr>
              <a:xfrm>
                <a:off x="188182" y="3128203"/>
                <a:ext cx="8766720" cy="25853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syms a r 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p</a:t>
                </a:r>
                <a:endParaRPr lang="zh-CN" altLang="zh-CN" dirty="0"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r=a*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;			%</a:t>
                </a:r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极坐标半径定义</a:t>
                </a:r>
                <a:endParaRPr lang="zh-CN" altLang="zh-CN" dirty="0">
                  <a:solidFill>
                    <a:srgbClr val="FF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x=r*cos(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);			%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𝒓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func>
                      <m:funcPr>
                        <m:ctrlP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𝜽</m:t>
                        </m:r>
                      </m:e>
                    </m:func>
                  </m:oMath>
                </a14:m>
                <a:endParaRPr lang="zh-CN" altLang="zh-CN" dirty="0"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y=r*sin(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);			%</a:t>
                </a:r>
                <a:r>
                  <a:rPr lang="en-US" altLang="zh-CN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y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𝒓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func>
                      <m:funcPr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in</m:t>
                        </m:r>
                      </m:fName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𝜽</m:t>
                        </m:r>
                      </m:e>
                    </m:func>
                  </m:oMath>
                </a14:m>
                <a:endParaRPr lang="zh-CN" altLang="zh-CN" dirty="0"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dL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=simplify(sqrt(diff(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x,th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)^2+diff(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y,th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)^2),...</a:t>
                </a: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'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IgnoreAnalyticConstraints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',true);		%</a:t>
                </a:r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计算被积函数</a:t>
                </a:r>
                <a:endParaRPr lang="zh-CN" altLang="zh-CN" dirty="0">
                  <a:solidFill>
                    <a:srgbClr val="FF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L=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int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(dL,th,0,p)	  </a:t>
                </a:r>
                <a:endParaRPr lang="zh-CN" altLang="zh-CN" dirty="0"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dirty="0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L =</a:t>
                </a:r>
                <a:endParaRPr lang="zh-CN" altLang="zh-CN" dirty="0"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dirty="0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(a*(asinh(p) + p*(p^2 + 1)^(1/2)))/2</a:t>
                </a:r>
                <a:r>
                  <a:rPr lang="en-US" altLang="zh-CN" dirty="0">
                    <a:latin typeface="Courier New" panose="02070309020205020404" pitchFamily="49" charset="0"/>
                    <a:cs typeface="Times New Roman" panose="02020603050405020304" pitchFamily="18" charset="0"/>
                  </a:rPr>
                  <a:t> </a:t>
                </a:r>
                <a:endParaRPr lang="zh-CN" altLang="zh-CN" dirty="0"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47ECA33-A04F-4A8C-8C9A-CA00D40206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182" y="3128203"/>
                <a:ext cx="8766720" cy="2585323"/>
              </a:xfrm>
              <a:prstGeom prst="rect">
                <a:avLst/>
              </a:prstGeom>
              <a:blipFill>
                <a:blip r:embed="rId2"/>
                <a:stretch>
                  <a:fillRect l="-626" t="-1179" b="-28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62D58FB3-8BDB-4F66-A50A-A40D8BC37EAA}"/>
                  </a:ext>
                </a:extLst>
              </p:cNvPr>
              <p:cNvSpPr/>
              <p:nvPr/>
            </p:nvSpPr>
            <p:spPr>
              <a:xfrm>
                <a:off x="188182" y="2029122"/>
                <a:ext cx="8154285" cy="8438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lvl="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itchFamily="2" charset="2"/>
                  <a:buChar char="q"/>
                </a:pPr>
                <a:r>
                  <a:rPr lang="zh-CN" altLang="en-US" sz="2400" b="1" dirty="0">
                    <a:solidFill>
                      <a:prstClr val="black"/>
                    </a:solidFill>
                    <a:latin typeface="+mj-ea"/>
                    <a:ea typeface="+mj-ea"/>
                  </a:rPr>
                  <a:t>计算公式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j-ea"/>
                      </a:rPr>
                      <m:t>𝑳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𝝋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j-ea"/>
                      </a:rPr>
                      <m:t>=</m:t>
                    </m:r>
                    <m:nary>
                      <m:naryPr>
                        <m:ctrlP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naryPr>
                      <m:sub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𝟎</m:t>
                        </m:r>
                      </m:sub>
                      <m:sup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𝝋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US" altLang="zh-CN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2400" b="1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2400" b="1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altLang="zh-CN" sz="2400" b="1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+mj-ea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400" b="1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+mj-ea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altLang="zh-CN" sz="2400" b="1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+mj-ea"/>
                                          </a:rPr>
                                          <m:t>𝜽</m:t>
                                        </m:r>
                                      </m:sub>
                                      <m:sup>
                                        <m:r>
                                          <a:rPr lang="en-US" altLang="zh-CN" sz="2400" b="1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+mj-ea"/>
                                          </a:rPr>
                                          <m:t>′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r>
                                  <a:rPr lang="en-US" altLang="zh-CN" sz="2400" b="1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2400" b="1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2400" b="1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altLang="zh-CN" sz="2400" b="1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+mj-ea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400" b="1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+mj-ea"/>
                                          </a:rPr>
                                          <m:t>𝒚</m:t>
                                        </m:r>
                                      </m:e>
                                      <m:sub>
                                        <m:r>
                                          <a:rPr lang="en-US" altLang="zh-CN" sz="2400" b="1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+mj-ea"/>
                                          </a:rPr>
                                          <m:t>𝜽</m:t>
                                        </m:r>
                                      </m:sub>
                                      <m:sup>
                                        <m:r>
                                          <a:rPr lang="en-US" altLang="zh-CN" sz="2400" b="1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+mj-ea"/>
                                          </a:rPr>
                                          <m:t>′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r>
                                  <a:rPr lang="en-US" altLang="zh-CN" sz="2400" b="1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</a:rPr>
                                  <m:t>𝟐</m:t>
                                </m:r>
                              </m:sup>
                            </m:sSup>
                          </m:e>
                        </m:rad>
                        <m:r>
                          <a:rPr lang="en-US" altLang="zh-CN" sz="2400" b="1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𝐝</m:t>
                        </m:r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𝜽</m:t>
                        </m:r>
                      </m:e>
                    </m:nary>
                  </m:oMath>
                </a14:m>
                <a:endParaRPr lang="en-US" altLang="zh-CN" sz="2400" b="1" dirty="0">
                  <a:solidFill>
                    <a:prstClr val="black"/>
                  </a:solidFill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62D58FB3-8BDB-4F66-A50A-A40D8BC37E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182" y="2029122"/>
                <a:ext cx="8154285" cy="843885"/>
              </a:xfrm>
              <a:prstGeom prst="rect">
                <a:avLst/>
              </a:prstGeom>
              <a:blipFill>
                <a:blip r:embed="rId3"/>
                <a:stretch>
                  <a:fillRect l="-6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9B3D2114-BFE1-46C8-88E7-ACE55D3D862E}"/>
                  </a:ext>
                </a:extLst>
              </p:cNvPr>
              <p:cNvSpPr/>
              <p:nvPr/>
            </p:nvSpPr>
            <p:spPr>
              <a:xfrm>
                <a:off x="188182" y="1195203"/>
                <a:ext cx="8386663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zh-CN" altLang="zh-CN" sz="2000" dirty="0">
                    <a:latin typeface="Times New Roman" panose="02020603050405020304" pitchFamily="18" charset="0"/>
                  </a:rPr>
                  <a:t>【例】</a:t>
                </a:r>
                <a:r>
                  <a:rPr lang="zh-CN" altLang="en-US" sz="2000" dirty="0">
                    <a:latin typeface="Times New Roman" panose="02020603050405020304" pitchFamily="18" charset="0"/>
                  </a:rPr>
                  <a:t>求阿基米德（</a:t>
                </a:r>
                <a:r>
                  <a:rPr lang="en-US" altLang="zh-CN" sz="2000" dirty="0">
                    <a:latin typeface="Times New Roman" panose="02020603050405020304" pitchFamily="18" charset="0"/>
                  </a:rPr>
                  <a:t>Archimedes</a:t>
                </a:r>
                <a:r>
                  <a:rPr lang="zh-CN" altLang="en-US" sz="2000" dirty="0">
                    <a:latin typeface="Times New Roman" panose="02020603050405020304" pitchFamily="18" charset="0"/>
                  </a:rPr>
                  <a:t>）螺线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,(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&gt;0)</m:t>
                    </m:r>
                  </m:oMath>
                </a14:m>
                <a:r>
                  <a:rPr lang="zh-CN" altLang="en-US" sz="2000" dirty="0">
                    <a:latin typeface="Times New Roman" panose="02020603050405020304" pitchFamily="18" charset="0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000" dirty="0">
                    <a:latin typeface="Times New Roman" panose="02020603050405020304" pitchFamily="18" charset="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zh-CN" altLang="en-US" sz="2000" dirty="0">
                    <a:latin typeface="Times New Roman" panose="02020603050405020304" pitchFamily="18" charset="0"/>
                  </a:rPr>
                  <a:t>间的曲线长度函数，并求出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=1,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zh-CN" altLang="en-US" sz="2000" dirty="0">
                    <a:latin typeface="Times New Roman" panose="02020603050405020304" pitchFamily="18" charset="0"/>
                  </a:rPr>
                  <a:t>的曲线长度。</a:t>
                </a:r>
                <a:endParaRPr lang="zh-CN" altLang="zh-CN" sz="200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9B3D2114-BFE1-46C8-88E7-ACE55D3D86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182" y="1195203"/>
                <a:ext cx="8386663" cy="707886"/>
              </a:xfrm>
              <a:prstGeom prst="rect">
                <a:avLst/>
              </a:prstGeom>
              <a:blipFill>
                <a:blip r:embed="rId4"/>
                <a:stretch>
                  <a:fillRect l="-799" t="-6034" r="-727" b="-129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0415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315416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阿基米德螺线长度的计算与图示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itchFamily="34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C1CFC9-8F88-4251-A3CE-14301165ADD4}"/>
              </a:ext>
            </a:extLst>
          </p:cNvPr>
          <p:cNvSpPr/>
          <p:nvPr/>
        </p:nvSpPr>
        <p:spPr>
          <a:xfrm>
            <a:off x="332656" y="1763688"/>
            <a:ext cx="881134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L2pi=subs(L,[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a,p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],[1,2*pi])	%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L2pid=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vpa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(L2pi)			%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L2pi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fi-FI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asinh(2*pi)/2 + pi*(4*pi^2 + 1)^(1/2)</a:t>
            </a: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L2pid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21.256294148209098800702512272566</a:t>
            </a: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endParaRPr lang="en-US" altLang="zh-CN" dirty="0">
              <a:solidFill>
                <a:srgbClr val="0000FF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L1=subs(L,a,1);			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直接对符号函数绘图</a:t>
            </a:r>
            <a:endParaRPr lang="zh-CN" altLang="zh-CN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fplot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(L1*cos(p),L1*sin(p),[0,2*pi])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参数：横坐标，纵坐标，范围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grid on					%</a:t>
            </a:r>
            <a:r>
              <a:rPr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fplot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在新版本代替</a:t>
            </a:r>
            <a:r>
              <a:rPr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ezplot</a:t>
            </a:r>
            <a:endParaRPr lang="zh-CN" altLang="zh-CN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hold on					%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x1=subs(x,a,1);				%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y1=subs(y,a,1);				%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h1=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fplot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(x1,y1,[0,2*pi]);			%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set(h1,'Color','r','LineWidth',5)		%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title(' ')							</a:t>
            </a: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legend('</a:t>
            </a:r>
            <a:r>
              <a:rPr lang="zh-CN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螺线长度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-</a:t>
            </a:r>
            <a:r>
              <a:rPr lang="zh-CN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幅角曲线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','</a:t>
            </a:r>
            <a:r>
              <a:rPr lang="zh-CN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阿基米德螺线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')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hold off								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889037B3-9D5E-4279-915F-A00585EB913A}"/>
                  </a:ext>
                </a:extLst>
              </p:cNvPr>
              <p:cNvSpPr/>
              <p:nvPr/>
            </p:nvSpPr>
            <p:spPr>
              <a:xfrm>
                <a:off x="251520" y="905689"/>
                <a:ext cx="8386663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zh-CN" altLang="zh-CN" sz="2000" dirty="0">
                    <a:latin typeface="Times New Roman" panose="02020603050405020304" pitchFamily="18" charset="0"/>
                  </a:rPr>
                  <a:t>【例】</a:t>
                </a:r>
                <a:r>
                  <a:rPr lang="zh-CN" altLang="en-US" sz="2000" dirty="0">
                    <a:latin typeface="Times New Roman" panose="02020603050405020304" pitchFamily="18" charset="0"/>
                  </a:rPr>
                  <a:t>求阿基米德（</a:t>
                </a:r>
                <a:r>
                  <a:rPr lang="en-US" altLang="zh-CN" sz="2000" dirty="0">
                    <a:latin typeface="Times New Roman" panose="02020603050405020304" pitchFamily="18" charset="0"/>
                  </a:rPr>
                  <a:t>Archimedes</a:t>
                </a:r>
                <a:r>
                  <a:rPr lang="zh-CN" altLang="en-US" sz="2000" dirty="0">
                    <a:latin typeface="Times New Roman" panose="02020603050405020304" pitchFamily="18" charset="0"/>
                  </a:rPr>
                  <a:t>）螺线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,(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&gt;0)</m:t>
                    </m:r>
                  </m:oMath>
                </a14:m>
                <a:r>
                  <a:rPr lang="zh-CN" altLang="en-US" sz="2000" dirty="0">
                    <a:latin typeface="Times New Roman" panose="02020603050405020304" pitchFamily="18" charset="0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000" dirty="0">
                    <a:latin typeface="Times New Roman" panose="02020603050405020304" pitchFamily="18" charset="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zh-CN" altLang="en-US" sz="2000" dirty="0">
                    <a:latin typeface="Times New Roman" panose="02020603050405020304" pitchFamily="18" charset="0"/>
                  </a:rPr>
                  <a:t>间的曲线长度函数，并求出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=1,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zh-CN" altLang="en-US" sz="2000" dirty="0">
                    <a:latin typeface="Times New Roman" panose="02020603050405020304" pitchFamily="18" charset="0"/>
                  </a:rPr>
                  <a:t>的曲线长度。</a:t>
                </a:r>
                <a:endParaRPr lang="zh-CN" altLang="zh-CN" sz="200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889037B3-9D5E-4279-915F-A00585EB91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905689"/>
                <a:ext cx="8386663" cy="707886"/>
              </a:xfrm>
              <a:prstGeom prst="rect">
                <a:avLst/>
              </a:prstGeom>
              <a:blipFill>
                <a:blip r:embed="rId2"/>
                <a:stretch>
                  <a:fillRect l="-727" t="-6897" r="-799" b="-129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0121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56E7F35-0823-4D6B-8B0D-6C52E24FB57F}"/>
              </a:ext>
            </a:extLst>
          </p:cNvPr>
          <p:cNvSpPr txBox="1">
            <a:spLocks/>
          </p:cNvSpPr>
          <p:nvPr/>
        </p:nvSpPr>
        <p:spPr>
          <a:xfrm>
            <a:off x="782086" y="-202993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阿基米德螺线长度的计算与图示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88E69CF-04FB-459F-8C60-C807244952FD}"/>
              </a:ext>
            </a:extLst>
          </p:cNvPr>
          <p:cNvSpPr/>
          <p:nvPr/>
        </p:nvSpPr>
        <p:spPr>
          <a:xfrm>
            <a:off x="311802" y="5805264"/>
            <a:ext cx="87129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itchFamily="2" charset="2"/>
              <a:buChar char="q"/>
            </a:pP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函数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fplot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X,Y,rg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altLang="en-US" sz="2400" b="1" dirty="0">
                <a:latin typeface="+mj-ea"/>
                <a:ea typeface="+mj-ea"/>
              </a:rPr>
              <a:t>可对符号函数绘图，</a:t>
            </a:r>
            <a:r>
              <a:rPr lang="en-US" altLang="zh-CN" sz="2400" b="1" dirty="0">
                <a:latin typeface="+mj-ea"/>
                <a:ea typeface="+mj-ea"/>
              </a:rPr>
              <a:t>X</a:t>
            </a:r>
            <a:r>
              <a:rPr lang="zh-CN" altLang="en-US" sz="2400" b="1" dirty="0">
                <a:latin typeface="+mj-ea"/>
                <a:ea typeface="+mj-ea"/>
              </a:rPr>
              <a:t>表示横坐标函数，</a:t>
            </a:r>
            <a:r>
              <a:rPr lang="en-US" altLang="zh-CN" sz="2400" b="1" dirty="0">
                <a:latin typeface="+mj-ea"/>
                <a:ea typeface="+mj-ea"/>
              </a:rPr>
              <a:t>Y</a:t>
            </a:r>
            <a:r>
              <a:rPr lang="zh-CN" altLang="en-US" sz="2400" b="1" dirty="0">
                <a:latin typeface="+mj-ea"/>
                <a:ea typeface="+mj-ea"/>
              </a:rPr>
              <a:t>表示纵坐标函数，</a:t>
            </a:r>
            <a:r>
              <a:rPr lang="en-US" altLang="zh-CN" sz="2400" b="1" dirty="0" err="1">
                <a:latin typeface="+mj-ea"/>
                <a:ea typeface="+mj-ea"/>
              </a:rPr>
              <a:t>rg</a:t>
            </a:r>
            <a:r>
              <a:rPr lang="zh-CN" altLang="en-US" sz="2400" b="1" dirty="0">
                <a:latin typeface="+mj-ea"/>
                <a:ea typeface="+mj-ea"/>
              </a:rPr>
              <a:t>为参数范围，采样由</a:t>
            </a:r>
            <a:r>
              <a:rPr lang="en-US" altLang="zh-CN" sz="2400" b="1" dirty="0">
                <a:latin typeface="+mj-ea"/>
                <a:ea typeface="+mj-ea"/>
              </a:rPr>
              <a:t>MATLAB</a:t>
            </a:r>
            <a:r>
              <a:rPr lang="zh-CN" altLang="en-US" sz="2400" b="1" dirty="0">
                <a:latin typeface="+mj-ea"/>
                <a:ea typeface="+mj-ea"/>
              </a:rPr>
              <a:t>完成。</a:t>
            </a:r>
            <a:endParaRPr lang="en-US" altLang="zh-CN" sz="2400" b="1" dirty="0">
              <a:latin typeface="+mj-ea"/>
              <a:ea typeface="+mj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81D4D3F-5469-4B38-ACB9-C44D63DD5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592" y="631460"/>
            <a:ext cx="7248815" cy="5436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187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202993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  <a:hlinkClick r:id="rId2" action="ppaction://hlinkfile"/>
              </a:rPr>
              <a:t>微分方程（组）的符号解法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905F6F5-AA7F-4EBD-A63A-B87C23A6059F}"/>
              </a:ext>
            </a:extLst>
          </p:cNvPr>
          <p:cNvSpPr/>
          <p:nvPr/>
        </p:nvSpPr>
        <p:spPr>
          <a:xfrm>
            <a:off x="311802" y="940007"/>
            <a:ext cx="87129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itchFamily="2" charset="2"/>
              <a:buChar char="q"/>
            </a:pP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相较数值解（数值分析课本</a:t>
            </a:r>
            <a:r>
              <a:rPr lang="en-US" altLang="zh-CN" sz="2400" b="1" dirty="0">
                <a:solidFill>
                  <a:prstClr val="black"/>
                </a:solidFill>
                <a:latin typeface="+mj-ea"/>
                <a:ea typeface="+mj-ea"/>
              </a:rPr>
              <a:t>Ch9</a:t>
            </a: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），微分方程的符号解（理论解）求解要难很多，甚至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可能无解或没有形式较好的解</a:t>
            </a: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。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5AC9C18-F67E-4C1D-A531-C6CE0E7BF608}"/>
              </a:ext>
            </a:extLst>
          </p:cNvPr>
          <p:cNvSpPr/>
          <p:nvPr/>
        </p:nvSpPr>
        <p:spPr>
          <a:xfrm>
            <a:off x="311802" y="1847893"/>
            <a:ext cx="8712968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itchFamily="2" charset="2"/>
              <a:buChar char="q"/>
            </a:pP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函数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S=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dsolve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eqs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altLang="en-US" sz="2400" b="1" dirty="0">
                <a:latin typeface="+mj-ea"/>
                <a:ea typeface="+mj-ea"/>
              </a:rPr>
              <a:t>可以直接完成常微分方程的理论求解，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eqs</a:t>
            </a:r>
            <a:r>
              <a:rPr lang="zh-CN" altLang="en-US" sz="2400" b="1" dirty="0">
                <a:latin typeface="+mj-ea"/>
                <a:ea typeface="+mj-ea"/>
              </a:rPr>
              <a:t>以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符号函数</a:t>
            </a:r>
            <a:r>
              <a:rPr lang="zh-CN" altLang="en-US" sz="2400" b="1" dirty="0">
                <a:latin typeface="+mj-ea"/>
                <a:ea typeface="+mj-ea"/>
              </a:rPr>
              <a:t>的微分表达式的方式描述方程，导数需用形如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diff(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x,t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altLang="en-US" sz="2400" b="1" dirty="0">
                <a:latin typeface="+mj-ea"/>
                <a:ea typeface="+mj-ea"/>
              </a:rPr>
              <a:t>来表示，方程的解返回到符号型变量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zh-CN" altLang="en-US" sz="2400" b="1" dirty="0">
                <a:latin typeface="+mj-ea"/>
                <a:ea typeface="+mj-ea"/>
              </a:rPr>
              <a:t>。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新版本已不建议或不支持字符串录入符号型微分方程。</a:t>
            </a:r>
            <a:endParaRPr lang="en-US" altLang="zh-CN" sz="2400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itchFamily="2" charset="2"/>
              <a:buChar char="q"/>
            </a:pP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函数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S=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dsolve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eqs,cond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altLang="en-US" sz="2400" b="1" dirty="0">
                <a:latin typeface="+mj-ea"/>
                <a:ea typeface="+mj-ea"/>
              </a:rPr>
              <a:t>可以在微分方程中添加初值条件。</a:t>
            </a:r>
            <a:endParaRPr lang="en-US" altLang="zh-CN" sz="2400" b="1" dirty="0">
              <a:latin typeface="+mj-ea"/>
              <a:ea typeface="+mj-ea"/>
            </a:endParaRPr>
          </a:p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itchFamily="2" charset="2"/>
              <a:buChar char="q"/>
            </a:pPr>
            <a:r>
              <a:rPr lang="zh-CN" altLang="en-US" sz="2400" b="1" dirty="0">
                <a:latin typeface="+mj-ea"/>
                <a:ea typeface="+mj-ea"/>
              </a:rPr>
              <a:t>函数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S=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dsolve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([eq1,eq2],cond)</a:t>
            </a:r>
            <a:r>
              <a:rPr lang="zh-CN" altLang="en-US" sz="2400" b="1" dirty="0">
                <a:latin typeface="+mj-ea"/>
                <a:ea typeface="+mj-ea"/>
              </a:rPr>
              <a:t>含义为求解常微分方程组，两个微分方程分别由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eq1,eq2</a:t>
            </a:r>
            <a:r>
              <a:rPr lang="zh-CN" altLang="en-US" sz="2400" b="1" dirty="0">
                <a:latin typeface="+mj-ea"/>
                <a:ea typeface="+mj-ea"/>
              </a:rPr>
              <a:t>表示，中括号也可省略</a:t>
            </a:r>
            <a:endParaRPr lang="en-US" altLang="zh-CN" sz="2400" b="1" dirty="0">
              <a:latin typeface="+mj-ea"/>
              <a:ea typeface="+mj-ea"/>
            </a:endParaRPr>
          </a:p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itchFamily="2" charset="2"/>
              <a:buChar char="q"/>
            </a:pPr>
            <a:endParaRPr lang="en-US" altLang="zh-CN" sz="2400" b="1" dirty="0">
              <a:latin typeface="+mj-ea"/>
              <a:ea typeface="+mj-ea"/>
            </a:endParaRPr>
          </a:p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itchFamily="2" charset="2"/>
              <a:buChar char="q"/>
            </a:pPr>
            <a:r>
              <a:rPr lang="zh-CN" altLang="en-US" sz="2400" b="1" dirty="0">
                <a:latin typeface="+mj-ea"/>
                <a:ea typeface="+mj-ea"/>
              </a:rPr>
              <a:t>当初值或边界条件少于微分方程个数时，所得的解一般为方程带有常数</a:t>
            </a:r>
            <a:r>
              <a:rPr lang="en-US" altLang="zh-CN" sz="2400" b="1" dirty="0">
                <a:latin typeface="+mj-ea"/>
                <a:ea typeface="+mj-ea"/>
              </a:rPr>
              <a:t>C1</a:t>
            </a:r>
            <a:r>
              <a:rPr lang="zh-CN" altLang="en-US" sz="2400" b="1" dirty="0">
                <a:latin typeface="+mj-ea"/>
                <a:ea typeface="+mj-ea"/>
              </a:rPr>
              <a:t>，</a:t>
            </a:r>
            <a:r>
              <a:rPr lang="en-US" altLang="zh-CN" sz="2400" b="1" dirty="0">
                <a:latin typeface="+mj-ea"/>
                <a:ea typeface="+mj-ea"/>
              </a:rPr>
              <a:t>C2</a:t>
            </a:r>
            <a:r>
              <a:rPr lang="zh-CN" altLang="en-US" sz="2400" b="1" dirty="0">
                <a:latin typeface="+mj-ea"/>
                <a:ea typeface="+mj-ea"/>
              </a:rPr>
              <a:t>，</a:t>
            </a:r>
            <a:r>
              <a:rPr lang="en-US" altLang="zh-CN" sz="2400" b="1" dirty="0">
                <a:latin typeface="+mj-ea"/>
                <a:ea typeface="+mj-ea"/>
              </a:rPr>
              <a:t>…</a:t>
            </a:r>
            <a:r>
              <a:rPr lang="zh-CN" altLang="en-US" sz="2400" b="1" dirty="0">
                <a:latin typeface="+mj-ea"/>
                <a:ea typeface="+mj-ea"/>
              </a:rPr>
              <a:t>的通解。函数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dsolve</a:t>
            </a:r>
            <a:r>
              <a:rPr lang="zh-CN" altLang="en-US" sz="2400" b="1" dirty="0">
                <a:latin typeface="+mj-ea"/>
                <a:ea typeface="+mj-ea"/>
              </a:rPr>
              <a:t>亦可以用多个返回值来存储多种解，但容易出错，不推荐。</a:t>
            </a:r>
            <a:endParaRPr lang="en-US" altLang="zh-CN" sz="2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46652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202993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微分方程的符号解法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DE2BD81-FAB6-4674-BF3A-B2C448218662}"/>
              </a:ext>
            </a:extLst>
          </p:cNvPr>
          <p:cNvSpPr/>
          <p:nvPr/>
        </p:nvSpPr>
        <p:spPr>
          <a:xfrm>
            <a:off x="395536" y="1700808"/>
            <a:ext cx="7920880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clear all					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% 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S=</a:t>
            </a:r>
            <a:r>
              <a:rPr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dsolve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('Dx=</a:t>
            </a:r>
            <a:r>
              <a:rPr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y,Dy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=-x')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求解微分方程组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方程分为两个表达式代码为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syms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x(t) y(t) t</a:t>
            </a: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dsolve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(diff(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x,t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)==y, diff(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y,t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)==-x) 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来表示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 = </a:t>
            </a:r>
            <a:endParaRPr lang="zh-CN" altLang="zh-CN" sz="2000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x: [1x1 </a:t>
            </a:r>
            <a:r>
              <a:rPr lang="en-US" altLang="zh-CN" sz="2000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</a:t>
            </a: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]</a:t>
            </a:r>
            <a:endParaRPr lang="zh-CN" altLang="zh-CN" sz="2000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y: [1x1 </a:t>
            </a:r>
            <a:r>
              <a:rPr lang="en-US" altLang="zh-CN" sz="2000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</a:t>
            </a: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]</a:t>
            </a:r>
            <a:endParaRPr lang="zh-CN" altLang="zh-CN" sz="2000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endParaRPr lang="en-US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disp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('  ') 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换行</a:t>
            </a:r>
            <a:endParaRPr lang="zh-CN" altLang="zh-CN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disp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(['</a:t>
            </a:r>
            <a:r>
              <a:rPr lang="zh-CN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微分方程的解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',blanks(2),'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x',blanks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(22),'y'])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disp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([char(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S.x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),char(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S.y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)])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</a:p>
          <a:p>
            <a:pPr algn="just" hangingPunct="0">
              <a:tabLst>
                <a:tab pos="269875" algn="l"/>
              </a:tabLst>
            </a:pP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用</a:t>
            </a:r>
            <a:r>
              <a:rPr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S.x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与</a:t>
            </a:r>
            <a:r>
              <a:rPr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S.y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可以得到最终解的表达式</a:t>
            </a:r>
            <a:endParaRPr lang="zh-CN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zh-CN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微分方程的解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x                      y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[ C4*cos(t) + C3*sin(t), C3*cos(t) – C4*sin(t)] 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0C2923D2-3AD4-4EB4-A02F-12F2820F6514}"/>
                  </a:ext>
                </a:extLst>
              </p:cNvPr>
              <p:cNvSpPr/>
              <p:nvPr/>
            </p:nvSpPr>
            <p:spPr>
              <a:xfrm>
                <a:off x="369218" y="1062816"/>
                <a:ext cx="8386663" cy="498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zh-CN" altLang="zh-CN" dirty="0">
                    <a:latin typeface="Times New Roman" panose="02020603050405020304" pitchFamily="18" charset="0"/>
                  </a:rPr>
                  <a:t>【例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2.9-1</a:t>
                </a:r>
                <a:r>
                  <a:rPr lang="zh-CN" altLang="zh-CN" dirty="0">
                    <a:latin typeface="Times New Roman" panose="02020603050405020304" pitchFamily="18" charset="0"/>
                  </a:rPr>
                  <a:t>】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求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i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i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</a:rPr>
                  <a:t>的解。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(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精简版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)</a:t>
                </a:r>
                <a:endParaRPr lang="zh-CN" altLang="zh-CN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0C2923D2-3AD4-4EB4-A02F-12F2820F65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218" y="1062816"/>
                <a:ext cx="8386663" cy="498663"/>
              </a:xfrm>
              <a:prstGeom prst="rect">
                <a:avLst/>
              </a:prstGeom>
              <a:blipFill>
                <a:blip r:embed="rId2"/>
                <a:stretch>
                  <a:fillRect l="-655" b="-60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8959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202993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微分方程的符号解法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ADD9EA-5D79-4B04-8510-7C0CD1527B90}"/>
              </a:ext>
            </a:extLst>
          </p:cNvPr>
          <p:cNvSpPr/>
          <p:nvPr/>
        </p:nvSpPr>
        <p:spPr>
          <a:xfrm>
            <a:off x="362950" y="1340768"/>
            <a:ext cx="852953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clear all				</a:t>
            </a: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dsolve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('(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Dy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)^2-x*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Dy+y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=0','x')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移项到了等号左侧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 =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x^2/4 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此微分方程有奇解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marL="285750" indent="-285750" algn="just" hangingPunct="0">
              <a:spcAft>
                <a:spcPts val="0"/>
              </a:spcAft>
              <a:buFontTx/>
              <a:buChar char="-"/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C4^2 + x*C4 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通解，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C5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（或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C4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）代表“任意常数”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如果出现上下颠倒，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y(1) y(2)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要互换位置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clf,hold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on							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hy1=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ezplot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(y(2),[-6,6,-4,8],1);%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横坐标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-6~6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，纵坐标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-4~8,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绘入图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1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set(hy1,'Color','r','LineWidth',5)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改为红色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5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磅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Sv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symvar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(y(1));			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提取通解的变量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C5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x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for k=-2:0.5:2					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y2=subs(y(1),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Sv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(1),k);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令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C5=-2,-1.5,…,1.5,2,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分别绘图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ezplot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(y2,[-6,6,-4,8],1)	%</a:t>
            </a:r>
            <a:r>
              <a:rPr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ezplot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是旧的符号函数绘图命令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end								</a:t>
            </a: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hold off							%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box on	 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绘图区域黑色边框（上侧和右侧）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			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legend('</a:t>
            </a:r>
            <a:r>
              <a:rPr lang="zh-CN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奇解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','</a:t>
            </a:r>
            <a:r>
              <a:rPr lang="zh-CN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通解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','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Location','Best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')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ylabel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('y')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title(['\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fontsize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{14}</a:t>
            </a:r>
            <a:r>
              <a:rPr lang="zh-CN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微分方程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',' (y '')^2 – 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xy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'' + y = 0 ', '</a:t>
            </a:r>
            <a:r>
              <a:rPr lang="zh-CN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的解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'])%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绘图的标题</a:t>
            </a:r>
            <a:endParaRPr lang="zh-CN" altLang="zh-CN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8D03ADB-C3DE-49EA-862D-D951DAC2E44F}"/>
                  </a:ext>
                </a:extLst>
              </p:cNvPr>
              <p:cNvSpPr/>
              <p:nvPr/>
            </p:nvSpPr>
            <p:spPr>
              <a:xfrm>
                <a:off x="362950" y="940007"/>
                <a:ext cx="838666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zh-CN" altLang="zh-CN" sz="2000" dirty="0">
                    <a:latin typeface="Times New Roman" panose="02020603050405020304" pitchFamily="18" charset="0"/>
                  </a:rPr>
                  <a:t>【例】</a:t>
                </a:r>
                <a:r>
                  <a:rPr lang="zh-CN" altLang="en-US" sz="2000" dirty="0">
                    <a:latin typeface="Times New Roman" panose="02020603050405020304" pitchFamily="18" charset="0"/>
                  </a:rPr>
                  <a:t>图示微分方程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CN" altLang="zh-CN" sz="200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8D03ADB-C3DE-49EA-862D-D951DAC2E4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950" y="940007"/>
                <a:ext cx="8386663" cy="400110"/>
              </a:xfrm>
              <a:prstGeom prst="rect">
                <a:avLst/>
              </a:prstGeom>
              <a:blipFill>
                <a:blip r:embed="rId2"/>
                <a:stretch>
                  <a:fillRect l="-800" t="-10606" b="-2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505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202993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  <a:hlinkClick r:id="rId2" action="ppaction://hlinkfile"/>
              </a:rPr>
              <a:t>微分方程的符号解法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F1F2A89-62F4-4B9B-BBC2-68B75CD0E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620" y="1412776"/>
            <a:ext cx="6840760" cy="53241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735E89D-C294-46AD-874A-5CCE57A1F008}"/>
                  </a:ext>
                </a:extLst>
              </p:cNvPr>
              <p:cNvSpPr/>
              <p:nvPr/>
            </p:nvSpPr>
            <p:spPr>
              <a:xfrm>
                <a:off x="362950" y="940007"/>
                <a:ext cx="838666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zh-CN" altLang="zh-CN" sz="2000" dirty="0">
                    <a:latin typeface="Times New Roman" panose="02020603050405020304" pitchFamily="18" charset="0"/>
                  </a:rPr>
                  <a:t>【例】</a:t>
                </a:r>
                <a:r>
                  <a:rPr lang="zh-CN" altLang="en-US" sz="2000" dirty="0">
                    <a:latin typeface="Times New Roman" panose="02020603050405020304" pitchFamily="18" charset="0"/>
                  </a:rPr>
                  <a:t>图示微分方程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CN" altLang="zh-CN" sz="200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735E89D-C294-46AD-874A-5CCE57A1F0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950" y="940007"/>
                <a:ext cx="8386663" cy="400110"/>
              </a:xfrm>
              <a:prstGeom prst="rect">
                <a:avLst/>
              </a:prstGeom>
              <a:blipFill>
                <a:blip r:embed="rId4"/>
                <a:stretch>
                  <a:fillRect l="-800" t="-10606" b="-2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89111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334293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微分方程的符号解法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120CC45C-60EA-4E9F-AF5F-6569E8A6EFD3}"/>
                  </a:ext>
                </a:extLst>
              </p:cNvPr>
              <p:cNvSpPr/>
              <p:nvPr/>
            </p:nvSpPr>
            <p:spPr>
              <a:xfrm>
                <a:off x="362950" y="940007"/>
                <a:ext cx="838666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zh-CN" altLang="zh-CN" dirty="0">
                    <a:latin typeface="Times New Roman" panose="02020603050405020304" pitchFamily="18" charset="0"/>
                  </a:rPr>
                  <a:t>【例】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求解微分方程初值问题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</a:rPr>
                  <a:t>，并绘制皮卡逼近</a:t>
                </a:r>
                <a:endParaRPr lang="zh-CN" altLang="zh-CN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120CC45C-60EA-4E9F-AF5F-6569E8A6EF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950" y="940007"/>
                <a:ext cx="8386663" cy="369332"/>
              </a:xfrm>
              <a:prstGeom prst="rect">
                <a:avLst/>
              </a:prstGeom>
              <a:blipFill>
                <a:blip r:embed="rId2"/>
                <a:stretch>
                  <a:fillRect l="-655" t="-11475" b="-213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6336C7A-31EF-4888-A944-649C55139FF3}"/>
                  </a:ext>
                </a:extLst>
              </p:cNvPr>
              <p:cNvSpPr/>
              <p:nvPr/>
            </p:nvSpPr>
            <p:spPr>
              <a:xfrm>
                <a:off x="362950" y="1340768"/>
                <a:ext cx="8529530" cy="51534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clear all, close all, 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syms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x y(x) t</a:t>
                </a: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endParaRPr lang="en-US" altLang="zh-CN" b="1" dirty="0">
                  <a:solidFill>
                    <a:srgbClr val="008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y(x) = 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dsolve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(diff(y(x),x)==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x+y,y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(0)==1)  %</a:t>
                </a:r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求解方程组初值问题</a:t>
                </a:r>
                <a:endParaRPr lang="en-US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s-ES" altLang="zh-CN" dirty="0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y(x) = 2*exp(x) - x – 1</a:t>
                </a: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endParaRPr lang="en-US" altLang="zh-CN" b="1" dirty="0">
                  <a:solidFill>
                    <a:srgbClr val="008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fplot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(y(x),[0,3],'LineWidth',2)		  %</a:t>
                </a:r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绘制解函数图</a:t>
                </a:r>
                <a:endParaRPr lang="en-US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hold on, axis([0,3,0,20])		  %</a:t>
                </a:r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保留曲线，并设定坐标轴范围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		</a:t>
                </a: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y0(x) = 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sym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(y(0))				  %</a:t>
                </a:r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初始皮卡序列</a:t>
                </a:r>
                <a:r>
                  <a:rPr lang="en-US" altLang="zh-CN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y0(x)</a:t>
                </a: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dirty="0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y0(x) = 1</a:t>
                </a: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fplot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(y0(x),[0,3],'LineWidth',2)</a:t>
                </a: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endParaRPr lang="en-US" altLang="zh-CN" b="1" dirty="0">
                  <a:solidFill>
                    <a:srgbClr val="008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y1(x) = y0(x) + int(t+y0(t),t,[0,x])</a:t>
                </a: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%</a:t>
                </a:r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按公式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nary>
                      <m:naryPr>
                        <m:ctrlP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sup>
                      <m:e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𝒇</m:t>
                        </m:r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𝒕</m:t>
                        </m:r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𝒕</m:t>
                            </m:r>
                          </m:e>
                        </m:d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nary>
                    <m:r>
                      <a:rPr lang="en-US" altLang="zh-CN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𝐝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𝒕</m:t>
                    </m:r>
                  </m:oMath>
                </a14:m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迭代</a:t>
                </a:r>
                <a:endParaRPr lang="en-US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tabLst>
                    <a:tab pos="269875" algn="l"/>
                  </a:tabLst>
                </a:pPr>
                <a:r>
                  <a:rPr lang="es-ES" altLang="zh-CN" dirty="0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y1(x) = (x*(x + 2))/2 + 1</a:t>
                </a:r>
              </a:p>
              <a:p>
                <a:pPr algn="just" hangingPunct="0">
                  <a:tabLst>
                    <a:tab pos="269875" algn="l"/>
                  </a:tabLst>
                </a:pPr>
                <a:endParaRPr lang="en-US" altLang="zh-CN" dirty="0">
                  <a:solidFill>
                    <a:srgbClr val="0000FF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y1(x) = expand(y1(x))			  %</a:t>
                </a:r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展开并降幂排列</a:t>
                </a:r>
                <a:endParaRPr lang="en-US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s-ES" altLang="zh-CN" dirty="0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y1(x) = x^2/2 + x + 1</a:t>
                </a:r>
                <a:endParaRPr lang="en-US" altLang="zh-CN" dirty="0">
                  <a:solidFill>
                    <a:srgbClr val="0000FF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6336C7A-31EF-4888-A944-649C55139F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950" y="1340768"/>
                <a:ext cx="8529530" cy="5153462"/>
              </a:xfrm>
              <a:prstGeom prst="rect">
                <a:avLst/>
              </a:prstGeom>
              <a:blipFill>
                <a:blip r:embed="rId3"/>
                <a:stretch>
                  <a:fillRect l="-643" t="-710" b="-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88165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334293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微分方程的符号解法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120CC45C-60EA-4E9F-AF5F-6569E8A6EFD3}"/>
                  </a:ext>
                </a:extLst>
              </p:cNvPr>
              <p:cNvSpPr/>
              <p:nvPr/>
            </p:nvSpPr>
            <p:spPr>
              <a:xfrm>
                <a:off x="362950" y="940007"/>
                <a:ext cx="838666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zh-CN" altLang="zh-CN" dirty="0">
                    <a:latin typeface="Times New Roman" panose="02020603050405020304" pitchFamily="18" charset="0"/>
                  </a:rPr>
                  <a:t>【例】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求解微分方程初值问题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</a:rPr>
                  <a:t>，并绘制皮卡逼近</a:t>
                </a:r>
                <a:endParaRPr lang="zh-CN" altLang="zh-CN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120CC45C-60EA-4E9F-AF5F-6569E8A6EF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950" y="940007"/>
                <a:ext cx="8386663" cy="369332"/>
              </a:xfrm>
              <a:prstGeom prst="rect">
                <a:avLst/>
              </a:prstGeom>
              <a:blipFill>
                <a:blip r:embed="rId2"/>
                <a:stretch>
                  <a:fillRect l="-655" t="-11475" b="-213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D6336C7A-31EF-4888-A944-649C55139FF3}"/>
              </a:ext>
            </a:extLst>
          </p:cNvPr>
          <p:cNvSpPr/>
          <p:nvPr/>
        </p:nvSpPr>
        <p:spPr>
          <a:xfrm>
            <a:off x="362950" y="1556792"/>
            <a:ext cx="852953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y2(x) = y0(x) + int(t+y1(t),t,[0,x]);	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继续迭代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y2(x) = expand(y2(x));</a:t>
            </a: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s-E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y2(x) = x^3/6 + x^2 + x + 1</a:t>
            </a: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fplot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(y2(x),[0,3],'LineWidth',2)</a:t>
            </a: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y3(x) = y0(x) + int(t+y2(t),t,[0,x]);</a:t>
            </a: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y3(x) = expand(y3(x))</a:t>
            </a: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s-E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y3(x) = x^4/24 + x^3/3 + x^2 + x + 1</a:t>
            </a:r>
            <a:endParaRPr lang="en-US" altLang="zh-CN" dirty="0">
              <a:solidFill>
                <a:srgbClr val="0000FF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fplot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(y3(x),[0,3],'LineWidth',2)</a:t>
            </a: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hold off</a:t>
            </a: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legend('</a:t>
            </a:r>
            <a:r>
              <a:rPr lang="zh-CN" altLang="en-US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方程解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y(x)'...</a:t>
            </a: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,'y0','y1(x)','y2(x)','y3(x)','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location','best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');</a:t>
            </a: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绘制图例，由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MATLAB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自动选择最佳图例位置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title('Dy=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x+y,y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(0)=1</a:t>
            </a:r>
            <a:r>
              <a:rPr lang="zh-CN" altLang="en-US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的解与皮卡逼近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');	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绘制标题</a:t>
            </a:r>
            <a:endParaRPr lang="zh-CN" altLang="zh-CN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1958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334293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微分方程的符号解法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120CC45C-60EA-4E9F-AF5F-6569E8A6EFD3}"/>
                  </a:ext>
                </a:extLst>
              </p:cNvPr>
              <p:cNvSpPr/>
              <p:nvPr/>
            </p:nvSpPr>
            <p:spPr>
              <a:xfrm>
                <a:off x="362950" y="940007"/>
                <a:ext cx="838666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zh-CN" altLang="zh-CN" dirty="0">
                    <a:latin typeface="Times New Roman" panose="02020603050405020304" pitchFamily="18" charset="0"/>
                  </a:rPr>
                  <a:t>【例】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求解微分方程初值问题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</a:rPr>
                  <a:t>，并绘制皮卡逼近</a:t>
                </a:r>
                <a:endParaRPr lang="zh-CN" altLang="zh-CN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120CC45C-60EA-4E9F-AF5F-6569E8A6EF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950" y="940007"/>
                <a:ext cx="8386663" cy="369332"/>
              </a:xfrm>
              <a:prstGeom prst="rect">
                <a:avLst/>
              </a:prstGeom>
              <a:blipFill>
                <a:blip r:embed="rId2"/>
                <a:stretch>
                  <a:fillRect l="-655" t="-11475" b="-213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ED6F336E-1942-4706-9ACA-0880F22B3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631" y="1296192"/>
            <a:ext cx="7530737" cy="5648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8106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355931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傅里叶变换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(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更多定义见表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2.8-1)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082CC92-7244-448D-91F8-3AFF19D4BF00}"/>
              </a:ext>
            </a:extLst>
          </p:cNvPr>
          <p:cNvSpPr/>
          <p:nvPr/>
        </p:nvSpPr>
        <p:spPr>
          <a:xfrm>
            <a:off x="311802" y="831020"/>
            <a:ext cx="87129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itchFamily="2" charset="2"/>
              <a:buChar char="q"/>
            </a:pP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傅里叶变换是傅里叶级数的推广，可以从某种角度上理解成傅里叶级数的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“周期”趋于无穷大</a:t>
            </a: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的极限形式</a:t>
            </a:r>
            <a:endParaRPr lang="en-US" altLang="zh-CN" sz="2400" b="1" dirty="0">
              <a:latin typeface="+mj-ea"/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B27DB73-F9D3-4B4F-88EE-807F6E5EA5BF}"/>
                  </a:ext>
                </a:extLst>
              </p:cNvPr>
              <p:cNvSpPr/>
              <p:nvPr/>
            </p:nvSpPr>
            <p:spPr>
              <a:xfrm>
                <a:off x="311802" y="1733369"/>
                <a:ext cx="8712968" cy="10261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itchFamily="2" charset="2"/>
                  <a:buChar char="q"/>
                </a:pPr>
                <a:r>
                  <a:rPr lang="zh-CN" altLang="en-US" sz="2400" b="1" dirty="0">
                    <a:solidFill>
                      <a:prstClr val="black"/>
                    </a:solidFill>
                    <a:latin typeface="+mj-ea"/>
                    <a:ea typeface="+mj-ea"/>
                  </a:rPr>
                  <a:t>傅里叶变换定义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j-ea"/>
                      </a:rPr>
                      <m:t>𝑭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𝝎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j-ea"/>
                      </a:rPr>
                      <m:t>=</m:t>
                    </m:r>
                    <m:nary>
                      <m:naryPr>
                        <m:ctrlP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naryPr>
                      <m:sub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−∞</m:t>
                        </m:r>
                      </m:sub>
                      <m:sup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+∞</m:t>
                        </m:r>
                      </m:sup>
                      <m:e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dPr>
                          <m:e>
                            <m:r>
                              <a:rPr lang="en-US" altLang="zh-C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𝒕</m:t>
                            </m:r>
                          </m:e>
                        </m:d>
                        <m:sSup>
                          <m:sSupPr>
                            <m:ctrlPr>
                              <a:rPr lang="en-US" altLang="zh-C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sSupPr>
                          <m:e>
                            <m:r>
                              <a:rPr lang="en-US" altLang="zh-CN" sz="24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𝐞</m:t>
                            </m:r>
                          </m:e>
                          <m:sup>
                            <m:r>
                              <a:rPr lang="en-US" altLang="zh-C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−</m:t>
                            </m:r>
                            <m:r>
                              <a:rPr lang="en-US" altLang="zh-C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𝒋</m:t>
                            </m:r>
                            <m:r>
                              <a:rPr lang="en-US" altLang="zh-C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𝝎</m:t>
                            </m:r>
                            <m:r>
                              <a:rPr lang="en-US" altLang="zh-C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𝒕</m:t>
                            </m:r>
                          </m:sup>
                        </m:sSup>
                        <m:r>
                          <a:rPr lang="en-US" altLang="zh-CN" sz="24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𝐝</m:t>
                        </m:r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𝒕</m:t>
                        </m:r>
                      </m:e>
                    </m:nary>
                  </m:oMath>
                </a14:m>
                <a:r>
                  <a:rPr lang="en-US" altLang="zh-CN" sz="2400" b="1" dirty="0">
                    <a:latin typeface="+mj-ea"/>
                    <a:ea typeface="+mj-ea"/>
                  </a:rPr>
                  <a:t>,j</a:t>
                </a:r>
                <a:r>
                  <a:rPr lang="zh-CN" altLang="en-US" sz="2400" b="1" dirty="0">
                    <a:latin typeface="+mj-ea"/>
                    <a:ea typeface="+mj-ea"/>
                  </a:rPr>
                  <a:t>为虚数单位</a:t>
                </a:r>
                <a:endParaRPr lang="en-US" altLang="zh-CN" sz="2400" b="1" dirty="0">
                  <a:latin typeface="+mj-ea"/>
                  <a:ea typeface="+mj-ea"/>
                </a:endParaRPr>
              </a:p>
              <a:p>
                <a:pPr>
                  <a:spcBef>
                    <a:spcPts val="580"/>
                  </a:spcBef>
                  <a:buClr>
                    <a:srgbClr val="00B050"/>
                  </a:buClr>
                  <a:buSzPct val="85000"/>
                </a:pPr>
                <a:r>
                  <a:rPr lang="zh-CN" altLang="en-US" sz="2400" b="1" dirty="0">
                    <a:latin typeface="+mj-ea"/>
                    <a:ea typeface="+mj-ea"/>
                  </a:rPr>
                  <a:t>注意到，</a:t>
                </a:r>
                <a:r>
                  <a:rPr lang="en-US" altLang="zh-CN" sz="2400" b="1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𝐞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en-US" altLang="zh-CN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𝝎</m:t>
                        </m:r>
                        <m:r>
                          <a:rPr lang="en-US" altLang="zh-CN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p>
                    </m:sSup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𝝎</m:t>
                        </m:r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func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𝝎</m:t>
                        </m:r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func>
                  </m:oMath>
                </a14:m>
                <a:endParaRPr lang="en-US" altLang="zh-CN" sz="2400" b="1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B27DB73-F9D3-4B4F-88EE-807F6E5EA5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802" y="1733369"/>
                <a:ext cx="8712968" cy="1026178"/>
              </a:xfrm>
              <a:prstGeom prst="rect">
                <a:avLst/>
              </a:prstGeom>
              <a:blipFill>
                <a:blip r:embed="rId2"/>
                <a:stretch>
                  <a:fillRect l="-1050" t="-592" b="-88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510F3CB-2215-4CAA-928E-6C9A9C97362C}"/>
                  </a:ext>
                </a:extLst>
              </p:cNvPr>
              <p:cNvSpPr/>
              <p:nvPr/>
            </p:nvSpPr>
            <p:spPr>
              <a:xfrm>
                <a:off x="311802" y="2759547"/>
                <a:ext cx="8712968" cy="6258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itchFamily="2" charset="2"/>
                  <a:buChar char="q"/>
                </a:pPr>
                <a:r>
                  <a:rPr lang="zh-CN" altLang="en-US" sz="2400" b="1" dirty="0">
                    <a:solidFill>
                      <a:prstClr val="black"/>
                    </a:solidFill>
                    <a:latin typeface="+mj-ea"/>
                    <a:ea typeface="+mj-ea"/>
                  </a:rPr>
                  <a:t>傅里叶逆变换定义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j-ea"/>
                      </a:rPr>
                      <m:t>𝐟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j-ea"/>
                      </a:rPr>
                      <m:t>(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j-ea"/>
                      </a:rPr>
                      <m:t>𝐭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j-ea"/>
                      </a:rPr>
                      <m:t>)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j-ea"/>
                      </a:rPr>
                      <m:t> =</m:t>
                    </m:r>
                    <m:f>
                      <m:fPr>
                        <m:ctrlP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fPr>
                      <m:num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𝟐</m:t>
                        </m:r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𝝅</m:t>
                        </m:r>
                      </m:den>
                    </m:f>
                    <m:nary>
                      <m:naryPr>
                        <m:ctrlP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naryPr>
                      <m:sub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−∞</m:t>
                        </m:r>
                      </m:sub>
                      <m:sup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+∞</m:t>
                        </m:r>
                      </m:sup>
                      <m:e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𝑭</m:t>
                        </m:r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(</m:t>
                        </m:r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𝝎</m:t>
                        </m:r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)</m:t>
                        </m:r>
                        <m:sSup>
                          <m:sSupPr>
                            <m:ctrlPr>
                              <a:rPr lang="en-US" altLang="zh-C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sSupPr>
                          <m:e>
                            <m:r>
                              <a:rPr lang="en-US" altLang="zh-CN" sz="24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𝐞</m:t>
                            </m:r>
                          </m:e>
                          <m:sup>
                            <m:r>
                              <a:rPr lang="en-US" altLang="zh-C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𝒋</m:t>
                            </m:r>
                            <m:r>
                              <a:rPr lang="en-US" altLang="zh-C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𝝎</m:t>
                            </m:r>
                            <m:r>
                              <a:rPr lang="en-US" altLang="zh-C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𝒕</m:t>
                            </m:r>
                          </m:sup>
                        </m:sSup>
                        <m:r>
                          <a:rPr lang="en-US" altLang="zh-CN" sz="24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𝐝</m:t>
                        </m:r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𝝎</m:t>
                        </m:r>
                      </m:e>
                    </m:nary>
                  </m:oMath>
                </a14:m>
                <a:endParaRPr lang="en-US" altLang="zh-CN" sz="2400" b="1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510F3CB-2215-4CAA-928E-6C9A9C9736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802" y="2759547"/>
                <a:ext cx="8712968" cy="625877"/>
              </a:xfrm>
              <a:prstGeom prst="rect">
                <a:avLst/>
              </a:prstGeom>
              <a:blipFill>
                <a:blip r:embed="rId3"/>
                <a:stretch>
                  <a:fillRect l="-630" b="-49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8E348D79-DC47-4164-A3E5-015C21219BE1}"/>
                  </a:ext>
                </a:extLst>
              </p:cNvPr>
              <p:cNvSpPr/>
              <p:nvPr/>
            </p:nvSpPr>
            <p:spPr>
              <a:xfrm>
                <a:off x="311802" y="4110755"/>
                <a:ext cx="8712968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itchFamily="2" charset="2"/>
                  <a:buChar char="q"/>
                </a:pPr>
                <a:r>
                  <a:rPr lang="zh-CN" altLang="en-US" sz="2400" b="1" dirty="0">
                    <a:latin typeface="+mj-ea"/>
                    <a:ea typeface="+mj-ea"/>
                  </a:rPr>
                  <a:t>与傅里叶级数类似。傅里叶变换的意义是进行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+mj-ea"/>
                    <a:ea typeface="+mj-ea"/>
                  </a:rPr>
                  <a:t>时频分析</a:t>
                </a:r>
                <a:r>
                  <a:rPr lang="zh-CN" altLang="en-US" sz="2400" b="1" dirty="0">
                    <a:latin typeface="+mj-ea"/>
                    <a:ea typeface="+mj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+mj-ea"/>
                      </a:rPr>
                      <m:t>𝒕</m:t>
                    </m:r>
                  </m:oMath>
                </a14:m>
                <a:r>
                  <a:rPr lang="zh-CN" altLang="en-US" sz="2400" b="1" dirty="0">
                    <a:latin typeface="+mj-ea"/>
                    <a:ea typeface="+mj-ea"/>
                  </a:rPr>
                  <a:t>为时间，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+mj-ea"/>
                      </a:rPr>
                      <m:t>𝝎</m:t>
                    </m:r>
                  </m:oMath>
                </a14:m>
                <a:r>
                  <a:rPr lang="zh-CN" altLang="en-US" sz="2400" b="1" dirty="0">
                    <a:latin typeface="+mj-ea"/>
                    <a:ea typeface="+mj-ea"/>
                  </a:rPr>
                  <a:t>为频率，傅里叶变换的取值往往决定了信号在什么频率上更强。（后面的课程讲信号处理或声音处理会用到）</a:t>
                </a:r>
                <a:endParaRPr lang="en-US" altLang="zh-CN" sz="2400" b="1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8E348D79-DC47-4164-A3E5-015C21219B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802" y="4110755"/>
                <a:ext cx="8712968" cy="1200329"/>
              </a:xfrm>
              <a:prstGeom prst="rect">
                <a:avLst/>
              </a:prstGeom>
              <a:blipFill>
                <a:blip r:embed="rId4"/>
                <a:stretch>
                  <a:fillRect l="-630" t="-5584" r="-630" b="-10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149671E-0903-4254-AF54-572AA41013EB}"/>
                  </a:ext>
                </a:extLst>
              </p:cNvPr>
              <p:cNvSpPr/>
              <p:nvPr/>
            </p:nvSpPr>
            <p:spPr>
              <a:xfrm>
                <a:off x="311802" y="3435151"/>
                <a:ext cx="8712968" cy="6258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itchFamily="2" charset="2"/>
                  <a:buChar char="q"/>
                </a:pPr>
                <a:r>
                  <a:rPr lang="zh-CN" altLang="en-US" sz="2400" b="1" dirty="0">
                    <a:solidFill>
                      <a:prstClr val="black"/>
                    </a:solidFill>
                    <a:latin typeface="+mj-ea"/>
                    <a:ea typeface="+mj-ea"/>
                  </a:rPr>
                  <a:t>帕萨瓦尔等式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sSup>
                          <m:sSupPr>
                            <m:ctrlPr>
                              <a:rPr lang="en-US" altLang="zh-C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d>
                                  <m:dPr>
                                    <m:ctrlPr>
                                      <a:rPr lang="en-US" altLang="zh-CN" sz="24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CN" sz="24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𝐝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nary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den>
                    </m:f>
                    <m:nary>
                      <m:nary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sSup>
                          <m:sSupPr>
                            <m:ctrlP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4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𝐝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</m:nary>
                  </m:oMath>
                </a14:m>
                <a:endParaRPr lang="en-US" altLang="zh-CN" sz="2400" b="1" dirty="0">
                  <a:solidFill>
                    <a:prstClr val="black"/>
                  </a:solidFill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149671E-0903-4254-AF54-572AA41013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802" y="3435151"/>
                <a:ext cx="8712968" cy="625877"/>
              </a:xfrm>
              <a:prstGeom prst="rect">
                <a:avLst/>
              </a:prstGeom>
              <a:blipFill>
                <a:blip r:embed="rId5"/>
                <a:stretch>
                  <a:fillRect l="-630" b="-49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>
            <a:extLst>
              <a:ext uri="{FF2B5EF4-FFF2-40B4-BE49-F238E27FC236}">
                <a16:creationId xmlns:a16="http://schemas.microsoft.com/office/drawing/2014/main" id="{8C703FDB-CDD7-41BA-B4E8-174A1A15C6EA}"/>
              </a:ext>
            </a:extLst>
          </p:cNvPr>
          <p:cNvSpPr/>
          <p:nvPr/>
        </p:nvSpPr>
        <p:spPr>
          <a:xfrm>
            <a:off x="311802" y="5464022"/>
            <a:ext cx="8712968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itchFamily="2" charset="2"/>
              <a:buChar char="q"/>
            </a:pP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函数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fourier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ft,t,w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zh-CN" sz="2400" b="1" dirty="0">
                <a:solidFill>
                  <a:srgbClr val="0070C0"/>
                </a:solidFill>
                <a:latin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时间域变量</a:t>
            </a:r>
            <a:r>
              <a:rPr lang="en-US" altLang="zh-CN" sz="2400" b="1" dirty="0">
                <a:latin typeface="+mj-ea"/>
                <a:ea typeface="+mj-ea"/>
              </a:rPr>
              <a:t>t</a:t>
            </a:r>
            <a:r>
              <a:rPr lang="zh-CN" altLang="en-US" sz="2400" b="1" dirty="0">
                <a:latin typeface="+mj-ea"/>
                <a:ea typeface="+mj-ea"/>
              </a:rPr>
              <a:t>，频率域变量</a:t>
            </a:r>
            <a:r>
              <a:rPr lang="en-US" altLang="zh-CN" sz="2400" b="1" dirty="0">
                <a:latin typeface="+mj-ea"/>
                <a:ea typeface="+mj-ea"/>
              </a:rPr>
              <a:t>w</a:t>
            </a:r>
          </a:p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itchFamily="2" charset="2"/>
              <a:buChar char="q"/>
            </a:pP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函数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ifourier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Fw,w,t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altLang="en-US" sz="2400" b="1" dirty="0">
                <a:latin typeface="+mj-ea"/>
                <a:ea typeface="+mj-ea"/>
              </a:rPr>
              <a:t> 频率域变量</a:t>
            </a:r>
            <a:r>
              <a:rPr lang="en-US" altLang="zh-CN" sz="2400" b="1" dirty="0">
                <a:latin typeface="+mj-ea"/>
                <a:ea typeface="+mj-ea"/>
              </a:rPr>
              <a:t>w,</a:t>
            </a:r>
            <a:r>
              <a:rPr lang="zh-CN" altLang="en-US" sz="2400" b="1" dirty="0">
                <a:latin typeface="+mj-ea"/>
                <a:ea typeface="+mj-ea"/>
              </a:rPr>
              <a:t>时间域变量</a:t>
            </a:r>
            <a:r>
              <a:rPr lang="en-US" altLang="zh-CN" sz="2400" b="1" dirty="0">
                <a:latin typeface="+mj-ea"/>
              </a:rPr>
              <a:t>t</a:t>
            </a:r>
            <a:endParaRPr lang="en-US" altLang="zh-CN" sz="2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77759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315416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MATLAB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完成傅里叶变换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8FC34FB-F6E6-4CED-B489-AA07D88CBC62}"/>
              </a:ext>
            </a:extLst>
          </p:cNvPr>
          <p:cNvSpPr/>
          <p:nvPr/>
        </p:nvSpPr>
        <p:spPr>
          <a:xfrm>
            <a:off x="247892" y="1143603"/>
            <a:ext cx="8644588" cy="62170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syms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t w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ut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heaviside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(t);	%</a:t>
            </a:r>
            <a:r>
              <a:rPr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ut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即以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为自变量的</a:t>
            </a:r>
            <a:r>
              <a:rPr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heaviside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函数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UT=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fourier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ut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UT =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pi*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dirac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(w) - 1i/w</a:t>
            </a: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endParaRPr lang="en-US" altLang="zh-CN" dirty="0">
              <a:solidFill>
                <a:srgbClr val="0000FF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Ut=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ifourier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UT,w,t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傅里叶逆变换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Ut = (pi + pi*sign(t))/(2*pi)</a:t>
            </a: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Err=simplify(Ut-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ut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 	% 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Err = 0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endParaRPr lang="en-US" altLang="zh-CN" dirty="0">
              <a:solidFill>
                <a:srgbClr val="0000FF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t=-2:0.01:2;</a:t>
            </a:r>
            <a:r>
              <a:rPr lang="en-US" altLang="zh-CN" sz="2000" dirty="0">
                <a:latin typeface="Times New Roman" panose="02020603050405020304" pitchFamily="18" charset="0"/>
              </a:rPr>
              <a:t>		</a:t>
            </a: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ut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heaviside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(t);%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获得这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401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个点的函数值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kk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=find(t==0);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查找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t=0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所对应的下标值（如果有多个返回多个）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plot(t(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kk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),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ut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kk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),'.r','MarkerSize',30)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原点大红点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endParaRPr lang="zh-CN" altLang="zh-CN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hold on, 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ut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kk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NaN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;%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更改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x=0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处的函数值为</a:t>
            </a:r>
            <a:r>
              <a:rPr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NaN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（原值为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0.5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）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plot(t,ut,'-r','LineWidth',3) ;%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这样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(0,0.5)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与左右直线不会相连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plot([t(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kk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),t(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kk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)],[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ut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(kk-1),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ut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(kk+1)],'or','MarkerSize',10)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增加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(0,0)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与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(0,1)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两个点，并画上空心圆，模拟“开区间取值” 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hold 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off</a:t>
            </a:r>
            <a:r>
              <a:rPr lang="en-US" altLang="zh-CN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,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grid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on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axis([-2,2,-0.2,1.2])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xlabel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('\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fontsize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{14}t'),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ylabel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('\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fontsize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{14}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ut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')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title('\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fontsize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{14}Heaviside(t)')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4D2340D-E857-4F59-A7EF-2C3C74ABAA29}"/>
              </a:ext>
            </a:extLst>
          </p:cNvPr>
          <p:cNvSpPr/>
          <p:nvPr/>
        </p:nvSpPr>
        <p:spPr>
          <a:xfrm>
            <a:off x="149815" y="780100"/>
            <a:ext cx="83866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zh-CN" altLang="zh-CN" dirty="0">
                <a:latin typeface="Times New Roman" panose="02020603050405020304" pitchFamily="18" charset="0"/>
              </a:rPr>
              <a:t>【例】</a:t>
            </a:r>
            <a:r>
              <a:rPr lang="zh-CN" altLang="en-US" dirty="0">
                <a:latin typeface="Times New Roman" panose="02020603050405020304" pitchFamily="18" charset="0"/>
              </a:rPr>
              <a:t>求单位阶跃函数（</a:t>
            </a:r>
            <a:r>
              <a:rPr lang="en-US" altLang="zh-CN" dirty="0">
                <a:latin typeface="Times New Roman" panose="02020603050405020304" pitchFamily="18" charset="0"/>
              </a:rPr>
              <a:t>Heaviside</a:t>
            </a:r>
            <a:r>
              <a:rPr lang="zh-CN" altLang="en-US" dirty="0">
                <a:latin typeface="Times New Roman" panose="02020603050405020304" pitchFamily="18" charset="0"/>
              </a:rPr>
              <a:t>函数）的</a:t>
            </a:r>
            <a:r>
              <a:rPr lang="en-US" altLang="zh-CN" dirty="0">
                <a:latin typeface="Times New Roman" panose="02020603050405020304" pitchFamily="18" charset="0"/>
              </a:rPr>
              <a:t>Fourier</a:t>
            </a:r>
            <a:r>
              <a:rPr lang="zh-CN" altLang="en-US" dirty="0">
                <a:latin typeface="Times New Roman" panose="02020603050405020304" pitchFamily="18" charset="0"/>
              </a:rPr>
              <a:t>变换</a:t>
            </a:r>
            <a:endParaRPr lang="zh-CN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1862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202993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MATLAB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完成傅里叶变换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4EFFEAF-C29E-4FCA-A629-C006E0443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959120"/>
            <a:ext cx="7488832" cy="564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9992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243408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Dirac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“函数”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B06E0BDC-C0F8-420A-AEC0-B73117642F8B}"/>
                  </a:ext>
                </a:extLst>
              </p:cNvPr>
              <p:cNvSpPr/>
              <p:nvPr/>
            </p:nvSpPr>
            <p:spPr>
              <a:xfrm>
                <a:off x="311802" y="899592"/>
                <a:ext cx="8712968" cy="13645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itchFamily="2" charset="2"/>
                  <a:buChar char="q"/>
                </a:pPr>
                <a:r>
                  <a:rPr lang="en-US" altLang="zh-CN" sz="2400" b="1" dirty="0">
                    <a:solidFill>
                      <a:prstClr val="black"/>
                    </a:solidFill>
                    <a:latin typeface="+mj-ea"/>
                    <a:ea typeface="+mj-ea"/>
                  </a:rPr>
                  <a:t>Dirac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+mj-ea"/>
                    <a:ea typeface="+mj-ea"/>
                  </a:rPr>
                  <a:t>函数是常函数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j-ea"/>
                      </a:rPr>
                      <m:t>𝒇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𝒙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j-ea"/>
                      </a:rPr>
                      <m:t>=</m:t>
                    </m:r>
                    <m:f>
                      <m:fPr>
                        <m:ctrlP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fPr>
                      <m:num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𝟐</m:t>
                        </m:r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𝝅</m:t>
                        </m:r>
                      </m:den>
                    </m:f>
                  </m:oMath>
                </a14:m>
                <a:r>
                  <a:rPr lang="zh-CN" altLang="en-US" sz="2400" b="1" dirty="0">
                    <a:latin typeface="+mj-ea"/>
                    <a:ea typeface="+mj-ea"/>
                  </a:rPr>
                  <a:t>的傅里叶变换的结果。此函数理解为在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+mj-ea"/>
                      </a:rPr>
                      <m:t>𝝎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+mj-ea"/>
                      </a:rPr>
                      <m:t>≠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+mj-ea"/>
                      </a:rPr>
                      <m:t>𝟎</m:t>
                    </m:r>
                  </m:oMath>
                </a14:m>
                <a:r>
                  <a:rPr lang="zh-CN" altLang="en-US" sz="2400" b="1" dirty="0">
                    <a:latin typeface="+mj-ea"/>
                    <a:ea typeface="+mj-ea"/>
                  </a:rPr>
                  <a:t>处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  <a:ea typeface="+mj-ea"/>
                      </a:rPr>
                      <m:t>𝑭</m:t>
                    </m:r>
                    <m:d>
                      <m:dPr>
                        <m:ctrlPr>
                          <a:rPr lang="en-US" altLang="zh-CN" sz="2400" b="1" i="1" dirty="0" smtClean="0">
                            <a:latin typeface="Cambria Math" panose="02040503050406030204" pitchFamily="18" charset="0"/>
                            <a:ea typeface="+mj-ea"/>
                          </a:rPr>
                        </m:ctrlPr>
                      </m:dPr>
                      <m:e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  <a:ea typeface="+mj-ea"/>
                          </a:rPr>
                          <m:t>𝝎</m:t>
                        </m:r>
                      </m:e>
                    </m:d>
                    <m:r>
                      <a:rPr lang="en-US" altLang="zh-CN" sz="2400" b="1" i="1" dirty="0" smtClean="0">
                        <a:latin typeface="Cambria Math" panose="02040503050406030204" pitchFamily="18" charset="0"/>
                        <a:ea typeface="+mj-ea"/>
                      </a:rPr>
                      <m:t>≡</m:t>
                    </m:r>
                    <m:r>
                      <a:rPr lang="en-US" altLang="zh-CN" sz="2400" b="1" i="1" dirty="0" smtClean="0">
                        <a:latin typeface="Cambria Math" panose="02040503050406030204" pitchFamily="18" charset="0"/>
                        <a:ea typeface="+mj-ea"/>
                      </a:rPr>
                      <m:t>𝟎</m:t>
                    </m:r>
                  </m:oMath>
                </a14:m>
                <a:r>
                  <a:rPr lang="zh-CN" altLang="en-US" sz="2400" b="1" dirty="0">
                    <a:latin typeface="+mj-ea"/>
                    <a:ea typeface="+mj-ea"/>
                  </a:rPr>
                  <a:t>，但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+mj-ea"/>
                      </a:rPr>
                      <m:t>𝝎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+mj-ea"/>
                      </a:rPr>
                      <m:t>=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+mj-ea"/>
                      </a:rPr>
                      <m:t>𝟎</m:t>
                    </m:r>
                  </m:oMath>
                </a14:m>
                <a:r>
                  <a:rPr lang="zh-CN" altLang="en-US" sz="2400" b="1" dirty="0">
                    <a:latin typeface="+mj-ea"/>
                    <a:ea typeface="+mj-ea"/>
                  </a:rPr>
                  <a:t>处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  <a:ea typeface="+mj-ea"/>
                      </a:rPr>
                      <m:t>𝑭</m:t>
                    </m:r>
                    <m:r>
                      <a:rPr lang="en-US" altLang="zh-CN" sz="2400" b="1" i="1" dirty="0" smtClean="0">
                        <a:latin typeface="Cambria Math" panose="02040503050406030204" pitchFamily="18" charset="0"/>
                        <a:ea typeface="+mj-ea"/>
                      </a:rPr>
                      <m:t>(</m:t>
                    </m:r>
                    <m:r>
                      <a:rPr lang="en-US" altLang="zh-CN" sz="2400" b="1" i="1" dirty="0" smtClean="0">
                        <a:latin typeface="Cambria Math" panose="02040503050406030204" pitchFamily="18" charset="0"/>
                        <a:ea typeface="+mj-ea"/>
                      </a:rPr>
                      <m:t>𝝎</m:t>
                    </m:r>
                    <m:r>
                      <a:rPr lang="en-US" altLang="zh-CN" sz="2400" b="1" i="1" dirty="0" smtClean="0">
                        <a:latin typeface="Cambria Math" panose="02040503050406030204" pitchFamily="18" charset="0"/>
                        <a:ea typeface="+mj-ea"/>
                      </a:rPr>
                      <m:t>)</m:t>
                    </m:r>
                  </m:oMath>
                </a14:m>
                <a:r>
                  <a:rPr lang="zh-CN" altLang="en-US" sz="2400" b="1" dirty="0">
                    <a:latin typeface="+mj-ea"/>
                    <a:ea typeface="+mj-ea"/>
                  </a:rPr>
                  <a:t>为某种意义上的“”无穷大”</a:t>
                </a:r>
                <a:endParaRPr lang="en-US" altLang="zh-CN" sz="2400" b="1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B06E0BDC-C0F8-420A-AEC0-B73117642F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802" y="899592"/>
                <a:ext cx="8712968" cy="1364541"/>
              </a:xfrm>
              <a:prstGeom prst="rect">
                <a:avLst/>
              </a:prstGeom>
              <a:blipFill>
                <a:blip r:embed="rId2"/>
                <a:stretch>
                  <a:fillRect l="-630" r="-4619" b="-94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EB9E48A7-DEDA-4BBA-B472-9EDDE64085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2348880"/>
            <a:ext cx="5250160" cy="393762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A5E77E2-27BE-4744-8831-4C6549E873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9088" y="2205412"/>
            <a:ext cx="5598395" cy="422455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3DE1069-B97D-495A-88D9-93EE85DC2D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84" y="4293096"/>
            <a:ext cx="2409485" cy="749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843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234280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2.8-1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56821C-9DAE-4BAD-9629-F5402DFC48D2}"/>
              </a:ext>
            </a:extLst>
          </p:cNvPr>
          <p:cNvSpPr/>
          <p:nvPr/>
        </p:nvSpPr>
        <p:spPr>
          <a:xfrm>
            <a:off x="378515" y="1756714"/>
            <a:ext cx="7614592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syms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A t w 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tao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yt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=A*(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heaviside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t+tao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/2)-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heaviside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(t-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tao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/2));		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利用两个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Heaviside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函数进行线性组合即可以得到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（图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2.5-2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）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Yw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fourier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yt,t,w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					</a:t>
            </a: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Yw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=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A*((cos((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tao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*w)/2)*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+ sin((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tao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*w)/2))/w - (cos((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tao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*w)/2)*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- sin((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tao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*w)/2))/w)</a:t>
            </a: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Yws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=simplify(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Yw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					</a:t>
            </a: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Yws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(2*A*sin((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tao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*w)/2))/w 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请网上搜索</a:t>
            </a:r>
            <a:r>
              <a:rPr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sinplify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函数进行联系学习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Yt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ifourier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Yws,w,t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		</a:t>
            </a: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Yt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=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-(A*(pi*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heaviside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(t -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tao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/2) - pi*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heaviside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(t +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tao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/2)))/pi</a:t>
            </a: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Yts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=simplify(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Yt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</a:t>
            </a: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Yts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=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-A*(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heaviside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(t -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tao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/2) -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heaviside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(t +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tao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/2))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1BCDDB99-D581-47D0-9839-E3331C345C19}"/>
                  </a:ext>
                </a:extLst>
              </p:cNvPr>
              <p:cNvSpPr/>
              <p:nvPr/>
            </p:nvSpPr>
            <p:spPr>
              <a:xfrm>
                <a:off x="149815" y="780100"/>
                <a:ext cx="8386663" cy="9766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zh-CN" altLang="zh-CN" dirty="0">
                    <a:latin typeface="Times New Roman" panose="02020603050405020304" pitchFamily="18" charset="0"/>
                  </a:rPr>
                  <a:t>【例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2.8-1</a:t>
                </a:r>
                <a:r>
                  <a:rPr lang="zh-CN" altLang="zh-CN" dirty="0">
                    <a:latin typeface="Times New Roman" panose="02020603050405020304" pitchFamily="18" charset="0"/>
                  </a:rPr>
                  <a:t>】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计算矩形脉冲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f>
                              <m:f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num>
                              <m:den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f>
                              <m:f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num>
                              <m:den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eqArr>
                      </m:e>
                    </m:d>
                  </m:oMath>
                </a14:m>
                <a:r>
                  <a:rPr lang="zh-CN" altLang="en-US" dirty="0">
                    <a:latin typeface="Times New Roman" panose="02020603050405020304" pitchFamily="18" charset="0"/>
                  </a:rPr>
                  <a:t>的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Fourier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变换。（有改动）</a:t>
                </a:r>
                <a:endParaRPr lang="zh-CN" altLang="zh-CN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1BCDDB99-D581-47D0-9839-E3331C345C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15" y="780100"/>
                <a:ext cx="8386663" cy="976614"/>
              </a:xfrm>
              <a:prstGeom prst="rect">
                <a:avLst/>
              </a:prstGeom>
              <a:blipFill>
                <a:blip r:embed="rId2"/>
                <a:stretch>
                  <a:fillRect l="-6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0750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387424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2.8-1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07E56EA-84D7-47FA-9244-8D731DE3384E}"/>
                  </a:ext>
                </a:extLst>
              </p:cNvPr>
              <p:cNvSpPr/>
              <p:nvPr/>
            </p:nvSpPr>
            <p:spPr>
              <a:xfrm>
                <a:off x="356934" y="548680"/>
                <a:ext cx="8319522" cy="2308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zh-CN" altLang="en-US" b="1" dirty="0">
                    <a:solidFill>
                      <a:schemeClr val="accent2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时域曲线</a:t>
                </a:r>
                <a:r>
                  <a:rPr lang="en-US" altLang="zh-CN" b="1" dirty="0">
                    <a:solidFill>
                      <a:schemeClr val="accent2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𝑨</m:t>
                    </m:r>
                    <m:r>
                      <a:rPr lang="en-US" altLang="zh-CN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altLang="zh-CN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𝝉</m:t>
                    </m:r>
                    <m:r>
                      <a:rPr lang="en-US" altLang="zh-CN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𝟑</m:t>
                    </m:r>
                    <m:r>
                      <a:rPr lang="en-US" altLang="zh-CN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b="1" dirty="0">
                    <a:solidFill>
                      <a:schemeClr val="accent2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：</a:t>
                </a:r>
                <a:endParaRPr lang="en-US" altLang="zh-CN" b="1" dirty="0">
                  <a:solidFill>
                    <a:schemeClr val="accent2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T=3;</a:t>
                </a:r>
                <a:r>
                  <a:rPr lang="en-US" altLang="zh-CN" dirty="0">
                    <a:latin typeface="Courier New" panose="02070309020205020404" pitchFamily="49" charset="0"/>
                    <a:cs typeface="Times New Roman" panose="02020603050405020304" pitchFamily="18" charset="0"/>
                  </a:rPr>
                  <a:t>	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tn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=-3:0.1:T;		</a:t>
                </a: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ytn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=subs(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yt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,{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A,tao,t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},{1,T,tn});	%</a:t>
                </a:r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绘图方法与</a:t>
                </a:r>
                <a:r>
                  <a:rPr lang="en-US" altLang="zh-CN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2.5-1</a:t>
                </a:r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类似</a:t>
                </a:r>
                <a:endParaRPr lang="zh-CN" altLang="zh-CN" dirty="0">
                  <a:solidFill>
                    <a:srgbClr val="FF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kk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=find(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tn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==-T/2|tn==T/2);</a:t>
                </a: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plot(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tn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kk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),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ytn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kk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),'.r','MarkerSize',30)	</a:t>
                </a:r>
                <a:endParaRPr lang="zh-CN" altLang="zh-CN" dirty="0"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ytn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kk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)=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NaN;hold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on</a:t>
                </a:r>
                <a:endParaRPr lang="zh-CN" altLang="zh-CN" dirty="0"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plot(tn,ytn,'-r','LineWidth',3)</a:t>
                </a:r>
                <a:endParaRPr lang="zh-CN" altLang="zh-CN" dirty="0"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hold 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off,grid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on,axis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([-T,T,-0.5,1.5])  </a:t>
                </a:r>
                <a:endParaRPr lang="zh-CN" altLang="zh-CN" dirty="0"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07E56EA-84D7-47FA-9244-8D731DE338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934" y="548680"/>
                <a:ext cx="8319522" cy="2308324"/>
              </a:xfrm>
              <a:prstGeom prst="rect">
                <a:avLst/>
              </a:prstGeom>
              <a:blipFill>
                <a:blip r:embed="rId2"/>
                <a:stretch>
                  <a:fillRect l="-660" t="-2639" b="-31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D4122E7E-4D73-46CB-9120-9B3317CAC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482" y="2857004"/>
            <a:ext cx="4953036" cy="3733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911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387424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2.8-1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itchFamily="34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07E56EA-84D7-47FA-9244-8D731DE3384E}"/>
              </a:ext>
            </a:extLst>
          </p:cNvPr>
          <p:cNvSpPr/>
          <p:nvPr/>
        </p:nvSpPr>
        <p:spPr>
          <a:xfrm>
            <a:off x="179512" y="548680"/>
            <a:ext cx="871296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zh-CN" altLang="en-US" b="1" dirty="0">
                <a:solidFill>
                  <a:schemeClr val="accent2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频域曲线：</a:t>
            </a:r>
            <a:endParaRPr lang="en-US" altLang="zh-CN" b="1" dirty="0">
              <a:solidFill>
                <a:schemeClr val="accent2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Ywn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=subs(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Yws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,{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A,tao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},{1,T});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subplot(2,1,1),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fplot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Ywn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),grid on 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一个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Figure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行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列第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幅</a:t>
            </a:r>
            <a:endParaRPr lang="zh-CN" altLang="zh-CN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subplot(2,1,2),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fplot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(abs(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Ywn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)),grid on 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一个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Figure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行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列第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幅</a:t>
            </a:r>
            <a:endParaRPr lang="zh-CN" altLang="zh-CN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EBE6A30-C7EE-4915-BF7F-2E58A0ABB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736" y="1772816"/>
            <a:ext cx="6607100" cy="4958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571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311119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傅里叶变换的默认变量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09B45AC6-AB7C-49A3-B9EC-FE7160B50411}"/>
                  </a:ext>
                </a:extLst>
              </p:cNvPr>
              <p:cNvSpPr/>
              <p:nvPr/>
            </p:nvSpPr>
            <p:spPr>
              <a:xfrm>
                <a:off x="188640" y="1700808"/>
                <a:ext cx="8766720" cy="48320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clear all</a:t>
                </a:r>
                <a:endParaRPr lang="zh-CN" altLang="zh-CN" sz="2000" dirty="0">
                  <a:latin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syms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t x w</a:t>
                </a:r>
                <a:endParaRPr lang="zh-CN" altLang="zh-CN" sz="2000" dirty="0">
                  <a:latin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ft=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exp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(-(t-x))*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heaviside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(t-x);	%</a:t>
                </a:r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利用</a:t>
                </a:r>
                <a:r>
                  <a:rPr lang="en-US" altLang="zh-CN" b="1" dirty="0" err="1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heaviside</a:t>
                </a:r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将函数截取</a:t>
                </a:r>
                <a:endParaRPr lang="zh-CN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gt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exp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(-(t-x));			%</a:t>
                </a:r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非因果函数（不截取）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		</a:t>
                </a:r>
                <a:endParaRPr lang="zh-CN" altLang="zh-CN" sz="2000" dirty="0">
                  <a:latin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dirty="0">
                    <a:latin typeface="Courier New" panose="02070309020205020404" pitchFamily="49" charset="0"/>
                    <a:cs typeface="Times New Roman" panose="02020603050405020304" pitchFamily="18" charset="0"/>
                  </a:rPr>
                  <a:t> </a:t>
                </a:r>
                <a:endParaRPr lang="zh-CN" altLang="zh-CN" dirty="0"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F1=simplify(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fourier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ft,t,w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))	%</a:t>
                </a:r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傅里叶变换的正确用法</a:t>
                </a:r>
                <a:endParaRPr lang="en-US" altLang="zh-CN" b="1" dirty="0">
                  <a:solidFill>
                    <a:srgbClr val="008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dirty="0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F1 = </a:t>
                </a:r>
                <a:r>
                  <a:rPr lang="pl-PL" altLang="zh-CN" dirty="0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exp(-w*x*1i)/(1 + w*1i)</a:t>
                </a:r>
                <a:endParaRPr lang="en-US" altLang="zh-CN" dirty="0">
                  <a:solidFill>
                    <a:srgbClr val="0000FF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endParaRPr lang="zh-CN" altLang="zh-CN" dirty="0"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G1=simplify(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fourier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gt,t,w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))%</a:t>
                </a:r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全局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𝐞</m:t>
                        </m:r>
                      </m:e>
                      <m:sup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𝒕</m:t>
                        </m:r>
                      </m:sup>
                    </m:sSup>
                  </m:oMath>
                </a14:m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傅里叶变换不存在（泛函分析）</a:t>
                </a:r>
                <a:endParaRPr lang="en-US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dirty="0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G1 =</a:t>
                </a:r>
                <a:r>
                  <a:rPr lang="en-US" altLang="zh-CN" dirty="0"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 err="1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exp</a:t>
                </a:r>
                <a:r>
                  <a:rPr lang="en-US" altLang="zh-CN" dirty="0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(x)*</a:t>
                </a:r>
                <a:r>
                  <a:rPr lang="en-US" altLang="zh-CN" dirty="0" err="1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fourier</a:t>
                </a:r>
                <a:r>
                  <a:rPr lang="en-US" altLang="zh-CN" dirty="0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dirty="0" err="1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exp</a:t>
                </a:r>
                <a:r>
                  <a:rPr lang="en-US" altLang="zh-CN" dirty="0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(-t), t, w) </a:t>
                </a:r>
                <a:r>
                  <a:rPr lang="en-US" altLang="zh-CN" dirty="0"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</a:t>
                </a:r>
                <a:endParaRPr lang="zh-CN" altLang="zh-CN" dirty="0"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</a:t>
                </a:r>
                <a:endParaRPr lang="zh-CN" altLang="zh-CN" sz="2000" dirty="0">
                  <a:latin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F2=simplify(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fourier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ft,t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))	%</a:t>
                </a:r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如果参数不足，就会误认为</a:t>
                </a:r>
                <a:r>
                  <a:rPr lang="en-US" altLang="zh-CN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x</a:t>
                </a:r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是时间域变量</a:t>
                </a:r>
                <a:r>
                  <a:rPr lang="en-US" altLang="zh-CN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,t</a:t>
                </a:r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为频率域变量（缺省的时间域变量由自由变量得到）</a:t>
                </a:r>
                <a:endParaRPr lang="en-US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dirty="0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F2 = -</a:t>
                </a:r>
                <a:r>
                  <a:rPr lang="en-US" altLang="zh-CN" dirty="0" err="1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exp</a:t>
                </a:r>
                <a:r>
                  <a:rPr lang="en-US" altLang="zh-CN" dirty="0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(-t^2*1i)/(- 1 + t*1i)</a:t>
                </a: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endParaRPr lang="zh-CN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F3=simplify(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fourier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(ft)) %</a:t>
                </a:r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缺省时间变量</a:t>
                </a:r>
                <a:r>
                  <a:rPr lang="en-US" altLang="zh-CN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x</a:t>
                </a:r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，频率变量</a:t>
                </a:r>
                <a:r>
                  <a:rPr lang="en-US" altLang="zh-CN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w</a:t>
                </a:r>
                <a:endParaRPr lang="zh-CN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dirty="0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F3 = </a:t>
                </a:r>
                <a:r>
                  <a:rPr lang="pl-PL" altLang="zh-CN" dirty="0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(exp(-t*w*1i)*(1 + w*1i))/(w^2 + 1)</a:t>
                </a:r>
                <a:endParaRPr lang="zh-CN" altLang="zh-CN" dirty="0"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09B45AC6-AB7C-49A3-B9EC-FE7160B504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640" y="1700808"/>
                <a:ext cx="8766720" cy="4832092"/>
              </a:xfrm>
              <a:prstGeom prst="rect">
                <a:avLst/>
              </a:prstGeom>
              <a:blipFill>
                <a:blip r:embed="rId3"/>
                <a:stretch>
                  <a:fillRect l="-626" t="-504" r="-556" b="-10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05B01B09-BC29-4921-BB9F-39A908E5998F}"/>
                  </a:ext>
                </a:extLst>
              </p:cNvPr>
              <p:cNvSpPr/>
              <p:nvPr/>
            </p:nvSpPr>
            <p:spPr>
              <a:xfrm>
                <a:off x="149815" y="911247"/>
                <a:ext cx="8386663" cy="7101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zh-CN" altLang="zh-CN" dirty="0">
                    <a:latin typeface="Times New Roman" panose="02020603050405020304" pitchFamily="18" charset="0"/>
                  </a:rPr>
                  <a:t>【例】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求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0,             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dirty="0">
                    <a:latin typeface="Times New Roman" panose="02020603050405020304" pitchFamily="18" charset="0"/>
                  </a:rPr>
                  <a:t>的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Fourier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变换，在此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</a:rPr>
                  <a:t>是参数，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</a:rPr>
                  <a:t>是时间变量。</a:t>
                </a:r>
                <a:endParaRPr lang="zh-CN" altLang="zh-CN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05B01B09-BC29-4921-BB9F-39A908E599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15" y="911247"/>
                <a:ext cx="8386663" cy="710194"/>
              </a:xfrm>
              <a:prstGeom prst="rect">
                <a:avLst/>
              </a:prstGeom>
              <a:blipFill>
                <a:blip r:embed="rId4"/>
                <a:stretch>
                  <a:fillRect l="-6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33999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19276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拉普拉斯变换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71B6ECB1-90EE-45AC-8431-E1FEF3ED81F6}"/>
                  </a:ext>
                </a:extLst>
              </p:cNvPr>
              <p:cNvSpPr/>
              <p:nvPr/>
            </p:nvSpPr>
            <p:spPr>
              <a:xfrm>
                <a:off x="311802" y="1048696"/>
                <a:ext cx="8712968" cy="17243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itchFamily="2" charset="2"/>
                  <a:buChar char="q"/>
                </a:pPr>
                <a:r>
                  <a:rPr lang="zh-CN" altLang="en-US" sz="2400" b="1" dirty="0">
                    <a:solidFill>
                      <a:prstClr val="black"/>
                    </a:solidFill>
                    <a:latin typeface="+mj-ea"/>
                    <a:ea typeface="+mj-ea"/>
                  </a:rPr>
                  <a:t>拉普拉斯变换定义</a:t>
                </a:r>
                <a:endParaRPr lang="en-US" altLang="zh-CN" sz="2400" b="1" i="1" dirty="0">
                  <a:solidFill>
                    <a:srgbClr val="FF0000"/>
                  </a:solidFill>
                  <a:latin typeface="Cambria Math" panose="02040503050406030204" pitchFamily="18" charset="0"/>
                  <a:ea typeface="+mj-ea"/>
                </a:endParaRPr>
              </a:p>
              <a:p>
                <a:pPr>
                  <a:spcBef>
                    <a:spcPts val="580"/>
                  </a:spcBef>
                  <a:buClr>
                    <a:srgbClr val="00B050"/>
                  </a:buClr>
                  <a:buSzPct val="85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𝑭</m:t>
                      </m:r>
                      <m:d>
                        <m:dPr>
                          <m:ctrlP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𝒔</m:t>
                          </m:r>
                        </m:e>
                      </m:d>
                      <m:r>
                        <a:rPr lang="en-US" altLang="zh-CN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nary>
                        <m:naryPr>
                          <m:ctrlPr>
                            <a:rPr lang="en-US" altLang="zh-CN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en-US" altLang="zh-CN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zh-CN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𝐞</m:t>
                              </m:r>
                            </m:e>
                            <m:sup>
                              <m:r>
                                <a:rPr lang="en-US" altLang="zh-CN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en-US" altLang="zh-CN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p>
                          </m:sSup>
                          <m:r>
                            <a:rPr lang="en-US" altLang="zh-CN" sz="24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𝐝</m:t>
                          </m:r>
                          <m:r>
                            <a:rPr lang="en-US" altLang="zh-CN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nary>
                    </m:oMath>
                  </m:oMathPara>
                </a14:m>
                <a:endParaRPr lang="en-US" altLang="zh-CN" sz="2400" b="1" dirty="0">
                  <a:latin typeface="+mj-ea"/>
                  <a:ea typeface="+mj-ea"/>
                </a:endParaRPr>
              </a:p>
              <a:p>
                <a:pPr>
                  <a:spcBef>
                    <a:spcPts val="580"/>
                  </a:spcBef>
                  <a:buClr>
                    <a:srgbClr val="00B050"/>
                  </a:buClr>
                  <a:buSzPct val="85000"/>
                </a:pPr>
                <a:r>
                  <a:rPr lang="zh-CN" altLang="en-US" sz="2400" b="1" dirty="0">
                    <a:latin typeface="+mj-ea"/>
                    <a:ea typeface="+mj-ea"/>
                  </a:rPr>
                  <a:t>一般情况下，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latin typeface="Cambria Math" panose="02040503050406030204" pitchFamily="18" charset="0"/>
                        <a:ea typeface="+mj-ea"/>
                      </a:rPr>
                      <m:t>𝐬</m:t>
                    </m:r>
                  </m:oMath>
                </a14:m>
                <a:r>
                  <a:rPr lang="zh-CN" altLang="en-US" sz="2400" b="1" dirty="0">
                    <a:latin typeface="+mj-ea"/>
                    <a:ea typeface="+mj-ea"/>
                  </a:rPr>
                  <a:t>为复数</a:t>
                </a:r>
                <a:r>
                  <a:rPr lang="en-US" altLang="zh-CN" sz="2400" b="1" dirty="0">
                    <a:latin typeface="+mj-ea"/>
                    <a:ea typeface="+mj-ea"/>
                  </a:rPr>
                  <a:t>,</a:t>
                </a:r>
                <a:r>
                  <a:rPr lang="zh-CN" altLang="en-US" sz="2400" b="1" dirty="0">
                    <a:latin typeface="+mj-ea"/>
                    <a:ea typeface="+mj-ea"/>
                  </a:rPr>
                  <a:t>是另一种不同的频率域分析工具。</a:t>
                </a:r>
                <a:endParaRPr lang="en-US" altLang="zh-CN" sz="2400" b="1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71B6ECB1-90EE-45AC-8431-E1FEF3ED81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802" y="1048696"/>
                <a:ext cx="8712968" cy="1724318"/>
              </a:xfrm>
              <a:prstGeom prst="rect">
                <a:avLst/>
              </a:prstGeom>
              <a:blipFill>
                <a:blip r:embed="rId2"/>
                <a:stretch>
                  <a:fillRect l="-1050" t="-3887" b="-63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6015D21-5411-4945-A352-FB551471AA0F}"/>
                  </a:ext>
                </a:extLst>
              </p:cNvPr>
              <p:cNvSpPr/>
              <p:nvPr/>
            </p:nvSpPr>
            <p:spPr>
              <a:xfrm>
                <a:off x="310447" y="2969930"/>
                <a:ext cx="8712968" cy="13493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itchFamily="2" charset="2"/>
                  <a:buChar char="q"/>
                </a:pPr>
                <a:r>
                  <a:rPr lang="zh-CN" altLang="en-US" sz="2400" b="1" dirty="0">
                    <a:solidFill>
                      <a:prstClr val="black"/>
                    </a:solidFill>
                    <a:latin typeface="+mj-ea"/>
                    <a:ea typeface="+mj-ea"/>
                  </a:rPr>
                  <a:t>拉普拉斯逆变换</a:t>
                </a:r>
                <a:endParaRPr lang="en-US" altLang="zh-CN" sz="2400" b="1" dirty="0">
                  <a:solidFill>
                    <a:prstClr val="black"/>
                  </a:solidFill>
                  <a:latin typeface="+mj-ea"/>
                  <a:ea typeface="+mj-ea"/>
                </a:endParaRPr>
              </a:p>
              <a:p>
                <a:pPr>
                  <a:spcBef>
                    <a:spcPts val="580"/>
                  </a:spcBef>
                  <a:buClr>
                    <a:srgbClr val="00B050"/>
                  </a:buClr>
                  <a:buSzPct val="85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𝒇</m:t>
                      </m:r>
                      <m:r>
                        <a:rPr lang="en-US" altLang="zh-CN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(</m:t>
                      </m:r>
                      <m:r>
                        <a:rPr lang="en-US" altLang="zh-CN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𝒕</m:t>
                      </m:r>
                      <m:r>
                        <a:rPr lang="en-US" altLang="zh-CN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)</m:t>
                      </m:r>
                      <m:r>
                        <a:rPr lang="en-US" altLang="zh-CN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 =</m:t>
                      </m:r>
                      <m:f>
                        <m:fPr>
                          <m:ctrlP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fPr>
                        <m:num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𝟐</m:t>
                          </m:r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𝝅</m:t>
                          </m:r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𝒋</m:t>
                          </m:r>
                        </m:den>
                      </m:f>
                      <m:nary>
                        <m:naryPr>
                          <m:ctrlPr>
                            <a:rPr lang="en-US" altLang="zh-CN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altLang="zh-CN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CN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  <m:d>
                            <m:dPr>
                              <m:ctrlP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𝐞</m:t>
                              </m:r>
                            </m:e>
                            <m:sup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𝒔𝒕</m:t>
                              </m:r>
                            </m:sup>
                          </m:sSup>
                          <m:r>
                            <a:rPr lang="en-US" altLang="zh-CN" sz="24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𝐝</m:t>
                          </m:r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nary>
                    </m:oMath>
                  </m:oMathPara>
                </a14:m>
                <a:endParaRPr lang="en-US" altLang="zh-CN" sz="2400" b="1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6015D21-5411-4945-A352-FB551471AA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447" y="2969930"/>
                <a:ext cx="8712968" cy="1349344"/>
              </a:xfrm>
              <a:prstGeom prst="rect">
                <a:avLst/>
              </a:prstGeom>
              <a:blipFill>
                <a:blip r:embed="rId3"/>
                <a:stretch>
                  <a:fillRect l="-630" t="-36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19B92E9B-F644-4F9F-AE99-2E19EF379AAB}"/>
              </a:ext>
            </a:extLst>
          </p:cNvPr>
          <p:cNvSpPr/>
          <p:nvPr/>
        </p:nvSpPr>
        <p:spPr>
          <a:xfrm>
            <a:off x="313058" y="4638012"/>
            <a:ext cx="8712968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itchFamily="2" charset="2"/>
              <a:buChar char="q"/>
            </a:pP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可以直接使用积分函数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完成拉普拉斯变换与逆变换</a:t>
            </a:r>
            <a:endParaRPr lang="en-US" altLang="zh-CN" sz="2400" b="1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itchFamily="2" charset="2"/>
              <a:buChar char="q"/>
            </a:pP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函数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laplace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ft,t,s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zh-CN" sz="2400" b="1" dirty="0">
                <a:solidFill>
                  <a:srgbClr val="0070C0"/>
                </a:solidFill>
                <a:latin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时间域变量</a:t>
            </a:r>
            <a:r>
              <a:rPr lang="en-US" altLang="zh-CN" sz="2400" b="1" dirty="0">
                <a:latin typeface="+mj-ea"/>
                <a:ea typeface="+mj-ea"/>
              </a:rPr>
              <a:t>t</a:t>
            </a:r>
            <a:r>
              <a:rPr lang="zh-CN" altLang="en-US" sz="2400" b="1" dirty="0">
                <a:latin typeface="+mj-ea"/>
                <a:ea typeface="+mj-ea"/>
              </a:rPr>
              <a:t>，频率域变量</a:t>
            </a:r>
            <a:r>
              <a:rPr lang="en-US" altLang="zh-CN" sz="2400" b="1" dirty="0">
                <a:latin typeface="+mj-ea"/>
                <a:ea typeface="+mj-ea"/>
              </a:rPr>
              <a:t>s</a:t>
            </a:r>
          </a:p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itchFamily="2" charset="2"/>
              <a:buChar char="q"/>
            </a:pP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函数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ilaplace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Fs,s,t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altLang="en-US" sz="2400" b="1" dirty="0">
                <a:latin typeface="+mj-ea"/>
                <a:ea typeface="+mj-ea"/>
              </a:rPr>
              <a:t> 频率域变量</a:t>
            </a:r>
            <a:r>
              <a:rPr lang="en-US" altLang="zh-CN" sz="2400" b="1" dirty="0">
                <a:latin typeface="+mj-ea"/>
                <a:ea typeface="+mj-ea"/>
              </a:rPr>
              <a:t>s,</a:t>
            </a:r>
            <a:r>
              <a:rPr lang="zh-CN" altLang="en-US" sz="2400" b="1" dirty="0">
                <a:latin typeface="+mj-ea"/>
              </a:rPr>
              <a:t>时间域变量</a:t>
            </a:r>
            <a:r>
              <a:rPr lang="en-US" altLang="zh-CN" sz="2400" b="1" dirty="0">
                <a:latin typeface="+mj-ea"/>
              </a:rPr>
              <a:t>t</a:t>
            </a:r>
            <a:endParaRPr lang="en-US" altLang="zh-CN" sz="2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36902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291219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MATLAB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拉普拉斯变换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14F0AE0-3577-4B13-82B4-31DA3EEB1602}"/>
              </a:ext>
            </a:extLst>
          </p:cNvPr>
          <p:cNvSpPr/>
          <p:nvPr/>
        </p:nvSpPr>
        <p:spPr>
          <a:xfrm>
            <a:off x="479709" y="1196752"/>
            <a:ext cx="732656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syms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t s a b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f1=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exp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(-a*t)*sin(b*t) 	%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f1 =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exp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(-a*t)*sin(b*t)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F1=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laplace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(f1,t,s) 		%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F1 =b/((a + s)^2 + b^2)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17ADD8C-1615-4037-88C2-2BE66A4D678C}"/>
              </a:ext>
            </a:extLst>
          </p:cNvPr>
          <p:cNvSpPr/>
          <p:nvPr/>
        </p:nvSpPr>
        <p:spPr>
          <a:xfrm>
            <a:off x="479709" y="2298677"/>
            <a:ext cx="7974632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syms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a		</a:t>
            </a: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f2=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heaviside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(t-a)		</a:t>
            </a: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% </a:t>
            </a: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f2 = </a:t>
            </a:r>
            <a:r>
              <a:rPr lang="en-US" altLang="zh-CN" sz="2000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heaviside</a:t>
            </a: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(t - a)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F2=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laplace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(f2,t,s)	</a:t>
            </a: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F2 =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laplace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heaviside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(t - a), t, s) 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无显式符号表达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48A9C82-760A-4B15-80E1-FE4253807435}"/>
              </a:ext>
            </a:extLst>
          </p:cNvPr>
          <p:cNvSpPr/>
          <p:nvPr/>
        </p:nvSpPr>
        <p:spPr>
          <a:xfrm>
            <a:off x="479708" y="3992776"/>
            <a:ext cx="7764699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syms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a positive	%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a</a:t>
            </a:r>
            <a:r>
              <a:rPr lang="zh-CN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为正实数符号变量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F3=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laplace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(f2) 	%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F3 =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exp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(-a*s)/s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有显式符号表达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698F5BF-8F1F-48F9-9F55-0F31AC603E82}"/>
              </a:ext>
            </a:extLst>
          </p:cNvPr>
          <p:cNvSpPr/>
          <p:nvPr/>
        </p:nvSpPr>
        <p:spPr>
          <a:xfrm>
            <a:off x="475822" y="5102099"/>
            <a:ext cx="790871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f4=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dirac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(t-b);		%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F4=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laplace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(f4,t,s)	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根据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b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的符号得到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0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或某个</a:t>
            </a:r>
            <a:r>
              <a:rPr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exp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值</a:t>
            </a:r>
            <a:endParaRPr lang="zh-CN" altLang="zh-CN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F4 =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piecewise([b &lt; 0, 0], [0 &lt;= b,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exp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(-b*s)])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F29B6819-27FD-4AC4-A4F5-B50449C7846D}"/>
                  </a:ext>
                </a:extLst>
              </p:cNvPr>
              <p:cNvSpPr/>
              <p:nvPr/>
            </p:nvSpPr>
            <p:spPr>
              <a:xfrm>
                <a:off x="323528" y="832571"/>
                <a:ext cx="7859342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【例】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分别求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e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𝑎𝑡</m:t>
                        </m:r>
                      </m:sup>
                    </m:sSup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𝑏𝑡</m:t>
                        </m:r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dirty="0"/>
                  <a:t>的</a:t>
                </a:r>
                <a:r>
                  <a:rPr lang="en-US" altLang="zh-CN" dirty="0"/>
                  <a:t>Laplace</a:t>
                </a:r>
                <a:r>
                  <a:rPr lang="zh-CN" altLang="en-US" dirty="0"/>
                  <a:t>变换。</a:t>
                </a: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F29B6819-27FD-4AC4-A4F5-B50449C784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832571"/>
                <a:ext cx="7859342" cy="369332"/>
              </a:xfrm>
              <a:prstGeom prst="rect">
                <a:avLst/>
              </a:prstGeom>
              <a:blipFill>
                <a:blip r:embed="rId2"/>
                <a:stretch>
                  <a:fillRect l="-621" t="-18333"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4872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291219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MATLAB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拉普拉斯变换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A3E0A8E-A8F3-4BB2-8184-175751EB0AE8}"/>
              </a:ext>
            </a:extLst>
          </p:cNvPr>
          <p:cNvSpPr/>
          <p:nvPr/>
        </p:nvSpPr>
        <p:spPr>
          <a:xfrm>
            <a:off x="269775" y="1283996"/>
            <a:ext cx="79746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f5=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dirac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(t-a);	%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此时仍然限定为正实数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F5=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laplace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(f5,t,s)  	%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F5 =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exp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(-a*s)</a:t>
            </a: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ft_F5=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ilaplace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(F5,s,t) %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ft_F5 =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dirac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(a - t)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441F8B-7A85-4B53-A0F2-D74D52D81A79}"/>
              </a:ext>
            </a:extLst>
          </p:cNvPr>
          <p:cNvSpPr/>
          <p:nvPr/>
        </p:nvSpPr>
        <p:spPr>
          <a:xfrm>
            <a:off x="269774" y="3140968"/>
            <a:ext cx="828471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n=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('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n','clear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');		%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F6=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laplace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t^n,t,s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	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结果需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n&gt;-1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F6 =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piecewise([-1 &lt; real(n), gamma(n + 1)/s^(n + 1)])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1BADD96-8E95-46EC-A87A-8A366D8738D1}"/>
              </a:ext>
            </a:extLst>
          </p:cNvPr>
          <p:cNvSpPr/>
          <p:nvPr/>
        </p:nvSpPr>
        <p:spPr>
          <a:xfrm>
            <a:off x="269774" y="4869160"/>
            <a:ext cx="754258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n=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('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n','positive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');	%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限制为正实数</a:t>
            </a:r>
            <a:endParaRPr lang="zh-CN" altLang="zh-CN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F6=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laplace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t^n,t,s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		%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F6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gamma(n + 1)/s^(n + 1)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9D677A62-3512-4B34-9AD3-6E7D8FF613A6}"/>
                  </a:ext>
                </a:extLst>
              </p:cNvPr>
              <p:cNvSpPr/>
              <p:nvPr/>
            </p:nvSpPr>
            <p:spPr>
              <a:xfrm>
                <a:off x="323528" y="832571"/>
                <a:ext cx="7859342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【例】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分别求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e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𝑎𝑡</m:t>
                        </m:r>
                      </m:sup>
                    </m:sSup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𝑏𝑡</m:t>
                        </m:r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dirty="0"/>
                  <a:t>的</a:t>
                </a:r>
                <a:r>
                  <a:rPr lang="en-US" altLang="zh-CN" dirty="0"/>
                  <a:t>Laplace</a:t>
                </a:r>
                <a:r>
                  <a:rPr lang="zh-CN" altLang="en-US" dirty="0"/>
                  <a:t>变换。</a:t>
                </a: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9D677A62-3512-4B34-9AD3-6E7D8FF613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832571"/>
                <a:ext cx="7859342" cy="369332"/>
              </a:xfrm>
              <a:prstGeom prst="rect">
                <a:avLst/>
              </a:prstGeom>
              <a:blipFill>
                <a:blip r:embed="rId2"/>
                <a:stretch>
                  <a:fillRect l="-621" t="-18333"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110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9939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拉普拉斯变换的卷积公式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71B6ECB1-90EE-45AC-8431-E1FEF3ED81F6}"/>
                  </a:ext>
                </a:extLst>
              </p:cNvPr>
              <p:cNvSpPr/>
              <p:nvPr/>
            </p:nvSpPr>
            <p:spPr>
              <a:xfrm>
                <a:off x="311802" y="1056729"/>
                <a:ext cx="8712968" cy="14031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itchFamily="2" charset="2"/>
                  <a:buChar char="q"/>
                </a:pPr>
                <a:r>
                  <a:rPr lang="zh-CN" altLang="en-US" sz="2400" b="1" dirty="0">
                    <a:solidFill>
                      <a:prstClr val="black"/>
                    </a:solidFill>
                    <a:latin typeface="+mj-ea"/>
                    <a:ea typeface="+mj-ea"/>
                  </a:rPr>
                  <a:t>非负区间卷积定义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j-ea"/>
                      </a:rPr>
                      <m:t>(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j-ea"/>
                      </a:rPr>
                      <m:t>𝐮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j-ea"/>
                      </a:rPr>
                      <m:t>∗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j-ea"/>
                      </a:rPr>
                      <m:t>𝐡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j-ea"/>
                      </a:rPr>
                      <m:t>)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j-ea"/>
                      </a:rPr>
                      <m:t> (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j-ea"/>
                      </a:rPr>
                      <m:t>𝒕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j-ea"/>
                      </a:rPr>
                      <m:t>)=</m:t>
                    </m:r>
                    <m:nary>
                      <m:naryPr>
                        <m:ctrlP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naryPr>
                      <m:sub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𝟎</m:t>
                        </m:r>
                      </m:sub>
                      <m:sup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𝒕</m:t>
                        </m:r>
                      </m:sup>
                      <m:e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𝒖</m:t>
                        </m:r>
                        <m:d>
                          <m:dPr>
                            <m:ctrlPr>
                              <a:rPr lang="en-US" altLang="zh-C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dPr>
                          <m:e>
                            <m:r>
                              <a:rPr lang="en-US" altLang="zh-C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𝝉</m:t>
                            </m:r>
                          </m:e>
                        </m:d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𝒉</m:t>
                        </m:r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(</m:t>
                        </m:r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𝒕</m:t>
                        </m:r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−</m:t>
                        </m:r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𝝉</m:t>
                        </m:r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) </m:t>
                        </m:r>
                        <m:r>
                          <a:rPr lang="en-US" altLang="zh-CN" sz="24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𝐝</m:t>
                        </m:r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𝝉</m:t>
                        </m:r>
                      </m:e>
                    </m:nary>
                  </m:oMath>
                </a14:m>
                <a:endParaRPr lang="en-US" altLang="zh-CN" sz="2400" b="1" dirty="0">
                  <a:latin typeface="+mj-ea"/>
                  <a:ea typeface="+mj-ea"/>
                </a:endParaRPr>
              </a:p>
              <a:p>
                <a:pPr>
                  <a:spcBef>
                    <a:spcPts val="580"/>
                  </a:spcBef>
                  <a:buClr>
                    <a:srgbClr val="00B050"/>
                  </a:buClr>
                  <a:buSzPct val="85000"/>
                </a:pPr>
                <a:r>
                  <a:rPr lang="zh-CN" altLang="en-US" sz="2400" b="1" dirty="0">
                    <a:latin typeface="+mj-ea"/>
                    <a:ea typeface="+mj-ea"/>
                  </a:rPr>
                  <a:t>并且可以通过拉普拉斯变换与逆变换快速求出（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+mj-ea"/>
                    <a:ea typeface="+mj-ea"/>
                  </a:rPr>
                  <a:t>基于整个是数轴上函数卷积的定义可以跟傅里叶变换类似结合起来</a:t>
                </a:r>
                <a:r>
                  <a:rPr lang="zh-CN" altLang="en-US" sz="2400" b="1" dirty="0">
                    <a:latin typeface="+mj-ea"/>
                    <a:ea typeface="+mj-ea"/>
                  </a:rPr>
                  <a:t>）</a:t>
                </a:r>
                <a:endParaRPr lang="en-US" altLang="zh-CN" sz="2400" b="1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71B6ECB1-90EE-45AC-8431-E1FEF3ED81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802" y="1056729"/>
                <a:ext cx="8712968" cy="1403141"/>
              </a:xfrm>
              <a:prstGeom prst="rect">
                <a:avLst/>
              </a:prstGeom>
              <a:blipFill>
                <a:blip r:embed="rId2"/>
                <a:stretch>
                  <a:fillRect l="-1050" b="-86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 17">
            <a:extLst>
              <a:ext uri="{FF2B5EF4-FFF2-40B4-BE49-F238E27FC236}">
                <a16:creationId xmlns:a16="http://schemas.microsoft.com/office/drawing/2014/main" id="{36DF075D-2425-49B0-BEF3-3E6A808EA3F1}"/>
              </a:ext>
            </a:extLst>
          </p:cNvPr>
          <p:cNvSpPr/>
          <p:nvPr/>
        </p:nvSpPr>
        <p:spPr>
          <a:xfrm>
            <a:off x="389522" y="3190399"/>
            <a:ext cx="836495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clear all		%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U(t)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为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Heaviside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函数，因为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t&lt;0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的分析无意义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syms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T 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tao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s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ut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exp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(-t);	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ht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exp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(-t/T)/T;%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uh_tao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=subs(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ut,t,tao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)*subs(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ht,t,t-tao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);	%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yt1=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int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(uh_tao,tao,0,t)%  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直接法计算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yt1 = -(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exp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(-t) -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exp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(-t/T))/(T - 1) 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B71C5B1-075A-4CDB-A872-CA85EC99BFB9}"/>
              </a:ext>
            </a:extLst>
          </p:cNvPr>
          <p:cNvSpPr/>
          <p:nvPr/>
        </p:nvSpPr>
        <p:spPr>
          <a:xfrm>
            <a:off x="389522" y="5062607"/>
            <a:ext cx="76866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yt21=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ilaplace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laplace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ut,t,s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)*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laplace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ht,t,s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),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s,t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yt22=collect(yt21,(T-1))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间接法结果合并同类项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yt21 =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exp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(-t/T)/(T - 1) -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exp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(-t)/(T - 1)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endParaRPr lang="en-US" altLang="zh-CN" dirty="0">
              <a:solidFill>
                <a:srgbClr val="0000FF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yt22 =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exp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(-t/T) -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exp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(-t))/(T - 1)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208DA858-F5C4-45F0-A7FD-90C9692352AF}"/>
                  </a:ext>
                </a:extLst>
              </p:cNvPr>
              <p:cNvSpPr/>
              <p:nvPr/>
            </p:nvSpPr>
            <p:spPr>
              <a:xfrm>
                <a:off x="311802" y="2373957"/>
                <a:ext cx="8364956" cy="8164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【例】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已知系统冲激响应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den>
                    </m:f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e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den>
                        </m:f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，求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输入下的输出响应，其中，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为正半轴特征函数，即</a:t>
                </a:r>
                <a:r>
                  <a:rPr lang="en-US" altLang="zh-CN" dirty="0"/>
                  <a:t>Heaviside</a:t>
                </a:r>
                <a:r>
                  <a:rPr lang="zh-CN" altLang="en-US" dirty="0"/>
                  <a:t>函数。</a:t>
                </a: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208DA858-F5C4-45F0-A7FD-90C9692352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802" y="2373957"/>
                <a:ext cx="8364956" cy="816442"/>
              </a:xfrm>
              <a:prstGeom prst="rect">
                <a:avLst/>
              </a:prstGeom>
              <a:blipFill>
                <a:blip r:embed="rId3"/>
                <a:stretch>
                  <a:fillRect l="-583" r="-656" b="-119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9462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291219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Z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变换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71B6ECB1-90EE-45AC-8431-E1FEF3ED81F6}"/>
                  </a:ext>
                </a:extLst>
              </p:cNvPr>
              <p:cNvSpPr/>
              <p:nvPr/>
            </p:nvSpPr>
            <p:spPr>
              <a:xfrm>
                <a:off x="311802" y="845422"/>
                <a:ext cx="8712968" cy="19146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itchFamily="2" charset="2"/>
                  <a:buChar char="q"/>
                </a:pPr>
                <a:r>
                  <a:rPr lang="zh-CN" altLang="en-US" sz="2400" b="1" dirty="0">
                    <a:solidFill>
                      <a:prstClr val="black"/>
                    </a:solidFill>
                    <a:latin typeface="+mj-ea"/>
                    <a:ea typeface="+mj-ea"/>
                  </a:rPr>
                  <a:t>（单边（</a:t>
                </a:r>
                <a:r>
                  <a:rPr lang="en-US" altLang="zh-CN" sz="2400" b="1" dirty="0">
                    <a:solidFill>
                      <a:prstClr val="black"/>
                    </a:solidFill>
                    <a:latin typeface="+mj-ea"/>
                    <a:ea typeface="+mj-ea"/>
                  </a:rPr>
                  <a:t>n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+mj-ea"/>
                    <a:ea typeface="+mj-ea"/>
                  </a:rPr>
                  <a:t>下界为</a:t>
                </a:r>
                <a:r>
                  <a:rPr lang="en-US" altLang="zh-CN" sz="2400" b="1" dirty="0">
                    <a:solidFill>
                      <a:prstClr val="black"/>
                    </a:solidFill>
                    <a:latin typeface="+mj-ea"/>
                    <a:ea typeface="+mj-ea"/>
                  </a:rPr>
                  <a:t>0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+mj-ea"/>
                    <a:ea typeface="+mj-ea"/>
                  </a:rPr>
                  <a:t>））</a:t>
                </a:r>
                <a:r>
                  <a:rPr lang="en-US" altLang="zh-CN" sz="2400" b="1" dirty="0">
                    <a:solidFill>
                      <a:prstClr val="black"/>
                    </a:solidFill>
                    <a:latin typeface="+mj-ea"/>
                    <a:ea typeface="+mj-ea"/>
                  </a:rPr>
                  <a:t>Z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+mj-ea"/>
                    <a:ea typeface="+mj-ea"/>
                  </a:rPr>
                  <a:t>变换定义</a:t>
                </a:r>
                <a:endParaRPr lang="en-US" altLang="zh-CN" sz="2400" b="1" i="1" dirty="0">
                  <a:solidFill>
                    <a:srgbClr val="FF0000"/>
                  </a:solidFill>
                  <a:latin typeface="Cambria Math" panose="02040503050406030204" pitchFamily="18" charset="0"/>
                  <a:ea typeface="+mj-ea"/>
                </a:endParaRPr>
              </a:p>
              <a:p>
                <a:pPr>
                  <a:spcBef>
                    <a:spcPts val="580"/>
                  </a:spcBef>
                  <a:buClr>
                    <a:srgbClr val="00B050"/>
                  </a:buClr>
                  <a:buSzPct val="85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𝑭</m:t>
                      </m:r>
                      <m:d>
                        <m:dPr>
                          <m:ctrlP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𝒛</m:t>
                          </m:r>
                        </m:e>
                      </m:d>
                      <m:r>
                        <a:rPr lang="en-US" altLang="zh-CN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𝒏</m:t>
                          </m:r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=</m:t>
                          </m:r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𝒏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−</m:t>
                              </m:r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𝒏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sz="2400" b="1" dirty="0">
                  <a:latin typeface="+mj-ea"/>
                  <a:ea typeface="+mj-ea"/>
                </a:endParaRPr>
              </a:p>
              <a:p>
                <a:pPr>
                  <a:spcBef>
                    <a:spcPts val="580"/>
                  </a:spcBef>
                  <a:buClr>
                    <a:srgbClr val="00B050"/>
                  </a:buClr>
                  <a:buSzPct val="85000"/>
                </a:pPr>
                <a:r>
                  <a:rPr lang="zh-CN" altLang="en-US" sz="2400" b="1" dirty="0">
                    <a:latin typeface="+mj-ea"/>
                    <a:ea typeface="+mj-ea"/>
                  </a:rPr>
                  <a:t>一般情况下，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+mj-ea"/>
                      </a:rPr>
                      <m:t>𝒛</m:t>
                    </m:r>
                  </m:oMath>
                </a14:m>
                <a:r>
                  <a:rPr lang="zh-CN" altLang="en-US" sz="2400" b="1" dirty="0">
                    <a:latin typeface="+mj-ea"/>
                    <a:ea typeface="+mj-ea"/>
                  </a:rPr>
                  <a:t>为复数，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+mj-ea"/>
                      </a:rPr>
                      <m:t>𝑭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+mj-ea"/>
                      </a:rPr>
                      <m:t>(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+mj-ea"/>
                      </a:rPr>
                      <m:t>𝒛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+mj-ea"/>
                      </a:rPr>
                      <m:t>)</m:t>
                    </m:r>
                  </m:oMath>
                </a14:m>
                <a:r>
                  <a:rPr lang="zh-CN" altLang="en-US" sz="2400" b="1" dirty="0">
                    <a:latin typeface="+mj-ea"/>
                    <a:ea typeface="+mj-ea"/>
                  </a:rPr>
                  <a:t>一般来讲在原点不解析</a:t>
                </a:r>
                <a:endParaRPr lang="en-US" altLang="zh-CN" sz="2400" b="1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71B6ECB1-90EE-45AC-8431-E1FEF3ED81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802" y="845422"/>
                <a:ext cx="8712968" cy="1914691"/>
              </a:xfrm>
              <a:prstGeom prst="rect">
                <a:avLst/>
              </a:prstGeom>
              <a:blipFill>
                <a:blip r:embed="rId2"/>
                <a:stretch>
                  <a:fillRect l="-1050" t="-3503" b="-54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6015D21-5411-4945-A352-FB551471AA0F}"/>
                  </a:ext>
                </a:extLst>
              </p:cNvPr>
              <p:cNvSpPr/>
              <p:nvPr/>
            </p:nvSpPr>
            <p:spPr>
              <a:xfrm>
                <a:off x="310447" y="2865645"/>
                <a:ext cx="8712968" cy="13696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itchFamily="2" charset="2"/>
                  <a:buChar char="q"/>
                </a:pPr>
                <a:r>
                  <a:rPr lang="en-US" altLang="zh-CN" sz="2400" b="1" dirty="0">
                    <a:solidFill>
                      <a:prstClr val="black"/>
                    </a:solidFill>
                    <a:latin typeface="+mj-ea"/>
                    <a:ea typeface="+mj-ea"/>
                  </a:rPr>
                  <a:t>MATLAB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+mj-ea"/>
                    <a:ea typeface="+mj-ea"/>
                  </a:rPr>
                  <a:t>的</a:t>
                </a:r>
                <a:r>
                  <a:rPr lang="en-US" altLang="zh-CN" sz="2400" b="1" dirty="0">
                    <a:solidFill>
                      <a:prstClr val="black"/>
                    </a:solidFill>
                    <a:latin typeface="+mj-ea"/>
                    <a:ea typeface="+mj-ea"/>
                  </a:rPr>
                  <a:t>Z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+mj-ea"/>
                    <a:ea typeface="+mj-ea"/>
                  </a:rPr>
                  <a:t>变换逆变换采用围线积分法</a:t>
                </a:r>
                <a:endParaRPr lang="en-US" altLang="zh-CN" sz="2400" b="1" dirty="0">
                  <a:solidFill>
                    <a:prstClr val="black"/>
                  </a:solidFill>
                  <a:latin typeface="+mj-ea"/>
                  <a:ea typeface="+mj-ea"/>
                </a:endParaRPr>
              </a:p>
              <a:p>
                <a:pPr>
                  <a:spcBef>
                    <a:spcPts val="580"/>
                  </a:spcBef>
                  <a:buClr>
                    <a:srgbClr val="00B050"/>
                  </a:buClr>
                  <a:buSzPct val="85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𝐟</m:t>
                      </m:r>
                      <m:r>
                        <a:rPr lang="en-US" altLang="zh-CN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(</m:t>
                      </m:r>
                      <m:r>
                        <a:rPr lang="en-US" altLang="zh-CN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𝐧</m:t>
                      </m:r>
                      <m:r>
                        <a:rPr lang="en-US" altLang="zh-CN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)</m:t>
                      </m:r>
                      <m:r>
                        <a:rPr lang="en-US" altLang="zh-CN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 =</m:t>
                      </m:r>
                      <m:f>
                        <m:fPr>
                          <m:ctrlP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fPr>
                        <m:num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𝟐</m:t>
                          </m:r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𝝅</m:t>
                          </m:r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𝒋</m:t>
                          </m:r>
                        </m:den>
                      </m:f>
                      <m:nary>
                        <m:naryPr>
                          <m:chr m:val="∮"/>
                          <m:ctrlP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naryPr>
                        <m:sub>
                          <m:r>
                            <a:rPr lang="en-US" altLang="zh-CN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𝚪</m:t>
                          </m:r>
                        </m:sub>
                        <m:sup/>
                        <m:e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𝑭</m:t>
                          </m:r>
                          <m:d>
                            <m:dPr>
                              <m:ctrlP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𝒛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𝒏</m:t>
                              </m:r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−</m:t>
                              </m:r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𝟏</m:t>
                              </m:r>
                            </m:sup>
                          </m:sSup>
                          <m:r>
                            <a:rPr lang="en-US" altLang="zh-CN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𝐝</m:t>
                          </m:r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𝒛</m:t>
                          </m:r>
                        </m:e>
                      </m:nary>
                    </m:oMath>
                  </m:oMathPara>
                </a14:m>
                <a:endParaRPr lang="en-US" altLang="zh-CN" sz="2400" b="1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6015D21-5411-4945-A352-FB551471AA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447" y="2865645"/>
                <a:ext cx="8712968" cy="1369670"/>
              </a:xfrm>
              <a:prstGeom prst="rect">
                <a:avLst/>
              </a:prstGeom>
              <a:blipFill>
                <a:blip r:embed="rId3"/>
                <a:stretch>
                  <a:fillRect l="-630" t="-3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19B92E9B-F644-4F9F-AE99-2E19EF379AAB}"/>
              </a:ext>
            </a:extLst>
          </p:cNvPr>
          <p:cNvSpPr/>
          <p:nvPr/>
        </p:nvSpPr>
        <p:spPr>
          <a:xfrm>
            <a:off x="311802" y="5688357"/>
            <a:ext cx="8712968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itchFamily="2" charset="2"/>
              <a:buChar char="q"/>
            </a:pP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函数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ztrans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fn,n,z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zh-CN" sz="2400" b="1" dirty="0">
                <a:solidFill>
                  <a:srgbClr val="0070C0"/>
                </a:solidFill>
                <a:latin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时间域变量</a:t>
            </a:r>
            <a:r>
              <a:rPr lang="en-US" altLang="zh-CN" sz="2400" b="1" dirty="0">
                <a:latin typeface="+mj-ea"/>
                <a:ea typeface="+mj-ea"/>
              </a:rPr>
              <a:t>n</a:t>
            </a:r>
            <a:r>
              <a:rPr lang="zh-CN" altLang="en-US" sz="2400" b="1" dirty="0">
                <a:latin typeface="+mj-ea"/>
                <a:ea typeface="+mj-ea"/>
              </a:rPr>
              <a:t>，频率域变量</a:t>
            </a:r>
            <a:r>
              <a:rPr lang="en-US" altLang="zh-CN" sz="2400" b="1" dirty="0">
                <a:latin typeface="+mj-ea"/>
                <a:ea typeface="+mj-ea"/>
              </a:rPr>
              <a:t>z</a:t>
            </a:r>
          </a:p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itchFamily="2" charset="2"/>
              <a:buChar char="q"/>
            </a:pP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函数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iztrans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FZ,z,n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altLang="en-US" sz="2400" b="1" dirty="0">
                <a:latin typeface="+mj-ea"/>
                <a:ea typeface="+mj-ea"/>
              </a:rPr>
              <a:t> 频率域变量</a:t>
            </a:r>
            <a:r>
              <a:rPr lang="en-US" altLang="zh-CN" sz="2400" b="1" dirty="0">
                <a:latin typeface="+mj-ea"/>
                <a:ea typeface="+mj-ea"/>
              </a:rPr>
              <a:t>z,</a:t>
            </a:r>
            <a:r>
              <a:rPr lang="zh-CN" altLang="en-US" sz="2400" b="1" dirty="0">
                <a:latin typeface="+mj-ea"/>
              </a:rPr>
              <a:t>时间域变量</a:t>
            </a:r>
            <a:r>
              <a:rPr lang="en-US" altLang="zh-CN" sz="2400" b="1" dirty="0">
                <a:latin typeface="+mj-ea"/>
              </a:rPr>
              <a:t>n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8BD9FB1-FCB5-4A2E-A1DC-335F08BEBB58}"/>
              </a:ext>
            </a:extLst>
          </p:cNvPr>
          <p:cNvSpPr/>
          <p:nvPr/>
        </p:nvSpPr>
        <p:spPr>
          <a:xfrm>
            <a:off x="313895" y="4213155"/>
            <a:ext cx="87129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itchFamily="2" charset="2"/>
              <a:buChar char="q"/>
            </a:pPr>
            <a:r>
              <a:rPr lang="en-US" altLang="zh-CN" sz="2400" b="1" dirty="0">
                <a:solidFill>
                  <a:prstClr val="black"/>
                </a:solidFill>
                <a:latin typeface="+mj-ea"/>
                <a:ea typeface="+mj-ea"/>
              </a:rPr>
              <a:t>Z</a:t>
            </a: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变换描述了离散序列的复数频率域信息</a:t>
            </a:r>
            <a:r>
              <a:rPr lang="zh-CN" altLang="en-US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（</a:t>
            </a:r>
            <a:r>
              <a:rPr lang="zh-CN" altLang="en-US" sz="2400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对应，傅、拉变换描述连续型函数的复频率信息</a:t>
            </a:r>
            <a:r>
              <a:rPr lang="zh-CN" altLang="en-US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）</a:t>
            </a:r>
            <a:r>
              <a:rPr lang="en-US" altLang="zh-CN" sz="2400" b="1" dirty="0">
                <a:solidFill>
                  <a:prstClr val="black"/>
                </a:solidFill>
                <a:latin typeface="+mj-ea"/>
                <a:ea typeface="+mj-ea"/>
              </a:rPr>
              <a:t>,</a:t>
            </a: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可以将差分方程转化为代数方程。（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对应，傅、拉变换把微分方程转化为代数方程</a:t>
            </a: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）</a:t>
            </a:r>
            <a:endParaRPr lang="en-US" altLang="zh-CN" sz="2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332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291219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MATLAB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完成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Z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变换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E7D9517-21E9-4A1F-A2B0-0030144974AC}"/>
              </a:ext>
            </a:extLst>
          </p:cNvPr>
          <p:cNvSpPr/>
          <p:nvPr/>
        </p:nvSpPr>
        <p:spPr>
          <a:xfrm>
            <a:off x="179512" y="1222761"/>
            <a:ext cx="8118648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clear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syms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n z			</a:t>
            </a: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gn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=6*(1-(1/2)^n)	%</a:t>
            </a:r>
            <a:r>
              <a:rPr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gn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称为时间序列 </a:t>
            </a:r>
            <a:r>
              <a:rPr lang="en-US" altLang="zh-CN" sz="2000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gn</a:t>
            </a: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=</a:t>
            </a:r>
            <a:r>
              <a:rPr lang="en-US" altLang="zh-CN" sz="2000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6 - 6*(1/2)^n</a:t>
            </a:r>
            <a:endParaRPr lang="zh-CN" altLang="zh-CN" sz="2000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G=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ztrans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gn,n,z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);		%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pretty(G)			%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6 z     6 z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----- - -----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z - 1       1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   z - -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       2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91769F69-7FA3-4C6B-85E7-4AA2F127218B}"/>
                  </a:ext>
                </a:extLst>
              </p:cNvPr>
              <p:cNvSpPr/>
              <p:nvPr/>
            </p:nvSpPr>
            <p:spPr>
              <a:xfrm>
                <a:off x="161375" y="4091965"/>
                <a:ext cx="9107458" cy="28623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syms n w T z					%&lt;6&gt;</a:t>
                </a:r>
                <a:endParaRPr lang="zh-CN" altLang="zh-CN" sz="2000" dirty="0">
                  <a:latin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fwn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=sin(w*n*T);		%</a:t>
                </a:r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定义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𝒇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𝒘</m:t>
                        </m:r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⋅</m:t>
                        </m:r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𝑻𝒏</m:t>
                        </m:r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zh-CN" altLang="zh-CN" sz="2000" dirty="0">
                  <a:latin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FW=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ztrans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fwn,n,z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);pretty(FW),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disp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(' ')</a:t>
                </a:r>
                <a:r>
                  <a:rPr lang="en-US" altLang="zh-CN" dirty="0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</a:t>
                </a:r>
                <a:endParaRPr lang="zh-CN" altLang="zh-CN" dirty="0"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dirty="0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      z sin(T w) </a:t>
                </a:r>
                <a:endParaRPr lang="zh-CN" altLang="zh-CN" dirty="0"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dirty="0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 --------------------- </a:t>
                </a:r>
                <a:endParaRPr lang="zh-CN" altLang="zh-CN" dirty="0"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dirty="0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  2 </a:t>
                </a:r>
                <a:endParaRPr lang="zh-CN" altLang="zh-CN" dirty="0"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dirty="0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 z  - 2 cos(T w) z + 1</a:t>
                </a: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endParaRPr lang="zh-CN" altLang="zh-CN" dirty="0"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tabLst>
                    <a:tab pos="269875" algn="l"/>
                  </a:tabLst>
                </a:pPr>
                <a:r>
                  <a:rPr lang="en-US" altLang="zh-CN" dirty="0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inv_FW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iztrans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FW,z,n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)	%</a:t>
                </a:r>
                <a:r>
                  <a:rPr lang="en-US" altLang="zh-CN" dirty="0" err="1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inv_FW</a:t>
                </a:r>
                <a:r>
                  <a:rPr lang="en-US" altLang="zh-CN" dirty="0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= sin(T*n*w) </a:t>
                </a:r>
                <a:r>
                  <a:rPr lang="en-US" altLang="zh-CN" dirty="0"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endParaRPr lang="zh-CN" altLang="zh-CN" dirty="0"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91769F69-7FA3-4C6B-85E7-4AA2F12721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75" y="4091965"/>
                <a:ext cx="9107458" cy="2862322"/>
              </a:xfrm>
              <a:prstGeom prst="rect">
                <a:avLst/>
              </a:prstGeom>
              <a:blipFill>
                <a:blip r:embed="rId3"/>
                <a:stretch>
                  <a:fillRect l="-535" t="-8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0A1E9B9E-E509-4CCD-8178-E7CFCB5D473D}"/>
              </a:ext>
            </a:extLst>
          </p:cNvPr>
          <p:cNvSpPr/>
          <p:nvPr/>
        </p:nvSpPr>
        <p:spPr>
          <a:xfrm>
            <a:off x="251520" y="851781"/>
            <a:ext cx="78593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【例】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zh-CN" altLang="en-US" dirty="0"/>
              <a:t>变换、反变换算例。</a:t>
            </a:r>
          </a:p>
        </p:txBody>
      </p:sp>
    </p:spTree>
    <p:extLst>
      <p:ext uri="{BB962C8B-B14F-4D97-AF65-F5344CB8AC3E}">
        <p14:creationId xmlns:p14="http://schemas.microsoft.com/office/powerpoint/2010/main" val="497285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21861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MATLAB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完成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Z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变换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C82C76AA-5538-4848-A975-12DB50E89339}"/>
                  </a:ext>
                </a:extLst>
              </p:cNvPr>
              <p:cNvSpPr/>
              <p:nvPr/>
            </p:nvSpPr>
            <p:spPr>
              <a:xfrm>
                <a:off x="251520" y="1484784"/>
                <a:ext cx="7542584" cy="29854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syms n z						%&lt;11&gt;</a:t>
                </a:r>
                <a:endParaRPr lang="zh-CN" altLang="zh-CN" dirty="0"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f1=1;  %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e>
                    </m:d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endParaRPr lang="en-US" altLang="zh-CN" dirty="0">
                  <a:solidFill>
                    <a:srgbClr val="FF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endParaRPr lang="zh-CN" altLang="zh-CN" dirty="0">
                  <a:solidFill>
                    <a:srgbClr val="FF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F1=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ztrans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(f1,n,z);</a:t>
                </a: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dirty="0"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pretty(F1) </a:t>
                </a:r>
                <a:endParaRPr lang="zh-CN" altLang="zh-CN" dirty="0"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dirty="0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	  z </a:t>
                </a:r>
                <a:endParaRPr lang="zh-CN" altLang="zh-CN" sz="2000" dirty="0">
                  <a:latin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dirty="0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 ----- </a:t>
                </a:r>
                <a:endParaRPr lang="zh-CN" altLang="zh-CN" sz="2000" dirty="0">
                  <a:latin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dirty="0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 z – 1</a:t>
                </a: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endParaRPr lang="en-US" altLang="zh-CN" sz="2000" dirty="0">
                  <a:solidFill>
                    <a:srgbClr val="0000FF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tabLst>
                    <a:tab pos="269875" algn="l"/>
                  </a:tabLst>
                </a:pPr>
                <a:r>
                  <a:rPr lang="en-US" altLang="zh-CN" sz="2000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inv_F1=</a:t>
                </a:r>
                <a:r>
                  <a:rPr lang="en-US" altLang="zh-CN" sz="2000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iztrans</a:t>
                </a:r>
                <a:r>
                  <a:rPr lang="en-US" altLang="zh-CN" sz="2000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(F1,z,n)   % </a:t>
                </a:r>
                <a:r>
                  <a:rPr lang="en-US" altLang="zh-CN" sz="2000" dirty="0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inv_F1 = 1 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 </a:t>
                </a:r>
                <a:endParaRPr lang="zh-CN" altLang="zh-CN" sz="240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C82C76AA-5538-4848-A975-12DB50E893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484784"/>
                <a:ext cx="7542584" cy="2985433"/>
              </a:xfrm>
              <a:prstGeom prst="rect">
                <a:avLst/>
              </a:prstGeom>
              <a:blipFill>
                <a:blip r:embed="rId3"/>
                <a:stretch>
                  <a:fillRect l="-808" t="-1227" b="-30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793BC5FF-BDCC-4A91-A3FD-0AF1718CA0E3}"/>
                  </a:ext>
                </a:extLst>
              </p:cNvPr>
              <p:cNvSpPr/>
              <p:nvPr/>
            </p:nvSpPr>
            <p:spPr>
              <a:xfrm>
                <a:off x="251520" y="4499015"/>
                <a:ext cx="8496944" cy="20313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clear</a:t>
                </a:r>
                <a:endParaRPr lang="zh-CN" altLang="zh-CN" dirty="0"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syms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n z		</a:t>
                </a: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delta=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kroneckerDelta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(n);%</a:t>
                </a:r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仅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𝜹</m:t>
                    </m:r>
                    <m:d>
                      <m:dPr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e>
                    </m:d>
                    <m:r>
                      <a:rPr lang="en-US" altLang="zh-CN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en-US" altLang="zh-CN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其余点</a:t>
                </a:r>
                <a:r>
                  <a:rPr lang="en-US" altLang="zh-CN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f</a:t>
                </a:r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值为</a:t>
                </a:r>
                <a:r>
                  <a:rPr lang="en-US" altLang="zh-CN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0,</a:t>
                </a:r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新版本不支持字符串</a:t>
                </a:r>
                <a:endParaRPr lang="en-US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endParaRPr lang="zh-CN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KD=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ztrans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delta,n,z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)	</a:t>
                </a:r>
                <a:r>
                  <a:rPr lang="en-US" altLang="zh-CN" dirty="0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KD =</a:t>
                </a:r>
                <a:r>
                  <a:rPr lang="en-US" altLang="zh-CN" dirty="0"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		</a:t>
                </a: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		</a:t>
                </a:r>
                <a:endParaRPr lang="zh-CN" altLang="zh-CN" dirty="0"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inv_KD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iztrans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(KD) </a:t>
                </a:r>
                <a:r>
                  <a:rPr lang="en-US" altLang="zh-CN" dirty="0"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 err="1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inv_KD</a:t>
                </a:r>
                <a:r>
                  <a:rPr lang="en-US" altLang="zh-CN" dirty="0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=</a:t>
                </a:r>
                <a:r>
                  <a:rPr lang="en-US" altLang="zh-CN" dirty="0"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 err="1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kroneckerDelta</a:t>
                </a:r>
                <a:r>
                  <a:rPr lang="en-US" altLang="zh-CN" dirty="0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(n, 0) </a:t>
                </a:r>
                <a:r>
                  <a:rPr lang="en-US" altLang="zh-CN" dirty="0"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</a:t>
                </a:r>
                <a:endParaRPr lang="zh-CN" altLang="zh-CN" dirty="0"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793BC5FF-BDCC-4A91-A3FD-0AF1718CA0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4499015"/>
                <a:ext cx="8496944" cy="2031325"/>
              </a:xfrm>
              <a:prstGeom prst="rect">
                <a:avLst/>
              </a:prstGeom>
              <a:blipFill>
                <a:blip r:embed="rId4"/>
                <a:stretch>
                  <a:fillRect l="-574" t="-1502" r="-646" b="-39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F64F2861-272F-40F5-A251-9698B9E28D30}"/>
              </a:ext>
            </a:extLst>
          </p:cNvPr>
          <p:cNvSpPr/>
          <p:nvPr/>
        </p:nvSpPr>
        <p:spPr>
          <a:xfrm>
            <a:off x="251520" y="1019920"/>
            <a:ext cx="78593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【例】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zh-CN" altLang="en-US" dirty="0"/>
              <a:t>变换、反变换算例。</a:t>
            </a:r>
          </a:p>
        </p:txBody>
      </p:sp>
    </p:spTree>
    <p:extLst>
      <p:ext uri="{BB962C8B-B14F-4D97-AF65-F5344CB8AC3E}">
        <p14:creationId xmlns:p14="http://schemas.microsoft.com/office/powerpoint/2010/main" val="147189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24530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MATLAB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完成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Z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变换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79A2DCA-B223-4A83-8F6D-4095AE3A7ABA}"/>
              </a:ext>
            </a:extLst>
          </p:cNvPr>
          <p:cNvSpPr/>
          <p:nvPr/>
        </p:nvSpPr>
        <p:spPr>
          <a:xfrm>
            <a:off x="251520" y="1380421"/>
            <a:ext cx="8424936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syms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n z f(n)			</a:t>
            </a: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syms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k positive		</a:t>
            </a: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assumeAlso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k,'integer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')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这两句表明假设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k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为正整数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</a:t>
            </a: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fd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=f(n)*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kroneckerDelta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(n-k); 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仅</a:t>
            </a:r>
            <a:r>
              <a:rPr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fd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(k)=f(k),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其余为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0</a:t>
            </a: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FD=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ztrans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fd,n,z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  		</a:t>
            </a: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FD =</a:t>
            </a:r>
            <a:r>
              <a:rPr lang="en-US" altLang="zh-CN" sz="2000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f(k)/</a:t>
            </a:r>
            <a:r>
              <a:rPr lang="en-US" altLang="zh-CN" sz="2000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z^k</a:t>
            </a:r>
            <a:endParaRPr lang="en-US" altLang="zh-CN" sz="2000" dirty="0">
              <a:solidFill>
                <a:srgbClr val="0000FF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tabLst>
                <a:tab pos="269875" algn="l"/>
              </a:tabLst>
            </a:pP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inv_FD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iztrans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FD,z,n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</a:t>
            </a: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inv_FD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=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f(k)*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kroneckerDelta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(k - n, 0)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0C9EDC97-1AF1-4993-8210-4C26BC52C09E}"/>
                  </a:ext>
                </a:extLst>
              </p:cNvPr>
              <p:cNvSpPr/>
              <p:nvPr/>
            </p:nvSpPr>
            <p:spPr>
              <a:xfrm>
                <a:off x="255486" y="4653136"/>
                <a:ext cx="8060930" cy="15942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syms a z n</a:t>
                </a:r>
                <a:endParaRPr lang="zh-CN" altLang="zh-CN" sz="2000" dirty="0">
                  <a:latin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GZ=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exp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(-a/z);		%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𝑮𝒁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𝐞</m:t>
                        </m:r>
                      </m:e>
                      <m:sup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num>
                          <m:den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𝒛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zh-CN" b="1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en-US" b="1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洛朗展式存在，系数对应其逆变换</a:t>
                </a:r>
                <a:endParaRPr lang="en-US" altLang="zh-CN" b="1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endParaRPr lang="zh-CN" altLang="zh-CN" sz="2000" dirty="0">
                  <a:latin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gn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iztrans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b="1" dirty="0" err="1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GZ,z,n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)	%</a:t>
                </a: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</a:tabLst>
                </a:pPr>
                <a:r>
                  <a:rPr lang="en-US" altLang="zh-CN" dirty="0" err="1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gn</a:t>
                </a:r>
                <a:r>
                  <a:rPr lang="en-US" altLang="zh-CN" dirty="0">
                    <a:solidFill>
                      <a:srgbClr val="0000FF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=(-a)^n/factorial(n)</a:t>
                </a:r>
                <a:r>
                  <a:rPr lang="en-US" altLang="zh-CN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</a:t>
                </a:r>
                <a:endParaRPr lang="zh-CN" altLang="zh-CN" dirty="0"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0C9EDC97-1AF1-4993-8210-4C26BC52C0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486" y="4653136"/>
                <a:ext cx="8060930" cy="1594219"/>
              </a:xfrm>
              <a:prstGeom prst="rect">
                <a:avLst/>
              </a:prstGeom>
              <a:blipFill>
                <a:blip r:embed="rId3"/>
                <a:stretch>
                  <a:fillRect l="-681" t="-1527" b="-4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04CB2DD7-C60B-4C19-8C41-56E9219E24C2}"/>
              </a:ext>
            </a:extLst>
          </p:cNvPr>
          <p:cNvSpPr/>
          <p:nvPr/>
        </p:nvSpPr>
        <p:spPr>
          <a:xfrm>
            <a:off x="251520" y="954393"/>
            <a:ext cx="78593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【例】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zh-CN" altLang="en-US" dirty="0"/>
              <a:t>变换、反变换算例。</a:t>
            </a:r>
          </a:p>
        </p:txBody>
      </p:sp>
    </p:spTree>
    <p:extLst>
      <p:ext uri="{BB962C8B-B14F-4D97-AF65-F5344CB8AC3E}">
        <p14:creationId xmlns:p14="http://schemas.microsoft.com/office/powerpoint/2010/main" val="4236632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807" y="-281502"/>
            <a:ext cx="8110394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第三四周电子版作业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664C0063-0D38-45C3-A014-EABEF14E3AED}"/>
                  </a:ext>
                </a:extLst>
              </p:cNvPr>
              <p:cNvSpPr/>
              <p:nvPr/>
            </p:nvSpPr>
            <p:spPr>
              <a:xfrm>
                <a:off x="251520" y="845268"/>
                <a:ext cx="8712968" cy="9987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itchFamily="2" charset="2"/>
                  <a:buChar char="q"/>
                </a:pPr>
                <a:r>
                  <a:rPr lang="en-US" altLang="zh-CN" sz="2400" b="1" dirty="0">
                    <a:solidFill>
                      <a:prstClr val="black"/>
                    </a:solidFill>
                    <a:latin typeface="+mj-ea"/>
                    <a:ea typeface="+mj-ea"/>
                  </a:rPr>
                  <a:t>Q1. 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+mj-ea"/>
                    <a:ea typeface="+mj-ea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j-ea"/>
                      </a:rPr>
                      <m:t>[</m:t>
                    </m:r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j-ea"/>
                      </a:rPr>
                      <m:t>𝟎</m:t>
                    </m:r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j-ea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j-ea"/>
                      </a:rPr>
                      <m:t>𝟐</m:t>
                    </m:r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j-ea"/>
                      </a:rPr>
                      <m:t>𝝅</m:t>
                    </m:r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j-ea"/>
                      </a:rPr>
                      <m:t>]</m:t>
                    </m:r>
                  </m:oMath>
                </a14:m>
                <a:r>
                  <a:rPr lang="zh-CN" altLang="en-US" sz="2400" b="1" dirty="0">
                    <a:latin typeface="+mj-ea"/>
                    <a:ea typeface="+mj-ea"/>
                  </a:rPr>
                  <a:t>区间，画出变上限积分函数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+mj-ea"/>
                      </a:rPr>
                      <m:t>𝒚</m:t>
                    </m:r>
                    <m:d>
                      <m:d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ea typeface="+mj-ea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+mj-ea"/>
                          </a:rPr>
                          <m:t>𝒙</m:t>
                        </m:r>
                      </m:e>
                    </m:d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+mj-ea"/>
                      </a:rPr>
                      <m:t>=</m:t>
                    </m:r>
                    <m:nary>
                      <m:nary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ea typeface="+mj-ea"/>
                          </a:rPr>
                        </m:ctrlPr>
                      </m:naryPr>
                      <m: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+mj-ea"/>
                          </a:rPr>
                          <m:t>𝟎</m:t>
                        </m:r>
                      </m:sub>
                      <m:sup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+mj-ea"/>
                          </a:rPr>
                          <m:t>𝒙</m:t>
                        </m:r>
                      </m:sup>
                      <m:e>
                        <m:f>
                          <m:f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+mj-ea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latin typeface="Cambria Math" panose="02040503050406030204" pitchFamily="18" charset="0"/>
                                    <a:ea typeface="+mj-ea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+mj-ea"/>
                                  </a:rPr>
                                  <m:t>𝒕</m:t>
                                </m:r>
                              </m:e>
                            </m:func>
                          </m:num>
                          <m:den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ea typeface="+mj-ea"/>
                              </a:rPr>
                              <m:t>𝒕</m:t>
                            </m:r>
                          </m:den>
                        </m:f>
                      </m:e>
                    </m:nary>
                    <m:r>
                      <a:rPr lang="en-US" altLang="zh-CN" sz="2400" b="1" i="0" smtClean="0">
                        <a:latin typeface="Cambria Math" panose="02040503050406030204" pitchFamily="18" charset="0"/>
                        <a:ea typeface="+mj-ea"/>
                      </a:rPr>
                      <m:t>𝐝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+mj-ea"/>
                      </a:rPr>
                      <m:t>𝒕</m:t>
                    </m:r>
                  </m:oMath>
                </a14:m>
                <a:r>
                  <a:rPr lang="zh-CN" altLang="en-US" sz="2400" b="1" dirty="0">
                    <a:latin typeface="+mj-ea"/>
                    <a:ea typeface="+mj-ea"/>
                  </a:rPr>
                  <a:t>的曲线，并计算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+mj-ea"/>
                      </a:rPr>
                      <m:t>𝒚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+mj-ea"/>
                      </a:rPr>
                      <m:t>(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+mj-ea"/>
                      </a:rPr>
                      <m:t>𝟒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+mj-ea"/>
                      </a:rPr>
                      <m:t>.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+mj-ea"/>
                      </a:rPr>
                      <m:t>𝟓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+mj-ea"/>
                      </a:rPr>
                      <m:t>)</m:t>
                    </m:r>
                  </m:oMath>
                </a14:m>
                <a:r>
                  <a:rPr lang="zh-CN" altLang="en-US" sz="2400" b="1" dirty="0">
                    <a:latin typeface="+mj-ea"/>
                    <a:ea typeface="+mj-ea"/>
                  </a:rPr>
                  <a:t>。</a:t>
                </a:r>
                <a:endParaRPr lang="en-US" altLang="zh-CN" sz="2400" b="1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664C0063-0D38-45C3-A014-EABEF14E3A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845268"/>
                <a:ext cx="8712968" cy="998735"/>
              </a:xfrm>
              <a:prstGeom prst="rect">
                <a:avLst/>
              </a:prstGeom>
              <a:blipFill>
                <a:blip r:embed="rId3"/>
                <a:stretch>
                  <a:fillRect l="-629" b="-122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883F9A33-09F6-43B6-86A2-C9C5E0A5CE82}"/>
                  </a:ext>
                </a:extLst>
              </p:cNvPr>
              <p:cNvSpPr/>
              <p:nvPr/>
            </p:nvSpPr>
            <p:spPr>
              <a:xfrm>
                <a:off x="251520" y="2217224"/>
                <a:ext cx="8712968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itchFamily="2" charset="2"/>
                  <a:buChar char="q"/>
                </a:pPr>
                <a:r>
                  <a:rPr lang="en-US" altLang="zh-CN" sz="2400" b="1" dirty="0">
                    <a:solidFill>
                      <a:prstClr val="black"/>
                    </a:solidFill>
                    <a:latin typeface="+mj-ea"/>
                    <a:ea typeface="+mj-ea"/>
                  </a:rPr>
                  <a:t>Q2. 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+mj-ea"/>
                    <a:ea typeface="+mj-ea"/>
                  </a:rPr>
                  <a:t>不用字符串表达式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+mj-ea"/>
                    <a:ea typeface="+mj-ea"/>
                  </a:rPr>
                  <a:t>调用</a:t>
                </a:r>
                <a:r>
                  <a:rPr lang="en-US" altLang="zh-CN" sz="2400" b="1" dirty="0" err="1">
                    <a:solidFill>
                      <a:schemeClr val="accent2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dsolve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+mj-ea"/>
                    <a:ea typeface="+mj-ea"/>
                  </a:rPr>
                  <a:t>函数，解决下列微分方程的初值问题，并利用符号运算进行回代检验解是否正确。</a:t>
                </a:r>
                <a:endParaRPr lang="en-US" altLang="zh-CN" sz="2400" b="1" dirty="0">
                  <a:solidFill>
                    <a:prstClr val="black"/>
                  </a:solidFill>
                  <a:latin typeface="+mj-ea"/>
                  <a:ea typeface="+mj-ea"/>
                </a:endParaRPr>
              </a:p>
              <a:p>
                <a:pPr>
                  <a:spcBef>
                    <a:spcPts val="580"/>
                  </a:spcBef>
                  <a:buClr>
                    <a:srgbClr val="00B050"/>
                  </a:buClr>
                  <a:buSzPct val="85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sSup>
                        <m:sSupPr>
                          <m:ctrlPr>
                            <a:rPr lang="en-US" altLang="zh-CN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altLang="zh-CN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r>
                        <a:rPr lang="en-US" altLang="zh-CN" sz="24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sSup>
                        <m:sSupPr>
                          <m:ctrlPr>
                            <a:rPr lang="en-US" altLang="zh-CN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altLang="zh-CN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24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d>
                        <m:dPr>
                          <m:ctrlPr>
                            <a:rPr lang="en-US" altLang="zh-CN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CN" sz="24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24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d>
                        <m:dPr>
                          <m:ctrlPr>
                            <a:rPr lang="en-US" altLang="zh-CN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  <m:r>
                        <a:rPr lang="en-US" altLang="zh-CN" sz="24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altLang="zh-CN" sz="2400" b="1" dirty="0">
                  <a:solidFill>
                    <a:prstClr val="black"/>
                  </a:solidFill>
                  <a:latin typeface="+mj-ea"/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883F9A33-09F6-43B6-86A2-C9C5E0A5CE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2217224"/>
                <a:ext cx="8712968" cy="1200329"/>
              </a:xfrm>
              <a:prstGeom prst="rect">
                <a:avLst/>
              </a:prstGeom>
              <a:blipFill>
                <a:blip r:embed="rId4"/>
                <a:stretch>
                  <a:fillRect l="-629" t="-7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B502C5D-BE5A-4EBD-A3CB-62FABD67E807}"/>
                  </a:ext>
                </a:extLst>
              </p:cNvPr>
              <p:cNvSpPr/>
              <p:nvPr/>
            </p:nvSpPr>
            <p:spPr>
              <a:xfrm>
                <a:off x="251520" y="3644430"/>
                <a:ext cx="8712968" cy="12835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itchFamily="2" charset="2"/>
                  <a:buChar char="q"/>
                </a:pPr>
                <a:r>
                  <a:rPr lang="en-US" altLang="zh-CN" sz="2400" b="1" dirty="0">
                    <a:solidFill>
                      <a:prstClr val="black"/>
                    </a:solidFill>
                    <a:latin typeface="+mj-ea"/>
                    <a:ea typeface="+mj-ea"/>
                  </a:rPr>
                  <a:t>Q3. </a:t>
                </a:r>
                <a:r>
                  <a:rPr lang="zh-CN" altLang="en-US" sz="2400" b="1" dirty="0">
                    <a:latin typeface="+mj-ea"/>
                    <a:ea typeface="+mj-ea"/>
                  </a:rPr>
                  <a:t>用</a:t>
                </a:r>
                <a:r>
                  <a:rPr lang="en-US" altLang="zh-CN" sz="2400" b="1" dirty="0">
                    <a:latin typeface="+mj-ea"/>
                    <a:ea typeface="+mj-ea"/>
                  </a:rPr>
                  <a:t>MATLAB</a:t>
                </a:r>
                <a:r>
                  <a:rPr lang="zh-CN" altLang="en-US" sz="2400" b="1" dirty="0">
                    <a:latin typeface="+mj-ea"/>
                    <a:ea typeface="+mj-ea"/>
                  </a:rPr>
                  <a:t>符号运算验证拉普拉斯变换的时域导数性质：</a:t>
                </a:r>
                <a:endParaRPr lang="en-US" altLang="zh-CN" sz="2400" b="1" dirty="0">
                  <a:latin typeface="+mj-ea"/>
                  <a:ea typeface="+mj-ea"/>
                </a:endParaRPr>
              </a:p>
              <a:p>
                <a:pPr>
                  <a:spcBef>
                    <a:spcPts val="580"/>
                  </a:spcBef>
                  <a:buClr>
                    <a:srgbClr val="00B050"/>
                  </a:buClr>
                  <a:buSzPct val="85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𝑳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1" i="0" smtClean="0">
                                  <a:latin typeface="Cambria Math" panose="02040503050406030204" pitchFamily="18" charset="0"/>
                                </a:rPr>
                                <m:t>𝐝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  <m:d>
                                <m:dPr>
                                  <m:ctrlP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𝒅𝒕</m:t>
                              </m:r>
                            </m:den>
                          </m:f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𝑳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b="1" dirty="0">
                  <a:latin typeface="+mj-ea"/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B502C5D-BE5A-4EBD-A3CB-62FABD67E8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3644430"/>
                <a:ext cx="8712968" cy="1283557"/>
              </a:xfrm>
              <a:prstGeom prst="rect">
                <a:avLst/>
              </a:prstGeom>
              <a:blipFill>
                <a:blip r:embed="rId5"/>
                <a:stretch>
                  <a:fillRect l="-629" t="-3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6D05533D-DEB8-4490-A0F3-9E872558B9CE}"/>
                  </a:ext>
                </a:extLst>
              </p:cNvPr>
              <p:cNvSpPr/>
              <p:nvPr/>
            </p:nvSpPr>
            <p:spPr>
              <a:xfrm>
                <a:off x="251520" y="5301208"/>
                <a:ext cx="8712968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itchFamily="2" charset="2"/>
                  <a:buChar char="q"/>
                </a:pPr>
                <a:r>
                  <a:rPr lang="en-US" altLang="zh-CN" sz="2400" b="1" dirty="0">
                    <a:solidFill>
                      <a:prstClr val="black"/>
                    </a:solidFill>
                    <a:latin typeface="+mj-ea"/>
                    <a:ea typeface="+mj-ea"/>
                  </a:rPr>
                  <a:t>Q4. </a:t>
                </a:r>
                <a:r>
                  <a:rPr lang="zh-CN" altLang="en-US" sz="2400" b="1" dirty="0">
                    <a:latin typeface="+mj-ea"/>
                    <a:ea typeface="+mj-ea"/>
                  </a:rPr>
                  <a:t>用</a:t>
                </a:r>
                <a:r>
                  <a:rPr lang="en-US" altLang="zh-CN" sz="2400" b="1" dirty="0">
                    <a:latin typeface="+mj-ea"/>
                    <a:ea typeface="+mj-ea"/>
                  </a:rPr>
                  <a:t>MATLAB</a:t>
                </a:r>
                <a:r>
                  <a:rPr lang="zh-CN" altLang="en-US" sz="2400" b="1" dirty="0">
                    <a:latin typeface="+mj-ea"/>
                    <a:ea typeface="+mj-ea"/>
                  </a:rPr>
                  <a:t>函数</a:t>
                </a:r>
                <a:r>
                  <a:rPr lang="en-US" altLang="zh-CN" sz="2400" b="1" dirty="0" err="1">
                    <a:solidFill>
                      <a:schemeClr val="accent2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vpa</a:t>
                </a:r>
                <a:r>
                  <a:rPr lang="zh-CN" altLang="en-US" sz="2400" b="1" dirty="0">
                    <a:latin typeface="+mj-ea"/>
                    <a:ea typeface="+mj-ea"/>
                  </a:rPr>
                  <a:t>显示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+mj-ea"/>
                      </a:rPr>
                      <m:t>𝝅</m:t>
                    </m:r>
                  </m:oMath>
                </a14:m>
                <a:r>
                  <a:rPr lang="zh-CN" altLang="en-US" sz="2400" b="1" dirty="0">
                    <a:latin typeface="+mj-ea"/>
                    <a:ea typeface="+mj-ea"/>
                  </a:rPr>
                  <a:t>的前</a:t>
                </a:r>
                <a:r>
                  <a:rPr lang="en-US" altLang="zh-CN" sz="2400" b="1" dirty="0">
                    <a:latin typeface="+mj-ea"/>
                    <a:ea typeface="+mj-ea"/>
                  </a:rPr>
                  <a:t>30</a:t>
                </a:r>
                <a:r>
                  <a:rPr lang="zh-CN" altLang="en-US" sz="2400" b="1" dirty="0">
                    <a:latin typeface="+mj-ea"/>
                    <a:ea typeface="+mj-ea"/>
                  </a:rPr>
                  <a:t>位有效数字，然后再用该函数显示的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+mj-ea"/>
                      </a:rPr>
                      <m:t>𝝅</m:t>
                    </m:r>
                  </m:oMath>
                </a14:m>
                <a:r>
                  <a:rPr lang="zh-CN" altLang="en-US" sz="2400" b="1" dirty="0">
                    <a:latin typeface="+mj-ea"/>
                    <a:ea typeface="+mj-ea"/>
                  </a:rPr>
                  <a:t>前</a:t>
                </a:r>
                <a:r>
                  <a:rPr lang="en-US" altLang="zh-CN" sz="2400" b="1" dirty="0">
                    <a:latin typeface="+mj-ea"/>
                    <a:ea typeface="+mj-ea"/>
                  </a:rPr>
                  <a:t>31</a:t>
                </a:r>
                <a:r>
                  <a:rPr lang="zh-CN" altLang="en-US" sz="2400" b="1" dirty="0">
                    <a:latin typeface="+mj-ea"/>
                    <a:ea typeface="+mj-ea"/>
                  </a:rPr>
                  <a:t>位有效数字，为何两个结果完全相同？</a:t>
                </a:r>
                <a:endParaRPr lang="en-US" altLang="zh-CN" sz="2400" b="1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6D05533D-DEB8-4490-A0F3-9E872558B9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5301208"/>
                <a:ext cx="8712968" cy="830997"/>
              </a:xfrm>
              <a:prstGeom prst="rect">
                <a:avLst/>
              </a:prstGeom>
              <a:blipFill>
                <a:blip r:embed="rId6"/>
                <a:stretch>
                  <a:fillRect l="-629" t="-10294" b="-139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614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954" y="-281502"/>
            <a:ext cx="79081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第三四周电子版作业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664C0063-0D38-45C3-A014-EABEF14E3AED}"/>
                  </a:ext>
                </a:extLst>
              </p:cNvPr>
              <p:cNvSpPr/>
              <p:nvPr/>
            </p:nvSpPr>
            <p:spPr>
              <a:xfrm>
                <a:off x="251520" y="861498"/>
                <a:ext cx="8438666" cy="58491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itchFamily="2" charset="2"/>
                  <a:buChar char="q"/>
                </a:pPr>
                <a:r>
                  <a:rPr lang="en-US" altLang="zh-CN" sz="2400" b="1" dirty="0">
                    <a:solidFill>
                      <a:prstClr val="black"/>
                    </a:solidFill>
                    <a:latin typeface="+mj-ea"/>
                    <a:ea typeface="+mj-ea"/>
                  </a:rPr>
                  <a:t>Q5.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+mj-ea"/>
                    <a:ea typeface="+mj-ea"/>
                  </a:rPr>
                  <a:t>（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+mj-ea"/>
                    <a:ea typeface="+mj-ea"/>
                  </a:rPr>
                  <a:t>附加题，选做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+mj-ea"/>
                    <a:ea typeface="+mj-ea"/>
                  </a:rPr>
                  <a:t>）利用课程与课外资料学习三大变换的相关性质（本题页数不建议超过</a:t>
                </a:r>
                <a:r>
                  <a:rPr lang="en-US" altLang="zh-CN" sz="2400" b="1" dirty="0">
                    <a:solidFill>
                      <a:prstClr val="black"/>
                    </a:solidFill>
                    <a:latin typeface="+mj-ea"/>
                    <a:ea typeface="+mj-ea"/>
                  </a:rPr>
                  <a:t>6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+mj-ea"/>
                    <a:ea typeface="+mj-ea"/>
                  </a:rPr>
                  <a:t>页（五号字））</a:t>
                </a:r>
                <a:endParaRPr lang="en-US" altLang="zh-CN" sz="2400" b="1" dirty="0">
                  <a:solidFill>
                    <a:prstClr val="black"/>
                  </a:solidFill>
                  <a:latin typeface="+mj-ea"/>
                  <a:ea typeface="+mj-ea"/>
                </a:endParaRPr>
              </a:p>
              <a:p>
                <a:pPr>
                  <a:spcBef>
                    <a:spcPts val="580"/>
                  </a:spcBef>
                  <a:buClr>
                    <a:srgbClr val="00B050"/>
                  </a:buClr>
                  <a:buSzPct val="85000"/>
                </a:pPr>
                <a:r>
                  <a:rPr lang="zh-CN" altLang="en-US" sz="2400" b="1" dirty="0">
                    <a:latin typeface="+mj-ea"/>
                    <a:ea typeface="+mj-ea"/>
                  </a:rPr>
                  <a:t>（</a:t>
                </a:r>
                <a:r>
                  <a:rPr lang="en-US" altLang="zh-CN" sz="2400" b="1" dirty="0">
                    <a:latin typeface="+mj-ea"/>
                    <a:ea typeface="+mj-ea"/>
                  </a:rPr>
                  <a:t>1</a:t>
                </a:r>
                <a:r>
                  <a:rPr lang="zh-CN" altLang="en-US" sz="2400" b="1" dirty="0">
                    <a:latin typeface="+mj-ea"/>
                    <a:ea typeface="+mj-ea"/>
                  </a:rPr>
                  <a:t>）设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+mj-ea"/>
                      </a:rPr>
                      <m:t>𝒇</m:t>
                    </m:r>
                    <m:d>
                      <m:d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ea typeface="+mj-ea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+mj-ea"/>
                          </a:rPr>
                          <m:t>𝒕</m:t>
                        </m:r>
                      </m:e>
                    </m:d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+mj-ea"/>
                      </a:rPr>
                      <m:t>,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+mj-ea"/>
                      </a:rPr>
                      <m:t>𝒈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+mj-ea"/>
                      </a:rPr>
                      <m:t>(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+mj-ea"/>
                      </a:rPr>
                      <m:t>𝒕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+mj-ea"/>
                      </a:rPr>
                      <m:t>)</m:t>
                    </m:r>
                  </m:oMath>
                </a14:m>
                <a:r>
                  <a:rPr lang="zh-CN" altLang="en-US" sz="2400" b="1" dirty="0">
                    <a:latin typeface="+mj-ea"/>
                    <a:ea typeface="+mj-ea"/>
                  </a:rPr>
                  <a:t>为某些未知的</a:t>
                </a:r>
                <a:r>
                  <a:rPr lang="en-US" altLang="zh-CN" sz="2400" b="1" dirty="0" err="1">
                    <a:latin typeface="+mj-ea"/>
                    <a:ea typeface="+mj-ea"/>
                  </a:rPr>
                  <a:t>sym</a:t>
                </a:r>
                <a:r>
                  <a:rPr lang="zh-CN" altLang="en-US" sz="2400" b="1" dirty="0">
                    <a:latin typeface="+mj-ea"/>
                    <a:ea typeface="+mj-ea"/>
                  </a:rPr>
                  <a:t>函数，尝试通过通过</a:t>
                </a:r>
                <a:r>
                  <a:rPr lang="en-US" altLang="zh-CN" sz="2400" b="1" dirty="0">
                    <a:latin typeface="+mj-ea"/>
                    <a:ea typeface="+mj-ea"/>
                  </a:rPr>
                  <a:t>MATLAB</a:t>
                </a:r>
                <a:r>
                  <a:rPr lang="zh-CN" altLang="en-US" sz="2400" b="1" dirty="0">
                    <a:latin typeface="+mj-ea"/>
                    <a:ea typeface="+mj-ea"/>
                  </a:rPr>
                  <a:t>符号运算验证连续傅里叶变换的下列性质：</a:t>
                </a:r>
                <a:endParaRPr lang="en-US" altLang="zh-CN" sz="2400" b="1" dirty="0">
                  <a:latin typeface="+mj-ea"/>
                  <a:ea typeface="+mj-ea"/>
                </a:endParaRPr>
              </a:p>
              <a:p>
                <a:r>
                  <a:rPr lang="en-US" altLang="zh-CN" sz="2400" b="1" dirty="0">
                    <a:latin typeface="+mj-ea"/>
                    <a:ea typeface="+mj-ea"/>
                  </a:rPr>
                  <a:t>1. </a:t>
                </a:r>
                <a:r>
                  <a:rPr lang="zh-CN" altLang="zh-CN" sz="2400" b="1" dirty="0">
                    <a:latin typeface="+mj-ea"/>
                    <a:ea typeface="+mj-ea"/>
                  </a:rPr>
                  <a:t>平移性质：</a:t>
                </a:r>
                <a14:m>
                  <m:oMath xmlns:m="http://schemas.openxmlformats.org/officeDocument/2006/math">
                    <m:r>
                      <a:rPr lang="en-US" altLang="zh-CN" sz="2400" b="1">
                        <a:latin typeface="Cambria Math" panose="02040503050406030204" pitchFamily="18" charset="0"/>
                        <a:ea typeface="+mj-ea"/>
                      </a:rPr>
                      <m:t>𝓕</m:t>
                    </m:r>
                    <m:d>
                      <m:dPr>
                        <m:ctrlPr>
                          <a:rPr lang="zh-CN" altLang="zh-CN" sz="2400" b="1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dPr>
                      <m:e>
                        <m:r>
                          <a:rPr lang="en-US" altLang="zh-CN" sz="2400" b="1">
                            <a:latin typeface="Cambria Math" panose="02040503050406030204" pitchFamily="18" charset="0"/>
                            <a:ea typeface="+mj-ea"/>
                          </a:rPr>
                          <m:t>𝒇</m:t>
                        </m:r>
                        <m:d>
                          <m:dPr>
                            <m:ctrlPr>
                              <a:rPr lang="zh-CN" altLang="zh-CN" sz="2400" b="1" i="1"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dPr>
                          <m:e>
                            <m:r>
                              <a:rPr lang="en-US" altLang="zh-CN" sz="2400" b="1">
                                <a:latin typeface="Cambria Math" panose="02040503050406030204" pitchFamily="18" charset="0"/>
                                <a:ea typeface="+mj-ea"/>
                              </a:rPr>
                              <m:t>𝒕</m:t>
                            </m:r>
                            <m:r>
                              <a:rPr lang="en-US" altLang="zh-CN" sz="2400" b="1">
                                <a:latin typeface="Cambria Math" panose="02040503050406030204" pitchFamily="18" charset="0"/>
                                <a:ea typeface="+mj-ea"/>
                              </a:rPr>
                              <m:t>−</m:t>
                            </m:r>
                            <m:r>
                              <a:rPr lang="en-US" altLang="zh-CN" sz="2400" b="1">
                                <a:latin typeface="Cambria Math" panose="02040503050406030204" pitchFamily="18" charset="0"/>
                                <a:ea typeface="+mj-ea"/>
                              </a:rPr>
                              <m:t>𝒂</m:t>
                            </m:r>
                          </m:e>
                        </m:d>
                      </m:e>
                    </m:d>
                    <m:r>
                      <a:rPr lang="en-US" altLang="zh-CN" sz="2400" b="1">
                        <a:latin typeface="Cambria Math" panose="02040503050406030204" pitchFamily="18" charset="0"/>
                        <a:ea typeface="+mj-ea"/>
                      </a:rPr>
                      <m:t>= </m:t>
                    </m:r>
                    <m:r>
                      <a:rPr lang="en-US" altLang="zh-CN" sz="2400" b="1">
                        <a:latin typeface="Cambria Math" panose="02040503050406030204" pitchFamily="18" charset="0"/>
                        <a:ea typeface="+mj-ea"/>
                      </a:rPr>
                      <m:t>𝓕</m:t>
                    </m:r>
                    <m:d>
                      <m:dPr>
                        <m:ctrlPr>
                          <a:rPr lang="zh-CN" altLang="zh-CN" sz="2400" b="1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dPr>
                      <m:e>
                        <m:r>
                          <a:rPr lang="en-US" altLang="zh-CN" sz="2400" b="1">
                            <a:latin typeface="Cambria Math" panose="02040503050406030204" pitchFamily="18" charset="0"/>
                            <a:ea typeface="+mj-ea"/>
                          </a:rPr>
                          <m:t>𝒇</m:t>
                        </m:r>
                        <m:r>
                          <a:rPr lang="en-US" altLang="zh-CN" sz="2400" b="1">
                            <a:latin typeface="Cambria Math" panose="02040503050406030204" pitchFamily="18" charset="0"/>
                            <a:ea typeface="+mj-ea"/>
                          </a:rPr>
                          <m:t>(</m:t>
                        </m:r>
                        <m:r>
                          <a:rPr lang="en-US" altLang="zh-CN" sz="2400" b="1">
                            <a:latin typeface="Cambria Math" panose="02040503050406030204" pitchFamily="18" charset="0"/>
                            <a:ea typeface="+mj-ea"/>
                          </a:rPr>
                          <m:t>𝒕</m:t>
                        </m:r>
                        <m:r>
                          <a:rPr lang="en-US" altLang="zh-CN" sz="2400" b="1">
                            <a:latin typeface="Cambria Math" panose="02040503050406030204" pitchFamily="18" charset="0"/>
                            <a:ea typeface="+mj-ea"/>
                          </a:rPr>
                          <m:t>)</m:t>
                        </m:r>
                      </m:e>
                    </m:d>
                    <m:r>
                      <a:rPr lang="en-US" altLang="zh-CN" sz="2400" b="1">
                        <a:latin typeface="Cambria Math" panose="02040503050406030204" pitchFamily="18" charset="0"/>
                        <a:ea typeface="+mj-ea"/>
                      </a:rPr>
                      <m:t>⋅</m:t>
                    </m:r>
                    <m:sSup>
                      <m:sSupPr>
                        <m:ctrlPr>
                          <a:rPr lang="zh-CN" altLang="zh-CN" sz="2400" b="1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sSupPr>
                      <m:e>
                        <m:r>
                          <a:rPr lang="en-US" altLang="zh-CN" sz="2400" b="1">
                            <a:latin typeface="Cambria Math" panose="02040503050406030204" pitchFamily="18" charset="0"/>
                            <a:ea typeface="+mj-ea"/>
                          </a:rPr>
                          <m:t>𝐞</m:t>
                        </m:r>
                      </m:e>
                      <m:sup>
                        <m:r>
                          <a:rPr lang="en-US" altLang="zh-CN" sz="2400" b="1">
                            <a:latin typeface="Cambria Math" panose="02040503050406030204" pitchFamily="18" charset="0"/>
                            <a:ea typeface="+mj-ea"/>
                          </a:rPr>
                          <m:t>−</m:t>
                        </m:r>
                        <m:r>
                          <a:rPr lang="en-US" altLang="zh-CN" sz="2400" b="1">
                            <a:latin typeface="Cambria Math" panose="02040503050406030204" pitchFamily="18" charset="0"/>
                            <a:ea typeface="+mj-ea"/>
                          </a:rPr>
                          <m:t>𝒋</m:t>
                        </m:r>
                        <m:r>
                          <a:rPr lang="en-US" altLang="zh-CN" sz="2400" b="1">
                            <a:latin typeface="Cambria Math" panose="02040503050406030204" pitchFamily="18" charset="0"/>
                            <a:ea typeface="+mj-ea"/>
                          </a:rPr>
                          <m:t>𝝎</m:t>
                        </m:r>
                        <m:r>
                          <a:rPr lang="en-US" altLang="zh-CN" sz="2400" b="1">
                            <a:latin typeface="Cambria Math" panose="02040503050406030204" pitchFamily="18" charset="0"/>
                            <a:ea typeface="+mj-ea"/>
                          </a:rPr>
                          <m:t>𝒂</m:t>
                        </m:r>
                      </m:sup>
                    </m:sSup>
                  </m:oMath>
                </a14:m>
                <a:endParaRPr lang="zh-CN" altLang="zh-CN" sz="2400" b="1" dirty="0">
                  <a:latin typeface="+mj-ea"/>
                  <a:ea typeface="+mj-ea"/>
                </a:endParaRPr>
              </a:p>
              <a:p>
                <a:r>
                  <a:rPr lang="en-US" altLang="zh-CN" sz="2400" b="1" dirty="0">
                    <a:latin typeface="+mj-ea"/>
                    <a:ea typeface="+mj-ea"/>
                  </a:rPr>
                  <a:t>2. </a:t>
                </a:r>
                <a:r>
                  <a:rPr lang="zh-CN" altLang="zh-CN" sz="2400" b="1" dirty="0">
                    <a:latin typeface="+mj-ea"/>
                    <a:ea typeface="+mj-ea"/>
                  </a:rPr>
                  <a:t>导数性质：</a:t>
                </a:r>
                <a14:m>
                  <m:oMath xmlns:m="http://schemas.openxmlformats.org/officeDocument/2006/math">
                    <m:r>
                      <a:rPr lang="en-US" altLang="zh-CN" sz="2400" b="1">
                        <a:latin typeface="Cambria Math" panose="02040503050406030204" pitchFamily="18" charset="0"/>
                        <a:ea typeface="+mj-ea"/>
                      </a:rPr>
                      <m:t>𝓕</m:t>
                    </m:r>
                    <m:d>
                      <m:dPr>
                        <m:ctrlPr>
                          <a:rPr lang="zh-CN" altLang="zh-CN" sz="2400" b="1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dPr>
                      <m:e>
                        <m:r>
                          <a:rPr lang="en-US" altLang="zh-CN" sz="2400" b="1">
                            <a:latin typeface="Cambria Math" panose="02040503050406030204" pitchFamily="18" charset="0"/>
                            <a:ea typeface="+mj-ea"/>
                          </a:rPr>
                          <m:t>𝒇</m:t>
                        </m:r>
                        <m:r>
                          <a:rPr lang="en-US" altLang="zh-CN" sz="2400" b="1">
                            <a:latin typeface="Cambria Math" panose="02040503050406030204" pitchFamily="18" charset="0"/>
                            <a:ea typeface="+mj-ea"/>
                          </a:rPr>
                          <m:t>′(</m:t>
                        </m:r>
                        <m:r>
                          <a:rPr lang="en-US" altLang="zh-CN" sz="2400" b="1">
                            <a:latin typeface="Cambria Math" panose="02040503050406030204" pitchFamily="18" charset="0"/>
                            <a:ea typeface="+mj-ea"/>
                          </a:rPr>
                          <m:t>𝒕</m:t>
                        </m:r>
                        <m:r>
                          <a:rPr lang="en-US" altLang="zh-CN" sz="2400" b="1">
                            <a:latin typeface="Cambria Math" panose="02040503050406030204" pitchFamily="18" charset="0"/>
                            <a:ea typeface="+mj-ea"/>
                          </a:rPr>
                          <m:t>)</m:t>
                        </m:r>
                      </m:e>
                    </m:d>
                    <m:r>
                      <a:rPr lang="en-US" altLang="zh-CN" sz="2400" b="1">
                        <a:latin typeface="Cambria Math" panose="02040503050406030204" pitchFamily="18" charset="0"/>
                        <a:ea typeface="+mj-ea"/>
                      </a:rPr>
                      <m:t>= </m:t>
                    </m:r>
                    <m:r>
                      <a:rPr lang="en-US" altLang="zh-CN" sz="2400" b="1">
                        <a:latin typeface="Cambria Math" panose="02040503050406030204" pitchFamily="18" charset="0"/>
                        <a:ea typeface="+mj-ea"/>
                      </a:rPr>
                      <m:t>𝓕</m:t>
                    </m:r>
                    <m:d>
                      <m:dPr>
                        <m:ctrlPr>
                          <a:rPr lang="zh-CN" altLang="zh-CN" sz="2400" b="1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dPr>
                      <m:e>
                        <m:r>
                          <a:rPr lang="en-US" altLang="zh-CN" sz="2400" b="1">
                            <a:latin typeface="Cambria Math" panose="02040503050406030204" pitchFamily="18" charset="0"/>
                            <a:ea typeface="+mj-ea"/>
                          </a:rPr>
                          <m:t>𝒇</m:t>
                        </m:r>
                        <m:r>
                          <a:rPr lang="en-US" altLang="zh-CN" sz="2400" b="1">
                            <a:latin typeface="Cambria Math" panose="02040503050406030204" pitchFamily="18" charset="0"/>
                            <a:ea typeface="+mj-ea"/>
                          </a:rPr>
                          <m:t>(</m:t>
                        </m:r>
                        <m:r>
                          <a:rPr lang="en-US" altLang="zh-CN" sz="2400" b="1">
                            <a:latin typeface="Cambria Math" panose="02040503050406030204" pitchFamily="18" charset="0"/>
                            <a:ea typeface="+mj-ea"/>
                          </a:rPr>
                          <m:t>𝒕</m:t>
                        </m:r>
                        <m:r>
                          <a:rPr lang="en-US" altLang="zh-CN" sz="2400" b="1">
                            <a:latin typeface="Cambria Math" panose="02040503050406030204" pitchFamily="18" charset="0"/>
                            <a:ea typeface="+mj-ea"/>
                          </a:rPr>
                          <m:t>)</m:t>
                        </m:r>
                      </m:e>
                    </m:d>
                    <m:r>
                      <a:rPr lang="en-US" altLang="zh-CN" sz="2400" b="1">
                        <a:latin typeface="Cambria Math" panose="02040503050406030204" pitchFamily="18" charset="0"/>
                        <a:ea typeface="+mj-ea"/>
                      </a:rPr>
                      <m:t>⋅</m:t>
                    </m:r>
                    <m:r>
                      <a:rPr lang="en-US" altLang="zh-CN" sz="2400" b="1">
                        <a:latin typeface="Cambria Math" panose="02040503050406030204" pitchFamily="18" charset="0"/>
                        <a:ea typeface="+mj-ea"/>
                      </a:rPr>
                      <m:t>𝒊</m:t>
                    </m:r>
                    <m:r>
                      <a:rPr lang="en-US" altLang="zh-CN" sz="2400" b="1">
                        <a:latin typeface="Cambria Math" panose="02040503050406030204" pitchFamily="18" charset="0"/>
                        <a:ea typeface="+mj-ea"/>
                      </a:rPr>
                      <m:t>𝝎</m:t>
                    </m:r>
                  </m:oMath>
                </a14:m>
                <a:endParaRPr lang="zh-CN" altLang="zh-CN" sz="2400" b="1" dirty="0">
                  <a:latin typeface="+mj-ea"/>
                  <a:ea typeface="+mj-ea"/>
                </a:endParaRPr>
              </a:p>
              <a:p>
                <a:r>
                  <a:rPr lang="en-US" altLang="zh-CN" sz="2400" b="1" dirty="0">
                    <a:latin typeface="+mj-ea"/>
                    <a:ea typeface="+mj-ea"/>
                  </a:rPr>
                  <a:t>3. </a:t>
                </a:r>
                <a:r>
                  <a:rPr lang="zh-CN" altLang="zh-CN" sz="2400" b="1" dirty="0">
                    <a:latin typeface="+mj-ea"/>
                    <a:ea typeface="+mj-ea"/>
                  </a:rPr>
                  <a:t>卷积性质：</a:t>
                </a:r>
                <a14:m>
                  <m:oMath xmlns:m="http://schemas.openxmlformats.org/officeDocument/2006/math">
                    <m:r>
                      <a:rPr lang="en-US" altLang="zh-CN" sz="2400" b="1">
                        <a:latin typeface="Cambria Math" panose="02040503050406030204" pitchFamily="18" charset="0"/>
                        <a:ea typeface="+mj-ea"/>
                      </a:rPr>
                      <m:t>𝓕</m:t>
                    </m:r>
                    <m:d>
                      <m:dPr>
                        <m:ctrlPr>
                          <a:rPr lang="zh-CN" altLang="zh-CN" sz="2400" b="1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dPr>
                      <m:e>
                        <m:r>
                          <a:rPr lang="en-US" altLang="zh-CN" sz="2400" b="1">
                            <a:latin typeface="Cambria Math" panose="02040503050406030204" pitchFamily="18" charset="0"/>
                            <a:ea typeface="+mj-ea"/>
                          </a:rPr>
                          <m:t>𝒇</m:t>
                        </m:r>
                        <m:d>
                          <m:dPr>
                            <m:ctrlPr>
                              <a:rPr lang="zh-CN" altLang="zh-CN" sz="2400" b="1" i="1"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dPr>
                          <m:e>
                            <m:r>
                              <a:rPr lang="en-US" altLang="zh-CN" sz="2400" b="1">
                                <a:latin typeface="Cambria Math" panose="02040503050406030204" pitchFamily="18" charset="0"/>
                                <a:ea typeface="+mj-ea"/>
                              </a:rPr>
                              <m:t>𝒕</m:t>
                            </m:r>
                          </m:e>
                        </m:d>
                        <m:r>
                          <a:rPr lang="en-US" altLang="zh-CN" sz="2400" b="1">
                            <a:latin typeface="Cambria Math" panose="02040503050406030204" pitchFamily="18" charset="0"/>
                            <a:ea typeface="+mj-ea"/>
                          </a:rPr>
                          <m:t>∗</m:t>
                        </m:r>
                        <m:r>
                          <a:rPr lang="en-US" altLang="zh-CN" sz="2400" b="1">
                            <a:latin typeface="Cambria Math" panose="02040503050406030204" pitchFamily="18" charset="0"/>
                            <a:ea typeface="+mj-ea"/>
                          </a:rPr>
                          <m:t>𝒈</m:t>
                        </m:r>
                        <m:d>
                          <m:dPr>
                            <m:ctrlPr>
                              <a:rPr lang="zh-CN" altLang="zh-CN" sz="2400" b="1" i="1"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dPr>
                          <m:e>
                            <m:r>
                              <a:rPr lang="en-US" altLang="zh-CN" sz="2400" b="1">
                                <a:latin typeface="Cambria Math" panose="02040503050406030204" pitchFamily="18" charset="0"/>
                                <a:ea typeface="+mj-ea"/>
                              </a:rPr>
                              <m:t>𝒕</m:t>
                            </m:r>
                          </m:e>
                        </m:d>
                      </m:e>
                    </m:d>
                    <m:r>
                      <a:rPr lang="en-US" altLang="zh-CN" sz="2400" b="1">
                        <a:latin typeface="Cambria Math" panose="02040503050406030204" pitchFamily="18" charset="0"/>
                        <a:ea typeface="+mj-ea"/>
                      </a:rPr>
                      <m:t>=</m:t>
                    </m:r>
                    <m:r>
                      <a:rPr lang="en-US" altLang="zh-CN" sz="2400" b="1">
                        <a:latin typeface="Cambria Math" panose="02040503050406030204" pitchFamily="18" charset="0"/>
                        <a:ea typeface="+mj-ea"/>
                      </a:rPr>
                      <m:t>𝓕</m:t>
                    </m:r>
                    <m:d>
                      <m:dPr>
                        <m:ctrlPr>
                          <a:rPr lang="zh-CN" altLang="zh-CN" sz="2400" b="1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dPr>
                      <m:e>
                        <m:nary>
                          <m:naryPr>
                            <m:limLoc m:val="subSup"/>
                            <m:ctrlPr>
                              <a:rPr lang="zh-CN" altLang="zh-CN" sz="2400" b="1" i="1"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naryPr>
                          <m:sub>
                            <m:r>
                              <a:rPr lang="en-US" altLang="zh-CN" sz="2400" b="1">
                                <a:latin typeface="Cambria Math" panose="02040503050406030204" pitchFamily="18" charset="0"/>
                                <a:ea typeface="+mj-ea"/>
                              </a:rPr>
                              <m:t>−∞</m:t>
                            </m:r>
                          </m:sub>
                          <m:sup>
                            <m:r>
                              <a:rPr lang="en-US" altLang="zh-CN" sz="2400" b="1">
                                <a:latin typeface="Cambria Math" panose="02040503050406030204" pitchFamily="18" charset="0"/>
                                <a:ea typeface="+mj-ea"/>
                              </a:rPr>
                              <m:t>∞</m:t>
                            </m:r>
                          </m:sup>
                          <m:e>
                            <m:r>
                              <a:rPr lang="en-US" altLang="zh-CN" sz="2400" b="1">
                                <a:latin typeface="Cambria Math" panose="02040503050406030204" pitchFamily="18" charset="0"/>
                                <a:ea typeface="+mj-ea"/>
                              </a:rPr>
                              <m:t>𝒇</m:t>
                            </m:r>
                            <m:d>
                              <m:dPr>
                                <m:ctrlPr>
                                  <a:rPr lang="zh-CN" altLang="zh-CN" sz="2400" b="1" i="1">
                                    <a:latin typeface="Cambria Math" panose="02040503050406030204" pitchFamily="18" charset="0"/>
                                    <a:ea typeface="+mj-ea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>
                                    <a:latin typeface="Cambria Math" panose="02040503050406030204" pitchFamily="18" charset="0"/>
                                    <a:ea typeface="+mj-ea"/>
                                  </a:rPr>
                                  <m:t>𝝉</m:t>
                                </m:r>
                              </m:e>
                            </m:d>
                            <m:r>
                              <a:rPr lang="en-US" altLang="zh-CN" sz="2400" b="1">
                                <a:latin typeface="Cambria Math" panose="02040503050406030204" pitchFamily="18" charset="0"/>
                                <a:ea typeface="+mj-ea"/>
                              </a:rPr>
                              <m:t>𝒈</m:t>
                            </m:r>
                            <m:d>
                              <m:dPr>
                                <m:ctrlPr>
                                  <a:rPr lang="zh-CN" altLang="zh-CN" sz="2400" b="1" i="1">
                                    <a:latin typeface="Cambria Math" panose="02040503050406030204" pitchFamily="18" charset="0"/>
                                    <a:ea typeface="+mj-ea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>
                                    <a:latin typeface="Cambria Math" panose="02040503050406030204" pitchFamily="18" charset="0"/>
                                    <a:ea typeface="+mj-ea"/>
                                  </a:rPr>
                                  <m:t>𝒕</m:t>
                                </m:r>
                                <m:r>
                                  <a:rPr lang="en-US" altLang="zh-CN" sz="2400" b="1">
                                    <a:latin typeface="Cambria Math" panose="02040503050406030204" pitchFamily="18" charset="0"/>
                                    <a:ea typeface="+mj-ea"/>
                                  </a:rPr>
                                  <m:t>−</m:t>
                                </m:r>
                                <m:r>
                                  <a:rPr lang="en-US" altLang="zh-CN" sz="2400" b="1">
                                    <a:latin typeface="Cambria Math" panose="02040503050406030204" pitchFamily="18" charset="0"/>
                                    <a:ea typeface="+mj-ea"/>
                                  </a:rPr>
                                  <m:t>𝝉</m:t>
                                </m:r>
                              </m:e>
                            </m:d>
                          </m:e>
                        </m:nary>
                        <m:r>
                          <a:rPr lang="en-US" altLang="zh-CN" sz="2400" b="1">
                            <a:latin typeface="Cambria Math" panose="02040503050406030204" pitchFamily="18" charset="0"/>
                            <a:ea typeface="+mj-ea"/>
                          </a:rPr>
                          <m:t>𝐝</m:t>
                        </m:r>
                        <m:r>
                          <a:rPr lang="en-US" altLang="zh-CN" sz="2400" b="1">
                            <a:latin typeface="Cambria Math" panose="02040503050406030204" pitchFamily="18" charset="0"/>
                            <a:ea typeface="+mj-ea"/>
                          </a:rPr>
                          <m:t>𝝉</m:t>
                        </m:r>
                      </m:e>
                    </m:d>
                    <m:r>
                      <a:rPr lang="en-US" altLang="zh-CN" sz="2400" b="1">
                        <a:latin typeface="Cambria Math" panose="02040503050406030204" pitchFamily="18" charset="0"/>
                        <a:ea typeface="+mj-ea"/>
                      </a:rPr>
                      <m:t>=</m:t>
                    </m:r>
                    <m:r>
                      <a:rPr lang="en-US" altLang="zh-CN" sz="2400" b="1">
                        <a:latin typeface="Cambria Math" panose="02040503050406030204" pitchFamily="18" charset="0"/>
                        <a:ea typeface="+mj-ea"/>
                      </a:rPr>
                      <m:t>𝓕</m:t>
                    </m:r>
                    <m:d>
                      <m:dPr>
                        <m:ctrlPr>
                          <a:rPr lang="zh-CN" altLang="zh-CN" sz="2400" b="1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dPr>
                      <m:e>
                        <m:r>
                          <a:rPr lang="en-US" altLang="zh-CN" sz="2400" b="1">
                            <a:latin typeface="Cambria Math" panose="02040503050406030204" pitchFamily="18" charset="0"/>
                            <a:ea typeface="+mj-ea"/>
                          </a:rPr>
                          <m:t>𝒇</m:t>
                        </m:r>
                        <m:d>
                          <m:dPr>
                            <m:ctrlPr>
                              <a:rPr lang="zh-CN" altLang="zh-CN" sz="2400" b="1" i="1"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dPr>
                          <m:e>
                            <m:r>
                              <a:rPr lang="en-US" altLang="zh-CN" sz="2400" b="1">
                                <a:latin typeface="Cambria Math" panose="02040503050406030204" pitchFamily="18" charset="0"/>
                                <a:ea typeface="+mj-ea"/>
                              </a:rPr>
                              <m:t>𝒕</m:t>
                            </m:r>
                          </m:e>
                        </m:d>
                      </m:e>
                    </m:d>
                    <m:r>
                      <a:rPr lang="en-US" altLang="zh-CN" sz="2400" b="1">
                        <a:latin typeface="Cambria Math" panose="02040503050406030204" pitchFamily="18" charset="0"/>
                        <a:ea typeface="+mj-ea"/>
                      </a:rPr>
                      <m:t>⋅</m:t>
                    </m:r>
                    <m:r>
                      <a:rPr lang="en-US" altLang="zh-CN" sz="2400" b="1">
                        <a:latin typeface="Cambria Math" panose="02040503050406030204" pitchFamily="18" charset="0"/>
                        <a:ea typeface="+mj-ea"/>
                      </a:rPr>
                      <m:t>𝓕</m:t>
                    </m:r>
                    <m:r>
                      <a:rPr lang="en-US" altLang="zh-CN" sz="2400" b="1">
                        <a:latin typeface="Cambria Math" panose="02040503050406030204" pitchFamily="18" charset="0"/>
                        <a:ea typeface="+mj-ea"/>
                      </a:rPr>
                      <m:t>(</m:t>
                    </m:r>
                    <m:r>
                      <a:rPr lang="en-US" altLang="zh-CN" sz="2400" b="1">
                        <a:latin typeface="Cambria Math" panose="02040503050406030204" pitchFamily="18" charset="0"/>
                        <a:ea typeface="+mj-ea"/>
                      </a:rPr>
                      <m:t>𝒈</m:t>
                    </m:r>
                    <m:d>
                      <m:dPr>
                        <m:ctrlPr>
                          <a:rPr lang="zh-CN" altLang="zh-CN" sz="2400" b="1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dPr>
                      <m:e>
                        <m:r>
                          <a:rPr lang="en-US" altLang="zh-CN" sz="2400" b="1">
                            <a:latin typeface="Cambria Math" panose="02040503050406030204" pitchFamily="18" charset="0"/>
                            <a:ea typeface="+mj-ea"/>
                          </a:rPr>
                          <m:t>𝒕</m:t>
                        </m:r>
                      </m:e>
                    </m:d>
                    <m:r>
                      <a:rPr lang="en-US" altLang="zh-CN" sz="2400" b="1">
                        <a:latin typeface="Cambria Math" panose="02040503050406030204" pitchFamily="18" charset="0"/>
                        <a:ea typeface="+mj-ea"/>
                      </a:rPr>
                      <m:t>)</m:t>
                    </m:r>
                  </m:oMath>
                </a14:m>
                <a:endParaRPr lang="en-US" altLang="zh-CN" sz="2400" b="1" dirty="0">
                  <a:latin typeface="+mj-ea"/>
                  <a:ea typeface="+mj-ea"/>
                </a:endParaRPr>
              </a:p>
              <a:p>
                <a:endParaRPr lang="en-US" altLang="zh-CN" sz="2400" dirty="0"/>
              </a:p>
              <a:p>
                <a:pPr lvl="0">
                  <a:spcBef>
                    <a:spcPts val="580"/>
                  </a:spcBef>
                  <a:buClr>
                    <a:srgbClr val="00B050"/>
                  </a:buClr>
                  <a:buSzPct val="85000"/>
                </a:pPr>
                <a:r>
                  <a:rPr lang="zh-CN" altLang="en-US" sz="24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（</a:t>
                </a:r>
                <a:r>
                  <a:rPr lang="en-US" altLang="zh-CN" sz="24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2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）简单阅读相关资料后，你认为三大变换定义的区别和联系是什么？</a:t>
                </a:r>
                <a:endParaRPr lang="en-US" altLang="zh-CN" sz="2400" b="1" dirty="0">
                  <a:solidFill>
                    <a:prstClr val="black"/>
                  </a:solidFill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  <a:p>
                <a:pPr lvl="0">
                  <a:spcBef>
                    <a:spcPts val="580"/>
                  </a:spcBef>
                  <a:buClr>
                    <a:srgbClr val="00B050"/>
                  </a:buClr>
                  <a:buSzPct val="85000"/>
                </a:pPr>
                <a:endParaRPr lang="en-US" altLang="zh-CN" sz="2400" b="1" dirty="0">
                  <a:solidFill>
                    <a:prstClr val="black"/>
                  </a:solidFill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  <a:p>
                <a:pPr>
                  <a:spcBef>
                    <a:spcPts val="580"/>
                  </a:spcBef>
                  <a:buClr>
                    <a:srgbClr val="00B050"/>
                  </a:buClr>
                  <a:buSzPct val="85000"/>
                </a:pPr>
                <a:r>
                  <a:rPr lang="zh-CN" altLang="en-US" sz="24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（</a:t>
                </a:r>
                <a:r>
                  <a:rPr lang="en-US" altLang="zh-CN" sz="24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3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）选择三大变换的其中一个其他应用，进行课外学习并尽可能通过</a:t>
                </a:r>
                <a:r>
                  <a:rPr lang="en-US" altLang="zh-CN" sz="24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MATLAB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来验证三大变换的有效性。</a:t>
                </a:r>
                <a:endParaRPr lang="en-US" altLang="zh-CN" sz="2400" b="1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664C0063-0D38-45C3-A014-EABEF14E3A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861498"/>
                <a:ext cx="8438666" cy="5849165"/>
              </a:xfrm>
              <a:prstGeom prst="rect">
                <a:avLst/>
              </a:prstGeom>
              <a:blipFill>
                <a:blip r:embed="rId3"/>
                <a:stretch>
                  <a:fillRect l="-1083" t="-833" b="-13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8170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28150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课后反馈（不用交）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80C354C-F3AF-4E9C-B08D-501D997AC2D8}"/>
              </a:ext>
            </a:extLst>
          </p:cNvPr>
          <p:cNvSpPr/>
          <p:nvPr/>
        </p:nvSpPr>
        <p:spPr>
          <a:xfrm>
            <a:off x="251520" y="1124744"/>
            <a:ext cx="8438666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itchFamily="2" charset="2"/>
              <a:buChar char="q"/>
            </a:pP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将今天讲过的例题尝试自己键入并运行一遍</a:t>
            </a:r>
            <a:endParaRPr lang="en-US" altLang="zh-CN" sz="2400" b="1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itchFamily="2" charset="2"/>
              <a:buChar char="q"/>
            </a:pPr>
            <a:endParaRPr lang="en-US" altLang="zh-CN" sz="2400" b="1" dirty="0">
              <a:solidFill>
                <a:prstClr val="black"/>
              </a:solidFill>
              <a:latin typeface="+mj-ea"/>
              <a:ea typeface="+mj-ea"/>
            </a:endParaRPr>
          </a:p>
          <a:p>
            <a:pPr>
              <a:spcBef>
                <a:spcPts val="580"/>
              </a:spcBef>
              <a:buClr>
                <a:srgbClr val="00B050"/>
              </a:buClr>
              <a:buSzPct val="85000"/>
            </a:pPr>
            <a:endParaRPr lang="en-US" altLang="zh-CN" sz="2400" b="1" dirty="0">
              <a:solidFill>
                <a:prstClr val="black"/>
              </a:solidFill>
              <a:latin typeface="+mj-ea"/>
              <a:ea typeface="+mj-ea"/>
            </a:endParaRPr>
          </a:p>
          <a:p>
            <a:pPr>
              <a:spcBef>
                <a:spcPts val="580"/>
              </a:spcBef>
              <a:buClr>
                <a:srgbClr val="00B050"/>
              </a:buClr>
              <a:buSzPct val="85000"/>
            </a:pPr>
            <a:endParaRPr lang="en-US" altLang="zh-CN" sz="2400" b="1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itchFamily="2" charset="2"/>
              <a:buChar char="q"/>
            </a:pPr>
            <a:endParaRPr lang="en-US" altLang="zh-CN" sz="2400" b="1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274320" lvl="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itchFamily="2" charset="2"/>
              <a:buChar char="q"/>
            </a:pPr>
            <a:r>
              <a:rPr lang="zh-CN" altLang="en-US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尝试用课下分享的傅里叶变换相关资料以及百度百科等资料</a:t>
            </a:r>
            <a:r>
              <a:rPr lang="zh-CN" altLang="en-US" sz="2400" b="1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简单了解三大变换、</a:t>
            </a:r>
            <a:r>
              <a:rPr lang="zh-CN" altLang="en-US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狄拉克“函数”的有关知识和性质</a:t>
            </a:r>
            <a:endParaRPr lang="en-US" altLang="zh-CN" sz="2400" b="1" dirty="0">
              <a:solidFill>
                <a:prstClr val="black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274320" lvl="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itchFamily="2" charset="2"/>
              <a:buChar char="q"/>
            </a:pPr>
            <a:endParaRPr lang="en-US" altLang="zh-CN" sz="2400" b="1" dirty="0">
              <a:solidFill>
                <a:prstClr val="black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274320" lvl="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itchFamily="2" charset="2"/>
              <a:buChar char="q"/>
            </a:pPr>
            <a:endParaRPr lang="en-US" altLang="zh-CN" sz="2400" b="1" dirty="0">
              <a:solidFill>
                <a:prstClr val="black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274320" lvl="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itchFamily="2" charset="2"/>
              <a:buChar char="q"/>
            </a:pPr>
            <a:endParaRPr lang="en-US" altLang="zh-CN" sz="2400" b="1" dirty="0">
              <a:solidFill>
                <a:prstClr val="black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lvl="0">
              <a:spcBef>
                <a:spcPts val="580"/>
              </a:spcBef>
              <a:buClr>
                <a:srgbClr val="00B050"/>
              </a:buClr>
              <a:buSzPct val="85000"/>
            </a:pPr>
            <a:endParaRPr lang="en-US" altLang="zh-CN" sz="2400" b="1" dirty="0">
              <a:solidFill>
                <a:prstClr val="black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274320" lvl="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itchFamily="2" charset="2"/>
              <a:buChar char="q"/>
            </a:pPr>
            <a:r>
              <a:rPr lang="zh-CN" altLang="en-US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阅读思考课本对应习题（不作为考点）</a:t>
            </a:r>
            <a:endParaRPr lang="en-US" altLang="zh-CN" sz="2400" b="1" dirty="0">
              <a:solidFill>
                <a:prstClr val="black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45491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6000" dirty="0">
                <a:solidFill>
                  <a:srgbClr val="00B0F0"/>
                </a:solidFill>
                <a:latin typeface="Calibri" pitchFamily="34" charset="0"/>
                <a:cs typeface="Calibri" pitchFamily="34" charset="0"/>
              </a:rPr>
              <a:t>感谢同学们认真听课</a:t>
            </a:r>
            <a:r>
              <a:rPr lang="en-US" altLang="zh-CN" sz="6000" i="0" dirty="0">
                <a:solidFill>
                  <a:srgbClr val="00B0F0"/>
                </a:solidFill>
                <a:latin typeface="Calibri" pitchFamily="34" charset="0"/>
                <a:cs typeface="Calibri" pitchFamily="34" charset="0"/>
              </a:rPr>
              <a:t>!</a:t>
            </a:r>
            <a:endParaRPr lang="zh-CN" altLang="en-US" sz="6000" i="0" dirty="0">
              <a:solidFill>
                <a:srgbClr val="00B0F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47664" y="3446615"/>
            <a:ext cx="5904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C47546"/>
                </a:solidFill>
                <a:latin typeface="Calibri" pitchFamily="34" charset="0"/>
                <a:cs typeface="Calibri" pitchFamily="34" charset="0"/>
              </a:rPr>
              <a:t>欢迎同学们积极提问、交流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61255" y="4606536"/>
            <a:ext cx="5904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rgbClr val="C47546"/>
                </a:solidFill>
                <a:latin typeface="Calibri" pitchFamily="34" charset="0"/>
                <a:cs typeface="Calibri" pitchFamily="34" charset="0"/>
                <a:hlinkClick r:id="rId2"/>
              </a:rPr>
              <a:t>mcstj@mail.sysu.edu.cn</a:t>
            </a:r>
            <a:r>
              <a:rPr lang="en-US" altLang="zh-CN" sz="2800" dirty="0">
                <a:solidFill>
                  <a:srgbClr val="C47546"/>
                </a:solidFill>
                <a:latin typeface="Calibri" pitchFamily="34" charset="0"/>
                <a:cs typeface="Calibri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899782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354"/>
  <p:tag name="DEFAULTHEIGHT" val="383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暗香扑面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极目远眺">
  <a:themeElements>
    <a:clrScheme name="极目远眺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极目远眺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极目远眺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极目远眺">
    <a:dk1>
      <a:srgbClr val="000000"/>
    </a:dk1>
    <a:lt1>
      <a:srgbClr val="FFFFFF"/>
    </a:lt1>
    <a:dk2>
      <a:srgbClr val="1F2123"/>
    </a:dk2>
    <a:lt2>
      <a:srgbClr val="DC9E1F"/>
    </a:lt2>
    <a:accent1>
      <a:srgbClr val="7E97AD"/>
    </a:accent1>
    <a:accent2>
      <a:srgbClr val="CC8E60"/>
    </a:accent2>
    <a:accent3>
      <a:srgbClr val="7A6A60"/>
    </a:accent3>
    <a:accent4>
      <a:srgbClr val="B4936D"/>
    </a:accent4>
    <a:accent5>
      <a:srgbClr val="67787B"/>
    </a:accent5>
    <a:accent6>
      <a:srgbClr val="9D936F"/>
    </a:accent6>
    <a:hlink>
      <a:srgbClr val="646464"/>
    </a:hlink>
    <a:folHlink>
      <a:srgbClr val="96969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Horizon</Template>
  <TotalTime>7648</TotalTime>
  <Words>6860</Words>
  <Application>Microsoft Office PowerPoint</Application>
  <PresentationFormat>全屏显示(4:3)</PresentationFormat>
  <Paragraphs>581</Paragraphs>
  <Slides>45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45</vt:i4>
      </vt:variant>
    </vt:vector>
  </HeadingPairs>
  <TitlesOfParts>
    <vt:vector size="62" baseType="lpstr">
      <vt:lpstr>Franklin Gothic Book</vt:lpstr>
      <vt:lpstr>Perpetua</vt:lpstr>
      <vt:lpstr>Wingdings 2</vt:lpstr>
      <vt:lpstr>Cambria Math</vt:lpstr>
      <vt:lpstr>Courier New</vt:lpstr>
      <vt:lpstr>微软雅黑</vt:lpstr>
      <vt:lpstr>Calibri</vt:lpstr>
      <vt:lpstr>Arial</vt:lpstr>
      <vt:lpstr>Arial Narrow</vt:lpstr>
      <vt:lpstr>Wingdings</vt:lpstr>
      <vt:lpstr>Times New Roman</vt:lpstr>
      <vt:lpstr>宋体</vt:lpstr>
      <vt:lpstr>幼圆</vt:lpstr>
      <vt:lpstr>Franklin Gothic Medium</vt:lpstr>
      <vt:lpstr>Equity</vt:lpstr>
      <vt:lpstr>暗香扑面</vt:lpstr>
      <vt:lpstr>极目远眺</vt:lpstr>
      <vt:lpstr>数学实验与数学软件 </vt:lpstr>
      <vt:lpstr>符号数组的创建</vt:lpstr>
      <vt:lpstr>符号数组的创建</vt:lpstr>
      <vt:lpstr>符号数组的创建</vt:lpstr>
      <vt:lpstr>符号数组的创建</vt:lpstr>
      <vt:lpstr>符号对象的识别</vt:lpstr>
      <vt:lpstr>符号对象的识别</vt:lpstr>
      <vt:lpstr>符号表达式的化简</vt:lpstr>
      <vt:lpstr>例2.5-1（续）</vt:lpstr>
      <vt:lpstr>符号表达式的“美化”操作</vt:lpstr>
      <vt:lpstr>通用置换命令</vt:lpstr>
      <vt:lpstr>例2.5-3（有改动，续）</vt:lpstr>
      <vt:lpstr>例2.5-3（有改动，续）</vt:lpstr>
      <vt:lpstr>符号转双精度或符号型小数</vt:lpstr>
      <vt:lpstr>符号转双精度及精度设定-例2.2-1</vt:lpstr>
      <vt:lpstr>阿基米德螺线长度的计算与图示</vt:lpstr>
      <vt:lpstr>阿基米德螺线长度的计算与图示</vt:lpstr>
      <vt:lpstr>PowerPoint 演示文稿</vt:lpstr>
      <vt:lpstr>微分方程（组）的符号解法</vt:lpstr>
      <vt:lpstr>微分方程的符号解法</vt:lpstr>
      <vt:lpstr>微分方程的符号解法</vt:lpstr>
      <vt:lpstr>微分方程的符号解法</vt:lpstr>
      <vt:lpstr>微分方程的符号解法</vt:lpstr>
      <vt:lpstr>微分方程的符号解法</vt:lpstr>
      <vt:lpstr>微分方程的符号解法</vt:lpstr>
      <vt:lpstr>傅里叶变换(更多定义见表2.8-1)</vt:lpstr>
      <vt:lpstr>MATLAB完成傅里叶变换</vt:lpstr>
      <vt:lpstr>MATLAB完成傅里叶变换</vt:lpstr>
      <vt:lpstr>Dirac“函数”</vt:lpstr>
      <vt:lpstr>例2.8-1</vt:lpstr>
      <vt:lpstr>例2.8-1</vt:lpstr>
      <vt:lpstr>例2.8-1</vt:lpstr>
      <vt:lpstr>傅里叶变换的默认变量</vt:lpstr>
      <vt:lpstr>拉普拉斯变换</vt:lpstr>
      <vt:lpstr>MATLAB拉普拉斯变换</vt:lpstr>
      <vt:lpstr>MATLAB拉普拉斯变换</vt:lpstr>
      <vt:lpstr>拉普拉斯变换的卷积公式</vt:lpstr>
      <vt:lpstr>Z变换</vt:lpstr>
      <vt:lpstr>MATLAB完成Z变换</vt:lpstr>
      <vt:lpstr>MATLAB完成Z变换</vt:lpstr>
      <vt:lpstr>MATLAB完成Z变换</vt:lpstr>
      <vt:lpstr>第三四周电子版作业</vt:lpstr>
      <vt:lpstr>第三四周电子版作业</vt:lpstr>
      <vt:lpstr>课后反馈（不用交）</vt:lpstr>
      <vt:lpstr>感谢同学们认真听课!</vt:lpstr>
    </vt:vector>
  </TitlesOfParts>
  <Company>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数学实验与数学软件 </dc:title>
  <dc:creator>JIA LI</dc:creator>
  <cp:lastModifiedBy>Administrator</cp:lastModifiedBy>
  <cp:revision>660</cp:revision>
  <dcterms:created xsi:type="dcterms:W3CDTF">2014-07-04T06:51:09Z</dcterms:created>
  <dcterms:modified xsi:type="dcterms:W3CDTF">2022-09-19T08:51:57Z</dcterms:modified>
</cp:coreProperties>
</file>