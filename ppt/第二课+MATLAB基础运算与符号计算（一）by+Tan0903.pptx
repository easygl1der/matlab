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7" embedTrueTypeFonts="1" saveSubsetFonts="1">
  <p:sldMasterIdLst>
    <p:sldMasterId id="2147483648" r:id="rId1"/>
    <p:sldMasterId id="2147483660" r:id="rId3"/>
    <p:sldMasterId id="2147483672" r:id="rId4"/>
  </p:sldMasterIdLst>
  <p:notesMasterIdLst>
    <p:notesMasterId r:id="rId11"/>
  </p:notesMasterIdLst>
  <p:sldIdLst>
    <p:sldId id="256" r:id="rId5"/>
    <p:sldId id="367" r:id="rId6"/>
    <p:sldId id="330" r:id="rId7"/>
    <p:sldId id="368" r:id="rId8"/>
    <p:sldId id="332" r:id="rId9"/>
    <p:sldId id="312" r:id="rId10"/>
    <p:sldId id="323" r:id="rId12"/>
    <p:sldId id="324" r:id="rId13"/>
    <p:sldId id="325" r:id="rId14"/>
    <p:sldId id="378" r:id="rId15"/>
    <p:sldId id="326" r:id="rId16"/>
    <p:sldId id="291" r:id="rId17"/>
    <p:sldId id="369" r:id="rId18"/>
    <p:sldId id="370" r:id="rId19"/>
    <p:sldId id="371" r:id="rId20"/>
    <p:sldId id="372" r:id="rId21"/>
    <p:sldId id="343" r:id="rId22"/>
    <p:sldId id="344" r:id="rId23"/>
    <p:sldId id="345" r:id="rId24"/>
    <p:sldId id="348" r:id="rId25"/>
    <p:sldId id="373" r:id="rId26"/>
    <p:sldId id="349" r:id="rId27"/>
    <p:sldId id="374" r:id="rId28"/>
    <p:sldId id="366" r:id="rId29"/>
    <p:sldId id="375" r:id="rId30"/>
    <p:sldId id="353" r:id="rId31"/>
    <p:sldId id="354" r:id="rId32"/>
    <p:sldId id="355" r:id="rId33"/>
    <p:sldId id="356" r:id="rId34"/>
    <p:sldId id="357" r:id="rId35"/>
    <p:sldId id="358" r:id="rId36"/>
    <p:sldId id="362" r:id="rId37"/>
    <p:sldId id="376" r:id="rId38"/>
    <p:sldId id="377" r:id="rId39"/>
    <p:sldId id="384" r:id="rId40"/>
    <p:sldId id="385" r:id="rId41"/>
    <p:sldId id="411" r:id="rId42"/>
    <p:sldId id="387" r:id="rId43"/>
    <p:sldId id="412" r:id="rId44"/>
    <p:sldId id="363" r:id="rId45"/>
    <p:sldId id="329" r:id="rId46"/>
    <p:sldId id="271" r:id="rId47"/>
  </p:sldIdLst>
  <p:sldSz cx="9144000" cy="6858000" type="screen4x3"/>
  <p:notesSz cx="6858000" cy="9144000"/>
  <p:embeddedFontLst>
    <p:embeddedFont>
      <p:font typeface="Wingdings 2" panose="05020102010507070707"/>
      <p:regular r:id="rId51"/>
    </p:embeddedFont>
    <p:embeddedFont>
      <p:font typeface="微软雅黑" panose="020B0503020204020204" pitchFamily="34" charset="-122"/>
      <p:regular r:id="rId52"/>
    </p:embeddedFont>
    <p:embeddedFont>
      <p:font typeface="Calibri" panose="020F0502020204030204" pitchFamily="34" charset="0"/>
      <p:regular r:id="rId53"/>
      <p:bold r:id="rId54"/>
      <p:italic r:id="rId55"/>
      <p:boldItalic r:id="rId56"/>
    </p:embeddedFont>
    <p:embeddedFont>
      <p:font typeface="幼圆" panose="02010509060101010101" pitchFamily="49" charset="-122"/>
      <p:regular r:id="rId57"/>
    </p:embeddedFont>
    <p:embeddedFont>
      <p:font typeface="Cambria Math" panose="02040503050406030204" pitchFamily="18" charset="0"/>
      <p:regular r:id="rId58"/>
    </p:embeddedFont>
    <p:embeddedFont>
      <p:font typeface="方正姚体" panose="02010601030101010101" charset="-122"/>
      <p:regular r:id="rId59"/>
    </p:embeddedFont>
    <p:embeddedFont>
      <p:font typeface="Arial Narrow" panose="020B0606020202030204" charset="0"/>
      <p:regular r:id="rId60"/>
      <p:bold r:id="rId61"/>
      <p:italic r:id="rId62"/>
      <p:boldItalic r:id="rId63"/>
    </p:embeddedFont>
    <p:embeddedFont>
      <p:font typeface="Perpetua" panose="02020502060401020303" charset="0"/>
      <p:regular r:id="rId64"/>
      <p:bold r:id="rId65"/>
      <p:italic r:id="rId66"/>
      <p:boldItalic r:id="rId67"/>
    </p:embeddedFont>
    <p:embeddedFont>
      <p:font typeface="Franklin Gothic Book" panose="020B0503020102020204" charset="0"/>
      <p:regular r:id="rId68"/>
      <p:italic r:id="rId69"/>
    </p:embeddedFont>
    <p:embeddedFont>
      <p:font typeface="黑体" panose="02010609060101010101" charset="-122"/>
      <p:regular r:id="rId70"/>
    </p:embeddedFont>
    <p:embeddedFont>
      <p:font typeface="Franklin Gothic Medium" panose="020B0603020102020204" charset="0"/>
      <p:regular r:id="rId71"/>
      <p:italic r:id="rId72"/>
    </p:embeddedFont>
  </p:embeddedFontLst>
  <p:custDataLst>
    <p:tags r:id="rId7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3065" autoAdjust="0"/>
  </p:normalViewPr>
  <p:slideViewPr>
    <p:cSldViewPr showGuides="1">
      <p:cViewPr varScale="1">
        <p:scale>
          <a:sx n="106" d="100"/>
          <a:sy n="106" d="100"/>
        </p:scale>
        <p:origin x="1764" y="120"/>
      </p:cViewPr>
      <p:guideLst>
        <p:guide orient="horz" pos="2160"/>
        <p:guide pos="2880"/>
      </p:guideLst>
    </p:cSldViewPr>
  </p:slideViewPr>
  <p:outlineViewPr>
    <p:cViewPr>
      <p:scale>
        <a:sx n="33" d="100"/>
        <a:sy n="33" d="100"/>
      </p:scale>
      <p:origin x="0" y="-7608"/>
    </p:cViewPr>
  </p:outlineViewPr>
  <p:notesTextViewPr>
    <p:cViewPr>
      <p:scale>
        <a:sx n="1" d="1"/>
        <a:sy n="1" d="1"/>
      </p:scale>
      <p:origin x="0" y="0"/>
    </p:cViewPr>
  </p:notesTextViewPr>
  <p:notesViewPr>
    <p:cSldViewPr>
      <p:cViewPr varScale="1">
        <p:scale>
          <a:sx n="51" d="100"/>
          <a:sy n="51" d="100"/>
        </p:scale>
        <p:origin x="269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3" Type="http://schemas.openxmlformats.org/officeDocument/2006/relationships/tags" Target="tags/tag1.xml"/><Relationship Id="rId72" Type="http://schemas.openxmlformats.org/officeDocument/2006/relationships/font" Target="fonts/font22.fntdata"/><Relationship Id="rId71" Type="http://schemas.openxmlformats.org/officeDocument/2006/relationships/font" Target="fonts/font21.fntdata"/><Relationship Id="rId70" Type="http://schemas.openxmlformats.org/officeDocument/2006/relationships/font" Target="fonts/font20.fntdata"/><Relationship Id="rId7" Type="http://schemas.openxmlformats.org/officeDocument/2006/relationships/slide" Target="slides/slide3.xml"/><Relationship Id="rId69" Type="http://schemas.openxmlformats.org/officeDocument/2006/relationships/font" Target="fonts/font19.fntdata"/><Relationship Id="rId68" Type="http://schemas.openxmlformats.org/officeDocument/2006/relationships/font" Target="fonts/font18.fntdata"/><Relationship Id="rId67" Type="http://schemas.openxmlformats.org/officeDocument/2006/relationships/font" Target="fonts/font17.fntdata"/><Relationship Id="rId66" Type="http://schemas.openxmlformats.org/officeDocument/2006/relationships/font" Target="fonts/font16.fntdata"/><Relationship Id="rId65" Type="http://schemas.openxmlformats.org/officeDocument/2006/relationships/font" Target="fonts/font15.fntdata"/><Relationship Id="rId64" Type="http://schemas.openxmlformats.org/officeDocument/2006/relationships/font" Target="fonts/font14.fntdata"/><Relationship Id="rId63" Type="http://schemas.openxmlformats.org/officeDocument/2006/relationships/font" Target="fonts/font13.fntdata"/><Relationship Id="rId62" Type="http://schemas.openxmlformats.org/officeDocument/2006/relationships/font" Target="fonts/font12.fntdata"/><Relationship Id="rId61" Type="http://schemas.openxmlformats.org/officeDocument/2006/relationships/font" Target="fonts/font11.fntdata"/><Relationship Id="rId60" Type="http://schemas.openxmlformats.org/officeDocument/2006/relationships/font" Target="fonts/font10.fntdata"/><Relationship Id="rId6" Type="http://schemas.openxmlformats.org/officeDocument/2006/relationships/slide" Target="slides/slide2.xml"/><Relationship Id="rId59" Type="http://schemas.openxmlformats.org/officeDocument/2006/relationships/font" Target="fonts/font9.fntdata"/><Relationship Id="rId58" Type="http://schemas.openxmlformats.org/officeDocument/2006/relationships/font" Target="fonts/font8.fntdata"/><Relationship Id="rId57" Type="http://schemas.openxmlformats.org/officeDocument/2006/relationships/font" Target="fonts/font7.fntdata"/><Relationship Id="rId56" Type="http://schemas.openxmlformats.org/officeDocument/2006/relationships/font" Target="fonts/font6.fntdata"/><Relationship Id="rId55" Type="http://schemas.openxmlformats.org/officeDocument/2006/relationships/font" Target="fonts/font5.fntdata"/><Relationship Id="rId54" Type="http://schemas.openxmlformats.org/officeDocument/2006/relationships/font" Target="fonts/font4.fntdata"/><Relationship Id="rId53" Type="http://schemas.openxmlformats.org/officeDocument/2006/relationships/font" Target="fonts/font3.fntdata"/><Relationship Id="rId52" Type="http://schemas.openxmlformats.org/officeDocument/2006/relationships/font" Target="fonts/font2.fntdata"/><Relationship Id="rId51" Type="http://schemas.openxmlformats.org/officeDocument/2006/relationships/font" Target="fonts/font1.fntdata"/><Relationship Id="rId50" Type="http://schemas.openxmlformats.org/officeDocument/2006/relationships/tableStyles" Target="tableStyles.xml"/><Relationship Id="rId5" Type="http://schemas.openxmlformats.org/officeDocument/2006/relationships/slide" Target="slides/slide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notesMaster" Target="notesMasters/notesMaster1.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0183DD-ABDB-4EB1-A726-EE72F71F639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AC750A-E720-45E3-B984-FED77418FD2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5AC750A-E720-45E3-B984-FED77418FD2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zh-CN" altLang="en-US"/>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zh-CN" altLang="en-US"/>
              <a:t>单击此处编辑母版标题样式</a:t>
            </a:r>
            <a:endParaRPr lang="en-US" dirty="0"/>
          </a:p>
        </p:txBody>
      </p:sp>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
        <p:nvSpPr>
          <p:cNvPr id="8" name="Content Placeholder 7"/>
          <p:cNvSpPr>
            <a:spLocks noGrp="1"/>
          </p:cNvSpPr>
          <p:nvPr>
            <p:ph sz="quarter" idx="13"/>
          </p:nvPr>
        </p:nvSpPr>
        <p:spPr>
          <a:xfrm>
            <a:off x="609600" y="1600200"/>
            <a:ext cx="79248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zh-CN" altLang="en-US"/>
              <a:t>单击此处编辑母版标题样式</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609600" y="274638"/>
            <a:ext cx="7924800" cy="1143000"/>
          </a:xfrm>
        </p:spPr>
        <p:txBody>
          <a:bodyPr/>
          <a:lstStyle/>
          <a:p>
            <a:r>
              <a:rPr lang="zh-CN" altLang="en-US"/>
              <a:t>单击此处编辑母版标题样式</a:t>
            </a:r>
            <a:endParaRPr lang="en-US" dirty="0"/>
          </a:p>
        </p:txBody>
      </p:sp>
      <p:sp>
        <p:nvSpPr>
          <p:cNvPr id="5" name="Date Placeholder 4"/>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609600" y="274638"/>
            <a:ext cx="7924800" cy="1143000"/>
          </a:xfrm>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7" name="Date Placeholder 6"/>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zh-CN" altLang="en-US"/>
              <a:t>单击此处编辑母版标题样式</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10"/>
          </p:nvPr>
        </p:nvSpPr>
        <p:spPr/>
        <p:txBody>
          <a:body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6E5C9AC-B17D-4002-9342-307711A3563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17" name="Footer Placeholder 16"/>
          <p:cNvSpPr>
            <a:spLocks noGrp="1"/>
          </p:cNvSpPr>
          <p:nvPr>
            <p:ph type="ftr" sz="quarter" idx="11"/>
          </p:nvPr>
        </p:nvSpPr>
        <p:spPr/>
        <p:txBody>
          <a:bodyPr/>
          <a:lstStyle/>
          <a:p>
            <a:endParaRPr lang="en-US">
              <a:solidFill>
                <a:srgbClr val="696464"/>
              </a:solidFill>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5" name="Footer Placeholder 4"/>
          <p:cNvSpPr>
            <a:spLocks noGrp="1"/>
          </p:cNvSpPr>
          <p:nvPr>
            <p:ph type="ftr" sz="quarter" idx="11"/>
          </p:nvPr>
        </p:nvSpPr>
        <p:spPr>
          <a:xfrm>
            <a:off x="800100" y="6172200"/>
            <a:ext cx="4000500" cy="457200"/>
          </a:xfrm>
        </p:spPr>
        <p:txBody>
          <a:bodyPr/>
          <a:lstStyle/>
          <a:p>
            <a:endParaRPr lang="en-US">
              <a:solidFill>
                <a:srgbClr val="696464"/>
              </a:solidFill>
            </a:endParaRP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6" name="Footer Placeholder 5"/>
          <p:cNvSpPr>
            <a:spLocks noGrp="1"/>
          </p:cNvSpPr>
          <p:nvPr>
            <p:ph type="ftr" sz="quarter" idx="11"/>
          </p:nvPr>
        </p:nvSpPr>
        <p:spPr>
          <a:xfrm>
            <a:off x="914400" y="6172200"/>
            <a:ext cx="3886200" cy="457200"/>
          </a:xfrm>
        </p:spPr>
        <p:txBody>
          <a:bodyPr/>
          <a:lstStyle/>
          <a:p>
            <a:endParaRPr lang="en-US">
              <a:solidFill>
                <a:srgbClr val="696464"/>
              </a:solidFill>
            </a:endParaRPr>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srgbClr val="696464"/>
                </a:solidFill>
              </a:rPr>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a:xfrm>
            <a:off x="5330952" y="6400800"/>
            <a:ext cx="3733800" cy="283800"/>
          </a:xfrm>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7" name="灯片编号占位符 6"/>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8" name="页脚占位符 7"/>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9" name="灯片编号占位符 8"/>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4" name="页脚占位符 3"/>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5" name="灯片编号占位符 4"/>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3" name="页脚占位符 2"/>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4" name="灯片编号占位符 3"/>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7" name="灯片编号占位符 6"/>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6" name="页脚占位符 5"/>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7" name="灯片编号占位符 6"/>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fontAlgn="base">
              <a:spcBef>
                <a:spcPct val="0"/>
              </a:spcBef>
              <a:spcAft>
                <a:spcPct val="0"/>
              </a:spcAft>
              <a:defRPr/>
            </a:pPr>
            <a:r>
              <a:rPr lang="en-US" altLang="zh-CN">
                <a:solidFill>
                  <a:srgbClr val="FFFFCC"/>
                </a:solidFill>
              </a:rPr>
              <a:t>2011/8/17</a:t>
            </a:r>
            <a:endParaRPr lang="zh-CN" altLang="zh-CN">
              <a:solidFill>
                <a:srgbClr val="FFFFCC"/>
              </a:solidFill>
            </a:endParaRPr>
          </a:p>
        </p:txBody>
      </p:sp>
      <p:sp>
        <p:nvSpPr>
          <p:cNvPr id="5" name="页脚占位符 4"/>
          <p:cNvSpPr>
            <a:spLocks noGrp="1"/>
          </p:cNvSpPr>
          <p:nvPr>
            <p:ph type="ftr" sz="quarter" idx="11"/>
          </p:nvPr>
        </p:nvSpPr>
        <p:spPr/>
        <p:txBody>
          <a:bodyPr/>
          <a:lstStyle/>
          <a:p>
            <a:pPr fontAlgn="base">
              <a:spcBef>
                <a:spcPct val="0"/>
              </a:spcBef>
              <a:spcAft>
                <a:spcPct val="0"/>
              </a:spcAft>
              <a:defRPr/>
            </a:pPr>
            <a:endParaRPr lang="zh-CN" altLang="zh-CN">
              <a:solidFill>
                <a:srgbClr val="FFFFCC"/>
              </a:solidFill>
            </a:endParaRPr>
          </a:p>
        </p:txBody>
      </p:sp>
      <p:sp>
        <p:nvSpPr>
          <p:cNvPr id="6" name="灯片编号占位符 5"/>
          <p:cNvSpPr>
            <a:spLocks noGrp="1"/>
          </p:cNvSpPr>
          <p:nvPr>
            <p:ph type="sldNum" sz="quarter" idx="12"/>
          </p:nvPr>
        </p:nvSpPr>
        <p:spPr/>
        <p:txBody>
          <a:bodyPr/>
          <a:lstStyle/>
          <a:p>
            <a:pPr fontAlgn="base">
              <a:spcBef>
                <a:spcPct val="0"/>
              </a:spcBef>
              <a:spcAft>
                <a:spcPct val="0"/>
              </a:spcAft>
              <a:defRPr/>
            </a:pPr>
            <a:fld id="{199691A7-1C81-401E-8E67-300AC1F1246F}" type="slidenum">
              <a:rPr lang="en-US" altLang="zh-CN" smtClean="0">
                <a:solidFill>
                  <a:srgbClr val="FFFFCC"/>
                </a:solidFill>
              </a:rPr>
            </a:fld>
            <a:endParaRPr lang="en-US" altLang="zh-CN">
              <a:solidFill>
                <a:srgbClr val="FFFFCC"/>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2"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7200E83E-3DDC-4057-BD42-0C3CE9F543F4}" type="datetimeFigureOut">
              <a:rPr lang="zh-CN" altLang="en-US" smtClean="0"/>
            </a:fld>
            <a:endParaRPr lang="zh-CN" altLang="en-US"/>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zh-CN" altLang="en-US"/>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36E5C9AC-B17D-4002-9342-307711A35635}" type="slidenum">
              <a:rPr lang="zh-CN" altLang="en-US" smtClean="0"/>
            </a:fld>
            <a:endParaRPr lang="zh-CN"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solidFill>
                  <a:srgbClr val="696464"/>
                </a:solidFill>
              </a:rPr>
            </a:fld>
            <a:endParaRPr lang="en-US">
              <a:solidFill>
                <a:srgbClr val="696464"/>
              </a:solidFill>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solidFill>
                <a:srgbClr val="696464"/>
              </a:solidFill>
            </a:endParaRP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r>
              <a:rPr lang="en-US" altLang="zh-CN">
                <a:solidFill>
                  <a:srgbClr val="2F2F2F">
                    <a:lumMod val="75000"/>
                    <a:lumOff val="25000"/>
                  </a:srgbClr>
                </a:solidFill>
              </a:rPr>
              <a:t>2011/8/17</a:t>
            </a:r>
            <a:endParaRPr lang="zh-CN" altLang="en-US">
              <a:solidFill>
                <a:srgbClr val="2F2F2F">
                  <a:lumMod val="75000"/>
                  <a:lumOff val="25000"/>
                </a:srgbClr>
              </a:solidFill>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endParaRPr lang="zh-CN" altLang="en-US">
              <a:solidFill>
                <a:srgbClr val="2F2F2F">
                  <a:lumMod val="75000"/>
                  <a:lumOff val="25000"/>
                </a:srgbClr>
              </a:solidFill>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fld id="{1F9C30EF-BED7-4227-AEDB-FD1CDC6CCC52}" type="slidenum">
              <a:rPr lang="zh-CN" altLang="en-US" smtClean="0">
                <a:solidFill>
                  <a:srgbClr val="2F2F2F">
                    <a:lumMod val="75000"/>
                    <a:lumOff val="25000"/>
                  </a:srgbClr>
                </a:solidFill>
              </a:rPr>
            </a:fld>
            <a:endParaRPr lang="zh-CN" altLang="en-US">
              <a:solidFill>
                <a:srgbClr val="2F2F2F">
                  <a:lumMod val="75000"/>
                  <a:lumOff val="25000"/>
                </a:srgbClr>
              </a:solidFill>
            </a:endParaRP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panose="05020102010507070707"/>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panose="05020102010507070707"/>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hemeOverride" Target="../theme/themeOverride1.xml"/><Relationship Id="rId2" Type="http://schemas.openxmlformats.org/officeDocument/2006/relationships/image" Target="../media/image7.jpeg"/><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7.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7.xml"/><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7.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7.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7.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7.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7.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7.xml"/><Relationship Id="rId2" Type="http://schemas.openxmlformats.org/officeDocument/2006/relationships/image" Target="../media/image25.png"/><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27.png"/><Relationship Id="rId1" Type="http://schemas.openxmlformats.org/officeDocument/2006/relationships/image" Target="../media/image26.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7.xml"/><Relationship Id="rId2" Type="http://schemas.openxmlformats.org/officeDocument/2006/relationships/image" Target="../media/image28.png"/><Relationship Id="rId1" Type="http://schemas.openxmlformats.org/officeDocument/2006/relationships/hyperlink" Target="&#8220;&#24184;&#36816;&#8221;&#23398;&#29983;&#25277;&#36873;&#22120;.exe" TargetMode="Externa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7.xml"/><Relationship Id="rId1"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7.xml"/><Relationship Id="rId1"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7.xml"/><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17.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7.xml"/><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hyperlink" Target="&#8220;&#24184;&#36816;&#8221;&#23398;&#29983;&#25277;&#36873;&#22120;.exe" TargetMode="Externa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7.xml"/><Relationship Id="rId2" Type="http://schemas.openxmlformats.org/officeDocument/2006/relationships/image" Target="../media/image41.png"/><Relationship Id="rId1"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7.xml"/><Relationship Id="rId1"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4.png"/><Relationship Id="rId1" Type="http://schemas.openxmlformats.org/officeDocument/2006/relationships/image" Target="../media/image43.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5.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6.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7.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hyperlink" Target="mailto:sysumatlab@163.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12F22"/>
            </a:gs>
            <a:gs pos="31000">
              <a:srgbClr val="0B7B3E"/>
            </a:gs>
            <a:gs pos="100000">
              <a:srgbClr val="1E241F"/>
            </a:gs>
          </a:gsLst>
          <a:lin ang="5400000" scaled="0"/>
        </a:gra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340768"/>
            <a:ext cx="7772400" cy="1470025"/>
          </a:xfrm>
        </p:spPr>
        <p:txBody>
          <a:bodyPr/>
          <a:lstStyle/>
          <a:p>
            <a:r>
              <a:rPr lang="zh-CN" altLang="en-US" sz="4800" b="1" dirty="0">
                <a:solidFill>
                  <a:srgbClr val="FFC000"/>
                </a:solidFill>
              </a:rPr>
              <a:t>数学实验与数学软件</a:t>
            </a:r>
            <a:br>
              <a:rPr lang="zh-CN" altLang="en-US" dirty="0"/>
            </a:br>
            <a:endParaRPr lang="zh-CN" altLang="en-US" dirty="0"/>
          </a:p>
        </p:txBody>
      </p:sp>
      <p:sp>
        <p:nvSpPr>
          <p:cNvPr id="4" name="矩形 3"/>
          <p:cNvSpPr/>
          <p:nvPr/>
        </p:nvSpPr>
        <p:spPr>
          <a:xfrm>
            <a:off x="2286000" y="2643852"/>
            <a:ext cx="4572000" cy="954107"/>
          </a:xfrm>
          <a:prstGeom prst="rect">
            <a:avLst/>
          </a:prstGeom>
        </p:spPr>
        <p:txBody>
          <a:bodyPr>
            <a:spAutoFit/>
          </a:bodyPr>
          <a:lstStyle/>
          <a:p>
            <a:pPr algn="ctr"/>
            <a:r>
              <a:rPr lang="zh-CN" altLang="en-US" sz="2800" dirty="0"/>
              <a:t>第二课：</a:t>
            </a:r>
            <a:r>
              <a:rPr lang="en-US" altLang="zh-CN" sz="2800" dirty="0"/>
              <a:t>MATLAB</a:t>
            </a:r>
            <a:r>
              <a:rPr lang="zh-CN" altLang="en-US" sz="2800" dirty="0"/>
              <a:t>基础运算与符号计算（一）</a:t>
            </a:r>
            <a:endParaRPr lang="en-US" altLang="zh-CN" sz="2800" dirty="0"/>
          </a:p>
        </p:txBody>
      </p:sp>
      <p:pic>
        <p:nvPicPr>
          <p:cNvPr id="8"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7564" y="4581128"/>
            <a:ext cx="1616968" cy="1552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1476" y="4581817"/>
            <a:ext cx="1551600" cy="1551600"/>
          </a:xfrm>
          <a:prstGeom prst="rect">
            <a:avLst/>
          </a:prstGeom>
        </p:spPr>
      </p:pic>
      <p:sp>
        <p:nvSpPr>
          <p:cNvPr id="10" name="副标题 2"/>
          <p:cNvSpPr>
            <a:spLocks noGrp="1"/>
          </p:cNvSpPr>
          <p:nvPr>
            <p:ph type="subTitle" idx="1"/>
          </p:nvPr>
        </p:nvSpPr>
        <p:spPr>
          <a:xfrm>
            <a:off x="1219200" y="3429000"/>
            <a:ext cx="6400800" cy="1752600"/>
          </a:xfrm>
        </p:spPr>
        <p:txBody>
          <a:bodyPr/>
          <a:lstStyle/>
          <a:p>
            <a:endParaRPr lang="en-US" altLang="zh-CN" sz="2400" dirty="0"/>
          </a:p>
          <a:p>
            <a:r>
              <a:rPr lang="zh-CN" altLang="en-US" sz="2400" dirty="0"/>
              <a:t>谭军</a:t>
            </a:r>
            <a:endParaRPr lang="en-US" altLang="zh-CN" sz="2400" dirty="0"/>
          </a:p>
          <a:p>
            <a:r>
              <a:rPr lang="zh-CN" altLang="en-US" sz="2400" b="1" dirty="0">
                <a:ea typeface="PMingLiU" pitchFamily="18" charset="-120"/>
              </a:rPr>
              <a:t>中山大学数学学院</a:t>
            </a:r>
            <a:endParaRPr lang="en-US" altLang="zh-CN" sz="2400" b="1" dirty="0">
              <a:ea typeface="PMingLiU" pitchFamily="18" charset="-120"/>
            </a:endParaRPr>
          </a:p>
          <a:p>
            <a:endParaRPr lang="en-US" altLang="zh-CN" sz="1600" b="1" dirty="0">
              <a:ea typeface="PMingLiU" pitchFamily="18" charset="-120"/>
            </a:endParaRPr>
          </a:p>
          <a:p>
            <a:endParaRPr lang="zh-CN" altLang="en-US" sz="1600" dirty="0"/>
          </a:p>
          <a:p>
            <a:endParaRPr lang="zh-CN" altLang="en-US" dirty="0"/>
          </a:p>
        </p:txBody>
      </p:sp>
      <p:sp>
        <p:nvSpPr>
          <p:cNvPr id="11" name="副标题 2"/>
          <p:cNvSpPr txBox="1"/>
          <p:nvPr/>
        </p:nvSpPr>
        <p:spPr>
          <a:xfrm>
            <a:off x="1187624" y="4725144"/>
            <a:ext cx="6400800" cy="1752600"/>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2"/>
                </a:solidFill>
                <a:latin typeface="+mn-lt"/>
                <a:ea typeface="+mn-ea"/>
                <a:cs typeface="+mn-cs"/>
              </a:defRPr>
            </a:lvl1pPr>
            <a:lvl2pPr marL="4572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1">
                    <a:tint val="75000"/>
                  </a:schemeClr>
                </a:solidFill>
                <a:latin typeface="+mn-lt"/>
                <a:ea typeface="+mn-ea"/>
                <a:cs typeface="+mn-cs"/>
              </a:defRPr>
            </a:lvl2pPr>
            <a:lvl3pPr marL="9144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1">
                    <a:tint val="75000"/>
                  </a:schemeClr>
                </a:solidFill>
                <a:latin typeface="+mn-lt"/>
                <a:ea typeface="+mn-ea"/>
                <a:cs typeface="+mn-cs"/>
              </a:defRPr>
            </a:lvl3pPr>
            <a:lvl4pPr marL="13716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1">
                    <a:tint val="75000"/>
                  </a:schemeClr>
                </a:solidFill>
                <a:latin typeface="+mn-lt"/>
                <a:ea typeface="+mn-ea"/>
                <a:cs typeface="+mn-cs"/>
              </a:defRPr>
            </a:lvl4pPr>
            <a:lvl5pPr marL="18288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spc="30" baseline="0">
                <a:solidFill>
                  <a:schemeClr val="tx1">
                    <a:tint val="75000"/>
                  </a:schemeClr>
                </a:solidFill>
                <a:latin typeface="+mn-lt"/>
                <a:ea typeface="+mn-ea"/>
                <a:cs typeface="+mn-cs"/>
              </a:defRPr>
            </a:lvl5pPr>
            <a:lvl6pPr marL="22860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a:solidFill>
                  <a:schemeClr val="tx1">
                    <a:tint val="75000"/>
                  </a:schemeClr>
                </a:solidFill>
                <a:latin typeface="+mn-lt"/>
                <a:ea typeface="+mn-ea"/>
                <a:cs typeface="+mn-cs"/>
              </a:defRPr>
            </a:lvl6pPr>
            <a:lvl7pPr marL="27432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a:solidFill>
                  <a:schemeClr val="tx1">
                    <a:tint val="75000"/>
                  </a:schemeClr>
                </a:solidFill>
                <a:latin typeface="+mn-lt"/>
                <a:ea typeface="+mn-ea"/>
                <a:cs typeface="+mn-cs"/>
              </a:defRPr>
            </a:lvl7pPr>
            <a:lvl8pPr marL="32004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a:solidFill>
                  <a:schemeClr val="tx1">
                    <a:tint val="75000"/>
                  </a:schemeClr>
                </a:solidFill>
                <a:latin typeface="+mn-lt"/>
                <a:ea typeface="+mn-ea"/>
                <a:cs typeface="+mn-cs"/>
              </a:defRPr>
            </a:lvl8pPr>
            <a:lvl9pPr marL="3657600" indent="0" algn="ctr" defTabSz="914400" rtl="0" eaLnBrk="1" latinLnBrk="0" hangingPunct="1">
              <a:lnSpc>
                <a:spcPct val="100000"/>
              </a:lnSpc>
              <a:spcBef>
                <a:spcPct val="20000"/>
              </a:spcBef>
              <a:spcAft>
                <a:spcPts val="600"/>
              </a:spcAft>
              <a:buClr>
                <a:schemeClr val="tx2"/>
              </a:buClr>
              <a:buFont typeface="Arial" panose="020B0604020202020204" pitchFamily="34" charset="0"/>
              <a:buNone/>
              <a:defRPr sz="1700" kern="1200">
                <a:solidFill>
                  <a:schemeClr val="tx1">
                    <a:tint val="75000"/>
                  </a:schemeClr>
                </a:solidFill>
                <a:latin typeface="+mn-lt"/>
                <a:ea typeface="+mn-ea"/>
                <a:cs typeface="+mn-cs"/>
              </a:defRPr>
            </a:lvl9pPr>
          </a:lstStyle>
          <a:p>
            <a:endParaRPr lang="en-US" altLang="zh-CN" dirty="0"/>
          </a:p>
          <a:p>
            <a:r>
              <a:rPr lang="zh-CN" altLang="en-US" sz="2400" dirty="0"/>
              <a:t>教师邮箱：</a:t>
            </a:r>
            <a:r>
              <a:rPr lang="en-US" altLang="zh-CN" sz="2400" dirty="0"/>
              <a:t>mcstj@mail.sysu.edu.cn </a:t>
            </a:r>
            <a:endParaRPr lang="en-US" altLang="zh-CN" sz="2400" b="1" dirty="0">
              <a:ea typeface="PMingLiU" pitchFamily="18" charset="-120"/>
            </a:endParaRPr>
          </a:p>
          <a:p>
            <a:endParaRPr lang="en-US" altLang="zh-CN" sz="1600" b="1" dirty="0">
              <a:ea typeface="PMingLiU" pitchFamily="18" charset="-120"/>
            </a:endParaRPr>
          </a:p>
          <a:p>
            <a:endParaRPr lang="zh-CN" altLang="en-US" sz="1600" dirty="0"/>
          </a:p>
          <a:p>
            <a:endParaRPr lang="zh-CN" altLang="en-US" dirty="0"/>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9392"/>
            <a:ext cx="7772400" cy="1143000"/>
          </a:xfrm>
        </p:spPr>
        <p:txBody>
          <a:bodyPr>
            <a:normAutofit/>
          </a:bodyPr>
          <a:lstStyle/>
          <a:p>
            <a:pPr algn="ctr" eaLnBrk="0" fontAlgn="base" hangingPunct="0">
              <a:spcAft>
                <a:spcPct val="0"/>
              </a:spcAft>
              <a:defRPr/>
            </a:pP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作为计算器怎么样？</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6" name="矩形 5"/>
          <p:cNvSpPr/>
          <p:nvPr/>
        </p:nvSpPr>
        <p:spPr>
          <a:xfrm>
            <a:off x="467544" y="895452"/>
            <a:ext cx="8424936" cy="5370701"/>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rPr>
              <a:t>&gt;&gt; </a:t>
            </a:r>
            <a:r>
              <a:rPr lang="en-US" altLang="zh-CN" sz="2400" b="1" dirty="0">
                <a:solidFill>
                  <a:srgbClr val="0070C0"/>
                </a:solidFill>
                <a:latin typeface="+mj-ea"/>
              </a:rPr>
              <a:t>a = 1/3</a:t>
            </a:r>
            <a:endParaRPr lang="en-US" altLang="zh-CN" sz="2400" b="1" dirty="0">
              <a:solidFill>
                <a:srgbClr val="0070C0"/>
              </a:solidFill>
              <a:latin typeface="+mj-ea"/>
            </a:endParaRPr>
          </a:p>
          <a:p>
            <a:pPr lvl="0">
              <a:spcBef>
                <a:spcPts val="580"/>
              </a:spcBef>
              <a:buClr>
                <a:srgbClr val="00B050"/>
              </a:buClr>
              <a:buSzPct val="85000"/>
            </a:pPr>
            <a:endParaRPr lang="en-US" altLang="zh-CN" sz="2400" b="1" dirty="0">
              <a:solidFill>
                <a:prstClr val="black"/>
              </a:solidFill>
              <a:latin typeface="+mj-ea"/>
              <a:ea typeface="+mj-ea"/>
            </a:endParaRPr>
          </a:p>
          <a:p>
            <a:pPr marL="274320" lvl="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ea typeface="+mj-ea"/>
              </a:rPr>
              <a:t>a =</a:t>
            </a:r>
            <a:endParaRPr lang="en-US" altLang="zh-CN" sz="2400" b="1" dirty="0">
              <a:solidFill>
                <a:prstClr val="black"/>
              </a:solidFill>
              <a:latin typeface="+mj-ea"/>
              <a:ea typeface="+mj-ea"/>
            </a:endParaRPr>
          </a:p>
          <a:p>
            <a:pPr marL="274320" lvl="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lvl="0">
              <a:spcBef>
                <a:spcPts val="580"/>
              </a:spcBef>
              <a:buClr>
                <a:srgbClr val="00B050"/>
              </a:buClr>
              <a:buSzPct val="85000"/>
            </a:pPr>
            <a:r>
              <a:rPr lang="en-US" altLang="zh-CN" sz="2400" b="1" dirty="0">
                <a:solidFill>
                  <a:prstClr val="black"/>
                </a:solidFill>
                <a:latin typeface="+mj-ea"/>
                <a:ea typeface="+mj-ea"/>
              </a:rPr>
              <a:t>   0.3333</a:t>
            </a:r>
            <a:endParaRPr lang="en-US" altLang="zh-CN" sz="2400" b="1" dirty="0">
              <a:solidFill>
                <a:prstClr val="black"/>
              </a:solidFill>
              <a:latin typeface="+mj-ea"/>
              <a:ea typeface="+mj-ea"/>
            </a:endParaRPr>
          </a:p>
          <a:p>
            <a:pPr lvl="0">
              <a:spcBef>
                <a:spcPts val="580"/>
              </a:spcBef>
              <a:buClr>
                <a:srgbClr val="00B050"/>
              </a:buClr>
              <a:buSzPct val="85000"/>
            </a:pPr>
            <a:r>
              <a:rPr lang="zh-CN" altLang="en-US" sz="2400" b="1" dirty="0">
                <a:solidFill>
                  <a:prstClr val="black"/>
                </a:solidFill>
                <a:latin typeface="+mj-ea"/>
                <a:ea typeface="+mj-ea"/>
              </a:rPr>
              <a:t>（</a:t>
            </a:r>
            <a:r>
              <a:rPr lang="zh-CN" altLang="en-US" sz="2400" b="1" dirty="0">
                <a:solidFill>
                  <a:srgbClr val="FF0000"/>
                </a:solidFill>
                <a:latin typeface="+mj-ea"/>
                <a:ea typeface="+mj-ea"/>
              </a:rPr>
              <a:t>这精度应该可以调吧！</a:t>
            </a:r>
            <a:r>
              <a:rPr lang="zh-CN" altLang="en-US" sz="2400" b="1" dirty="0">
                <a:solidFill>
                  <a:prstClr val="black"/>
                </a:solidFill>
                <a:latin typeface="+mj-ea"/>
                <a:ea typeface="+mj-ea"/>
              </a:rPr>
              <a:t>）</a:t>
            </a: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rPr>
              <a:t>&gt;&gt; </a:t>
            </a:r>
            <a:r>
              <a:rPr lang="en-US" altLang="zh-CN" sz="2400" b="1" dirty="0">
                <a:solidFill>
                  <a:srgbClr val="0070C0"/>
                </a:solidFill>
                <a:latin typeface="+mj-ea"/>
              </a:rPr>
              <a:t>b = a*3</a:t>
            </a:r>
            <a:endParaRPr lang="en-US" altLang="zh-CN" sz="2400" b="1" dirty="0">
              <a:solidFill>
                <a:srgbClr val="0070C0"/>
              </a:solidFill>
              <a:latin typeface="+mj-ea"/>
            </a:endParaRPr>
          </a:p>
          <a:p>
            <a:pPr lvl="0">
              <a:spcBef>
                <a:spcPts val="580"/>
              </a:spcBef>
              <a:buClr>
                <a:srgbClr val="00B050"/>
              </a:buClr>
              <a:buSzPct val="85000"/>
            </a:pPr>
            <a:endParaRPr lang="en-US" altLang="zh-CN" sz="2400" b="1" dirty="0">
              <a:solidFill>
                <a:prstClr val="black"/>
              </a:solidFill>
              <a:latin typeface="+mj-ea"/>
            </a:endParaRPr>
          </a:p>
          <a:p>
            <a:pPr marL="274320" lvl="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rPr>
              <a:t>b =</a:t>
            </a:r>
            <a:endParaRPr lang="en-US" altLang="zh-CN" sz="2400" b="1" dirty="0">
              <a:solidFill>
                <a:prstClr val="black"/>
              </a:solidFill>
              <a:latin typeface="+mj-ea"/>
            </a:endParaRPr>
          </a:p>
          <a:p>
            <a:pPr marL="274320" lvl="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ndParaRPr>
          </a:p>
          <a:p>
            <a:pPr lvl="0">
              <a:spcBef>
                <a:spcPts val="580"/>
              </a:spcBef>
              <a:buClr>
                <a:srgbClr val="00B050"/>
              </a:buClr>
              <a:buSzPct val="85000"/>
            </a:pPr>
            <a:r>
              <a:rPr lang="en-US" altLang="zh-CN" sz="2400" b="1" dirty="0">
                <a:solidFill>
                  <a:prstClr val="black"/>
                </a:solidFill>
                <a:latin typeface="+mj-ea"/>
              </a:rPr>
              <a:t>   1</a:t>
            </a:r>
            <a:endParaRPr lang="en-US" altLang="zh-CN" sz="2400" b="1" dirty="0">
              <a:solidFill>
                <a:prstClr val="black"/>
              </a:solidFill>
              <a:latin typeface="+mj-ea"/>
            </a:endParaRPr>
          </a:p>
          <a:p>
            <a:pPr lvl="0">
              <a:spcBef>
                <a:spcPts val="580"/>
              </a:spcBef>
              <a:buClr>
                <a:srgbClr val="00B050"/>
              </a:buClr>
              <a:buSzPct val="85000"/>
            </a:pPr>
            <a:r>
              <a:rPr lang="zh-CN" altLang="en-US" sz="2400" b="1" dirty="0">
                <a:solidFill>
                  <a:prstClr val="black"/>
                </a:solidFill>
                <a:latin typeface="幼圆" panose="02010509060101010101" pitchFamily="49" charset="-122"/>
                <a:ea typeface="幼圆" panose="02010509060101010101" pitchFamily="49" charset="-122"/>
              </a:rPr>
              <a:t>（</a:t>
            </a:r>
            <a:r>
              <a:rPr lang="zh-CN" altLang="en-US" sz="2400" b="1" dirty="0">
                <a:solidFill>
                  <a:srgbClr val="FF0000"/>
                </a:solidFill>
                <a:latin typeface="幼圆" panose="02010509060101010101" pitchFamily="49" charset="-122"/>
                <a:ea typeface="幼圆" panose="02010509060101010101" pitchFamily="49" charset="-122"/>
              </a:rPr>
              <a:t>为何不是</a:t>
            </a:r>
            <a:r>
              <a:rPr lang="en-US" altLang="zh-CN" sz="2400" b="1" dirty="0">
                <a:solidFill>
                  <a:srgbClr val="FF0000"/>
                </a:solidFill>
                <a:latin typeface="幼圆" panose="02010509060101010101" pitchFamily="49" charset="-122"/>
                <a:ea typeface="幼圆" panose="02010509060101010101" pitchFamily="49" charset="-122"/>
              </a:rPr>
              <a:t>0.9999?</a:t>
            </a:r>
            <a:r>
              <a:rPr lang="zh-CN" altLang="en-US" sz="2400" b="1" dirty="0">
                <a:solidFill>
                  <a:prstClr val="black"/>
                </a:solidFill>
                <a:latin typeface="幼圆" panose="02010509060101010101" pitchFamily="49" charset="-122"/>
                <a:ea typeface="幼圆" panose="02010509060101010101" pitchFamily="49" charset="-122"/>
              </a:rPr>
              <a:t>）</a:t>
            </a:r>
            <a:endParaRPr lang="en-US" altLang="zh-CN" sz="2400" b="1" dirty="0">
              <a:solidFill>
                <a:prstClr val="black"/>
              </a:solidFill>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939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运算结果的显示形式</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graphicFrame>
        <p:nvGraphicFramePr>
          <p:cNvPr id="3" name="表格 4"/>
          <p:cNvGraphicFramePr>
            <a:graphicFrameLocks noGrp="1"/>
          </p:cNvGraphicFramePr>
          <p:nvPr/>
        </p:nvGraphicFramePr>
        <p:xfrm>
          <a:off x="368252" y="1124744"/>
          <a:ext cx="8504748" cy="5145878"/>
        </p:xfrm>
        <a:graphic>
          <a:graphicData uri="http://schemas.openxmlformats.org/drawingml/2006/table">
            <a:tbl>
              <a:tblPr firstRow="1" bandRow="1">
                <a:tableStyleId>{5C22544A-7EE6-4342-B048-85BDC9FD1C3A}</a:tableStyleId>
              </a:tblPr>
              <a:tblGrid>
                <a:gridCol w="1971500"/>
                <a:gridCol w="2280874"/>
                <a:gridCol w="2126187"/>
                <a:gridCol w="2126187"/>
              </a:tblGrid>
              <a:tr h="792088">
                <a:tc>
                  <a:txBody>
                    <a:bodyPr/>
                    <a:lstStyle/>
                    <a:p>
                      <a:pPr algn="ctr"/>
                      <a:r>
                        <a:rPr lang="zh-CN" altLang="en-US" sz="2600" dirty="0"/>
                        <a:t>命令</a:t>
                      </a:r>
                      <a:endParaRPr lang="zh-CN" altLang="en-US" sz="2600" dirty="0"/>
                    </a:p>
                  </a:txBody>
                  <a:tcPr marL="127571" marR="127571" marT="63786" marB="63786" anchor="ctr"/>
                </a:tc>
                <a:tc>
                  <a:txBody>
                    <a:bodyPr/>
                    <a:lstStyle/>
                    <a:p>
                      <a:pPr algn="ctr"/>
                      <a:r>
                        <a:rPr lang="zh-CN" altLang="en-US" sz="2600" dirty="0"/>
                        <a:t>含义</a:t>
                      </a:r>
                      <a:endParaRPr lang="zh-CN" altLang="en-US" sz="2600" dirty="0"/>
                    </a:p>
                  </a:txBody>
                  <a:tcPr marL="127571" marR="127571" marT="63786" marB="63786" anchor="ctr"/>
                </a:tc>
                <a:tc>
                  <a:txBody>
                    <a:bodyPr/>
                    <a:lstStyle/>
                    <a:p>
                      <a:pPr algn="ctr"/>
                      <a:r>
                        <a:rPr lang="zh-CN" altLang="en-US" sz="2600" dirty="0"/>
                        <a:t>命令</a:t>
                      </a:r>
                      <a:endParaRPr lang="zh-CN" altLang="en-US" sz="2600" dirty="0"/>
                    </a:p>
                  </a:txBody>
                  <a:tcPr marL="127571" marR="127571" marT="63786" marB="63786" anchor="ctr"/>
                </a:tc>
                <a:tc>
                  <a:txBody>
                    <a:bodyPr/>
                    <a:lstStyle/>
                    <a:p>
                      <a:pPr algn="ctr"/>
                      <a:r>
                        <a:rPr lang="zh-CN" altLang="en-US" sz="2600" dirty="0"/>
                        <a:t>含义</a:t>
                      </a:r>
                      <a:endParaRPr lang="zh-CN" altLang="en-US" sz="2600" dirty="0"/>
                    </a:p>
                  </a:txBody>
                  <a:tcPr marL="127571" marR="127571" marT="63786" marB="63786" anchor="ctr"/>
                </a:tc>
              </a:tr>
              <a:tr h="1593634">
                <a:tc>
                  <a:txBody>
                    <a:bodyPr/>
                    <a:lstStyle/>
                    <a:p>
                      <a:pPr algn="ctr"/>
                      <a:r>
                        <a:rPr lang="en-US" altLang="zh-CN" sz="2600" dirty="0"/>
                        <a:t>format</a:t>
                      </a:r>
                      <a:endParaRPr lang="zh-CN" altLang="en-US" sz="2600" dirty="0"/>
                    </a:p>
                  </a:txBody>
                  <a:tcPr marL="127571" marR="127571" marT="63786" marB="63786" anchor="ctr"/>
                </a:tc>
                <a:tc>
                  <a:txBody>
                    <a:bodyPr/>
                    <a:lstStyle/>
                    <a:p>
                      <a:pPr algn="ctr"/>
                      <a:r>
                        <a:rPr lang="zh-CN" altLang="en-US" sz="2000" b="1" dirty="0"/>
                        <a:t>默认格式，一般保留</a:t>
                      </a:r>
                      <a:r>
                        <a:rPr lang="en-US" altLang="zh-CN" sz="2000" b="1" dirty="0"/>
                        <a:t>4</a:t>
                      </a:r>
                      <a:r>
                        <a:rPr lang="zh-CN" altLang="en-US" sz="2000" b="1" dirty="0"/>
                        <a:t>位小数。很大很小的数使用科学计数法。</a:t>
                      </a:r>
                      <a:endParaRPr lang="zh-CN" altLang="en-US" sz="2000" b="1" dirty="0"/>
                    </a:p>
                  </a:txBody>
                  <a:tcPr marL="127571" marR="127571" marT="63786" marB="63786" anchor="ctr"/>
                </a:tc>
                <a:tc>
                  <a:txBody>
                    <a:bodyPr/>
                    <a:lstStyle/>
                    <a:p>
                      <a:pPr algn="ctr"/>
                      <a:r>
                        <a:rPr lang="en-US" altLang="zh-CN" sz="2600" dirty="0"/>
                        <a:t>format rat </a:t>
                      </a:r>
                      <a:endParaRPr lang="zh-CN" altLang="en-US" sz="2600" dirty="0"/>
                    </a:p>
                  </a:txBody>
                  <a:tcPr marL="127571" marR="127571" marT="63786" marB="63786" anchor="ctr"/>
                </a:tc>
                <a:tc>
                  <a:txBody>
                    <a:bodyPr/>
                    <a:lstStyle/>
                    <a:p>
                      <a:pPr algn="ctr"/>
                      <a:r>
                        <a:rPr lang="zh-CN" altLang="en-US" sz="2600" dirty="0"/>
                        <a:t>以有理数（分数）显示</a:t>
                      </a:r>
                      <a:endParaRPr lang="zh-CN" altLang="en-US" sz="2600" dirty="0"/>
                    </a:p>
                  </a:txBody>
                  <a:tcPr marL="127571" marR="127571" marT="63786" marB="63786" anchor="ctr"/>
                </a:tc>
              </a:tr>
              <a:tr h="792088">
                <a:tc>
                  <a:txBody>
                    <a:bodyPr/>
                    <a:lstStyle/>
                    <a:p>
                      <a:pPr algn="ctr"/>
                      <a:r>
                        <a:rPr lang="en-US" altLang="zh-CN" sz="2600" dirty="0"/>
                        <a:t>format long</a:t>
                      </a:r>
                      <a:endParaRPr lang="zh-CN" altLang="en-US" sz="2600" dirty="0"/>
                    </a:p>
                  </a:txBody>
                  <a:tcPr marL="127571" marR="127571" marT="63786" marB="63786" anchor="ctr"/>
                </a:tc>
                <a:tc>
                  <a:txBody>
                    <a:bodyPr/>
                    <a:lstStyle/>
                    <a:p>
                      <a:pPr algn="ctr"/>
                      <a:r>
                        <a:rPr lang="en-US" altLang="zh-CN" sz="2600" dirty="0"/>
                        <a:t>15</a:t>
                      </a:r>
                      <a:r>
                        <a:rPr lang="zh-CN" altLang="en-US" sz="2600" dirty="0"/>
                        <a:t>位小数</a:t>
                      </a:r>
                      <a:endParaRPr lang="zh-CN" altLang="en-US" sz="2600" dirty="0"/>
                    </a:p>
                  </a:txBody>
                  <a:tcPr marL="127571" marR="127571" marT="63786" marB="63786" anchor="ctr"/>
                </a:tc>
                <a:tc>
                  <a:txBody>
                    <a:bodyPr/>
                    <a:lstStyle/>
                    <a:p>
                      <a:pPr algn="ctr"/>
                      <a:r>
                        <a:rPr lang="en-US" altLang="zh-CN" sz="2600" dirty="0"/>
                        <a:t>format bank</a:t>
                      </a:r>
                      <a:endParaRPr lang="zh-CN" altLang="en-US" sz="2600" dirty="0"/>
                    </a:p>
                  </a:txBody>
                  <a:tcPr marL="127571" marR="127571" marT="63786" marB="63786" anchor="ctr"/>
                </a:tc>
                <a:tc>
                  <a:txBody>
                    <a:bodyPr/>
                    <a:lstStyle/>
                    <a:p>
                      <a:pPr algn="ctr"/>
                      <a:r>
                        <a:rPr lang="zh-CN" altLang="en-US" sz="2600" dirty="0"/>
                        <a:t>元、角、分表示</a:t>
                      </a:r>
                      <a:endParaRPr lang="zh-CN" altLang="en-US" sz="2600" dirty="0"/>
                    </a:p>
                  </a:txBody>
                  <a:tcPr marL="127571" marR="127571" marT="63786" marB="63786" anchor="ctr"/>
                </a:tc>
              </a:tr>
              <a:tr h="792088">
                <a:tc>
                  <a:txBody>
                    <a:bodyPr/>
                    <a:lstStyle/>
                    <a:p>
                      <a:pPr algn="ctr"/>
                      <a:r>
                        <a:rPr lang="en-US" altLang="zh-CN" sz="2600" dirty="0"/>
                        <a:t>format </a:t>
                      </a:r>
                      <a:r>
                        <a:rPr lang="en-US" altLang="zh-CN" sz="2600" dirty="0" err="1"/>
                        <a:t>shortE</a:t>
                      </a:r>
                      <a:endParaRPr lang="zh-CN" altLang="en-US" sz="2600" dirty="0"/>
                    </a:p>
                  </a:txBody>
                  <a:tcPr marL="127571" marR="127571" marT="63786" marB="63786" anchor="ctr"/>
                </a:tc>
                <a:tc>
                  <a:txBody>
                    <a:bodyPr/>
                    <a:lstStyle/>
                    <a:p>
                      <a:pPr algn="ctr"/>
                      <a:r>
                        <a:rPr lang="en-US" altLang="zh-CN" sz="2600" dirty="0"/>
                        <a:t>5</a:t>
                      </a:r>
                      <a:r>
                        <a:rPr lang="zh-CN" altLang="en-US" sz="2600" dirty="0"/>
                        <a:t>位有效数字科学计数法</a:t>
                      </a:r>
                      <a:endParaRPr lang="zh-CN" altLang="en-US" sz="2600" dirty="0"/>
                    </a:p>
                  </a:txBody>
                  <a:tcPr marL="127571" marR="127571" marT="63786" marB="63786" anchor="ctr"/>
                </a:tc>
                <a:tc>
                  <a:txBody>
                    <a:bodyPr/>
                    <a:lstStyle/>
                    <a:p>
                      <a:pPr algn="ctr"/>
                      <a:r>
                        <a:rPr lang="en-US" altLang="zh-CN" sz="2600" dirty="0"/>
                        <a:t>format compact</a:t>
                      </a:r>
                      <a:endParaRPr lang="zh-CN" altLang="en-US" sz="2600" dirty="0"/>
                    </a:p>
                  </a:txBody>
                  <a:tcPr marL="127571" marR="127571" marT="63786" marB="63786" anchor="ctr"/>
                </a:tc>
                <a:tc>
                  <a:txBody>
                    <a:bodyPr/>
                    <a:lstStyle/>
                    <a:p>
                      <a:pPr algn="ctr"/>
                      <a:r>
                        <a:rPr lang="zh-CN" altLang="en-US" sz="2600" dirty="0"/>
                        <a:t>命令结果无空行</a:t>
                      </a:r>
                      <a:endParaRPr lang="zh-CN" altLang="en-US" sz="2600" dirty="0"/>
                    </a:p>
                  </a:txBody>
                  <a:tcPr marL="127571" marR="127571" marT="63786" marB="63786" anchor="ctr"/>
                </a:tc>
              </a:tr>
              <a:tr h="792088">
                <a:tc>
                  <a:txBody>
                    <a:bodyPr/>
                    <a:lstStyle/>
                    <a:p>
                      <a:pPr algn="ctr"/>
                      <a:r>
                        <a:rPr lang="en-US" altLang="zh-CN" sz="2600" dirty="0"/>
                        <a:t>format </a:t>
                      </a:r>
                      <a:r>
                        <a:rPr lang="en-US" altLang="zh-CN" sz="2600" dirty="0" err="1"/>
                        <a:t>longE</a:t>
                      </a:r>
                      <a:endParaRPr lang="zh-CN" altLang="en-US" sz="2600" dirty="0"/>
                    </a:p>
                  </a:txBody>
                  <a:tcPr marL="127571" marR="127571" marT="63786" marB="63786" anchor="ctr"/>
                </a:tc>
                <a:tc>
                  <a:txBody>
                    <a:bodyPr/>
                    <a:lstStyle/>
                    <a:p>
                      <a:pPr algn="ctr"/>
                      <a:r>
                        <a:rPr lang="en-US" altLang="zh-CN" sz="2600" dirty="0"/>
                        <a:t>16</a:t>
                      </a:r>
                      <a:r>
                        <a:rPr lang="zh-CN" altLang="en-US" sz="2600" dirty="0"/>
                        <a:t>位有效数字科学计数法</a:t>
                      </a:r>
                      <a:endParaRPr lang="zh-CN" altLang="en-US" sz="2600" dirty="0"/>
                    </a:p>
                  </a:txBody>
                  <a:tcPr marL="127571" marR="127571" marT="63786" marB="63786" anchor="ctr"/>
                </a:tc>
                <a:tc>
                  <a:txBody>
                    <a:bodyPr/>
                    <a:lstStyle/>
                    <a:p>
                      <a:pPr algn="ctr"/>
                      <a:r>
                        <a:rPr lang="en-US" altLang="zh-CN" sz="2600" dirty="0"/>
                        <a:t>format loose</a:t>
                      </a:r>
                      <a:endParaRPr lang="zh-CN" altLang="en-US" sz="2600" dirty="0"/>
                    </a:p>
                  </a:txBody>
                  <a:tcPr marL="127571" marR="127571" marT="63786" marB="63786" anchor="ctr"/>
                </a:tc>
                <a:tc>
                  <a:txBody>
                    <a:bodyPr/>
                    <a:lstStyle/>
                    <a:p>
                      <a:pPr algn="ctr"/>
                      <a:r>
                        <a:rPr lang="zh-CN" altLang="en-US" sz="2600" dirty="0"/>
                        <a:t>命令结构有空行</a:t>
                      </a:r>
                      <a:endParaRPr lang="zh-CN" altLang="en-US" sz="2600" dirty="0"/>
                    </a:p>
                  </a:txBody>
                  <a:tcPr marL="127571" marR="127571" marT="63786" marB="63786" anchor="ct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939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标点符号的功能</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graphicFrame>
        <p:nvGraphicFramePr>
          <p:cNvPr id="5" name="表格 4"/>
          <p:cNvGraphicFramePr>
            <a:graphicFrameLocks noGrp="1"/>
          </p:cNvGraphicFramePr>
          <p:nvPr/>
        </p:nvGraphicFramePr>
        <p:xfrm>
          <a:off x="310686" y="1043608"/>
          <a:ext cx="8522628" cy="5481384"/>
        </p:xfrm>
        <a:graphic>
          <a:graphicData uri="http://schemas.openxmlformats.org/drawingml/2006/table">
            <a:tbl>
              <a:tblPr>
                <a:tableStyleId>{5C22544A-7EE6-4342-B048-85BDC9FD1C3A}</a:tableStyleId>
              </a:tblPr>
              <a:tblGrid>
                <a:gridCol w="1380994"/>
                <a:gridCol w="792088"/>
                <a:gridCol w="6349546"/>
              </a:tblGrid>
              <a:tr h="408528">
                <a:tc>
                  <a:txBody>
                    <a:bodyPr/>
                    <a:lstStyle/>
                    <a:p>
                      <a:pPr algn="l" fontAlgn="ctr"/>
                      <a:r>
                        <a:rPr lang="zh-CN" altLang="en-US" sz="2200" b="1" i="0" u="none" strike="noStrike" dirty="0">
                          <a:solidFill>
                            <a:srgbClr val="000000"/>
                          </a:solidFill>
                          <a:effectLst/>
                          <a:latin typeface="+mj-ea"/>
                          <a:ea typeface="+mj-ea"/>
                        </a:rPr>
                        <a:t>名称</a:t>
                      </a:r>
                      <a:endParaRPr lang="zh-CN" altLang="en-US" sz="22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200" b="1" u="none" strike="noStrike" dirty="0">
                          <a:effectLst/>
                          <a:latin typeface="+mj-ea"/>
                          <a:ea typeface="+mj-ea"/>
                        </a:rPr>
                        <a:t>标点</a:t>
                      </a:r>
                      <a:endParaRPr lang="zh-CN" altLang="en-US" sz="22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200" b="1" u="none" strike="noStrike" dirty="0">
                          <a:effectLst/>
                          <a:latin typeface="+mj-ea"/>
                          <a:ea typeface="+mj-ea"/>
                        </a:rPr>
                        <a:t>作用</a:t>
                      </a:r>
                      <a:endParaRPr lang="zh-CN" altLang="en-US" sz="22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200" b="1" u="none" strike="noStrike" dirty="0">
                          <a:effectLst/>
                          <a:latin typeface="+mj-ea"/>
                          <a:ea typeface="+mj-ea"/>
                        </a:rPr>
                        <a:t>空格</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r" fontAlgn="ct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200" b="1" u="none" strike="noStrike" dirty="0">
                          <a:solidFill>
                            <a:schemeClr val="tx1"/>
                          </a:solidFill>
                          <a:effectLst/>
                          <a:latin typeface="+mj-ea"/>
                          <a:ea typeface="+mj-ea"/>
                        </a:rPr>
                        <a:t>命令与变量分隔符</a:t>
                      </a:r>
                      <a:endParaRPr lang="en-US" altLang="zh-CN" sz="2200" b="1" u="none" strike="noStrike" dirty="0">
                        <a:solidFill>
                          <a:schemeClr val="tx1"/>
                        </a:solidFill>
                        <a:effectLst/>
                        <a:latin typeface="+mj-ea"/>
                        <a:ea typeface="+mj-ea"/>
                      </a:endParaRPr>
                    </a:p>
                    <a:p>
                      <a:pPr algn="l" fontAlgn="ctr"/>
                      <a:r>
                        <a:rPr lang="zh-CN" altLang="en-US" sz="2200" b="1" u="none" strike="noStrike" dirty="0">
                          <a:solidFill>
                            <a:schemeClr val="tx1"/>
                          </a:solidFill>
                          <a:effectLst/>
                          <a:latin typeface="+mj-ea"/>
                          <a:ea typeface="+mj-ea"/>
                        </a:rPr>
                        <a:t>矩阵同行元素间分隔符</a:t>
                      </a:r>
                      <a:endParaRPr lang="en-US" altLang="zh-CN" sz="2200" b="1" i="0" u="none" strike="noStrike" dirty="0">
                        <a:solidFill>
                          <a:schemeClr val="tx1"/>
                        </a:solidFill>
                        <a:effectLst/>
                        <a:latin typeface="+mj-ea"/>
                        <a:ea typeface="+mj-ea"/>
                      </a:endParaRPr>
                    </a:p>
                  </a:txBody>
                  <a:tcPr marL="5457" marR="5457" marT="5457" marB="0" anchor="ctr"/>
                </a:tc>
              </a:tr>
              <a:tr h="206992">
                <a:tc>
                  <a:txBody>
                    <a:bodyPr/>
                    <a:lstStyle/>
                    <a:p>
                      <a:pPr algn="l" fontAlgn="ctr"/>
                      <a:r>
                        <a:rPr lang="zh-CN" altLang="en-US" sz="2200" b="1" u="none" strike="noStrike" dirty="0">
                          <a:effectLst/>
                          <a:latin typeface="+mj-ea"/>
                          <a:ea typeface="+mj-ea"/>
                        </a:rPr>
                        <a:t>逗号</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200" b="1" i="0" u="none" strike="noStrike" dirty="0">
                          <a:solidFill>
                            <a:srgbClr val="000000"/>
                          </a:solidFill>
                          <a:effectLst/>
                          <a:latin typeface="+mj-ea"/>
                          <a:ea typeface="+mj-ea"/>
                        </a:rPr>
                        <a:t>,</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200" b="1" i="0" u="none" strike="noStrike" dirty="0">
                          <a:solidFill>
                            <a:schemeClr val="tx1"/>
                          </a:solidFill>
                          <a:effectLst/>
                          <a:latin typeface="+mj-ea"/>
                          <a:ea typeface="+mj-ea"/>
                        </a:rPr>
                        <a:t>多条命令分隔（前面命令显示结果）</a:t>
                      </a:r>
                      <a:endParaRPr lang="en-US" altLang="zh-CN" sz="2200" b="1" i="0" u="none" strike="noStrike" dirty="0">
                        <a:solidFill>
                          <a:schemeClr val="tx1"/>
                        </a:solidFill>
                        <a:effectLst/>
                        <a:latin typeface="+mj-ea"/>
                        <a:ea typeface="+mj-ea"/>
                      </a:endParaRPr>
                    </a:p>
                    <a:p>
                      <a:pPr algn="l" fontAlgn="ctr"/>
                      <a:r>
                        <a:rPr lang="zh-CN" altLang="en-US" sz="2200" b="1" i="0" u="none" strike="noStrike" dirty="0">
                          <a:solidFill>
                            <a:schemeClr val="tx1"/>
                          </a:solidFill>
                          <a:effectLst/>
                          <a:latin typeface="+mj-ea"/>
                          <a:ea typeface="+mj-ea"/>
                        </a:rPr>
                        <a:t>函数调用不同参数间分隔符</a:t>
                      </a:r>
                      <a:endParaRPr lang="en-US" altLang="zh-CN" sz="2200" b="1" i="0" u="none" strike="noStrike" dirty="0">
                        <a:solidFill>
                          <a:schemeClr val="tx1"/>
                        </a:solidFill>
                        <a:effectLst/>
                        <a:latin typeface="+mj-ea"/>
                        <a:ea typeface="+mj-ea"/>
                      </a:endParaRPr>
                    </a:p>
                    <a:p>
                      <a:pPr algn="l" fontAlgn="ctr"/>
                      <a:r>
                        <a:rPr lang="zh-CN" altLang="en-US" sz="2200" b="1" i="0" u="none" strike="noStrike" dirty="0">
                          <a:solidFill>
                            <a:schemeClr val="tx1"/>
                          </a:solidFill>
                          <a:effectLst/>
                          <a:latin typeface="+mj-ea"/>
                          <a:ea typeface="+mj-ea"/>
                        </a:rPr>
                        <a:t>矩阵同行元素间分隔符</a:t>
                      </a:r>
                      <a:endParaRPr lang="en-US" altLang="zh-CN" sz="2200" b="1" i="0" u="none" strike="noStrike" dirty="0">
                        <a:solidFill>
                          <a:schemeClr val="tx1"/>
                        </a:solidFill>
                        <a:effectLst/>
                        <a:latin typeface="+mj-ea"/>
                        <a:ea typeface="+mj-ea"/>
                      </a:endParaRPr>
                    </a:p>
                  </a:txBody>
                  <a:tcPr marL="5457" marR="5457" marT="5457" marB="0" anchor="ctr"/>
                </a:tc>
              </a:tr>
              <a:tr h="206992">
                <a:tc>
                  <a:txBody>
                    <a:bodyPr/>
                    <a:lstStyle/>
                    <a:p>
                      <a:pPr algn="l" fontAlgn="ctr"/>
                      <a:r>
                        <a:rPr lang="zh-CN" altLang="en-US" sz="2200" b="1" u="none" strike="noStrike" dirty="0">
                          <a:effectLst/>
                          <a:latin typeface="+mj-ea"/>
                          <a:ea typeface="+mj-ea"/>
                        </a:rPr>
                        <a:t>黑点</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200" b="1" i="0" u="none" strike="noStrike" dirty="0">
                          <a:solidFill>
                            <a:srgbClr val="000000"/>
                          </a:solidFill>
                          <a:effectLst/>
                          <a:latin typeface="+mj-ea"/>
                          <a:ea typeface="+mj-ea"/>
                        </a:rPr>
                        <a:t>.</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200" b="1" i="0" u="none" strike="noStrike" dirty="0">
                          <a:solidFill>
                            <a:schemeClr val="tx1"/>
                          </a:solidFill>
                          <a:effectLst/>
                          <a:latin typeface="+mj-ea"/>
                          <a:ea typeface="+mj-ea"/>
                        </a:rPr>
                        <a:t>小数点</a:t>
                      </a:r>
                      <a:endParaRPr lang="en-US" altLang="zh-CN" sz="2200" b="1" i="0" u="none" strike="noStrike" dirty="0">
                        <a:solidFill>
                          <a:schemeClr val="tx1"/>
                        </a:solidFill>
                        <a:effectLst/>
                        <a:latin typeface="+mj-ea"/>
                        <a:ea typeface="+mj-ea"/>
                      </a:endParaRPr>
                    </a:p>
                    <a:p>
                      <a:pPr algn="l" fontAlgn="ctr"/>
                      <a:r>
                        <a:rPr lang="zh-CN" altLang="en-US" sz="2200" b="1" i="0" u="none" strike="noStrike" dirty="0">
                          <a:solidFill>
                            <a:schemeClr val="tx1"/>
                          </a:solidFill>
                          <a:effectLst/>
                          <a:latin typeface="+mj-ea"/>
                          <a:ea typeface="+mj-ea"/>
                        </a:rPr>
                        <a:t>组合构成数组运算符号</a:t>
                      </a:r>
                      <a:endParaRPr lang="en-US" altLang="zh-CN" sz="2200" b="1" i="0" u="none" strike="noStrike" dirty="0">
                        <a:solidFill>
                          <a:schemeClr val="tx1"/>
                        </a:solidFill>
                        <a:effectLst/>
                        <a:latin typeface="+mj-ea"/>
                        <a:ea typeface="+mj-ea"/>
                      </a:endParaRPr>
                    </a:p>
                    <a:p>
                      <a:pPr algn="l" fontAlgn="ctr"/>
                      <a:r>
                        <a:rPr lang="zh-CN" altLang="en-US" sz="2200" b="1" i="0" u="none" strike="noStrike" dirty="0">
                          <a:solidFill>
                            <a:schemeClr val="tx1"/>
                          </a:solidFill>
                          <a:effectLst/>
                          <a:latin typeface="+mj-ea"/>
                          <a:ea typeface="+mj-ea"/>
                        </a:rPr>
                        <a:t>调用类和对象专属函数</a:t>
                      </a:r>
                      <a:endParaRPr lang="en-US" altLang="zh-CN" sz="2200" b="1" i="0" u="none" strike="noStrike" dirty="0">
                        <a:solidFill>
                          <a:schemeClr val="tx1"/>
                        </a:solidFill>
                        <a:effectLst/>
                        <a:latin typeface="+mj-ea"/>
                        <a:ea typeface="+mj-ea"/>
                      </a:endParaRPr>
                    </a:p>
                  </a:txBody>
                  <a:tcPr marL="5457" marR="5457" marT="5457" marB="0" anchor="ctr"/>
                </a:tc>
              </a:tr>
              <a:tr h="206992">
                <a:tc>
                  <a:txBody>
                    <a:bodyPr/>
                    <a:lstStyle/>
                    <a:p>
                      <a:pPr algn="l" fontAlgn="ctr"/>
                      <a:r>
                        <a:rPr lang="zh-CN" altLang="en-US" sz="2200" b="1" i="0" u="none" strike="noStrike" dirty="0">
                          <a:solidFill>
                            <a:srgbClr val="000000"/>
                          </a:solidFill>
                          <a:effectLst/>
                          <a:latin typeface="+mj-ea"/>
                          <a:ea typeface="+mj-ea"/>
                        </a:rPr>
                        <a:t>分号</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200" b="1" i="0" u="none" strike="noStrike" dirty="0">
                          <a:solidFill>
                            <a:srgbClr val="000000"/>
                          </a:solidFill>
                          <a:effectLst/>
                          <a:latin typeface="+mj-ea"/>
                          <a:ea typeface="+mj-ea"/>
                        </a:rPr>
                        <a:t>;</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200" b="1" i="0" u="none" strike="noStrike" dirty="0">
                          <a:solidFill>
                            <a:schemeClr val="tx1"/>
                          </a:solidFill>
                          <a:effectLst/>
                          <a:latin typeface="+mj-ea"/>
                          <a:ea typeface="+mj-ea"/>
                        </a:rPr>
                        <a:t>命令结束（不显示结果）</a:t>
                      </a:r>
                      <a:endParaRPr lang="en-US" altLang="zh-CN" sz="2200" b="1" i="0" u="none" strike="noStrike" dirty="0">
                        <a:solidFill>
                          <a:schemeClr val="tx1"/>
                        </a:solidFill>
                        <a:effectLst/>
                        <a:latin typeface="+mj-ea"/>
                        <a:ea typeface="+mj-ea"/>
                      </a:endParaRPr>
                    </a:p>
                    <a:p>
                      <a:pPr algn="l" fontAlgn="ctr"/>
                      <a:r>
                        <a:rPr lang="zh-CN" altLang="en-US" sz="2200" b="1" i="0" u="none" strike="noStrike" dirty="0">
                          <a:solidFill>
                            <a:schemeClr val="tx1"/>
                          </a:solidFill>
                          <a:effectLst/>
                          <a:latin typeface="+mj-ea"/>
                          <a:ea typeface="+mj-ea"/>
                        </a:rPr>
                        <a:t>矩阵换行标志</a:t>
                      </a:r>
                      <a:endParaRPr lang="en-US" altLang="zh-CN" sz="2200" b="1" i="0" u="none" strike="noStrike" dirty="0">
                        <a:solidFill>
                          <a:schemeClr val="tx1"/>
                        </a:solidFill>
                        <a:effectLst/>
                        <a:latin typeface="+mj-ea"/>
                        <a:ea typeface="+mj-ea"/>
                      </a:endParaRPr>
                    </a:p>
                  </a:txBody>
                  <a:tcPr marL="5457" marR="5457" marT="5457" marB="0" anchor="ctr"/>
                </a:tc>
              </a:tr>
              <a:tr h="206992">
                <a:tc>
                  <a:txBody>
                    <a:bodyPr/>
                    <a:lstStyle/>
                    <a:p>
                      <a:pPr algn="l" fontAlgn="ctr"/>
                      <a:r>
                        <a:rPr lang="zh-CN" altLang="en-US" sz="2200" b="1" i="0" u="none" strike="noStrike" dirty="0">
                          <a:solidFill>
                            <a:srgbClr val="000000"/>
                          </a:solidFill>
                          <a:effectLst/>
                          <a:latin typeface="+mj-ea"/>
                          <a:ea typeface="+mj-ea"/>
                        </a:rPr>
                        <a:t>冒号</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200" b="1" i="0" u="none" strike="noStrike" dirty="0">
                          <a:solidFill>
                            <a:srgbClr val="000000"/>
                          </a:solidFill>
                          <a:effectLst/>
                          <a:latin typeface="+mj-ea"/>
                          <a:ea typeface="+mj-ea"/>
                        </a:rPr>
                        <a:t>:</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200" b="1" i="0" u="none" strike="noStrike" dirty="0">
                          <a:solidFill>
                            <a:srgbClr val="000000"/>
                          </a:solidFill>
                          <a:effectLst/>
                          <a:latin typeface="+mj-ea"/>
                          <a:ea typeface="+mj-ea"/>
                        </a:rPr>
                        <a:t>生成一维数组（行向量）</a:t>
                      </a:r>
                      <a:endParaRPr lang="en-US" altLang="zh-CN" sz="2200" b="1" i="0" u="none" strike="noStrike" dirty="0">
                        <a:solidFill>
                          <a:srgbClr val="000000"/>
                        </a:solidFill>
                        <a:effectLst/>
                        <a:latin typeface="+mj-ea"/>
                        <a:ea typeface="+mj-ea"/>
                      </a:endParaRPr>
                    </a:p>
                    <a:p>
                      <a:pPr algn="l" fontAlgn="ctr"/>
                      <a:r>
                        <a:rPr lang="zh-CN" altLang="en-US" sz="2200" b="1" i="0" u="none" strike="noStrike" dirty="0">
                          <a:solidFill>
                            <a:srgbClr val="000000"/>
                          </a:solidFill>
                          <a:effectLst/>
                          <a:latin typeface="+mj-ea"/>
                          <a:ea typeface="+mj-ea"/>
                        </a:rPr>
                        <a:t>寻址时单独使用表示“全部”</a:t>
                      </a:r>
                      <a:endParaRPr lang="en-US" altLang="zh-CN" sz="22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200" b="1" i="0" u="none" strike="noStrike" dirty="0">
                          <a:solidFill>
                            <a:srgbClr val="000000"/>
                          </a:solidFill>
                          <a:effectLst/>
                          <a:latin typeface="+mj-ea"/>
                          <a:ea typeface="+mj-ea"/>
                        </a:rPr>
                        <a:t>百分号</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200" b="1" i="0" u="none" strike="noStrike" dirty="0">
                          <a:solidFill>
                            <a:srgbClr val="000000"/>
                          </a:solidFill>
                          <a:effectLst/>
                          <a:latin typeface="+mj-ea"/>
                          <a:ea typeface="+mj-ea"/>
                        </a:rPr>
                        <a:t>%</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l" fontAlgn="ctr"/>
                      <a:r>
                        <a:rPr lang="en-US" altLang="zh-CN" sz="2200" b="1" i="0" u="none" strike="noStrike" dirty="0">
                          <a:solidFill>
                            <a:srgbClr val="000000"/>
                          </a:solidFill>
                          <a:effectLst/>
                          <a:latin typeface="+mj-ea"/>
                          <a:ea typeface="+mj-ea"/>
                        </a:rPr>
                        <a:t>%</a:t>
                      </a:r>
                      <a:r>
                        <a:rPr lang="zh-CN" altLang="en-US" sz="2200" b="1" i="0" u="none" strike="noStrike" dirty="0">
                          <a:solidFill>
                            <a:srgbClr val="000000"/>
                          </a:solidFill>
                          <a:effectLst/>
                          <a:latin typeface="+mj-ea"/>
                          <a:ea typeface="+mj-ea"/>
                        </a:rPr>
                        <a:t>后添加注释内容</a:t>
                      </a:r>
                      <a:endParaRPr lang="en-US" altLang="zh-CN" sz="22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200" b="1" i="0" u="none" strike="noStrike" dirty="0">
                          <a:solidFill>
                            <a:srgbClr val="000000"/>
                          </a:solidFill>
                          <a:effectLst/>
                          <a:latin typeface="+mj-ea"/>
                          <a:ea typeface="+mj-ea"/>
                        </a:rPr>
                        <a:t>单引号</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200" b="1" dirty="0">
                          <a:solidFill>
                            <a:schemeClr val="tx1"/>
                          </a:solidFill>
                          <a:latin typeface="+mj-ea"/>
                        </a:rPr>
                        <a:t>'</a:t>
                      </a:r>
                      <a:endParaRPr lang="en-US" altLang="zh-CN" sz="2200" b="1" i="0" u="none" strike="noStrike" dirty="0">
                        <a:solidFill>
                          <a:schemeClr val="tx1"/>
                        </a:solidFill>
                        <a:effectLst/>
                        <a:latin typeface="+mj-ea"/>
                        <a:ea typeface="+mj-ea"/>
                      </a:endParaRPr>
                    </a:p>
                  </a:txBody>
                  <a:tcPr marL="5457" marR="5457" marT="5457" marB="0" anchor="ctr"/>
                </a:tc>
                <a:tc>
                  <a:txBody>
                    <a:bodyPr/>
                    <a:lstStyle/>
                    <a:p>
                      <a:pPr algn="l" fontAlgn="ctr"/>
                      <a:r>
                        <a:rPr lang="zh-CN" altLang="en-US" sz="2200" b="1" i="0" u="none" strike="noStrike" dirty="0">
                          <a:solidFill>
                            <a:srgbClr val="000000"/>
                          </a:solidFill>
                          <a:effectLst/>
                          <a:latin typeface="+mj-ea"/>
                          <a:ea typeface="+mj-ea"/>
                        </a:rPr>
                        <a:t>矩阵的共轭转置</a:t>
                      </a:r>
                      <a:endParaRPr lang="en-US" altLang="zh-CN" sz="22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200" b="1" u="none" strike="noStrike" dirty="0">
                          <a:effectLst/>
                          <a:latin typeface="+mj-ea"/>
                          <a:ea typeface="+mj-ea"/>
                        </a:rPr>
                        <a:t>单引号对</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200" b="1" i="0" u="none" strike="noStrike" dirty="0">
                          <a:solidFill>
                            <a:srgbClr val="000000"/>
                          </a:solidFill>
                          <a:effectLst/>
                          <a:latin typeface="+mj-ea"/>
                          <a:ea typeface="+mj-ea"/>
                        </a:rPr>
                        <a:t>''</a:t>
                      </a:r>
                      <a:endParaRPr lang="en-US" altLang="zh-CN" sz="22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200" b="1" i="0" u="none" strike="noStrike" dirty="0">
                          <a:solidFill>
                            <a:srgbClr val="000000"/>
                          </a:solidFill>
                          <a:effectLst/>
                          <a:latin typeface="+mj-ea"/>
                          <a:ea typeface="+mj-ea"/>
                        </a:rPr>
                        <a:t>包含字符串</a:t>
                      </a:r>
                      <a:endParaRPr lang="en-US" altLang="zh-CN" sz="2200" b="1" i="0" u="none" strike="noStrike" dirty="0">
                        <a:solidFill>
                          <a:srgbClr val="000000"/>
                        </a:solidFill>
                        <a:effectLst/>
                        <a:latin typeface="+mj-ea"/>
                        <a:ea typeface="+mj-ea"/>
                      </a:endParaRPr>
                    </a:p>
                  </a:txBody>
                  <a:tcPr marL="5457" marR="5457" marT="5457" marB="0"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939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标点符号的功能</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graphicFrame>
        <p:nvGraphicFramePr>
          <p:cNvPr id="5" name="表格 4"/>
          <p:cNvGraphicFramePr>
            <a:graphicFrameLocks noGrp="1"/>
          </p:cNvGraphicFramePr>
          <p:nvPr/>
        </p:nvGraphicFramePr>
        <p:xfrm>
          <a:off x="310686" y="1196752"/>
          <a:ext cx="8522628" cy="4841304"/>
        </p:xfrm>
        <a:graphic>
          <a:graphicData uri="http://schemas.openxmlformats.org/drawingml/2006/table">
            <a:tbl>
              <a:tblPr>
                <a:tableStyleId>{5C22544A-7EE6-4342-B048-85BDC9FD1C3A}</a:tableStyleId>
              </a:tblPr>
              <a:tblGrid>
                <a:gridCol w="1308986"/>
                <a:gridCol w="792088"/>
                <a:gridCol w="6421554"/>
              </a:tblGrid>
              <a:tr h="408528">
                <a:tc>
                  <a:txBody>
                    <a:bodyPr/>
                    <a:lstStyle/>
                    <a:p>
                      <a:pPr algn="l" fontAlgn="ctr"/>
                      <a:r>
                        <a:rPr lang="zh-CN" altLang="en-US" sz="2400" b="1" i="0" u="none" strike="noStrike" dirty="0">
                          <a:solidFill>
                            <a:srgbClr val="000000"/>
                          </a:solidFill>
                          <a:effectLst/>
                          <a:latin typeface="+mj-ea"/>
                          <a:ea typeface="+mj-ea"/>
                        </a:rPr>
                        <a:t>名称</a:t>
                      </a:r>
                      <a:endParaRPr lang="zh-CN" altLang="en-US"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u="none" strike="noStrike" dirty="0">
                          <a:effectLst/>
                          <a:latin typeface="+mj-ea"/>
                          <a:ea typeface="+mj-ea"/>
                        </a:rPr>
                        <a:t>标点</a:t>
                      </a:r>
                      <a:endParaRPr lang="zh-CN" altLang="en-US"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u="none" strike="noStrike" dirty="0">
                          <a:effectLst/>
                          <a:latin typeface="+mj-ea"/>
                          <a:ea typeface="+mj-ea"/>
                        </a:rPr>
                        <a:t>作用</a:t>
                      </a:r>
                      <a:endParaRPr lang="zh-CN" altLang="en-US" sz="24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400" b="1" u="none" strike="noStrike" dirty="0">
                          <a:effectLst/>
                          <a:latin typeface="+mj-ea"/>
                          <a:ea typeface="+mj-ea"/>
                        </a:rPr>
                        <a:t>圆括号</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400" b="1" i="0" u="none" strike="noStrike" dirty="0">
                          <a:solidFill>
                            <a:srgbClr val="000000"/>
                          </a:solidFill>
                          <a:effectLst/>
                          <a:latin typeface="+mj-ea"/>
                          <a:ea typeface="+mj-ea"/>
                        </a:rPr>
                        <a:t>()</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i="0" u="none" strike="noStrike" dirty="0">
                          <a:solidFill>
                            <a:srgbClr val="000000"/>
                          </a:solidFill>
                          <a:effectLst/>
                          <a:latin typeface="+mj-ea"/>
                          <a:ea typeface="+mj-ea"/>
                        </a:rPr>
                        <a:t>改变运算次序数组或矩阵援引</a:t>
                      </a:r>
                      <a:endParaRPr lang="en-US" altLang="zh-CN" sz="2400" b="1" i="0" u="none" strike="noStrike" dirty="0">
                        <a:solidFill>
                          <a:srgbClr val="000000"/>
                        </a:solidFill>
                        <a:effectLst/>
                        <a:latin typeface="+mj-ea"/>
                        <a:ea typeface="+mj-ea"/>
                      </a:endParaRPr>
                    </a:p>
                    <a:p>
                      <a:pPr algn="l" fontAlgn="ctr"/>
                      <a:r>
                        <a:rPr lang="zh-CN" altLang="en-US" sz="2400" b="1" i="0" u="none" strike="noStrike" dirty="0">
                          <a:solidFill>
                            <a:srgbClr val="000000"/>
                          </a:solidFill>
                          <a:effectLst/>
                          <a:latin typeface="+mj-ea"/>
                          <a:ea typeface="+mj-ea"/>
                        </a:rPr>
                        <a:t>函数输入参数列表</a:t>
                      </a:r>
                      <a:endParaRPr lang="en-US" altLang="zh-CN" sz="24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400" b="1" u="none" strike="noStrike" dirty="0">
                          <a:effectLst/>
                          <a:latin typeface="+mj-ea"/>
                          <a:ea typeface="+mj-ea"/>
                        </a:rPr>
                        <a:t>方括号</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400" b="1" i="0" u="none" strike="noStrike" dirty="0">
                          <a:solidFill>
                            <a:srgbClr val="000000"/>
                          </a:solidFill>
                          <a:effectLst/>
                          <a:latin typeface="+mj-ea"/>
                          <a:ea typeface="+mj-ea"/>
                        </a:rPr>
                        <a:t>[]</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i="0" u="none" strike="noStrike" dirty="0">
                          <a:solidFill>
                            <a:srgbClr val="000000"/>
                          </a:solidFill>
                          <a:effectLst/>
                          <a:latin typeface="+mj-ea"/>
                          <a:ea typeface="+mj-ea"/>
                        </a:rPr>
                        <a:t>表示输入数组或矩阵</a:t>
                      </a:r>
                      <a:endParaRPr lang="en-US" altLang="zh-CN" sz="2400" b="1" i="0" u="none" strike="noStrike" dirty="0">
                        <a:solidFill>
                          <a:srgbClr val="000000"/>
                        </a:solidFill>
                        <a:effectLst/>
                        <a:latin typeface="+mj-ea"/>
                        <a:ea typeface="+mj-ea"/>
                      </a:endParaRPr>
                    </a:p>
                    <a:p>
                      <a:pPr algn="l" fontAlgn="ctr"/>
                      <a:r>
                        <a:rPr lang="zh-CN" altLang="en-US" sz="2400" b="1" i="0" u="none" strike="noStrike" dirty="0">
                          <a:solidFill>
                            <a:srgbClr val="000000"/>
                          </a:solidFill>
                          <a:effectLst/>
                          <a:latin typeface="+mj-ea"/>
                          <a:ea typeface="+mj-ea"/>
                        </a:rPr>
                        <a:t>函数输出参数列表</a:t>
                      </a:r>
                      <a:endParaRPr lang="en-US" altLang="zh-CN" sz="24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400" b="1" i="0" u="none" strike="noStrike" dirty="0">
                          <a:solidFill>
                            <a:srgbClr val="000000"/>
                          </a:solidFill>
                          <a:effectLst/>
                          <a:latin typeface="+mj-ea"/>
                          <a:ea typeface="+mj-ea"/>
                        </a:rPr>
                        <a:t>花括号</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400" b="1" i="0" u="none" strike="noStrike" dirty="0">
                          <a:solidFill>
                            <a:srgbClr val="000000"/>
                          </a:solidFill>
                          <a:effectLst/>
                          <a:latin typeface="+mj-ea"/>
                          <a:ea typeface="+mj-ea"/>
                        </a:rPr>
                        <a:t>{}</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i="0" u="none" strike="noStrike" dirty="0">
                          <a:solidFill>
                            <a:srgbClr val="000000"/>
                          </a:solidFill>
                          <a:effectLst/>
                          <a:latin typeface="+mj-ea"/>
                          <a:ea typeface="+mj-ea"/>
                        </a:rPr>
                        <a:t>胞元数组符号</a:t>
                      </a:r>
                      <a:endParaRPr lang="en-US" altLang="zh-CN" sz="24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400" b="1" i="0" u="none" strike="noStrike" dirty="0">
                          <a:solidFill>
                            <a:srgbClr val="000000"/>
                          </a:solidFill>
                          <a:effectLst/>
                          <a:latin typeface="+mj-ea"/>
                          <a:ea typeface="+mj-ea"/>
                        </a:rPr>
                        <a:t>赋值号</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400" b="1" i="0" u="none" strike="noStrike" dirty="0">
                          <a:solidFill>
                            <a:srgbClr val="000000"/>
                          </a:solidFill>
                          <a:effectLst/>
                          <a:latin typeface="+mj-ea"/>
                          <a:ea typeface="+mj-ea"/>
                        </a:rPr>
                        <a:t>=</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i="0" u="none" strike="noStrike" dirty="0">
                          <a:solidFill>
                            <a:srgbClr val="000000"/>
                          </a:solidFill>
                          <a:effectLst/>
                          <a:latin typeface="+mj-ea"/>
                          <a:ea typeface="+mj-ea"/>
                        </a:rPr>
                        <a:t>右边的计算结果赋值给左边变量</a:t>
                      </a:r>
                      <a:endParaRPr lang="en-US" altLang="zh-CN" sz="24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400" b="1" i="0" u="none" strike="noStrike" dirty="0">
                          <a:solidFill>
                            <a:srgbClr val="000000"/>
                          </a:solidFill>
                          <a:effectLst/>
                          <a:latin typeface="+mj-ea"/>
                          <a:ea typeface="+mj-ea"/>
                        </a:rPr>
                        <a:t>双等号</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400" b="1" i="0" u="none" strike="noStrike" dirty="0">
                          <a:solidFill>
                            <a:srgbClr val="000000"/>
                          </a:solidFill>
                          <a:effectLst/>
                          <a:latin typeface="+mj-ea"/>
                          <a:ea typeface="+mj-ea"/>
                        </a:rPr>
                        <a:t>==</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i="0" u="none" strike="noStrike" dirty="0">
                          <a:solidFill>
                            <a:srgbClr val="000000"/>
                          </a:solidFill>
                          <a:effectLst/>
                          <a:latin typeface="+mj-ea"/>
                          <a:ea typeface="+mj-ea"/>
                        </a:rPr>
                        <a:t>条件运算表达式中判断左边和右边是否相等</a:t>
                      </a:r>
                      <a:endParaRPr lang="en-US" altLang="zh-CN" sz="24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zh-CN" altLang="en-US" sz="2400" b="1" i="0" u="none" strike="noStrike" dirty="0">
                          <a:solidFill>
                            <a:srgbClr val="000000"/>
                          </a:solidFill>
                          <a:effectLst/>
                          <a:latin typeface="+mj-ea"/>
                          <a:ea typeface="+mj-ea"/>
                        </a:rPr>
                        <a:t>下连符</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400" b="1" i="0" u="none" strike="noStrike" dirty="0">
                          <a:solidFill>
                            <a:srgbClr val="000000"/>
                          </a:solidFill>
                          <a:effectLst/>
                          <a:latin typeface="+mj-ea"/>
                          <a:ea typeface="+mj-ea"/>
                        </a:rPr>
                        <a:t>_</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i="0" u="none" strike="noStrike" dirty="0">
                          <a:solidFill>
                            <a:srgbClr val="000000"/>
                          </a:solidFill>
                          <a:effectLst/>
                          <a:latin typeface="+mj-ea"/>
                          <a:ea typeface="+mj-ea"/>
                        </a:rPr>
                        <a:t>用于表示复杂文件名、变量名、函数名</a:t>
                      </a:r>
                      <a:endParaRPr lang="en-US" altLang="zh-CN" sz="2400" b="1" i="0" u="none" strike="noStrike" dirty="0">
                        <a:solidFill>
                          <a:srgbClr val="000000"/>
                        </a:solidFill>
                        <a:effectLst/>
                        <a:latin typeface="+mj-ea"/>
                        <a:ea typeface="+mj-ea"/>
                      </a:endParaRPr>
                    </a:p>
                    <a:p>
                      <a:pPr algn="l" fontAlgn="ctr"/>
                      <a:r>
                        <a:rPr lang="zh-CN" altLang="en-US" sz="2400" b="1" i="0" u="none" strike="noStrike" dirty="0">
                          <a:solidFill>
                            <a:srgbClr val="FF0000"/>
                          </a:solidFill>
                          <a:effectLst/>
                          <a:latin typeface="+mj-ea"/>
                          <a:ea typeface="+mj-ea"/>
                        </a:rPr>
                        <a:t>注：</a:t>
                      </a:r>
                      <a:r>
                        <a:rPr lang="en-US" altLang="zh-CN" sz="2400" b="1" i="0" u="none" strike="noStrike" dirty="0">
                          <a:solidFill>
                            <a:srgbClr val="FF0000"/>
                          </a:solidFill>
                          <a:effectLst/>
                          <a:latin typeface="+mj-ea"/>
                          <a:ea typeface="+mj-ea"/>
                        </a:rPr>
                        <a:t>-</a:t>
                      </a:r>
                      <a:r>
                        <a:rPr lang="zh-CN" altLang="en-US" sz="2400" b="1" i="0" u="none" strike="noStrike" dirty="0">
                          <a:solidFill>
                            <a:srgbClr val="FF0000"/>
                          </a:solidFill>
                          <a:effectLst/>
                          <a:latin typeface="+mj-ea"/>
                          <a:ea typeface="+mj-ea"/>
                        </a:rPr>
                        <a:t>与减号冲突，使用容易出现错误。</a:t>
                      </a:r>
                      <a:endParaRPr lang="en-US" altLang="zh-CN" sz="2400" b="1" i="0" u="none" strike="noStrike" dirty="0">
                        <a:solidFill>
                          <a:srgbClr val="FF0000"/>
                        </a:solidFill>
                        <a:effectLst/>
                        <a:latin typeface="+mj-ea"/>
                        <a:ea typeface="+mj-ea"/>
                      </a:endParaRPr>
                    </a:p>
                  </a:txBody>
                  <a:tcPr marL="5457" marR="5457" marT="5457" marB="0" anchor="ctr"/>
                </a:tc>
              </a:tr>
              <a:tr h="206992">
                <a:tc>
                  <a:txBody>
                    <a:bodyPr/>
                    <a:lstStyle/>
                    <a:p>
                      <a:pPr algn="l" fontAlgn="ctr"/>
                      <a:r>
                        <a:rPr lang="zh-CN" altLang="en-US" sz="2400" b="1" i="0" u="none" strike="noStrike" dirty="0">
                          <a:solidFill>
                            <a:srgbClr val="000000"/>
                          </a:solidFill>
                          <a:effectLst/>
                          <a:latin typeface="+mj-ea"/>
                          <a:ea typeface="+mj-ea"/>
                        </a:rPr>
                        <a:t>续行号</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400" b="1" i="0" u="none" strike="noStrike" dirty="0">
                          <a:solidFill>
                            <a:srgbClr val="000000"/>
                          </a:solidFill>
                          <a:effectLst/>
                          <a:latin typeface="+mj-ea"/>
                          <a:ea typeface="+mj-ea"/>
                        </a:rPr>
                        <a:t>...</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i="0" u="none" strike="noStrike" dirty="0">
                          <a:solidFill>
                            <a:srgbClr val="000000"/>
                          </a:solidFill>
                          <a:effectLst/>
                          <a:latin typeface="+mj-ea"/>
                          <a:ea typeface="+mj-ea"/>
                        </a:rPr>
                        <a:t>表示下面的内容与上面的内容在同一行。</a:t>
                      </a:r>
                      <a:endParaRPr lang="en-US" altLang="zh-CN" sz="2400" b="1" i="0" u="none" strike="noStrike" dirty="0">
                        <a:solidFill>
                          <a:srgbClr val="000000"/>
                        </a:solidFill>
                        <a:effectLst/>
                        <a:latin typeface="+mj-ea"/>
                        <a:ea typeface="+mj-ea"/>
                      </a:endParaRPr>
                    </a:p>
                  </a:txBody>
                  <a:tcPr marL="5457" marR="5457" marT="5457" marB="0" anchor="ctr"/>
                </a:tc>
              </a:tr>
              <a:tr h="206992">
                <a:tc>
                  <a:txBody>
                    <a:bodyPr/>
                    <a:lstStyle/>
                    <a:p>
                      <a:pPr algn="l" fontAlgn="ctr"/>
                      <a:r>
                        <a:rPr lang="en-US" altLang="zh-CN" sz="2400" b="1" i="0" u="none" strike="noStrike" dirty="0">
                          <a:solidFill>
                            <a:srgbClr val="000000"/>
                          </a:solidFill>
                          <a:effectLst/>
                          <a:latin typeface="+mj-ea"/>
                          <a:ea typeface="+mj-ea"/>
                        </a:rPr>
                        <a:t>“At”</a:t>
                      </a:r>
                      <a:r>
                        <a:rPr lang="zh-CN" altLang="en-US" sz="2400" b="1" i="0" u="none" strike="noStrike" dirty="0">
                          <a:solidFill>
                            <a:srgbClr val="000000"/>
                          </a:solidFill>
                          <a:effectLst/>
                          <a:latin typeface="+mj-ea"/>
                          <a:ea typeface="+mj-ea"/>
                        </a:rPr>
                        <a:t>号</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r" fontAlgn="ctr"/>
                      <a:r>
                        <a:rPr lang="en-US" altLang="zh-CN" sz="2400" b="1" i="0" u="none" strike="noStrike" dirty="0">
                          <a:solidFill>
                            <a:srgbClr val="000000"/>
                          </a:solidFill>
                          <a:effectLst/>
                          <a:latin typeface="+mj-ea"/>
                          <a:ea typeface="+mj-ea"/>
                        </a:rPr>
                        <a:t>@</a:t>
                      </a:r>
                      <a:endParaRPr lang="en-US" altLang="zh-CN" sz="2400" b="1" i="0" u="none" strike="noStrike" dirty="0">
                        <a:solidFill>
                          <a:srgbClr val="000000"/>
                        </a:solidFill>
                        <a:effectLst/>
                        <a:latin typeface="+mj-ea"/>
                        <a:ea typeface="+mj-ea"/>
                      </a:endParaRPr>
                    </a:p>
                  </a:txBody>
                  <a:tcPr marL="5457" marR="5457" marT="5457" marB="0" anchor="ctr"/>
                </a:tc>
                <a:tc>
                  <a:txBody>
                    <a:bodyPr/>
                    <a:lstStyle/>
                    <a:p>
                      <a:pPr algn="l" fontAlgn="ctr"/>
                      <a:r>
                        <a:rPr lang="zh-CN" altLang="en-US" sz="2400" b="1" i="0" u="none" strike="noStrike" dirty="0">
                          <a:solidFill>
                            <a:srgbClr val="000000"/>
                          </a:solidFill>
                          <a:effectLst/>
                          <a:latin typeface="+mj-ea"/>
                          <a:ea typeface="+mj-ea"/>
                        </a:rPr>
                        <a:t>用于形成函数句柄</a:t>
                      </a:r>
                      <a:endParaRPr lang="en-US" altLang="zh-CN" sz="2400" b="1" i="0" u="none" strike="noStrike" dirty="0">
                        <a:solidFill>
                          <a:srgbClr val="000000"/>
                        </a:solidFill>
                        <a:effectLst/>
                        <a:latin typeface="+mj-ea"/>
                        <a:ea typeface="+mj-ea"/>
                      </a:endParaRPr>
                    </a:p>
                    <a:p>
                      <a:pPr algn="l" fontAlgn="ctr"/>
                      <a:r>
                        <a:rPr lang="zh-CN" altLang="en-US" sz="2400" b="1" i="0" u="none" strike="noStrike" dirty="0">
                          <a:solidFill>
                            <a:srgbClr val="000000"/>
                          </a:solidFill>
                          <a:effectLst/>
                          <a:latin typeface="+mj-ea"/>
                          <a:ea typeface="+mj-ea"/>
                        </a:rPr>
                        <a:t>用于定义匿名函数</a:t>
                      </a:r>
                      <a:endParaRPr lang="en-US" altLang="zh-CN" sz="2400" b="1" i="0" u="none" strike="noStrike" dirty="0">
                        <a:solidFill>
                          <a:srgbClr val="000000"/>
                        </a:solidFill>
                        <a:effectLst/>
                        <a:latin typeface="+mj-ea"/>
                        <a:ea typeface="+mj-ea"/>
                      </a:endParaRPr>
                    </a:p>
                  </a:txBody>
                  <a:tcPr marL="5457" marR="5457" marT="5457" marB="0"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939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1.2-7,8</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 矩阵的定义</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2" name="矩形 11"/>
          <p:cNvSpPr/>
          <p:nvPr/>
        </p:nvSpPr>
        <p:spPr>
          <a:xfrm>
            <a:off x="467544" y="1885844"/>
            <a:ext cx="7879080" cy="369332"/>
          </a:xfrm>
          <a:prstGeom prst="rect">
            <a:avLst/>
          </a:prstGeom>
        </p:spPr>
        <p:txBody>
          <a:bodyPr wrap="none">
            <a:spAutoFit/>
          </a:bodyPr>
          <a:lstStyle/>
          <a:p>
            <a:r>
              <a:rPr lang="en-US" altLang="zh-CN" b="1" dirty="0">
                <a:solidFill>
                  <a:srgbClr val="008000"/>
                </a:solidFill>
                <a:latin typeface="Courier New" panose="02070309020205020404" pitchFamily="49" charset="0"/>
                <a:cs typeface="Times New Roman" panose="02020603050405020304" pitchFamily="18" charset="0"/>
              </a:rPr>
              <a:t>AR= [1,3;2,4]		%</a:t>
            </a:r>
            <a:r>
              <a:rPr lang="zh-CN" altLang="en-US" b="1" dirty="0">
                <a:solidFill>
                  <a:srgbClr val="FF0000"/>
                </a:solidFill>
                <a:latin typeface="Courier New" panose="02070309020205020404" pitchFamily="49" charset="0"/>
                <a:cs typeface="Times New Roman" panose="02020603050405020304" pitchFamily="18" charset="0"/>
              </a:rPr>
              <a:t>分号表示换行，同一行可以用逗号或空格隔开</a:t>
            </a:r>
            <a:r>
              <a:rPr lang="en-US" altLang="zh-CN" b="1" dirty="0">
                <a:solidFill>
                  <a:srgbClr val="FF0000"/>
                </a:solidFill>
                <a:latin typeface="Courier New" panose="02070309020205020404" pitchFamily="49" charset="0"/>
                <a:cs typeface="Times New Roman" panose="02020603050405020304" pitchFamily="18" charset="0"/>
              </a:rPr>
              <a:t> </a:t>
            </a:r>
            <a:endParaRPr lang="zh-CN" altLang="en-US" dirty="0">
              <a:solidFill>
                <a:srgbClr val="FF0000"/>
              </a:solidFill>
            </a:endParaRPr>
          </a:p>
        </p:txBody>
      </p:sp>
      <p:sp>
        <p:nvSpPr>
          <p:cNvPr id="17" name="矩形 16"/>
          <p:cNvSpPr/>
          <p:nvPr/>
        </p:nvSpPr>
        <p:spPr>
          <a:xfrm>
            <a:off x="474874" y="4355503"/>
            <a:ext cx="5033230" cy="1477328"/>
          </a:xfrm>
          <a:prstGeom prst="rect">
            <a:avLst/>
          </a:prstGeom>
        </p:spPr>
        <p:txBody>
          <a:bodyPr wrap="square">
            <a:spAutoFit/>
          </a:bodyPr>
          <a:lstStyle/>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AI=[5,7</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	6,8]    %</a:t>
            </a:r>
            <a:r>
              <a:rPr lang="zh-CN" altLang="en-US" b="1" dirty="0">
                <a:solidFill>
                  <a:srgbClr val="FF0000"/>
                </a:solidFill>
                <a:latin typeface="Courier New" panose="02070309020205020404" pitchFamily="49" charset="0"/>
                <a:cs typeface="Times New Roman" panose="02020603050405020304" pitchFamily="18" charset="0"/>
              </a:rPr>
              <a:t>也可以用回车来表示换行</a:t>
            </a:r>
            <a:r>
              <a:rPr lang="en-US" altLang="zh-CN" dirty="0">
                <a:solidFill>
                  <a:srgbClr val="FF0000"/>
                </a:solidFill>
                <a:latin typeface="Courier New" panose="02070309020205020404" pitchFamily="49" charset="0"/>
                <a:cs typeface="Times New Roman" panose="02020603050405020304" pitchFamily="18" charset="0"/>
              </a:rPr>
              <a:t> </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AI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5     7</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6     8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
        <p:nvSpPr>
          <p:cNvPr id="18" name="矩形 17"/>
          <p:cNvSpPr/>
          <p:nvPr/>
        </p:nvSpPr>
        <p:spPr>
          <a:xfrm>
            <a:off x="474874" y="2392703"/>
            <a:ext cx="4572000" cy="923330"/>
          </a:xfrm>
          <a:prstGeom prst="rect">
            <a:avLst/>
          </a:prstGeom>
        </p:spPr>
        <p:txBody>
          <a:bodyPr>
            <a:spAutoFit/>
          </a:bodyPr>
          <a:lstStyle/>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AR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1     3</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2     4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文本框 7"/>
              <p:cNvSpPr txBox="1"/>
              <p:nvPr/>
            </p:nvSpPr>
            <p:spPr>
              <a:xfrm>
                <a:off x="345574" y="1143128"/>
                <a:ext cx="8208912" cy="585288"/>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1.2-7】</a:t>
                </a:r>
                <a:r>
                  <a:rPr lang="zh-CN" altLang="en-US" sz="1800" b="1" dirty="0">
                    <a:solidFill>
                      <a:prstClr val="black"/>
                    </a:solidFill>
                    <a:latin typeface="+mn-ea"/>
                  </a:rPr>
                  <a:t>实数数组</a:t>
                </a:r>
                <a14:m>
                  <m:oMath xmlns:m="http://schemas.openxmlformats.org/officeDocument/2006/math">
                    <m:r>
                      <a:rPr lang="en-US" altLang="zh-CN" sz="1800" b="1" i="1" smtClean="0">
                        <a:solidFill>
                          <a:prstClr val="black"/>
                        </a:solidFill>
                        <a:latin typeface="Cambria Math" panose="02040503050406030204" pitchFamily="18" charset="0"/>
                      </a:rPr>
                      <m:t>𝑨𝑹</m:t>
                    </m:r>
                    <m:r>
                      <a:rPr lang="en-US" altLang="zh-CN" sz="1800" b="1" i="1" smtClean="0">
                        <a:solidFill>
                          <a:prstClr val="black"/>
                        </a:solidFill>
                        <a:latin typeface="Cambria Math" panose="02040503050406030204" pitchFamily="18" charset="0"/>
                      </a:rPr>
                      <m:t>=</m:t>
                    </m:r>
                    <m:d>
                      <m:dPr>
                        <m:begChr m:val="["/>
                        <m:endChr m:val="]"/>
                        <m:ctrlPr>
                          <a:rPr lang="en-US" altLang="zh-CN" sz="1800" b="1" i="1" smtClean="0">
                            <a:solidFill>
                              <a:prstClr val="black"/>
                            </a:solidFill>
                            <a:latin typeface="Cambria Math" panose="02040503050406030204" pitchFamily="18" charset="0"/>
                          </a:rPr>
                        </m:ctrlPr>
                      </m:dPr>
                      <m:e>
                        <m:m>
                          <m:mPr>
                            <m:mcs>
                              <m:mc>
                                <m:mcPr>
                                  <m:count m:val="2"/>
                                  <m:mcJc m:val="center"/>
                                </m:mcPr>
                              </m:mc>
                            </m:mcs>
                            <m:ctrlPr>
                              <a:rPr lang="en-US" altLang="zh-CN" sz="1800" b="1" i="1" smtClean="0">
                                <a:solidFill>
                                  <a:prstClr val="black"/>
                                </a:solidFill>
                                <a:latin typeface="Cambria Math" panose="02040503050406030204" pitchFamily="18" charset="0"/>
                              </a:rPr>
                            </m:ctrlPr>
                          </m:mPr>
                          <m:mr>
                            <m:e>
                              <m:r>
                                <m:rPr>
                                  <m:brk m:alnAt="7"/>
                                </m:rPr>
                                <a:rPr lang="en-US" altLang="zh-CN" sz="1800" b="1" i="1" smtClean="0">
                                  <a:solidFill>
                                    <a:prstClr val="black"/>
                                  </a:solidFill>
                                  <a:latin typeface="Cambria Math" panose="02040503050406030204" pitchFamily="18" charset="0"/>
                                </a:rPr>
                                <m:t>𝟏</m:t>
                              </m:r>
                            </m:e>
                            <m:e>
                              <m:r>
                                <a:rPr lang="en-US" altLang="zh-CN" sz="1800" b="1" i="1" smtClean="0">
                                  <a:solidFill>
                                    <a:prstClr val="black"/>
                                  </a:solidFill>
                                  <a:latin typeface="Cambria Math" panose="02040503050406030204" pitchFamily="18" charset="0"/>
                                </a:rPr>
                                <m:t>𝟑</m:t>
                              </m:r>
                            </m:e>
                          </m:mr>
                          <m:mr>
                            <m:e>
                              <m:r>
                                <a:rPr lang="en-US" altLang="zh-CN" sz="1800" b="1" i="1" smtClean="0">
                                  <a:solidFill>
                                    <a:prstClr val="black"/>
                                  </a:solidFill>
                                  <a:latin typeface="Cambria Math" panose="02040503050406030204" pitchFamily="18" charset="0"/>
                                </a:rPr>
                                <m:t>𝟐</m:t>
                              </m:r>
                            </m:e>
                            <m:e>
                              <m:r>
                                <a:rPr lang="en-US" altLang="zh-CN" sz="1800" b="1" i="1" smtClean="0">
                                  <a:solidFill>
                                    <a:prstClr val="black"/>
                                  </a:solidFill>
                                  <a:latin typeface="Cambria Math" panose="02040503050406030204" pitchFamily="18" charset="0"/>
                                </a:rPr>
                                <m:t>𝟒</m:t>
                              </m:r>
                            </m:e>
                          </m:mr>
                        </m:m>
                      </m:e>
                    </m:d>
                  </m:oMath>
                </a14:m>
                <a:r>
                  <a:rPr lang="zh-CN" altLang="en-US" b="1" dirty="0">
                    <a:latin typeface="+mn-ea"/>
                  </a:rPr>
                  <a:t>的“一行”输入法</a:t>
                </a:r>
                <a:endParaRPr lang="zh-CN" altLang="en-US" b="1" dirty="0">
                  <a:latin typeface="+mn-ea"/>
                </a:endParaRPr>
              </a:p>
            </p:txBody>
          </p:sp>
        </mc:Choice>
        <mc:Fallback>
          <p:sp>
            <p:nvSpPr>
              <p:cNvPr id="8" name="文本框 7"/>
              <p:cNvSpPr txBox="1">
                <a:spLocks noRot="1" noChangeAspect="1" noMove="1" noResize="1" noEditPoints="1" noAdjustHandles="1" noChangeArrowheads="1" noChangeShapeType="1" noTextEdit="1"/>
              </p:cNvSpPr>
              <p:nvPr/>
            </p:nvSpPr>
            <p:spPr>
              <a:xfrm>
                <a:off x="345574" y="1143128"/>
                <a:ext cx="8208912" cy="585288"/>
              </a:xfrm>
              <a:prstGeom prst="rect">
                <a:avLst/>
              </a:prstGeom>
              <a:blipFill rotWithShape="1">
                <a:blip r:embed="rId1"/>
                <a:stretch>
                  <a:fillRect l="-2" t="-22" r="5" b="9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348590" y="3573016"/>
                <a:ext cx="8208912" cy="585288"/>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1.2-8】</a:t>
                </a:r>
                <a:r>
                  <a:rPr lang="zh-CN" altLang="en-US" sz="1800" b="1" dirty="0">
                    <a:solidFill>
                      <a:prstClr val="black"/>
                    </a:solidFill>
                    <a:latin typeface="+mn-ea"/>
                  </a:rPr>
                  <a:t>实数数组</a:t>
                </a:r>
                <a14:m>
                  <m:oMath xmlns:m="http://schemas.openxmlformats.org/officeDocument/2006/math">
                    <m:r>
                      <a:rPr lang="en-US" altLang="zh-CN" sz="1800" b="1" i="1" smtClean="0">
                        <a:solidFill>
                          <a:prstClr val="black"/>
                        </a:solidFill>
                        <a:latin typeface="Cambria Math" panose="02040503050406030204" pitchFamily="18" charset="0"/>
                      </a:rPr>
                      <m:t>𝑨𝑰</m:t>
                    </m:r>
                    <m:r>
                      <a:rPr lang="en-US" altLang="zh-CN" sz="1800" b="1" i="1" smtClean="0">
                        <a:solidFill>
                          <a:prstClr val="black"/>
                        </a:solidFill>
                        <a:latin typeface="Cambria Math" panose="02040503050406030204" pitchFamily="18" charset="0"/>
                      </a:rPr>
                      <m:t>=</m:t>
                    </m:r>
                    <m:d>
                      <m:dPr>
                        <m:begChr m:val="["/>
                        <m:endChr m:val="]"/>
                        <m:ctrlPr>
                          <a:rPr lang="en-US" altLang="zh-CN" sz="1800" b="1" i="1" smtClean="0">
                            <a:solidFill>
                              <a:prstClr val="black"/>
                            </a:solidFill>
                            <a:latin typeface="Cambria Math" panose="02040503050406030204" pitchFamily="18" charset="0"/>
                          </a:rPr>
                        </m:ctrlPr>
                      </m:dPr>
                      <m:e>
                        <m:m>
                          <m:mPr>
                            <m:mcs>
                              <m:mc>
                                <m:mcPr>
                                  <m:count m:val="2"/>
                                  <m:mcJc m:val="center"/>
                                </m:mcPr>
                              </m:mc>
                            </m:mcs>
                            <m:ctrlPr>
                              <a:rPr lang="en-US" altLang="zh-CN" sz="1800" b="1" i="1" smtClean="0">
                                <a:solidFill>
                                  <a:prstClr val="black"/>
                                </a:solidFill>
                                <a:latin typeface="Cambria Math" panose="02040503050406030204" pitchFamily="18" charset="0"/>
                              </a:rPr>
                            </m:ctrlPr>
                          </m:mPr>
                          <m:mr>
                            <m:e>
                              <m:r>
                                <m:rPr>
                                  <m:brk m:alnAt="7"/>
                                </m:rPr>
                                <a:rPr lang="en-US" altLang="zh-CN" sz="1800" b="1" i="1" smtClean="0">
                                  <a:solidFill>
                                    <a:prstClr val="black"/>
                                  </a:solidFill>
                                  <a:latin typeface="Cambria Math" panose="02040503050406030204" pitchFamily="18" charset="0"/>
                                </a:rPr>
                                <m:t>𝟓</m:t>
                              </m:r>
                            </m:e>
                            <m:e>
                              <m:r>
                                <a:rPr lang="en-US" altLang="zh-CN" sz="1800" b="1" i="1" smtClean="0">
                                  <a:solidFill>
                                    <a:prstClr val="black"/>
                                  </a:solidFill>
                                  <a:latin typeface="Cambria Math" panose="02040503050406030204" pitchFamily="18" charset="0"/>
                                </a:rPr>
                                <m:t>𝟕</m:t>
                              </m:r>
                            </m:e>
                          </m:mr>
                          <m:mr>
                            <m:e>
                              <m:r>
                                <a:rPr lang="en-US" altLang="zh-CN" sz="1800" b="1" i="1" smtClean="0">
                                  <a:solidFill>
                                    <a:prstClr val="black"/>
                                  </a:solidFill>
                                  <a:latin typeface="Cambria Math" panose="02040503050406030204" pitchFamily="18" charset="0"/>
                                </a:rPr>
                                <m:t>𝟔</m:t>
                              </m:r>
                            </m:e>
                            <m:e>
                              <m:r>
                                <a:rPr lang="en-US" altLang="zh-CN" sz="1800" b="1" i="1" smtClean="0">
                                  <a:solidFill>
                                    <a:prstClr val="black"/>
                                  </a:solidFill>
                                  <a:latin typeface="Cambria Math" panose="02040503050406030204" pitchFamily="18" charset="0"/>
                                </a:rPr>
                                <m:t>𝟖</m:t>
                              </m:r>
                            </m:e>
                          </m:mr>
                        </m:m>
                      </m:e>
                    </m:d>
                  </m:oMath>
                </a14:m>
                <a:r>
                  <a:rPr lang="zh-CN" altLang="en-US" b="1" dirty="0">
                    <a:latin typeface="+mn-ea"/>
                  </a:rPr>
                  <a:t>的“分行”输入法</a:t>
                </a:r>
                <a:endParaRPr lang="zh-CN" altLang="en-US" b="1" dirty="0">
                  <a:latin typeface="+mn-ea"/>
                </a:endParaRPr>
              </a:p>
            </p:txBody>
          </p:sp>
        </mc:Choice>
        <mc:Fallback>
          <p:sp>
            <p:nvSpPr>
              <p:cNvPr id="9" name="文本框 8"/>
              <p:cNvSpPr txBox="1">
                <a:spLocks noRot="1" noChangeAspect="1" noMove="1" noResize="1" noEditPoints="1" noAdjustHandles="1" noChangeArrowheads="1" noChangeShapeType="1" noTextEdit="1"/>
              </p:cNvSpPr>
              <p:nvPr/>
            </p:nvSpPr>
            <p:spPr>
              <a:xfrm>
                <a:off x="348590" y="3573016"/>
                <a:ext cx="8208912" cy="585288"/>
              </a:xfrm>
              <a:prstGeom prst="rect">
                <a:avLst/>
              </a:prstGeom>
              <a:blipFill rotWithShape="1">
                <a:blip r:embed="rId2"/>
                <a:stretch>
                  <a:fillRect l="-7" t="-86" r="3" b="5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939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1.2-9</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 复矩阵的定义与操作</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4" name="矩形 3"/>
          <p:cNvSpPr/>
          <p:nvPr/>
        </p:nvSpPr>
        <p:spPr>
          <a:xfrm>
            <a:off x="1547664" y="1818690"/>
            <a:ext cx="5832648" cy="1754326"/>
          </a:xfrm>
          <a:prstGeom prst="rect">
            <a:avLst/>
          </a:prstGeom>
        </p:spPr>
        <p:txBody>
          <a:bodyPr wrap="square">
            <a:spAutoFit/>
          </a:bodyPr>
          <a:lstStyle/>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AR=[1,3;2,4];AI=[5,7;6,8];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A=AR-AI*</a:t>
            </a:r>
            <a:r>
              <a:rPr lang="en-US" altLang="zh-CN" b="1" dirty="0" err="1">
                <a:solidFill>
                  <a:srgbClr val="008000"/>
                </a:solidFill>
                <a:latin typeface="Courier New" panose="02070309020205020404" pitchFamily="49" charset="0"/>
                <a:cs typeface="Times New Roman" panose="02020603050405020304" pitchFamily="18" charset="0"/>
              </a:rPr>
              <a:t>i</a:t>
            </a:r>
            <a:r>
              <a:rPr lang="en-US" altLang="zh-CN" b="1" dirty="0">
                <a:solidFill>
                  <a:srgbClr val="008000"/>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A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1.0000 - 5.0000i   3.0000 - 7.0000i</a:t>
            </a:r>
            <a:endParaRPr lang="zh-CN" altLang="zh-CN" dirty="0">
              <a:latin typeface="Courier New" panose="02070309020205020404" pitchFamily="49" charset="0"/>
              <a:cs typeface="Times New Roman" panose="02020603050405020304" pitchFamily="18" charset="0"/>
            </a:endParaRPr>
          </a:p>
          <a:p>
            <a:r>
              <a:rPr lang="en-US" altLang="zh-CN" dirty="0">
                <a:solidFill>
                  <a:srgbClr val="0000FF"/>
                </a:solidFill>
                <a:latin typeface="Courier New" panose="02070309020205020404" pitchFamily="49" charset="0"/>
                <a:cs typeface="Times New Roman" panose="02020603050405020304" pitchFamily="18" charset="0"/>
              </a:rPr>
              <a:t>   2.0000 - 6.0000i   4.0000 - 8.0000i </a:t>
            </a:r>
            <a:endParaRPr lang="zh-CN" altLang="en-US" dirty="0"/>
          </a:p>
        </p:txBody>
      </p:sp>
      <p:pic>
        <p:nvPicPr>
          <p:cNvPr id="6" name="图片 5"/>
          <p:cNvPicPr>
            <a:picLocks noChangeAspect="1"/>
          </p:cNvPicPr>
          <p:nvPr/>
        </p:nvPicPr>
        <p:blipFill>
          <a:blip r:embed="rId1"/>
          <a:stretch>
            <a:fillRect/>
          </a:stretch>
        </p:blipFill>
        <p:spPr>
          <a:xfrm>
            <a:off x="2380493" y="3587053"/>
            <a:ext cx="4383013" cy="3011142"/>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251520" y="1138505"/>
                <a:ext cx="8784976" cy="585288"/>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1.2-9】</a:t>
                </a:r>
                <a:r>
                  <a:rPr lang="zh-CN" altLang="en-US" b="1" dirty="0">
                    <a:solidFill>
                      <a:prstClr val="black"/>
                    </a:solidFill>
                    <a:latin typeface="+mn-ea"/>
                  </a:rPr>
                  <a:t>对复数数组</a:t>
                </a:r>
                <a14:m>
                  <m:oMath xmlns:m="http://schemas.openxmlformats.org/officeDocument/2006/math">
                    <m:r>
                      <a:rPr lang="en-US" altLang="zh-CN" sz="1800" b="1" i="1" smtClean="0">
                        <a:solidFill>
                          <a:prstClr val="black"/>
                        </a:solidFill>
                        <a:latin typeface="Cambria Math" panose="02040503050406030204" pitchFamily="18" charset="0"/>
                      </a:rPr>
                      <m:t>𝑨</m:t>
                    </m:r>
                    <m:r>
                      <a:rPr lang="en-US" altLang="zh-CN" sz="1800" b="1" i="1" smtClean="0">
                        <a:solidFill>
                          <a:prstClr val="black"/>
                        </a:solidFill>
                        <a:latin typeface="Cambria Math" panose="02040503050406030204" pitchFamily="18" charset="0"/>
                      </a:rPr>
                      <m:t>=</m:t>
                    </m:r>
                    <m:d>
                      <m:dPr>
                        <m:begChr m:val="["/>
                        <m:endChr m:val="]"/>
                        <m:ctrlPr>
                          <a:rPr lang="en-US" altLang="zh-CN" sz="1800" b="1" i="1" smtClean="0">
                            <a:solidFill>
                              <a:prstClr val="black"/>
                            </a:solidFill>
                            <a:latin typeface="Cambria Math" panose="02040503050406030204" pitchFamily="18" charset="0"/>
                          </a:rPr>
                        </m:ctrlPr>
                      </m:dPr>
                      <m:e>
                        <m:m>
                          <m:mPr>
                            <m:mcs>
                              <m:mc>
                                <m:mcPr>
                                  <m:count m:val="2"/>
                                  <m:mcJc m:val="center"/>
                                </m:mcPr>
                              </m:mc>
                            </m:mcs>
                            <m:ctrlPr>
                              <a:rPr lang="en-US" altLang="zh-CN" sz="1800" b="1" i="1" smtClean="0">
                                <a:solidFill>
                                  <a:prstClr val="black"/>
                                </a:solidFill>
                                <a:latin typeface="Cambria Math" panose="02040503050406030204" pitchFamily="18" charset="0"/>
                              </a:rPr>
                            </m:ctrlPr>
                          </m:mPr>
                          <m:mr>
                            <m:e>
                              <m:r>
                                <m:rPr>
                                  <m:brk m:alnAt="7"/>
                                </m:rPr>
                                <a:rPr lang="en-US" altLang="zh-CN" sz="1800" b="1" i="1" smtClean="0">
                                  <a:solidFill>
                                    <a:prstClr val="black"/>
                                  </a:solidFill>
                                  <a:latin typeface="Cambria Math" panose="02040503050406030204" pitchFamily="18" charset="0"/>
                                </a:rPr>
                                <m:t>𝟏</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𝟓</m:t>
                              </m:r>
                              <m:r>
                                <a:rPr lang="en-US" altLang="zh-CN" sz="1800" b="1" i="1" smtClean="0">
                                  <a:solidFill>
                                    <a:prstClr val="black"/>
                                  </a:solidFill>
                                  <a:latin typeface="Cambria Math" panose="02040503050406030204" pitchFamily="18" charset="0"/>
                                </a:rPr>
                                <m:t>𝒊</m:t>
                              </m:r>
                            </m:e>
                            <m:e>
                              <m:r>
                                <a:rPr lang="en-US" altLang="zh-CN" sz="1800" b="1" i="1" smtClean="0">
                                  <a:solidFill>
                                    <a:prstClr val="black"/>
                                  </a:solidFill>
                                  <a:latin typeface="Cambria Math" panose="02040503050406030204" pitchFamily="18" charset="0"/>
                                </a:rPr>
                                <m:t>𝟑</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𝟕</m:t>
                              </m:r>
                              <m:r>
                                <a:rPr lang="en-US" altLang="zh-CN" sz="1800" b="1" i="1" smtClean="0">
                                  <a:solidFill>
                                    <a:prstClr val="black"/>
                                  </a:solidFill>
                                  <a:latin typeface="Cambria Math" panose="02040503050406030204" pitchFamily="18" charset="0"/>
                                </a:rPr>
                                <m:t>𝒊</m:t>
                              </m:r>
                            </m:e>
                          </m:mr>
                          <m:mr>
                            <m:e>
                              <m:r>
                                <a:rPr lang="en-US" altLang="zh-CN" sz="1800" b="1" i="1" smtClean="0">
                                  <a:solidFill>
                                    <a:prstClr val="black"/>
                                  </a:solidFill>
                                  <a:latin typeface="Cambria Math" panose="02040503050406030204" pitchFamily="18" charset="0"/>
                                </a:rPr>
                                <m:t>𝟐</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𝟔</m:t>
                              </m:r>
                              <m:r>
                                <a:rPr lang="en-US" altLang="zh-CN" sz="1800" b="1" i="1" smtClean="0">
                                  <a:solidFill>
                                    <a:prstClr val="black"/>
                                  </a:solidFill>
                                  <a:latin typeface="Cambria Math" panose="02040503050406030204" pitchFamily="18" charset="0"/>
                                </a:rPr>
                                <m:t>𝒊</m:t>
                              </m:r>
                            </m:e>
                            <m:e>
                              <m:r>
                                <a:rPr lang="en-US" altLang="zh-CN" sz="1800" b="1" i="1" smtClean="0">
                                  <a:solidFill>
                                    <a:prstClr val="black"/>
                                  </a:solidFill>
                                  <a:latin typeface="Cambria Math" panose="02040503050406030204" pitchFamily="18" charset="0"/>
                                </a:rPr>
                                <m:t>𝟒</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𝟖</m:t>
                              </m:r>
                              <m:r>
                                <a:rPr lang="en-US" altLang="zh-CN" sz="1800" b="1" i="1" smtClean="0">
                                  <a:solidFill>
                                    <a:prstClr val="black"/>
                                  </a:solidFill>
                                  <a:latin typeface="Cambria Math" panose="02040503050406030204" pitchFamily="18" charset="0"/>
                                </a:rPr>
                                <m:t>𝒊</m:t>
                              </m:r>
                            </m:e>
                          </m:mr>
                        </m:m>
                      </m:e>
                    </m:d>
                  </m:oMath>
                </a14:m>
                <a:r>
                  <a:rPr lang="zh-CN" altLang="en-US" b="1" dirty="0">
                    <a:latin typeface="+mn-ea"/>
                  </a:rPr>
                  <a:t>进行求实部、虚部、模和辐角的运算。</a:t>
                </a:r>
                <a:endParaRPr lang="zh-CN" altLang="en-US" b="1" dirty="0">
                  <a:latin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251520" y="1138505"/>
                <a:ext cx="8784976" cy="585288"/>
              </a:xfrm>
              <a:prstGeom prst="rect">
                <a:avLst/>
              </a:prstGeom>
              <a:blipFill rotWithShape="1">
                <a:blip r:embed="rId2"/>
                <a:stretch>
                  <a:fillRect l="-1" t="-100" r="5" b="6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939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1.2-9</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 复矩阵的定义与操作</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6" name="矩形 5"/>
          <p:cNvSpPr/>
          <p:nvPr/>
        </p:nvSpPr>
        <p:spPr>
          <a:xfrm>
            <a:off x="4544820" y="1916832"/>
            <a:ext cx="4572000" cy="4247317"/>
          </a:xfrm>
          <a:prstGeom prst="rect">
            <a:avLst/>
          </a:prstGeom>
        </p:spPr>
        <p:txBody>
          <a:bodyPr>
            <a:spAutoFit/>
          </a:bodyPr>
          <a:lstStyle/>
          <a:p>
            <a:pPr marL="533400" indent="-266700" algn="just" hangingPunct="0">
              <a:spcAft>
                <a:spcPts val="0"/>
              </a:spcAft>
              <a:tabLst>
                <a:tab pos="457200" algn="l"/>
                <a:tab pos="533400" algn="l"/>
                <a:tab pos="457200" algn="l"/>
              </a:tabLst>
            </a:pPr>
            <a:r>
              <a:rPr lang="en-US" altLang="zh-CN" b="1" dirty="0">
                <a:solidFill>
                  <a:srgbClr val="008000"/>
                </a:solidFill>
                <a:latin typeface="Courier New" panose="02070309020205020404" pitchFamily="49" charset="0"/>
                <a:cs typeface="Times New Roman" panose="02020603050405020304" pitchFamily="18" charset="0"/>
              </a:rPr>
              <a:t>for m=1:2</a:t>
            </a:r>
            <a:endParaRPr lang="zh-CN" altLang="zh-CN" sz="2000" dirty="0">
              <a:latin typeface="Times New Roman" panose="02020603050405020304" pitchFamily="18" charset="0"/>
            </a:endParaRPr>
          </a:p>
          <a:p>
            <a:pPr marL="533400" indent="269875" algn="just" hangingPunct="0">
              <a:spcAft>
                <a:spcPts val="0"/>
              </a:spcAft>
              <a:tabLst>
                <a:tab pos="457200" algn="l"/>
                <a:tab pos="533400" algn="l"/>
                <a:tab pos="266700" algn="l"/>
              </a:tabLst>
            </a:pPr>
            <a:r>
              <a:rPr lang="en-US" altLang="zh-CN" b="1" dirty="0">
                <a:solidFill>
                  <a:srgbClr val="008000"/>
                </a:solidFill>
                <a:latin typeface="Courier New" panose="02070309020205020404" pitchFamily="49" charset="0"/>
                <a:cs typeface="Times New Roman" panose="02020603050405020304" pitchFamily="18" charset="0"/>
              </a:rPr>
              <a:t>for n=1:2</a:t>
            </a:r>
            <a:endParaRPr lang="zh-CN" altLang="zh-CN" sz="2000" dirty="0">
              <a:latin typeface="Times New Roman" panose="02020603050405020304" pitchFamily="18" charset="0"/>
            </a:endParaRPr>
          </a:p>
          <a:p>
            <a:pPr marL="533400" indent="-266700" algn="just" hangingPunct="0">
              <a:spcAft>
                <a:spcPts val="0"/>
              </a:spcAft>
              <a:tabLst>
                <a:tab pos="457200" algn="l"/>
                <a:tab pos="533400" algn="l"/>
                <a:tab pos="457200" algn="l"/>
              </a:tabLst>
            </a:pPr>
            <a:r>
              <a:rPr lang="en-US" altLang="zh-CN" b="1" dirty="0">
                <a:solidFill>
                  <a:srgbClr val="008000"/>
                </a:solidFill>
                <a:latin typeface="Courier New" panose="02070309020205020404" pitchFamily="49" charset="0"/>
                <a:cs typeface="Times New Roman" panose="02020603050405020304" pitchFamily="18" charset="0"/>
              </a:rPr>
              <a:t>		Am1(</a:t>
            </a:r>
            <a:r>
              <a:rPr lang="en-US" altLang="zh-CN" b="1" dirty="0" err="1">
                <a:solidFill>
                  <a:srgbClr val="008000"/>
                </a:solidFill>
                <a:latin typeface="Courier New" panose="02070309020205020404" pitchFamily="49" charset="0"/>
                <a:cs typeface="Times New Roman" panose="02020603050405020304" pitchFamily="18" charset="0"/>
              </a:rPr>
              <a:t>m,n</a:t>
            </a:r>
            <a:r>
              <a:rPr lang="en-US" altLang="zh-CN" b="1" dirty="0">
                <a:solidFill>
                  <a:srgbClr val="008000"/>
                </a:solidFill>
                <a:latin typeface="Courier New" panose="02070309020205020404" pitchFamily="49" charset="0"/>
                <a:cs typeface="Times New Roman" panose="02020603050405020304" pitchFamily="18" charset="0"/>
              </a:rPr>
              <a:t>)=abs(A(</a:t>
            </a:r>
            <a:r>
              <a:rPr lang="en-US" altLang="zh-CN" b="1" dirty="0" err="1">
                <a:solidFill>
                  <a:srgbClr val="008000"/>
                </a:solidFill>
                <a:latin typeface="Courier New" panose="02070309020205020404" pitchFamily="49" charset="0"/>
                <a:cs typeface="Times New Roman" panose="02020603050405020304" pitchFamily="18" charset="0"/>
              </a:rPr>
              <a:t>m,n</a:t>
            </a:r>
            <a:r>
              <a:rPr lang="en-US" altLang="zh-CN" b="1" dirty="0">
                <a:solidFill>
                  <a:srgbClr val="008000"/>
                </a:solidFill>
                <a:latin typeface="Courier New" panose="02070309020205020404" pitchFamily="49" charset="0"/>
                <a:cs typeface="Times New Roman" panose="02020603050405020304" pitchFamily="18" charset="0"/>
              </a:rPr>
              <a:t>));</a:t>
            </a:r>
            <a:endParaRPr lang="zh-CN" altLang="zh-CN" sz="2000" dirty="0">
              <a:latin typeface="Times New Roman" panose="02020603050405020304" pitchFamily="18" charset="0"/>
            </a:endParaRPr>
          </a:p>
          <a:p>
            <a:pPr marL="533400" indent="-266700" algn="just" hangingPunct="0">
              <a:spcAft>
                <a:spcPts val="0"/>
              </a:spcAft>
              <a:tabLst>
                <a:tab pos="457200" algn="l"/>
                <a:tab pos="533400" algn="l"/>
                <a:tab pos="457200" algn="l"/>
              </a:tabLst>
            </a:pPr>
            <a:r>
              <a:rPr lang="en-US" altLang="zh-CN" b="1" dirty="0">
                <a:solidFill>
                  <a:srgbClr val="008000"/>
                </a:solidFill>
                <a:latin typeface="Courier New" panose="02070309020205020404" pitchFamily="49" charset="0"/>
                <a:cs typeface="Times New Roman" panose="02020603050405020304" pitchFamily="18" charset="0"/>
              </a:rPr>
              <a:t>		Aa1(</a:t>
            </a:r>
            <a:r>
              <a:rPr lang="en-US" altLang="zh-CN" b="1" dirty="0" err="1">
                <a:solidFill>
                  <a:srgbClr val="008000"/>
                </a:solidFill>
                <a:latin typeface="Courier New" panose="02070309020205020404" pitchFamily="49" charset="0"/>
                <a:cs typeface="Times New Roman" panose="02020603050405020304" pitchFamily="18" charset="0"/>
              </a:rPr>
              <a:t>m,n</a:t>
            </a:r>
            <a:r>
              <a:rPr lang="en-US" altLang="zh-CN" b="1" dirty="0">
                <a:solidFill>
                  <a:srgbClr val="008000"/>
                </a:solidFill>
                <a:latin typeface="Courier New" panose="02070309020205020404" pitchFamily="49" charset="0"/>
                <a:cs typeface="Times New Roman" panose="02020603050405020304" pitchFamily="18" charset="0"/>
              </a:rPr>
              <a:t>)=angle(A(</a:t>
            </a:r>
            <a:r>
              <a:rPr lang="en-US" altLang="zh-CN" b="1" dirty="0" err="1">
                <a:solidFill>
                  <a:srgbClr val="008000"/>
                </a:solidFill>
                <a:latin typeface="Courier New" panose="02070309020205020404" pitchFamily="49" charset="0"/>
                <a:cs typeface="Times New Roman" panose="02020603050405020304" pitchFamily="18" charset="0"/>
              </a:rPr>
              <a:t>m,n</a:t>
            </a:r>
            <a:r>
              <a:rPr lang="en-US" altLang="zh-CN" b="1" dirty="0">
                <a:solidFill>
                  <a:srgbClr val="008000"/>
                </a:solidFill>
                <a:latin typeface="Courier New" panose="02070309020205020404" pitchFamily="49" charset="0"/>
                <a:cs typeface="Times New Roman" panose="02020603050405020304" pitchFamily="18" charset="0"/>
              </a:rPr>
              <a:t>))*180/pi;	%</a:t>
            </a:r>
            <a:r>
              <a:rPr lang="zh-CN" altLang="en-US" b="1" dirty="0">
                <a:solidFill>
                  <a:srgbClr val="FF0000"/>
                </a:solidFill>
                <a:latin typeface="Courier New" panose="02070309020205020404" pitchFamily="49" charset="0"/>
                <a:cs typeface="Times New Roman" panose="02020603050405020304" pitchFamily="18" charset="0"/>
              </a:rPr>
              <a:t>角度</a:t>
            </a:r>
            <a:endParaRPr lang="zh-CN" altLang="zh-CN" sz="2000" dirty="0">
              <a:solidFill>
                <a:srgbClr val="FF0000"/>
              </a:solidFill>
              <a:latin typeface="Times New Roman" panose="02020603050405020304" pitchFamily="18" charset="0"/>
            </a:endParaRPr>
          </a:p>
          <a:p>
            <a:pPr marL="533400" indent="-266700" algn="just" hangingPunct="0">
              <a:spcAft>
                <a:spcPts val="0"/>
              </a:spcAft>
              <a:tabLst>
                <a:tab pos="457200" algn="l"/>
                <a:tab pos="533400" algn="l"/>
                <a:tab pos="266700" algn="l"/>
              </a:tabLst>
            </a:pPr>
            <a:r>
              <a:rPr lang="en-US" altLang="zh-CN" b="1" dirty="0">
                <a:solidFill>
                  <a:srgbClr val="008000"/>
                </a:solidFill>
                <a:latin typeface="Courier New" panose="02070309020205020404" pitchFamily="49" charset="0"/>
                <a:cs typeface="Times New Roman" panose="02020603050405020304" pitchFamily="18" charset="0"/>
              </a:rPr>
              <a:t>	end</a:t>
            </a:r>
            <a:endParaRPr lang="zh-CN" altLang="zh-CN" sz="2000" dirty="0">
              <a:latin typeface="Times New Roman" panose="02020603050405020304" pitchFamily="18" charset="0"/>
            </a:endParaRPr>
          </a:p>
          <a:p>
            <a:pPr marL="533400" indent="-266700" algn="just" hangingPunct="0">
              <a:spcAft>
                <a:spcPts val="0"/>
              </a:spcAft>
              <a:tabLst>
                <a:tab pos="457200" algn="l"/>
                <a:tab pos="533400" algn="l"/>
                <a:tab pos="266700" algn="l"/>
              </a:tabLst>
            </a:pPr>
            <a:r>
              <a:rPr lang="en-US" altLang="zh-CN" b="1" dirty="0">
                <a:solidFill>
                  <a:srgbClr val="008000"/>
                </a:solidFill>
                <a:latin typeface="Courier New" panose="02070309020205020404" pitchFamily="49" charset="0"/>
                <a:cs typeface="Times New Roman" panose="02020603050405020304" pitchFamily="18" charset="0"/>
              </a:rPr>
              <a:t>end</a:t>
            </a:r>
            <a:endParaRPr lang="zh-CN" altLang="zh-CN" sz="2000" dirty="0">
              <a:latin typeface="Times New Roman" panose="02020603050405020304" pitchFamily="18" charset="0"/>
            </a:endParaRPr>
          </a:p>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Am1,Aa1 %</a:t>
            </a:r>
            <a:r>
              <a:rPr lang="zh-CN" altLang="en-US" b="1" dirty="0">
                <a:solidFill>
                  <a:srgbClr val="FF0000"/>
                </a:solidFill>
                <a:latin typeface="Courier New" panose="02070309020205020404" pitchFamily="49" charset="0"/>
                <a:cs typeface="Times New Roman" panose="02020603050405020304" pitchFamily="18" charset="0"/>
              </a:rPr>
              <a:t>两层循环，效率低速度慢！！</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Am1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5.0990    7.6158</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6.3246    8.9443</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Aa1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-78.6901  -66.8014</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-71.5651  -63.4349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
        <p:nvSpPr>
          <p:cNvPr id="5" name="矩形 4"/>
          <p:cNvSpPr/>
          <p:nvPr/>
        </p:nvSpPr>
        <p:spPr>
          <a:xfrm>
            <a:off x="346894" y="1916832"/>
            <a:ext cx="4572000" cy="2308324"/>
          </a:xfrm>
          <a:prstGeom prst="rect">
            <a:avLst/>
          </a:prstGeom>
        </p:spPr>
        <p:txBody>
          <a:bodyPr>
            <a:spAutoFit/>
          </a:bodyPr>
          <a:lstStyle/>
          <a:p>
            <a:pPr algn="just" hangingPunct="0">
              <a:spcAft>
                <a:spcPts val="0"/>
              </a:spcAft>
            </a:pPr>
            <a:r>
              <a:rPr lang="en-US" altLang="zh-CN" b="1" dirty="0" err="1">
                <a:solidFill>
                  <a:srgbClr val="008000"/>
                </a:solidFill>
                <a:latin typeface="Courier New" panose="02070309020205020404" pitchFamily="49" charset="0"/>
                <a:cs typeface="Times New Roman" panose="02020603050405020304" pitchFamily="18" charset="0"/>
              </a:rPr>
              <a:t>A_real</a:t>
            </a:r>
            <a:r>
              <a:rPr lang="en-US" altLang="zh-CN" b="1" dirty="0">
                <a:solidFill>
                  <a:srgbClr val="008000"/>
                </a:solidFill>
                <a:latin typeface="Courier New" panose="02070309020205020404" pitchFamily="49" charset="0"/>
                <a:cs typeface="Times New Roman" panose="02020603050405020304" pitchFamily="18" charset="0"/>
              </a:rPr>
              <a:t>=real(A)</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b="1" dirty="0" err="1">
                <a:solidFill>
                  <a:srgbClr val="008000"/>
                </a:solidFill>
                <a:latin typeface="Courier New" panose="02070309020205020404" pitchFamily="49" charset="0"/>
                <a:cs typeface="Times New Roman" panose="02020603050405020304" pitchFamily="18" charset="0"/>
              </a:rPr>
              <a:t>A_image</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imag</a:t>
            </a:r>
            <a:r>
              <a:rPr lang="en-US" altLang="zh-CN" b="1" dirty="0">
                <a:solidFill>
                  <a:srgbClr val="008000"/>
                </a:solidFill>
                <a:latin typeface="Courier New" panose="02070309020205020404" pitchFamily="49" charset="0"/>
                <a:cs typeface="Times New Roman" panose="02020603050405020304" pitchFamily="18" charset="0"/>
              </a:rPr>
              <a:t>(A)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err="1">
                <a:solidFill>
                  <a:srgbClr val="0000FF"/>
                </a:solidFill>
                <a:latin typeface="Courier New" panose="02070309020205020404" pitchFamily="49" charset="0"/>
                <a:cs typeface="Times New Roman" panose="02020603050405020304" pitchFamily="18" charset="0"/>
              </a:rPr>
              <a:t>A_real</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1     3</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2     4</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err="1">
                <a:solidFill>
                  <a:srgbClr val="0000FF"/>
                </a:solidFill>
                <a:latin typeface="Courier New" panose="02070309020205020404" pitchFamily="49" charset="0"/>
                <a:cs typeface="Times New Roman" panose="02020603050405020304" pitchFamily="18" charset="0"/>
              </a:rPr>
              <a:t>A_image</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-5    -7</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-6    -8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文本框 6"/>
              <p:cNvSpPr txBox="1"/>
              <p:nvPr/>
            </p:nvSpPr>
            <p:spPr>
              <a:xfrm>
                <a:off x="251520" y="1138505"/>
                <a:ext cx="8784976" cy="585288"/>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1.2-9】</a:t>
                </a:r>
                <a:r>
                  <a:rPr lang="zh-CN" altLang="en-US" b="1" dirty="0">
                    <a:solidFill>
                      <a:prstClr val="black"/>
                    </a:solidFill>
                    <a:latin typeface="+mn-ea"/>
                  </a:rPr>
                  <a:t>对复数数组</a:t>
                </a:r>
                <a14:m>
                  <m:oMath xmlns:m="http://schemas.openxmlformats.org/officeDocument/2006/math">
                    <m:r>
                      <a:rPr lang="en-US" altLang="zh-CN" sz="1800" b="1" i="1" smtClean="0">
                        <a:solidFill>
                          <a:prstClr val="black"/>
                        </a:solidFill>
                        <a:latin typeface="Cambria Math" panose="02040503050406030204" pitchFamily="18" charset="0"/>
                      </a:rPr>
                      <m:t>𝑨</m:t>
                    </m:r>
                    <m:r>
                      <a:rPr lang="en-US" altLang="zh-CN" sz="1800" b="1" i="1" smtClean="0">
                        <a:solidFill>
                          <a:prstClr val="black"/>
                        </a:solidFill>
                        <a:latin typeface="Cambria Math" panose="02040503050406030204" pitchFamily="18" charset="0"/>
                      </a:rPr>
                      <m:t>=</m:t>
                    </m:r>
                    <m:d>
                      <m:dPr>
                        <m:begChr m:val="["/>
                        <m:endChr m:val="]"/>
                        <m:ctrlPr>
                          <a:rPr lang="en-US" altLang="zh-CN" sz="1800" b="1" i="1" smtClean="0">
                            <a:solidFill>
                              <a:prstClr val="black"/>
                            </a:solidFill>
                            <a:latin typeface="Cambria Math" panose="02040503050406030204" pitchFamily="18" charset="0"/>
                          </a:rPr>
                        </m:ctrlPr>
                      </m:dPr>
                      <m:e>
                        <m:m>
                          <m:mPr>
                            <m:mcs>
                              <m:mc>
                                <m:mcPr>
                                  <m:count m:val="2"/>
                                  <m:mcJc m:val="center"/>
                                </m:mcPr>
                              </m:mc>
                            </m:mcs>
                            <m:ctrlPr>
                              <a:rPr lang="en-US" altLang="zh-CN" sz="1800" b="1" i="1" smtClean="0">
                                <a:solidFill>
                                  <a:prstClr val="black"/>
                                </a:solidFill>
                                <a:latin typeface="Cambria Math" panose="02040503050406030204" pitchFamily="18" charset="0"/>
                              </a:rPr>
                            </m:ctrlPr>
                          </m:mPr>
                          <m:mr>
                            <m:e>
                              <m:r>
                                <m:rPr>
                                  <m:brk m:alnAt="7"/>
                                </m:rPr>
                                <a:rPr lang="en-US" altLang="zh-CN" sz="1800" b="1" i="1" smtClean="0">
                                  <a:solidFill>
                                    <a:prstClr val="black"/>
                                  </a:solidFill>
                                  <a:latin typeface="Cambria Math" panose="02040503050406030204" pitchFamily="18" charset="0"/>
                                </a:rPr>
                                <m:t>𝟏</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𝟓</m:t>
                              </m:r>
                              <m:r>
                                <a:rPr lang="en-US" altLang="zh-CN" sz="1800" b="1" i="1" smtClean="0">
                                  <a:solidFill>
                                    <a:prstClr val="black"/>
                                  </a:solidFill>
                                  <a:latin typeface="Cambria Math" panose="02040503050406030204" pitchFamily="18" charset="0"/>
                                </a:rPr>
                                <m:t>𝒊</m:t>
                              </m:r>
                            </m:e>
                            <m:e>
                              <m:r>
                                <a:rPr lang="en-US" altLang="zh-CN" sz="1800" b="1" i="1" smtClean="0">
                                  <a:solidFill>
                                    <a:prstClr val="black"/>
                                  </a:solidFill>
                                  <a:latin typeface="Cambria Math" panose="02040503050406030204" pitchFamily="18" charset="0"/>
                                </a:rPr>
                                <m:t>𝟑</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𝟕</m:t>
                              </m:r>
                              <m:r>
                                <a:rPr lang="en-US" altLang="zh-CN" sz="1800" b="1" i="1" smtClean="0">
                                  <a:solidFill>
                                    <a:prstClr val="black"/>
                                  </a:solidFill>
                                  <a:latin typeface="Cambria Math" panose="02040503050406030204" pitchFamily="18" charset="0"/>
                                </a:rPr>
                                <m:t>𝒊</m:t>
                              </m:r>
                            </m:e>
                          </m:mr>
                          <m:mr>
                            <m:e>
                              <m:r>
                                <a:rPr lang="en-US" altLang="zh-CN" sz="1800" b="1" i="1" smtClean="0">
                                  <a:solidFill>
                                    <a:prstClr val="black"/>
                                  </a:solidFill>
                                  <a:latin typeface="Cambria Math" panose="02040503050406030204" pitchFamily="18" charset="0"/>
                                </a:rPr>
                                <m:t>𝟐</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𝟔</m:t>
                              </m:r>
                              <m:r>
                                <a:rPr lang="en-US" altLang="zh-CN" sz="1800" b="1" i="1" smtClean="0">
                                  <a:solidFill>
                                    <a:prstClr val="black"/>
                                  </a:solidFill>
                                  <a:latin typeface="Cambria Math" panose="02040503050406030204" pitchFamily="18" charset="0"/>
                                </a:rPr>
                                <m:t>𝒊</m:t>
                              </m:r>
                            </m:e>
                            <m:e>
                              <m:r>
                                <a:rPr lang="en-US" altLang="zh-CN" sz="1800" b="1" i="1" smtClean="0">
                                  <a:solidFill>
                                    <a:prstClr val="black"/>
                                  </a:solidFill>
                                  <a:latin typeface="Cambria Math" panose="02040503050406030204" pitchFamily="18" charset="0"/>
                                </a:rPr>
                                <m:t>𝟒</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𝟖</m:t>
                              </m:r>
                              <m:r>
                                <a:rPr lang="en-US" altLang="zh-CN" sz="1800" b="1" i="1" smtClean="0">
                                  <a:solidFill>
                                    <a:prstClr val="black"/>
                                  </a:solidFill>
                                  <a:latin typeface="Cambria Math" panose="02040503050406030204" pitchFamily="18" charset="0"/>
                                </a:rPr>
                                <m:t>𝒊</m:t>
                              </m:r>
                            </m:e>
                          </m:mr>
                        </m:m>
                      </m:e>
                    </m:d>
                  </m:oMath>
                </a14:m>
                <a:r>
                  <a:rPr lang="zh-CN" altLang="en-US" b="1" dirty="0">
                    <a:latin typeface="+mn-ea"/>
                  </a:rPr>
                  <a:t>进行求实部、虚部、模和辐角的运算。</a:t>
                </a:r>
                <a:endParaRPr lang="zh-CN" altLang="en-US" b="1" dirty="0">
                  <a:latin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251520" y="1138505"/>
                <a:ext cx="8784976" cy="585288"/>
              </a:xfrm>
              <a:prstGeom prst="rect">
                <a:avLst/>
              </a:prstGeom>
              <a:blipFill rotWithShape="1">
                <a:blip r:embed="rId1"/>
                <a:stretch>
                  <a:fillRect l="-1" t="-100" r="5" b="6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939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1.2-9</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 复矩阵的定义与操作</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5" name="矩形 4"/>
          <p:cNvSpPr/>
          <p:nvPr/>
        </p:nvSpPr>
        <p:spPr>
          <a:xfrm>
            <a:off x="611560" y="2075684"/>
            <a:ext cx="4572000" cy="2308324"/>
          </a:xfrm>
          <a:prstGeom prst="rect">
            <a:avLst/>
          </a:prstGeom>
        </p:spPr>
        <p:txBody>
          <a:bodyPr>
            <a:spAutoFit/>
          </a:bodyPr>
          <a:lstStyle/>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Am2=abs(A)</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Aa2=angle(A)*180/pi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Am2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5.0990    7.6158</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6.3246    8.9443</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Aa2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-78.6901  -66.8014</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-71.5651  -63.4349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
        <p:nvSpPr>
          <p:cNvPr id="7" name="矩形 6"/>
          <p:cNvSpPr/>
          <p:nvPr/>
        </p:nvSpPr>
        <p:spPr>
          <a:xfrm>
            <a:off x="352667" y="5085184"/>
            <a:ext cx="8438666" cy="830997"/>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zh-CN" altLang="en-US" sz="2400" b="1" dirty="0">
                <a:solidFill>
                  <a:srgbClr val="FF0000"/>
                </a:solidFill>
                <a:latin typeface="+mj-ea"/>
                <a:ea typeface="+mj-ea"/>
              </a:rPr>
              <a:t>向量化或数组化操作大大提高代码简洁性和程序效率</a:t>
            </a:r>
            <a:r>
              <a:rPr lang="zh-CN" altLang="en-US" sz="2400" b="1" dirty="0">
                <a:solidFill>
                  <a:prstClr val="black"/>
                </a:solidFill>
                <a:latin typeface="+mj-ea"/>
                <a:ea typeface="+mj-ea"/>
              </a:rPr>
              <a:t>，但有时候会破坏代码易读性。</a:t>
            </a:r>
            <a:endParaRPr lang="en-US" altLang="zh-CN" sz="2400" b="1" dirty="0">
              <a:solidFill>
                <a:srgbClr val="0070C0"/>
              </a:solidFill>
              <a:latin typeface="+mj-ea"/>
              <a:ea typeface="+mj-ea"/>
            </a:endParaRPr>
          </a:p>
        </p:txBody>
      </p:sp>
      <mc:AlternateContent xmlns:mc="http://schemas.openxmlformats.org/markup-compatibility/2006">
        <mc:Choice xmlns:a14="http://schemas.microsoft.com/office/drawing/2010/main" Requires="a14">
          <p:sp>
            <p:nvSpPr>
              <p:cNvPr id="6" name="文本框 5"/>
              <p:cNvSpPr txBox="1"/>
              <p:nvPr/>
            </p:nvSpPr>
            <p:spPr>
              <a:xfrm>
                <a:off x="251520" y="1138505"/>
                <a:ext cx="8784976" cy="585288"/>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1.2-9】</a:t>
                </a:r>
                <a:r>
                  <a:rPr lang="zh-CN" altLang="en-US" b="1" dirty="0">
                    <a:solidFill>
                      <a:prstClr val="black"/>
                    </a:solidFill>
                    <a:latin typeface="+mn-ea"/>
                  </a:rPr>
                  <a:t>对复数数组</a:t>
                </a:r>
                <a14:m>
                  <m:oMath xmlns:m="http://schemas.openxmlformats.org/officeDocument/2006/math">
                    <m:r>
                      <a:rPr lang="en-US" altLang="zh-CN" sz="1800" b="1" i="1" smtClean="0">
                        <a:solidFill>
                          <a:prstClr val="black"/>
                        </a:solidFill>
                        <a:latin typeface="Cambria Math" panose="02040503050406030204" pitchFamily="18" charset="0"/>
                      </a:rPr>
                      <m:t>𝑨</m:t>
                    </m:r>
                    <m:r>
                      <a:rPr lang="en-US" altLang="zh-CN" sz="1800" b="1" i="1" smtClean="0">
                        <a:solidFill>
                          <a:prstClr val="black"/>
                        </a:solidFill>
                        <a:latin typeface="Cambria Math" panose="02040503050406030204" pitchFamily="18" charset="0"/>
                      </a:rPr>
                      <m:t>=</m:t>
                    </m:r>
                    <m:d>
                      <m:dPr>
                        <m:begChr m:val="["/>
                        <m:endChr m:val="]"/>
                        <m:ctrlPr>
                          <a:rPr lang="en-US" altLang="zh-CN" sz="1800" b="1" i="1" smtClean="0">
                            <a:solidFill>
                              <a:prstClr val="black"/>
                            </a:solidFill>
                            <a:latin typeface="Cambria Math" panose="02040503050406030204" pitchFamily="18" charset="0"/>
                          </a:rPr>
                        </m:ctrlPr>
                      </m:dPr>
                      <m:e>
                        <m:m>
                          <m:mPr>
                            <m:mcs>
                              <m:mc>
                                <m:mcPr>
                                  <m:count m:val="2"/>
                                  <m:mcJc m:val="center"/>
                                </m:mcPr>
                              </m:mc>
                            </m:mcs>
                            <m:ctrlPr>
                              <a:rPr lang="en-US" altLang="zh-CN" sz="1800" b="1" i="1" smtClean="0">
                                <a:solidFill>
                                  <a:prstClr val="black"/>
                                </a:solidFill>
                                <a:latin typeface="Cambria Math" panose="02040503050406030204" pitchFamily="18" charset="0"/>
                              </a:rPr>
                            </m:ctrlPr>
                          </m:mPr>
                          <m:mr>
                            <m:e>
                              <m:r>
                                <m:rPr>
                                  <m:brk m:alnAt="7"/>
                                </m:rPr>
                                <a:rPr lang="en-US" altLang="zh-CN" sz="1800" b="1" i="1" smtClean="0">
                                  <a:solidFill>
                                    <a:prstClr val="black"/>
                                  </a:solidFill>
                                  <a:latin typeface="Cambria Math" panose="02040503050406030204" pitchFamily="18" charset="0"/>
                                </a:rPr>
                                <m:t>𝟏</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𝟓</m:t>
                              </m:r>
                              <m:r>
                                <a:rPr lang="en-US" altLang="zh-CN" sz="1800" b="1" i="1" smtClean="0">
                                  <a:solidFill>
                                    <a:prstClr val="black"/>
                                  </a:solidFill>
                                  <a:latin typeface="Cambria Math" panose="02040503050406030204" pitchFamily="18" charset="0"/>
                                </a:rPr>
                                <m:t>𝒊</m:t>
                              </m:r>
                            </m:e>
                            <m:e>
                              <m:r>
                                <a:rPr lang="en-US" altLang="zh-CN" sz="1800" b="1" i="1" smtClean="0">
                                  <a:solidFill>
                                    <a:prstClr val="black"/>
                                  </a:solidFill>
                                  <a:latin typeface="Cambria Math" panose="02040503050406030204" pitchFamily="18" charset="0"/>
                                </a:rPr>
                                <m:t>𝟑</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𝟕</m:t>
                              </m:r>
                              <m:r>
                                <a:rPr lang="en-US" altLang="zh-CN" sz="1800" b="1" i="1" smtClean="0">
                                  <a:solidFill>
                                    <a:prstClr val="black"/>
                                  </a:solidFill>
                                  <a:latin typeface="Cambria Math" panose="02040503050406030204" pitchFamily="18" charset="0"/>
                                </a:rPr>
                                <m:t>𝒊</m:t>
                              </m:r>
                            </m:e>
                          </m:mr>
                          <m:mr>
                            <m:e>
                              <m:r>
                                <a:rPr lang="en-US" altLang="zh-CN" sz="1800" b="1" i="1" smtClean="0">
                                  <a:solidFill>
                                    <a:prstClr val="black"/>
                                  </a:solidFill>
                                  <a:latin typeface="Cambria Math" panose="02040503050406030204" pitchFamily="18" charset="0"/>
                                </a:rPr>
                                <m:t>𝟐</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𝟔</m:t>
                              </m:r>
                              <m:r>
                                <a:rPr lang="en-US" altLang="zh-CN" sz="1800" b="1" i="1" smtClean="0">
                                  <a:solidFill>
                                    <a:prstClr val="black"/>
                                  </a:solidFill>
                                  <a:latin typeface="Cambria Math" panose="02040503050406030204" pitchFamily="18" charset="0"/>
                                </a:rPr>
                                <m:t>𝒊</m:t>
                              </m:r>
                            </m:e>
                            <m:e>
                              <m:r>
                                <a:rPr lang="en-US" altLang="zh-CN" sz="1800" b="1" i="1" smtClean="0">
                                  <a:solidFill>
                                    <a:prstClr val="black"/>
                                  </a:solidFill>
                                  <a:latin typeface="Cambria Math" panose="02040503050406030204" pitchFamily="18" charset="0"/>
                                </a:rPr>
                                <m:t>𝟒</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𝟖</m:t>
                              </m:r>
                              <m:r>
                                <a:rPr lang="en-US" altLang="zh-CN" sz="1800" b="1" i="1" smtClean="0">
                                  <a:solidFill>
                                    <a:prstClr val="black"/>
                                  </a:solidFill>
                                  <a:latin typeface="Cambria Math" panose="02040503050406030204" pitchFamily="18" charset="0"/>
                                </a:rPr>
                                <m:t>𝒊</m:t>
                              </m:r>
                            </m:e>
                          </m:mr>
                        </m:m>
                      </m:e>
                    </m:d>
                  </m:oMath>
                </a14:m>
                <a:r>
                  <a:rPr lang="zh-CN" altLang="en-US" b="1" dirty="0">
                    <a:latin typeface="+mn-ea"/>
                  </a:rPr>
                  <a:t>进行求实部、虚部、模和辐角的运算。</a:t>
                </a:r>
                <a:endParaRPr lang="zh-CN" altLang="en-US" b="1" dirty="0">
                  <a:latin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251520" y="1138505"/>
                <a:ext cx="8784976" cy="585288"/>
              </a:xfrm>
              <a:prstGeom prst="rect">
                <a:avLst/>
              </a:prstGeom>
              <a:blipFill rotWithShape="1">
                <a:blip r:embed="rId1"/>
                <a:stretch>
                  <a:fillRect l="-1" t="-100" r="5" b="6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8150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1.2-11</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 复数矩阵的乘法</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先讲这个</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2" name="矩形 11"/>
          <p:cNvSpPr/>
          <p:nvPr/>
        </p:nvSpPr>
        <p:spPr>
          <a:xfrm>
            <a:off x="1619672" y="2420888"/>
            <a:ext cx="6268486" cy="3139321"/>
          </a:xfrm>
          <a:prstGeom prst="rect">
            <a:avLst/>
          </a:prstGeom>
        </p:spPr>
        <p:txBody>
          <a:bodyPr wrap="square">
            <a:spAutoFit/>
          </a:bodyPr>
          <a:lstStyle/>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B=[3+2i,2+6i;5+3i,4-2i]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C=A*B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B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3.0000 + 2.0000i   2.0000 + 6.0000i</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5.0000 + 3.0000i   4.0000 - 2.0000i</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C =</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49.0000 -39.0000i  30.0000 -38.0000i</a:t>
            </a:r>
            <a:endParaRPr lang="zh-CN" altLang="zh-CN" dirty="0">
              <a:latin typeface="Courier New" panose="02070309020205020404" pitchFamily="49" charset="0"/>
              <a:cs typeface="Times New Roman" panose="02020603050405020304" pitchFamily="18" charset="0"/>
            </a:endParaRPr>
          </a:p>
          <a:p>
            <a:pPr algn="just" hangingPunct="0">
              <a:spcAft>
                <a:spcPts val="0"/>
              </a:spcAft>
            </a:pPr>
            <a:r>
              <a:rPr lang="en-US" altLang="zh-CN" dirty="0">
                <a:solidFill>
                  <a:srgbClr val="0000FF"/>
                </a:solidFill>
                <a:latin typeface="Courier New" panose="02070309020205020404" pitchFamily="49" charset="0"/>
                <a:cs typeface="Times New Roman" panose="02020603050405020304" pitchFamily="18" charset="0"/>
              </a:rPr>
              <a:t>  62.0000 -42.0000i  40.0000 -40.0000i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5" name="文本框 4"/>
              <p:cNvSpPr txBox="1"/>
              <p:nvPr/>
            </p:nvSpPr>
            <p:spPr>
              <a:xfrm>
                <a:off x="237584" y="1297791"/>
                <a:ext cx="8784976" cy="862287"/>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1.2-11】</a:t>
                </a:r>
                <a:r>
                  <a:rPr lang="zh-CN" altLang="en-US" b="1" dirty="0">
                    <a:solidFill>
                      <a:prstClr val="black"/>
                    </a:solidFill>
                    <a:latin typeface="+mn-ea"/>
                  </a:rPr>
                  <a:t>复数矩阵</a:t>
                </a:r>
                <a14:m>
                  <m:oMath xmlns:m="http://schemas.openxmlformats.org/officeDocument/2006/math">
                    <m:r>
                      <a:rPr lang="en-US" altLang="zh-CN" sz="1800" b="1" i="1" smtClean="0">
                        <a:solidFill>
                          <a:prstClr val="black"/>
                        </a:solidFill>
                        <a:latin typeface="Cambria Math" panose="02040503050406030204" pitchFamily="18" charset="0"/>
                      </a:rPr>
                      <m:t>𝑩</m:t>
                    </m:r>
                    <m:r>
                      <a:rPr lang="en-US" altLang="zh-CN" sz="1800" b="1" i="1" smtClean="0">
                        <a:solidFill>
                          <a:prstClr val="black"/>
                        </a:solidFill>
                        <a:latin typeface="Cambria Math" panose="02040503050406030204" pitchFamily="18" charset="0"/>
                      </a:rPr>
                      <m:t>=</m:t>
                    </m:r>
                    <m:d>
                      <m:dPr>
                        <m:begChr m:val="["/>
                        <m:endChr m:val="]"/>
                        <m:ctrlPr>
                          <a:rPr lang="en-US" altLang="zh-CN" sz="1800" b="1" i="1" smtClean="0">
                            <a:solidFill>
                              <a:prstClr val="black"/>
                            </a:solidFill>
                            <a:latin typeface="Cambria Math" panose="02040503050406030204" pitchFamily="18" charset="0"/>
                          </a:rPr>
                        </m:ctrlPr>
                      </m:dPr>
                      <m:e>
                        <m:m>
                          <m:mPr>
                            <m:mcs>
                              <m:mc>
                                <m:mcPr>
                                  <m:count m:val="2"/>
                                  <m:mcJc m:val="center"/>
                                </m:mcPr>
                              </m:mc>
                            </m:mcs>
                            <m:ctrlPr>
                              <a:rPr lang="en-US" altLang="zh-CN" sz="1800" b="1" i="1" smtClean="0">
                                <a:solidFill>
                                  <a:prstClr val="black"/>
                                </a:solidFill>
                                <a:latin typeface="Cambria Math" panose="02040503050406030204" pitchFamily="18" charset="0"/>
                              </a:rPr>
                            </m:ctrlPr>
                          </m:mPr>
                          <m:mr>
                            <m:e>
                              <m:r>
                                <m:rPr>
                                  <m:brk m:alnAt="7"/>
                                </m:rPr>
                                <a:rPr lang="en-US" altLang="zh-CN" sz="1800" b="1" i="1" smtClean="0">
                                  <a:solidFill>
                                    <a:prstClr val="black"/>
                                  </a:solidFill>
                                  <a:latin typeface="Cambria Math" panose="02040503050406030204" pitchFamily="18" charset="0"/>
                                </a:rPr>
                                <m:t>𝟑</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𝟐</m:t>
                              </m:r>
                              <m:r>
                                <a:rPr lang="en-US" altLang="zh-CN" sz="1800" b="1" i="1" smtClean="0">
                                  <a:solidFill>
                                    <a:prstClr val="black"/>
                                  </a:solidFill>
                                  <a:latin typeface="Cambria Math" panose="02040503050406030204" pitchFamily="18" charset="0"/>
                                </a:rPr>
                                <m:t>𝒊</m:t>
                              </m:r>
                            </m:e>
                            <m:e>
                              <m:r>
                                <a:rPr lang="en-US" altLang="zh-CN" sz="1800" b="1" i="1" smtClean="0">
                                  <a:solidFill>
                                    <a:prstClr val="black"/>
                                  </a:solidFill>
                                  <a:latin typeface="Cambria Math" panose="02040503050406030204" pitchFamily="18" charset="0"/>
                                </a:rPr>
                                <m:t>𝟐</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𝟔</m:t>
                              </m:r>
                              <m:r>
                                <a:rPr lang="en-US" altLang="zh-CN" sz="1800" b="1" i="1" smtClean="0">
                                  <a:solidFill>
                                    <a:prstClr val="black"/>
                                  </a:solidFill>
                                  <a:latin typeface="Cambria Math" panose="02040503050406030204" pitchFamily="18" charset="0"/>
                                </a:rPr>
                                <m:t>𝒊</m:t>
                              </m:r>
                            </m:e>
                          </m:mr>
                          <m:mr>
                            <m:e>
                              <m:r>
                                <a:rPr lang="en-US" altLang="zh-CN" sz="1800" b="1" i="1" smtClean="0">
                                  <a:solidFill>
                                    <a:prstClr val="black"/>
                                  </a:solidFill>
                                  <a:latin typeface="Cambria Math" panose="02040503050406030204" pitchFamily="18" charset="0"/>
                                </a:rPr>
                                <m:t>𝟓</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𝟑</m:t>
                              </m:r>
                              <m:r>
                                <a:rPr lang="en-US" altLang="zh-CN" sz="1800" b="1" i="1" smtClean="0">
                                  <a:solidFill>
                                    <a:prstClr val="black"/>
                                  </a:solidFill>
                                  <a:latin typeface="Cambria Math" panose="02040503050406030204" pitchFamily="18" charset="0"/>
                                </a:rPr>
                                <m:t>𝒊</m:t>
                              </m:r>
                            </m:e>
                            <m:e>
                              <m:r>
                                <a:rPr lang="en-US" altLang="zh-CN" sz="1800" b="1" i="1" smtClean="0">
                                  <a:solidFill>
                                    <a:prstClr val="black"/>
                                  </a:solidFill>
                                  <a:latin typeface="Cambria Math" panose="02040503050406030204" pitchFamily="18" charset="0"/>
                                </a:rPr>
                                <m:t>𝟒</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𝟐</m:t>
                              </m:r>
                              <m:r>
                                <a:rPr lang="en-US" altLang="zh-CN" sz="1800" b="1" i="1" smtClean="0">
                                  <a:solidFill>
                                    <a:prstClr val="black"/>
                                  </a:solidFill>
                                  <a:latin typeface="Cambria Math" panose="02040503050406030204" pitchFamily="18" charset="0"/>
                                </a:rPr>
                                <m:t>𝒊</m:t>
                              </m:r>
                            </m:e>
                          </m:mr>
                        </m:m>
                      </m:e>
                    </m:d>
                  </m:oMath>
                </a14:m>
                <a:r>
                  <a:rPr lang="zh-CN" altLang="en-US" b="1" dirty="0">
                    <a:latin typeface="+mn-ea"/>
                  </a:rPr>
                  <a:t>的生成，及计算</a:t>
                </a:r>
                <a14:m>
                  <m:oMath xmlns:m="http://schemas.openxmlformats.org/officeDocument/2006/math">
                    <m:r>
                      <a:rPr lang="en-US" altLang="zh-CN" b="1" i="1" smtClean="0">
                        <a:latin typeface="Cambria Math" panose="02040503050406030204" pitchFamily="18" charset="0"/>
                      </a:rPr>
                      <m:t>𝑨</m:t>
                    </m:r>
                    <m:r>
                      <a:rPr lang="en-US" altLang="zh-CN" b="1" i="1" smtClean="0">
                        <a:latin typeface="Cambria Math" panose="02040503050406030204" pitchFamily="18" charset="0"/>
                      </a:rPr>
                      <m:t>⋅</m:t>
                    </m:r>
                    <m:r>
                      <a:rPr lang="en-US" altLang="zh-CN" b="1" i="1" smtClean="0">
                        <a:latin typeface="Cambria Math" panose="02040503050406030204" pitchFamily="18" charset="0"/>
                      </a:rPr>
                      <m:t>𝑩</m:t>
                    </m:r>
                  </m:oMath>
                </a14:m>
                <a:r>
                  <a:rPr lang="zh-CN" altLang="en-US" b="1" dirty="0">
                    <a:latin typeface="+mn-ea"/>
                  </a:rPr>
                  <a:t>矩阵乘积（</a:t>
                </a:r>
                <a14:m>
                  <m:oMath xmlns:m="http://schemas.openxmlformats.org/officeDocument/2006/math">
                    <m:r>
                      <a:rPr lang="en-US" altLang="zh-CN" b="1" i="1" smtClean="0">
                        <a:latin typeface="Cambria Math" panose="02040503050406030204" pitchFamily="18" charset="0"/>
                      </a:rPr>
                      <m:t>𝑨</m:t>
                    </m:r>
                  </m:oMath>
                </a14:m>
                <a:r>
                  <a:rPr lang="zh-CN" altLang="en-US" b="1" dirty="0">
                    <a:latin typeface="+mn-ea"/>
                  </a:rPr>
                  <a:t>取自算例</a:t>
                </a:r>
                <a:r>
                  <a:rPr lang="en-US" altLang="zh-CN" b="1" dirty="0">
                    <a:latin typeface="+mn-ea"/>
                  </a:rPr>
                  <a:t>1.2-9</a:t>
                </a:r>
                <a:r>
                  <a:rPr lang="zh-CN" altLang="en-US" b="1" dirty="0">
                    <a:latin typeface="+mn-ea"/>
                  </a:rPr>
                  <a:t>）。</a:t>
                </a:r>
                <a:endParaRPr lang="zh-CN" altLang="en-US" b="1" dirty="0">
                  <a:latin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237584" y="1297791"/>
                <a:ext cx="8784976" cy="862287"/>
              </a:xfrm>
              <a:prstGeom prst="rect">
                <a:avLst/>
              </a:prstGeom>
              <a:blipFill rotWithShape="1">
                <a:blip r:embed="rId1"/>
                <a:stretch>
                  <a:fillRect l="-1" t="-56" r="5" b="51"/>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81502"/>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1.2-10</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 衰减震荡曲线的绘制</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7" name="矩形 6"/>
          <p:cNvSpPr/>
          <p:nvPr/>
        </p:nvSpPr>
        <p:spPr>
          <a:xfrm>
            <a:off x="251520" y="1395978"/>
            <a:ext cx="7686600" cy="1754326"/>
          </a:xfrm>
          <a:prstGeom prst="rect">
            <a:avLst/>
          </a:prstGeom>
        </p:spPr>
        <p:txBody>
          <a:bodyPr wrap="square">
            <a:spAutoFit/>
          </a:bodyPr>
          <a:lstStyle/>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t=0:pi/50:4*pi;			%</a:t>
            </a:r>
            <a:r>
              <a:rPr lang="en-US" altLang="zh-CN" b="1" dirty="0">
                <a:solidFill>
                  <a:srgbClr val="FF0000"/>
                </a:solidFill>
                <a:latin typeface="Courier New" panose="02070309020205020404" pitchFamily="49" charset="0"/>
                <a:cs typeface="Times New Roman" panose="02020603050405020304" pitchFamily="18" charset="0"/>
              </a:rPr>
              <a:t>0~4pi</a:t>
            </a:r>
            <a:r>
              <a:rPr lang="zh-CN" altLang="en-US" b="1" dirty="0">
                <a:solidFill>
                  <a:srgbClr val="FF0000"/>
                </a:solidFill>
                <a:latin typeface="Courier New" panose="02070309020205020404" pitchFamily="49" charset="0"/>
                <a:cs typeface="Times New Roman" panose="02020603050405020304" pitchFamily="18" charset="0"/>
              </a:rPr>
              <a:t>均分为</a:t>
            </a:r>
            <a:r>
              <a:rPr lang="en-US" altLang="zh-CN" b="1" dirty="0">
                <a:solidFill>
                  <a:srgbClr val="FF0000"/>
                </a:solidFill>
                <a:latin typeface="Courier New" panose="02070309020205020404" pitchFamily="49" charset="0"/>
                <a:cs typeface="Times New Roman" panose="02020603050405020304" pitchFamily="18" charset="0"/>
              </a:rPr>
              <a:t>200</a:t>
            </a:r>
            <a:r>
              <a:rPr lang="zh-CN" altLang="en-US" b="1" dirty="0">
                <a:solidFill>
                  <a:srgbClr val="FF0000"/>
                </a:solidFill>
                <a:latin typeface="Courier New" panose="02070309020205020404" pitchFamily="49" charset="0"/>
                <a:cs typeface="Times New Roman" panose="02020603050405020304" pitchFamily="18" charset="0"/>
              </a:rPr>
              <a:t>份</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y=</a:t>
            </a:r>
            <a:r>
              <a:rPr lang="en-US" altLang="zh-CN" b="1" dirty="0" err="1">
                <a:solidFill>
                  <a:srgbClr val="008000"/>
                </a:solidFill>
                <a:latin typeface="Courier New" panose="02070309020205020404" pitchFamily="49" charset="0"/>
                <a:cs typeface="Times New Roman" panose="02020603050405020304" pitchFamily="18" charset="0"/>
              </a:rPr>
              <a:t>exp</a:t>
            </a:r>
            <a:r>
              <a:rPr lang="en-US" altLang="zh-CN" b="1" dirty="0">
                <a:solidFill>
                  <a:srgbClr val="008000"/>
                </a:solidFill>
                <a:latin typeface="Courier New" panose="02070309020205020404" pitchFamily="49" charset="0"/>
                <a:cs typeface="Times New Roman" panose="02020603050405020304" pitchFamily="18" charset="0"/>
              </a:rPr>
              <a:t>(-t/3).*sin(3*t);	%</a:t>
            </a:r>
            <a:r>
              <a:rPr lang="zh-CN" altLang="en-US" b="1" dirty="0">
                <a:solidFill>
                  <a:srgbClr val="FF0000"/>
                </a:solidFill>
                <a:latin typeface="Courier New" panose="02070309020205020404" pitchFamily="49" charset="0"/>
                <a:cs typeface="Times New Roman" panose="02020603050405020304" pitchFamily="18" charset="0"/>
              </a:rPr>
              <a:t>按照长度为</a:t>
            </a:r>
            <a:r>
              <a:rPr lang="en-US" altLang="zh-CN" b="1" dirty="0">
                <a:solidFill>
                  <a:srgbClr val="FF0000"/>
                </a:solidFill>
                <a:latin typeface="Courier New" panose="02070309020205020404" pitchFamily="49" charset="0"/>
                <a:cs typeface="Times New Roman" panose="02020603050405020304" pitchFamily="18" charset="0"/>
              </a:rPr>
              <a:t>201</a:t>
            </a:r>
            <a:r>
              <a:rPr lang="zh-CN" altLang="en-US" b="1" dirty="0">
                <a:solidFill>
                  <a:srgbClr val="FF0000"/>
                </a:solidFill>
                <a:latin typeface="Courier New" panose="02070309020205020404" pitchFamily="49" charset="0"/>
                <a:cs typeface="Times New Roman" panose="02020603050405020304" pitchFamily="18" charset="0"/>
              </a:rPr>
              <a:t>的向量逐点代入函数</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plot(t,y,'-r','LineWidth',2)%</a:t>
            </a:r>
            <a:r>
              <a:rPr lang="zh-CN" altLang="en-US" b="1" dirty="0">
                <a:solidFill>
                  <a:srgbClr val="FF0000"/>
                </a:solidFill>
                <a:latin typeface="Courier New" panose="02070309020205020404" pitchFamily="49" charset="0"/>
                <a:cs typeface="Times New Roman" panose="02020603050405020304" pitchFamily="18" charset="0"/>
              </a:rPr>
              <a:t>绘图，</a:t>
            </a:r>
            <a:r>
              <a:rPr lang="en-US" altLang="zh-CN" b="1" dirty="0">
                <a:solidFill>
                  <a:srgbClr val="FF0000"/>
                </a:solidFill>
                <a:latin typeface="Courier New" panose="02070309020205020404" pitchFamily="49" charset="0"/>
                <a:cs typeface="Times New Roman" panose="02020603050405020304" pitchFamily="18" charset="0"/>
              </a:rPr>
              <a:t>plot(</a:t>
            </a:r>
            <a:r>
              <a:rPr lang="zh-CN" altLang="en-US" b="1" dirty="0">
                <a:solidFill>
                  <a:srgbClr val="FF0000"/>
                </a:solidFill>
                <a:latin typeface="Courier New" panose="02070309020205020404" pitchFamily="49" charset="0"/>
                <a:cs typeface="Times New Roman" panose="02020603050405020304" pitchFamily="18" charset="0"/>
              </a:rPr>
              <a:t>横坐标列表，纵坐标列表，红色实线，线条粗为</a:t>
            </a:r>
            <a:r>
              <a:rPr lang="en-US" altLang="zh-CN" b="1" dirty="0">
                <a:solidFill>
                  <a:srgbClr val="FF0000"/>
                </a:solidFill>
                <a:latin typeface="Courier New" panose="02070309020205020404" pitchFamily="49" charset="0"/>
                <a:cs typeface="Times New Roman" panose="02020603050405020304" pitchFamily="18" charset="0"/>
              </a:rPr>
              <a:t>2</a:t>
            </a:r>
            <a:r>
              <a:rPr lang="zh-CN" altLang="en-US" b="1" dirty="0">
                <a:solidFill>
                  <a:srgbClr val="FF0000"/>
                </a:solidFill>
                <a:latin typeface="Courier New" panose="02070309020205020404" pitchFamily="49" charset="0"/>
                <a:cs typeface="Times New Roman" panose="02020603050405020304" pitchFamily="18" charset="0"/>
              </a:rPr>
              <a:t>磅）</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pPr>
            <a:r>
              <a:rPr lang="en-US" altLang="zh-CN" b="1" dirty="0">
                <a:solidFill>
                  <a:srgbClr val="008000"/>
                </a:solidFill>
                <a:latin typeface="Courier New" panose="02070309020205020404" pitchFamily="49" charset="0"/>
                <a:cs typeface="Times New Roman" panose="02020603050405020304" pitchFamily="18" charset="0"/>
              </a:rPr>
              <a:t>axis([0,4*pi,-1,1])%</a:t>
            </a:r>
            <a:r>
              <a:rPr lang="zh-CN" altLang="en-US" b="1" dirty="0">
                <a:solidFill>
                  <a:srgbClr val="FF0000"/>
                </a:solidFill>
                <a:latin typeface="Courier New" panose="02070309020205020404" pitchFamily="49" charset="0"/>
                <a:cs typeface="Times New Roman" panose="02020603050405020304" pitchFamily="18" charset="0"/>
              </a:rPr>
              <a:t>横坐标范围</a:t>
            </a:r>
            <a:r>
              <a:rPr lang="en-US" altLang="zh-CN" b="1" dirty="0">
                <a:solidFill>
                  <a:srgbClr val="FF0000"/>
                </a:solidFill>
                <a:latin typeface="Courier New" panose="02070309020205020404" pitchFamily="49" charset="0"/>
                <a:cs typeface="Times New Roman" panose="02020603050405020304" pitchFamily="18" charset="0"/>
              </a:rPr>
              <a:t>0~4pi</a:t>
            </a:r>
            <a:r>
              <a:rPr lang="zh-CN" altLang="en-US" b="1" dirty="0">
                <a:solidFill>
                  <a:srgbClr val="FF0000"/>
                </a:solidFill>
                <a:latin typeface="Courier New" panose="02070309020205020404" pitchFamily="49" charset="0"/>
                <a:cs typeface="Times New Roman" panose="02020603050405020304" pitchFamily="18" charset="0"/>
              </a:rPr>
              <a:t>，纵坐标范围</a:t>
            </a:r>
            <a:r>
              <a:rPr lang="en-US" altLang="zh-CN" b="1" dirty="0">
                <a:solidFill>
                  <a:srgbClr val="FF0000"/>
                </a:solidFill>
                <a:latin typeface="Courier New" panose="02070309020205020404" pitchFamily="49" charset="0"/>
                <a:cs typeface="Times New Roman" panose="02020603050405020304" pitchFamily="18" charset="0"/>
              </a:rPr>
              <a:t>-1~1</a:t>
            </a:r>
            <a:endParaRPr lang="zh-CN" altLang="zh-CN" dirty="0">
              <a:solidFill>
                <a:srgbClr val="FF0000"/>
              </a:solidFill>
              <a:latin typeface="Courier New" panose="02070309020205020404" pitchFamily="49" charset="0"/>
              <a:cs typeface="Times New Roman" panose="02020603050405020304" pitchFamily="18" charset="0"/>
            </a:endParaRPr>
          </a:p>
          <a:p>
            <a:r>
              <a:rPr lang="en-US" altLang="zh-CN" b="1" dirty="0" err="1">
                <a:solidFill>
                  <a:srgbClr val="008000"/>
                </a:solidFill>
                <a:latin typeface="Courier New" panose="02070309020205020404" pitchFamily="49" charset="0"/>
                <a:cs typeface="Times New Roman" panose="02020603050405020304" pitchFamily="18" charset="0"/>
              </a:rPr>
              <a:t>xlabel</a:t>
            </a:r>
            <a:r>
              <a:rPr lang="en-US" altLang="zh-CN" b="1" dirty="0">
                <a:solidFill>
                  <a:srgbClr val="008000"/>
                </a:solidFill>
                <a:latin typeface="Courier New" panose="02070309020205020404" pitchFamily="49" charset="0"/>
                <a:cs typeface="Times New Roman" panose="02020603050405020304" pitchFamily="18" charset="0"/>
              </a:rPr>
              <a:t>('t'),</a:t>
            </a:r>
            <a:r>
              <a:rPr lang="en-US" altLang="zh-CN" b="1" dirty="0" err="1">
                <a:solidFill>
                  <a:srgbClr val="008000"/>
                </a:solidFill>
                <a:latin typeface="Courier New" panose="02070309020205020404" pitchFamily="49" charset="0"/>
                <a:cs typeface="Times New Roman" panose="02020603050405020304" pitchFamily="18" charset="0"/>
              </a:rPr>
              <a:t>ylabel</a:t>
            </a:r>
            <a:r>
              <a:rPr lang="en-US" altLang="zh-CN" b="1" dirty="0">
                <a:solidFill>
                  <a:srgbClr val="008000"/>
                </a:solidFill>
                <a:latin typeface="Courier New" panose="02070309020205020404" pitchFamily="49" charset="0"/>
                <a:cs typeface="Times New Roman" panose="02020603050405020304" pitchFamily="18" charset="0"/>
              </a:rPr>
              <a:t>('y') %</a:t>
            </a:r>
            <a:r>
              <a:rPr lang="zh-CN" altLang="en-US" b="1" dirty="0">
                <a:solidFill>
                  <a:srgbClr val="FF0000"/>
                </a:solidFill>
                <a:latin typeface="Courier New" panose="02070309020205020404" pitchFamily="49" charset="0"/>
                <a:cs typeface="Times New Roman" panose="02020603050405020304" pitchFamily="18" charset="0"/>
              </a:rPr>
              <a:t>横坐标标签</a:t>
            </a:r>
            <a:r>
              <a:rPr lang="en-US" altLang="zh-CN" b="1" dirty="0">
                <a:solidFill>
                  <a:srgbClr val="FF0000"/>
                </a:solidFill>
                <a:latin typeface="Courier New" panose="02070309020205020404" pitchFamily="49" charset="0"/>
                <a:cs typeface="Times New Roman" panose="02020603050405020304" pitchFamily="18" charset="0"/>
              </a:rPr>
              <a:t>t</a:t>
            </a:r>
            <a:r>
              <a:rPr lang="zh-CN" altLang="en-US" b="1" dirty="0">
                <a:solidFill>
                  <a:srgbClr val="FF0000"/>
                </a:solidFill>
                <a:latin typeface="Courier New" panose="02070309020205020404" pitchFamily="49" charset="0"/>
                <a:cs typeface="Times New Roman" panose="02020603050405020304" pitchFamily="18" charset="0"/>
              </a:rPr>
              <a:t>，纵坐标标签</a:t>
            </a:r>
            <a:r>
              <a:rPr lang="en-US" altLang="zh-CN" b="1" dirty="0">
                <a:solidFill>
                  <a:srgbClr val="FF0000"/>
                </a:solidFill>
                <a:latin typeface="Courier New" panose="02070309020205020404" pitchFamily="49" charset="0"/>
                <a:cs typeface="Times New Roman" panose="02020603050405020304" pitchFamily="18" charset="0"/>
              </a:rPr>
              <a:t>y </a:t>
            </a:r>
            <a:endParaRPr lang="zh-CN" altLang="en-US" dirty="0">
              <a:solidFill>
                <a:srgbClr val="FF0000"/>
              </a:solidFill>
            </a:endParaRPr>
          </a:p>
        </p:txBody>
      </p:sp>
      <p:pic>
        <p:nvPicPr>
          <p:cNvPr id="9" name="图片 8"/>
          <p:cNvPicPr>
            <a:picLocks noChangeAspect="1"/>
          </p:cNvPicPr>
          <p:nvPr/>
        </p:nvPicPr>
        <p:blipFill>
          <a:blip r:embed="rId1"/>
          <a:stretch>
            <a:fillRect/>
          </a:stretch>
        </p:blipFill>
        <p:spPr>
          <a:xfrm>
            <a:off x="2483768" y="3068960"/>
            <a:ext cx="4176464" cy="3742958"/>
          </a:xfrm>
          <a:prstGeom prst="rect">
            <a:avLst/>
          </a:prstGeom>
        </p:spPr>
      </p:pic>
      <mc:AlternateContent xmlns:mc="http://schemas.openxmlformats.org/markup-compatibility/2006">
        <mc:Choice xmlns:a14="http://schemas.microsoft.com/office/drawing/2010/main" Requires="a14">
          <p:sp>
            <p:nvSpPr>
              <p:cNvPr id="8" name="文本框 7"/>
              <p:cNvSpPr txBox="1"/>
              <p:nvPr/>
            </p:nvSpPr>
            <p:spPr>
              <a:xfrm>
                <a:off x="256044" y="834054"/>
                <a:ext cx="8784976" cy="481029"/>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1.2-10】</a:t>
                </a:r>
                <a:r>
                  <a:rPr lang="zh-CN" altLang="en-US" b="1" dirty="0">
                    <a:solidFill>
                      <a:prstClr val="black"/>
                    </a:solidFill>
                    <a:latin typeface="+mn-ea"/>
                  </a:rPr>
                  <a:t>画出衰减震荡曲线</a:t>
                </a:r>
                <a14:m>
                  <m:oMath xmlns:m="http://schemas.openxmlformats.org/officeDocument/2006/math">
                    <m:r>
                      <a:rPr lang="en-US" altLang="zh-CN" b="1" i="1" smtClean="0">
                        <a:solidFill>
                          <a:prstClr val="black"/>
                        </a:solidFill>
                        <a:latin typeface="Cambria Math" panose="02040503050406030204" pitchFamily="18" charset="0"/>
                      </a:rPr>
                      <m:t>𝒚</m:t>
                    </m:r>
                    <m:r>
                      <a:rPr lang="en-US" altLang="zh-CN" b="1" i="1" smtClean="0">
                        <a:solidFill>
                          <a:prstClr val="black"/>
                        </a:solidFill>
                        <a:latin typeface="Cambria Math" panose="02040503050406030204" pitchFamily="18" charset="0"/>
                      </a:rPr>
                      <m:t>=</m:t>
                    </m:r>
                    <m:sSup>
                      <m:sSupPr>
                        <m:ctrlPr>
                          <a:rPr lang="en-US" altLang="zh-CN" b="1" i="1" smtClean="0">
                            <a:solidFill>
                              <a:prstClr val="black"/>
                            </a:solidFill>
                            <a:latin typeface="Cambria Math" panose="02040503050406030204" pitchFamily="18" charset="0"/>
                          </a:rPr>
                        </m:ctrlPr>
                      </m:sSupPr>
                      <m:e>
                        <m:r>
                          <a:rPr lang="en-US" altLang="zh-CN" b="1" i="1" smtClean="0">
                            <a:solidFill>
                              <a:prstClr val="black"/>
                            </a:solidFill>
                            <a:latin typeface="Cambria Math" panose="02040503050406030204" pitchFamily="18" charset="0"/>
                          </a:rPr>
                          <m:t>𝒆</m:t>
                        </m:r>
                      </m:e>
                      <m:sup>
                        <m:r>
                          <a:rPr lang="en-US" altLang="zh-CN" b="1" i="1" smtClean="0">
                            <a:solidFill>
                              <a:prstClr val="black"/>
                            </a:solidFill>
                            <a:latin typeface="Cambria Math" panose="02040503050406030204" pitchFamily="18" charset="0"/>
                          </a:rPr>
                          <m:t>−</m:t>
                        </m:r>
                        <m:f>
                          <m:fPr>
                            <m:ctrlPr>
                              <a:rPr lang="en-US" altLang="zh-CN" b="1" i="1" smtClean="0">
                                <a:solidFill>
                                  <a:prstClr val="black"/>
                                </a:solidFill>
                                <a:latin typeface="Cambria Math" panose="02040503050406030204" pitchFamily="18" charset="0"/>
                              </a:rPr>
                            </m:ctrlPr>
                          </m:fPr>
                          <m:num>
                            <m:r>
                              <a:rPr lang="en-US" altLang="zh-CN" b="1" i="1" smtClean="0">
                                <a:solidFill>
                                  <a:prstClr val="black"/>
                                </a:solidFill>
                                <a:latin typeface="Cambria Math" panose="02040503050406030204" pitchFamily="18" charset="0"/>
                              </a:rPr>
                              <m:t>𝒕</m:t>
                            </m:r>
                          </m:num>
                          <m:den>
                            <m:r>
                              <a:rPr lang="en-US" altLang="zh-CN" b="1" i="1" smtClean="0">
                                <a:solidFill>
                                  <a:prstClr val="black"/>
                                </a:solidFill>
                                <a:latin typeface="Cambria Math" panose="02040503050406030204" pitchFamily="18" charset="0"/>
                              </a:rPr>
                              <m:t>𝟑</m:t>
                            </m:r>
                          </m:den>
                        </m:f>
                      </m:sup>
                    </m:sSup>
                    <m:func>
                      <m:funcPr>
                        <m:ctrlPr>
                          <a:rPr lang="en-US" altLang="zh-CN" b="1" i="1" smtClean="0">
                            <a:solidFill>
                              <a:prstClr val="black"/>
                            </a:solidFill>
                            <a:latin typeface="Cambria Math" panose="02040503050406030204" pitchFamily="18" charset="0"/>
                          </a:rPr>
                        </m:ctrlPr>
                      </m:funcPr>
                      <m:fName>
                        <m:r>
                          <m:rPr>
                            <m:sty m:val="p"/>
                          </m:rPr>
                          <a:rPr lang="en-US" altLang="zh-CN" b="0" i="0" smtClean="0">
                            <a:solidFill>
                              <a:prstClr val="black"/>
                            </a:solidFill>
                            <a:latin typeface="Cambria Math" panose="02040503050406030204" pitchFamily="18" charset="0"/>
                          </a:rPr>
                          <m:t>sin</m:t>
                        </m:r>
                      </m:fName>
                      <m:e>
                        <m:r>
                          <a:rPr lang="en-US" altLang="zh-CN" b="1" i="1" smtClean="0">
                            <a:solidFill>
                              <a:prstClr val="black"/>
                            </a:solidFill>
                            <a:latin typeface="Cambria Math" panose="02040503050406030204" pitchFamily="18" charset="0"/>
                          </a:rPr>
                          <m:t>𝟑</m:t>
                        </m:r>
                        <m:r>
                          <a:rPr lang="en-US" altLang="zh-CN" b="1" i="1" smtClean="0">
                            <a:solidFill>
                              <a:prstClr val="black"/>
                            </a:solidFill>
                            <a:latin typeface="Cambria Math" panose="02040503050406030204" pitchFamily="18" charset="0"/>
                          </a:rPr>
                          <m:t>𝒕</m:t>
                        </m:r>
                      </m:e>
                    </m:func>
                  </m:oMath>
                </a14:m>
                <a:r>
                  <a:rPr lang="en-US" altLang="zh-CN" b="1" dirty="0">
                    <a:latin typeface="+mn-ea"/>
                  </a:rPr>
                  <a:t>,</a:t>
                </a:r>
                <a14:m>
                  <m:oMath xmlns:m="http://schemas.openxmlformats.org/officeDocument/2006/math">
                    <m:r>
                      <a:rPr lang="en-US" altLang="zh-CN" b="1" i="1" dirty="0" smtClean="0">
                        <a:latin typeface="Cambria Math" panose="02040503050406030204" pitchFamily="18" charset="0"/>
                      </a:rPr>
                      <m:t>𝒕</m:t>
                    </m:r>
                  </m:oMath>
                </a14:m>
                <a:r>
                  <a:rPr lang="zh-CN" altLang="en-US" b="1" dirty="0">
                    <a:latin typeface="+mn-ea"/>
                  </a:rPr>
                  <a:t>的取值范围是</a:t>
                </a:r>
                <a14:m>
                  <m:oMath xmlns:m="http://schemas.openxmlformats.org/officeDocument/2006/math">
                    <m:r>
                      <a:rPr lang="en-US" altLang="zh-CN" b="1" i="1" smtClean="0">
                        <a:latin typeface="Cambria Math" panose="02040503050406030204" pitchFamily="18" charset="0"/>
                      </a:rPr>
                      <m:t>[</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r>
                      <a:rPr lang="en-US" altLang="zh-CN" b="1" i="1" smtClean="0">
                        <a:latin typeface="Cambria Math" panose="02040503050406030204" pitchFamily="18" charset="0"/>
                      </a:rPr>
                      <m:t>𝟒</m:t>
                    </m:r>
                    <m:r>
                      <a:rPr lang="en-US" altLang="zh-CN" b="1" i="1" smtClean="0">
                        <a:latin typeface="Cambria Math" panose="02040503050406030204" pitchFamily="18" charset="0"/>
                      </a:rPr>
                      <m:t>𝝅</m:t>
                    </m:r>
                    <m:r>
                      <a:rPr lang="en-US" altLang="zh-CN" b="1" i="1" smtClean="0">
                        <a:latin typeface="Cambria Math" panose="02040503050406030204" pitchFamily="18" charset="0"/>
                      </a:rPr>
                      <m:t>]</m:t>
                    </m:r>
                  </m:oMath>
                </a14:m>
                <a:r>
                  <a:rPr lang="zh-CN" altLang="en-US" b="1" dirty="0">
                    <a:latin typeface="+mn-ea"/>
                  </a:rPr>
                  <a:t>。</a:t>
                </a:r>
                <a:endParaRPr lang="zh-CN" altLang="en-US" b="1" dirty="0">
                  <a:latin typeface="+mn-ea"/>
                </a:endParaRPr>
              </a:p>
            </p:txBody>
          </p:sp>
        </mc:Choice>
        <mc:Fallback>
          <p:sp>
            <p:nvSpPr>
              <p:cNvPr id="8" name="文本框 7"/>
              <p:cNvSpPr txBox="1">
                <a:spLocks noRot="1" noChangeAspect="1" noMove="1" noResize="1" noEditPoints="1" noAdjustHandles="1" noChangeArrowheads="1" noChangeShapeType="1" noTextEdit="1"/>
              </p:cNvSpPr>
              <p:nvPr/>
            </p:nvSpPr>
            <p:spPr>
              <a:xfrm>
                <a:off x="256044" y="834054"/>
                <a:ext cx="8784976" cy="481029"/>
              </a:xfrm>
              <a:prstGeom prst="rect">
                <a:avLst/>
              </a:prstGeom>
              <a:blipFill rotWithShape="1">
                <a:blip r:embed="rId2"/>
                <a:stretch>
                  <a:fillRect l="-2" t="-62" r="6" b="13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的符号计算</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4" name="矩形 3"/>
          <p:cNvSpPr/>
          <p:nvPr/>
        </p:nvSpPr>
        <p:spPr>
          <a:xfrm>
            <a:off x="467544" y="868881"/>
            <a:ext cx="8086942" cy="3570208"/>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符号计算又称计算机代数，通俗地说就是用计算机推导数学公式，如对表达式进行因式分解、化简、微分、积分、解代数方程、求解常微分方程等</a:t>
            </a:r>
            <a:endParaRPr lang="en-US" altLang="zh-CN" sz="2400" b="1" dirty="0">
              <a:solidFill>
                <a:prstClr val="black"/>
              </a:solidFill>
              <a:latin typeface="+mj-ea"/>
              <a:ea typeface="+mj-ea"/>
            </a:endParaRPr>
          </a:p>
          <a:p>
            <a:pPr marL="274320" lvl="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科学计算包括数值计算和符号计算两种计算。计算机能够对数值进行一系列运算是人所共知的事，但计算机也能够对含未知量的式子直接进行推导、演算则并不是人人皆知。</a:t>
            </a:r>
            <a:r>
              <a:rPr lang="zh-CN" altLang="en-US" sz="2400" b="1" dirty="0">
                <a:solidFill>
                  <a:srgbClr val="FF0000"/>
                </a:solidFill>
                <a:latin typeface="+mj-ea"/>
                <a:ea typeface="+mj-ea"/>
              </a:rPr>
              <a:t>数值计算是近似计算</a:t>
            </a:r>
            <a:r>
              <a:rPr lang="en-US" altLang="zh-CN" sz="2400" b="1" dirty="0">
                <a:solidFill>
                  <a:srgbClr val="FF0000"/>
                </a:solidFill>
                <a:latin typeface="+mj-ea"/>
                <a:ea typeface="+mj-ea"/>
              </a:rPr>
              <a:t>(</a:t>
            </a:r>
            <a:r>
              <a:rPr lang="zh-CN" altLang="en-US" sz="2400" b="1" dirty="0">
                <a:solidFill>
                  <a:srgbClr val="FF0000"/>
                </a:solidFill>
                <a:latin typeface="+mj-ea"/>
                <a:ea typeface="+mj-ea"/>
              </a:rPr>
              <a:t>具体化计算）；而符号计算则是绝对精确的计算（抽象化计算）。</a:t>
            </a:r>
            <a:endParaRPr lang="en-US" altLang="zh-CN" sz="2400" b="1" dirty="0">
              <a:solidFill>
                <a:srgbClr val="FF0000"/>
              </a:solidFill>
              <a:latin typeface="+mj-ea"/>
              <a:ea typeface="+mj-ea"/>
            </a:endParaRPr>
          </a:p>
        </p:txBody>
      </p:sp>
      <p:pic>
        <p:nvPicPr>
          <p:cNvPr id="3" name="图片 2"/>
          <p:cNvPicPr>
            <a:picLocks noChangeAspect="1"/>
          </p:cNvPicPr>
          <p:nvPr/>
        </p:nvPicPr>
        <p:blipFill>
          <a:blip r:embed="rId1"/>
          <a:stretch>
            <a:fillRect/>
          </a:stretch>
        </p:blipFill>
        <p:spPr>
          <a:xfrm>
            <a:off x="7236296" y="5301208"/>
            <a:ext cx="1095383" cy="895357"/>
          </a:xfrm>
          <a:prstGeom prst="rect">
            <a:avLst/>
          </a:prstGeom>
        </p:spPr>
      </p:pic>
      <mc:AlternateContent xmlns:mc="http://schemas.openxmlformats.org/markup-compatibility/2006">
        <mc:Choice xmlns:a14="http://schemas.microsoft.com/office/drawing/2010/main" Requires="a14">
          <p:sp>
            <p:nvSpPr>
              <p:cNvPr id="7" name="矩形 6"/>
              <p:cNvSpPr/>
              <p:nvPr/>
            </p:nvSpPr>
            <p:spPr>
              <a:xfrm>
                <a:off x="467544" y="4612593"/>
                <a:ext cx="7056784" cy="625812"/>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14:m>
                  <m:oMath xmlns:m="http://schemas.openxmlformats.org/officeDocument/2006/math">
                    <m:nary>
                      <m:naryPr>
                        <m:chr m:val="∑"/>
                        <m:ctrlPr>
                          <a:rPr lang="en-US" altLang="zh-CN" sz="2400" b="1" i="1" smtClean="0">
                            <a:solidFill>
                              <a:prstClr val="black"/>
                            </a:solidFill>
                            <a:latin typeface="Cambria Math" panose="02040503050406030204" pitchFamily="18" charset="0"/>
                            <a:ea typeface="幼圆" panose="02010509060101010101" pitchFamily="49" charset="-122"/>
                          </a:rPr>
                        </m:ctrlPr>
                      </m:naryPr>
                      <m:sub>
                        <m:r>
                          <a:rPr lang="en-US" altLang="zh-CN" sz="2400" b="1" i="1" smtClean="0">
                            <a:solidFill>
                              <a:prstClr val="black"/>
                            </a:solidFill>
                            <a:latin typeface="Cambria Math" panose="02040503050406030204" pitchFamily="18" charset="0"/>
                            <a:ea typeface="幼圆" panose="02010509060101010101" pitchFamily="49" charset="-122"/>
                          </a:rPr>
                          <m:t>𝒏</m:t>
                        </m:r>
                        <m:r>
                          <a:rPr lang="en-US" altLang="zh-CN" sz="2400" b="1" i="1" smtClean="0">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𝟏</m:t>
                        </m:r>
                      </m:sub>
                      <m:sup>
                        <m:r>
                          <a:rPr lang="en-US" altLang="zh-CN" sz="2400" b="1" i="1" smtClean="0">
                            <a:solidFill>
                              <a:prstClr val="black"/>
                            </a:solidFill>
                            <a:latin typeface="Cambria Math" panose="02040503050406030204" pitchFamily="18" charset="0"/>
                            <a:ea typeface="幼圆" panose="02010509060101010101" pitchFamily="49" charset="-122"/>
                          </a:rPr>
                          <m:t>∞</m:t>
                        </m:r>
                      </m:sup>
                      <m:e>
                        <m:f>
                          <m:fPr>
                            <m:ctrlPr>
                              <a:rPr lang="en-US" altLang="zh-CN" sz="2400" b="1" i="1" smtClean="0">
                                <a:solidFill>
                                  <a:prstClr val="black"/>
                                </a:solidFill>
                                <a:latin typeface="Cambria Math" panose="02040503050406030204" pitchFamily="18" charset="0"/>
                                <a:ea typeface="幼圆" panose="02010509060101010101" pitchFamily="49" charset="-122"/>
                              </a:rPr>
                            </m:ctrlPr>
                          </m:fPr>
                          <m:num>
                            <m:r>
                              <a:rPr lang="en-US" altLang="zh-CN" sz="2400" b="1" i="1" smtClean="0">
                                <a:solidFill>
                                  <a:prstClr val="black"/>
                                </a:solidFill>
                                <a:latin typeface="Cambria Math" panose="02040503050406030204" pitchFamily="18" charset="0"/>
                                <a:ea typeface="幼圆" panose="02010509060101010101" pitchFamily="49" charset="-122"/>
                              </a:rPr>
                              <m:t>𝟏</m:t>
                            </m:r>
                          </m:num>
                          <m:den>
                            <m:sSup>
                              <m:sSupPr>
                                <m:ctrlPr>
                                  <a:rPr lang="en-US" altLang="zh-CN" sz="2400" b="1" i="1" smtClean="0">
                                    <a:solidFill>
                                      <a:prstClr val="black"/>
                                    </a:solidFill>
                                    <a:latin typeface="Cambria Math" panose="02040503050406030204" pitchFamily="18" charset="0"/>
                                    <a:ea typeface="幼圆" panose="02010509060101010101" pitchFamily="49" charset="-122"/>
                                  </a:rPr>
                                </m:ctrlPr>
                              </m:sSupPr>
                              <m:e>
                                <m:r>
                                  <a:rPr lang="en-US" altLang="zh-CN" sz="2400" b="1" i="1" smtClean="0">
                                    <a:solidFill>
                                      <a:prstClr val="black"/>
                                    </a:solidFill>
                                    <a:latin typeface="Cambria Math" panose="02040503050406030204" pitchFamily="18" charset="0"/>
                                    <a:ea typeface="幼圆" panose="02010509060101010101" pitchFamily="49" charset="-122"/>
                                  </a:rPr>
                                  <m:t>𝒏</m:t>
                                </m:r>
                              </m:e>
                              <m:sup>
                                <m:r>
                                  <a:rPr lang="en-US" altLang="zh-CN" sz="2400" b="1" i="1" smtClean="0">
                                    <a:solidFill>
                                      <a:prstClr val="black"/>
                                    </a:solidFill>
                                    <a:latin typeface="Cambria Math" panose="02040503050406030204" pitchFamily="18" charset="0"/>
                                    <a:ea typeface="幼圆" panose="02010509060101010101" pitchFamily="49" charset="-122"/>
                                  </a:rPr>
                                  <m:t>𝟐</m:t>
                                </m:r>
                              </m:sup>
                            </m:sSup>
                          </m:den>
                        </m:f>
                      </m:e>
                    </m:nary>
                    <m:r>
                      <a:rPr lang="en-US" altLang="zh-CN" sz="2400" b="1" i="1" smtClean="0">
                        <a:solidFill>
                          <a:prstClr val="black"/>
                        </a:solidFill>
                        <a:latin typeface="Cambria Math" panose="02040503050406030204" pitchFamily="18" charset="0"/>
                        <a:ea typeface="幼圆" panose="02010509060101010101" pitchFamily="49" charset="-122"/>
                      </a:rPr>
                      <m:t>=?</m:t>
                    </m:r>
                  </m:oMath>
                </a14:m>
                <a:endParaRPr lang="en-US" altLang="zh-CN" sz="2400" b="1" dirty="0">
                  <a:solidFill>
                    <a:prstClr val="black"/>
                  </a:solidFill>
                  <a:latin typeface="幼圆" panose="02010509060101010101" pitchFamily="49" charset="-122"/>
                  <a:ea typeface="幼圆" panose="02010509060101010101" pitchFamily="49" charset="-122"/>
                </a:endParaRPr>
              </a:p>
            </p:txBody>
          </p:sp>
        </mc:Choice>
        <mc:Fallback>
          <p:sp>
            <p:nvSpPr>
              <p:cNvPr id="7" name="矩形 6"/>
              <p:cNvSpPr>
                <a:spLocks noRot="1" noChangeAspect="1" noMove="1" noResize="1" noEditPoints="1" noAdjustHandles="1" noChangeArrowheads="1" noChangeShapeType="1" noTextEdit="1"/>
              </p:cNvSpPr>
              <p:nvPr/>
            </p:nvSpPr>
            <p:spPr>
              <a:xfrm>
                <a:off x="467544" y="4612593"/>
                <a:ext cx="7056784" cy="625812"/>
              </a:xfrm>
              <a:prstGeom prst="rect">
                <a:avLst/>
              </a:prstGeom>
              <a:blipFill rotWithShape="1">
                <a:blip r:embed="rId2"/>
                <a:stretch>
                  <a:fillRect l="-3" t="-94" r="3" b="4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331640" y="5638859"/>
                <a:ext cx="7056784" cy="461665"/>
              </a:xfrm>
              <a:prstGeom prst="rect">
                <a:avLst/>
              </a:prstGeom>
            </p:spPr>
            <p:txBody>
              <a:bodyPr wrap="square">
                <a:spAutoFit/>
              </a:bodyPr>
              <a:lstStyle/>
              <a:p>
                <a:pPr lvl="0">
                  <a:spcBef>
                    <a:spcPts val="580"/>
                  </a:spcBef>
                  <a:buClr>
                    <a:srgbClr val="00B050"/>
                  </a:buClr>
                  <a:buSzPct val="85000"/>
                </a:pPr>
                <a:r>
                  <a:rPr lang="zh-CN" altLang="en-US" sz="2400" b="1" dirty="0">
                    <a:solidFill>
                      <a:srgbClr val="FF0000"/>
                    </a:solidFill>
                    <a:ea typeface="幼圆" panose="02010509060101010101" pitchFamily="49" charset="-122"/>
                  </a:rPr>
                  <a:t>数值计算</a:t>
                </a:r>
                <a:r>
                  <a:rPr lang="zh-CN" altLang="en-US" sz="2400" b="1" dirty="0">
                    <a:solidFill>
                      <a:prstClr val="black"/>
                    </a:solidFill>
                    <a:ea typeface="幼圆" panose="02010509060101010101" pitchFamily="49" charset="-122"/>
                  </a:rPr>
                  <a:t>解</a:t>
                </a:r>
                <a14:m>
                  <m:oMath xmlns:m="http://schemas.openxmlformats.org/officeDocument/2006/math">
                    <m:r>
                      <a:rPr lang="en-US" altLang="zh-CN" sz="2400" b="1" i="1">
                        <a:solidFill>
                          <a:prstClr val="black"/>
                        </a:solidFill>
                        <a:latin typeface="Cambria Math" panose="02040503050406030204" pitchFamily="18" charset="0"/>
                        <a:ea typeface="幼圆" panose="02010509060101010101" pitchFamily="49" charset="-122"/>
                      </a:rPr>
                      <m:t>𝟏</m:t>
                    </m:r>
                    <m:r>
                      <a:rPr lang="en-US" altLang="zh-CN" sz="2400" b="1" i="1">
                        <a:solidFill>
                          <a:prstClr val="black"/>
                        </a:solidFill>
                        <a:latin typeface="Cambria Math" panose="02040503050406030204" pitchFamily="18" charset="0"/>
                        <a:ea typeface="幼圆" panose="02010509060101010101" pitchFamily="49" charset="-122"/>
                      </a:rPr>
                      <m:t>.</m:t>
                    </m:r>
                    <m:r>
                      <a:rPr lang="en-US" altLang="zh-CN" sz="2400" b="1" i="1">
                        <a:solidFill>
                          <a:prstClr val="black"/>
                        </a:solidFill>
                        <a:latin typeface="Cambria Math" panose="02040503050406030204" pitchFamily="18" charset="0"/>
                        <a:ea typeface="幼圆" panose="02010509060101010101" pitchFamily="49" charset="-122"/>
                      </a:rPr>
                      <m:t>𝟔𝟒𝟒𝟖𝟑𝟒𝟎𝟕𝟏𝟖𝟒𝟖𝟎𝟔𝟓</m:t>
                    </m:r>
                  </m:oMath>
                </a14:m>
                <a:endParaRPr lang="en-US" altLang="zh-CN" sz="2400" b="1" dirty="0">
                  <a:solidFill>
                    <a:prstClr val="black"/>
                  </a:solidFill>
                  <a:latin typeface="幼圆" panose="02010509060101010101" pitchFamily="49" charset="-122"/>
                  <a:ea typeface="幼圆" panose="02010509060101010101" pitchFamily="49" charset="-122"/>
                </a:endParaRPr>
              </a:p>
            </p:txBody>
          </p:sp>
        </mc:Choice>
        <mc:Fallback>
          <p:sp>
            <p:nvSpPr>
              <p:cNvPr id="8" name="矩形 7"/>
              <p:cNvSpPr>
                <a:spLocks noRot="1" noChangeAspect="1" noMove="1" noResize="1" noEditPoints="1" noAdjustHandles="1" noChangeArrowheads="1" noChangeShapeType="1" noTextEdit="1"/>
              </p:cNvSpPr>
              <p:nvPr/>
            </p:nvSpPr>
            <p:spPr>
              <a:xfrm>
                <a:off x="1331640" y="5638859"/>
                <a:ext cx="7056784" cy="461665"/>
              </a:xfrm>
              <a:prstGeom prst="rect">
                <a:avLst/>
              </a:prstGeom>
              <a:blipFill rotWithShape="1">
                <a:blip r:embed="rId3"/>
                <a:stretch>
                  <a:fillRect l="-1" t="-13" r="1" b="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2915816" y="4582075"/>
                <a:ext cx="7056784" cy="681020"/>
              </a:xfrm>
              <a:prstGeom prst="rect">
                <a:avLst/>
              </a:prstGeom>
            </p:spPr>
            <p:txBody>
              <a:bodyPr wrap="square">
                <a:spAutoFit/>
              </a:bodyPr>
              <a:lstStyle/>
              <a:p>
                <a:pPr lvl="0">
                  <a:spcBef>
                    <a:spcPts val="580"/>
                  </a:spcBef>
                  <a:buClr>
                    <a:srgbClr val="00B050"/>
                  </a:buClr>
                  <a:buSzPct val="85000"/>
                </a:pPr>
                <a:r>
                  <a:rPr lang="zh-CN" altLang="en-US" sz="2400" b="1" dirty="0">
                    <a:solidFill>
                      <a:srgbClr val="FF0000"/>
                    </a:solidFill>
                    <a:ea typeface="幼圆" panose="02010509060101010101" pitchFamily="49" charset="-122"/>
                  </a:rPr>
                  <a:t>符号计算</a:t>
                </a:r>
                <a:r>
                  <a:rPr lang="zh-CN" altLang="en-US" sz="2400" b="1" dirty="0">
                    <a:solidFill>
                      <a:prstClr val="black"/>
                    </a:solidFill>
                    <a:ea typeface="幼圆" panose="02010509060101010101" pitchFamily="49" charset="-122"/>
                  </a:rPr>
                  <a:t>解</a:t>
                </a:r>
                <a14:m>
                  <m:oMath xmlns:m="http://schemas.openxmlformats.org/officeDocument/2006/math">
                    <m:f>
                      <m:fPr>
                        <m:ctrlPr>
                          <a:rPr lang="en-US" altLang="zh-CN" sz="2400" b="1" i="1" smtClean="0">
                            <a:solidFill>
                              <a:prstClr val="black"/>
                            </a:solidFill>
                            <a:latin typeface="Cambria Math" panose="02040503050406030204" pitchFamily="18" charset="0"/>
                            <a:ea typeface="幼圆" panose="02010509060101010101" pitchFamily="49" charset="-122"/>
                          </a:rPr>
                        </m:ctrlPr>
                      </m:fPr>
                      <m:num>
                        <m:sSup>
                          <m:sSupPr>
                            <m:ctrlPr>
                              <a:rPr lang="en-US" altLang="zh-CN" sz="2400" b="1" i="1" smtClean="0">
                                <a:solidFill>
                                  <a:prstClr val="black"/>
                                </a:solidFill>
                                <a:latin typeface="Cambria Math" panose="02040503050406030204" pitchFamily="18" charset="0"/>
                                <a:ea typeface="幼圆" panose="02010509060101010101" pitchFamily="49" charset="-122"/>
                              </a:rPr>
                            </m:ctrlPr>
                          </m:sSupPr>
                          <m:e>
                            <m:r>
                              <a:rPr lang="en-US" altLang="zh-CN" sz="2400" b="1" i="1" smtClean="0">
                                <a:solidFill>
                                  <a:prstClr val="black"/>
                                </a:solidFill>
                                <a:latin typeface="Cambria Math" panose="02040503050406030204" pitchFamily="18" charset="0"/>
                                <a:ea typeface="幼圆" panose="02010509060101010101" pitchFamily="49" charset="-122"/>
                              </a:rPr>
                              <m:t>𝝅</m:t>
                            </m:r>
                          </m:e>
                          <m:sup>
                            <m:r>
                              <a:rPr lang="en-US" altLang="zh-CN" sz="2400" b="1" i="1" smtClean="0">
                                <a:solidFill>
                                  <a:prstClr val="black"/>
                                </a:solidFill>
                                <a:latin typeface="Cambria Math" panose="02040503050406030204" pitchFamily="18" charset="0"/>
                                <a:ea typeface="幼圆" panose="02010509060101010101" pitchFamily="49" charset="-122"/>
                              </a:rPr>
                              <m:t>𝟐</m:t>
                            </m:r>
                          </m:sup>
                        </m:sSup>
                      </m:num>
                      <m:den>
                        <m:r>
                          <a:rPr lang="en-US" altLang="zh-CN" sz="2400" b="1" i="1" smtClean="0">
                            <a:solidFill>
                              <a:prstClr val="black"/>
                            </a:solidFill>
                            <a:latin typeface="Cambria Math" panose="02040503050406030204" pitchFamily="18" charset="0"/>
                            <a:ea typeface="幼圆" panose="02010509060101010101" pitchFamily="49" charset="-122"/>
                          </a:rPr>
                          <m:t>𝟔</m:t>
                        </m:r>
                      </m:den>
                    </m:f>
                  </m:oMath>
                </a14:m>
                <a:endParaRPr lang="en-US" altLang="zh-CN" sz="2400" b="1" dirty="0">
                  <a:solidFill>
                    <a:prstClr val="black"/>
                  </a:solidFill>
                  <a:latin typeface="幼圆" panose="02010509060101010101" pitchFamily="49" charset="-122"/>
                  <a:ea typeface="幼圆" panose="02010509060101010101" pitchFamily="49" charset="-122"/>
                </a:endParaRPr>
              </a:p>
            </p:txBody>
          </p:sp>
        </mc:Choice>
        <mc:Fallback>
          <p:sp>
            <p:nvSpPr>
              <p:cNvPr id="9" name="矩形 8"/>
              <p:cNvSpPr>
                <a:spLocks noRot="1" noChangeAspect="1" noMove="1" noResize="1" noEditPoints="1" noAdjustHandles="1" noChangeArrowheads="1" noChangeShapeType="1" noTextEdit="1"/>
              </p:cNvSpPr>
              <p:nvPr/>
            </p:nvSpPr>
            <p:spPr>
              <a:xfrm>
                <a:off x="2915816" y="4582075"/>
                <a:ext cx="7056784" cy="681020"/>
              </a:xfrm>
              <a:prstGeom prst="rect">
                <a:avLst/>
              </a:prstGeom>
              <a:blipFill rotWithShape="1">
                <a:blip r:embed="rId4"/>
                <a:stretch>
                  <a:fillRect l="-8" t="-81" r="8" b="3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定义</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符号数，例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2.1-1</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4" name="矩形 3"/>
          <p:cNvSpPr/>
          <p:nvPr/>
        </p:nvSpPr>
        <p:spPr>
          <a:xfrm>
            <a:off x="211380" y="735087"/>
            <a:ext cx="8086942" cy="830997"/>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利用命令</a:t>
            </a:r>
            <a:r>
              <a:rPr lang="en-US" altLang="zh-CN" sz="2400" b="1" dirty="0" err="1">
                <a:solidFill>
                  <a:prstClr val="black"/>
                </a:solidFill>
                <a:latin typeface="+mj-ea"/>
                <a:ea typeface="+mj-ea"/>
              </a:rPr>
              <a:t>sym</a:t>
            </a:r>
            <a:r>
              <a:rPr lang="zh-CN" altLang="en-US" sz="2400" b="1" dirty="0">
                <a:solidFill>
                  <a:prstClr val="black"/>
                </a:solidFill>
                <a:latin typeface="+mj-ea"/>
                <a:ea typeface="+mj-ea"/>
              </a:rPr>
              <a:t>可以定义符号数，超长符号数应当用字符串作为输入参数。</a:t>
            </a:r>
            <a:endParaRPr lang="en-US" altLang="zh-CN" sz="2400" b="1" dirty="0">
              <a:solidFill>
                <a:prstClr val="black"/>
              </a:solidFill>
              <a:latin typeface="+mj-ea"/>
              <a:ea typeface="+mj-ea"/>
            </a:endParaRPr>
          </a:p>
        </p:txBody>
      </p:sp>
      <p:sp>
        <p:nvSpPr>
          <p:cNvPr id="6" name="矩形 5"/>
          <p:cNvSpPr/>
          <p:nvPr/>
        </p:nvSpPr>
        <p:spPr>
          <a:xfrm>
            <a:off x="150394" y="1886060"/>
            <a:ext cx="8814093" cy="4832092"/>
          </a:xfrm>
          <a:prstGeom prst="rect">
            <a:avLst/>
          </a:prstGeom>
        </p:spPr>
        <p:txBody>
          <a:bodyPr wrap="square" numCol="1">
            <a:spAutoFit/>
          </a:bodyPr>
          <a:lstStyle/>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 all		   %</a:t>
            </a:r>
            <a:r>
              <a:rPr lang="zh-CN" altLang="en-US" b="1" dirty="0">
                <a:solidFill>
                  <a:srgbClr val="FF0000"/>
                </a:solidFill>
                <a:latin typeface="Courier New" panose="02070309020205020404" pitchFamily="49" charset="0"/>
                <a:cs typeface="Times New Roman" panose="02020603050405020304" pitchFamily="18" charset="0"/>
              </a:rPr>
              <a:t>清空</a:t>
            </a:r>
            <a:r>
              <a:rPr lang="en-US" altLang="zh-CN" b="1" dirty="0">
                <a:solidFill>
                  <a:srgbClr val="FF0000"/>
                </a:solidFill>
                <a:latin typeface="Courier New" panose="02070309020205020404" pitchFamily="49" charset="0"/>
                <a:cs typeface="Times New Roman" panose="02020603050405020304" pitchFamily="18" charset="0"/>
              </a:rPr>
              <a:t>MATLAB</a:t>
            </a:r>
            <a:r>
              <a:rPr lang="zh-CN" altLang="en-US" b="1" dirty="0">
                <a:solidFill>
                  <a:srgbClr val="FF0000"/>
                </a:solidFill>
                <a:latin typeface="Courier New" panose="02070309020205020404" pitchFamily="49" charset="0"/>
                <a:cs typeface="Times New Roman" panose="02020603050405020304" pitchFamily="18" charset="0"/>
              </a:rPr>
              <a:t>与</a:t>
            </a:r>
            <a:r>
              <a:rPr lang="en-US" altLang="zh-CN" b="1" dirty="0" err="1">
                <a:solidFill>
                  <a:srgbClr val="FF0000"/>
                </a:solidFill>
                <a:latin typeface="Courier New" panose="02070309020205020404" pitchFamily="49" charset="0"/>
                <a:cs typeface="Times New Roman" panose="02020603050405020304" pitchFamily="18" charset="0"/>
              </a:rPr>
              <a:t>Mupad</a:t>
            </a:r>
            <a:r>
              <a:rPr lang="zh-CN" altLang="en-US" b="1" dirty="0">
                <a:solidFill>
                  <a:srgbClr val="FF0000"/>
                </a:solidFill>
                <a:latin typeface="Courier New" panose="02070309020205020404" pitchFamily="49" charset="0"/>
                <a:cs typeface="Times New Roman" panose="02020603050405020304" pitchFamily="18" charset="0"/>
              </a:rPr>
              <a:t>内存（包含符号变量设置）</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a1=</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(-12345678901234)%</a:t>
            </a:r>
            <a:r>
              <a:rPr lang="zh-CN" altLang="en-US" b="1" dirty="0">
                <a:solidFill>
                  <a:srgbClr val="FF0000"/>
                </a:solidFill>
                <a:latin typeface="Courier New" panose="02070309020205020404" pitchFamily="49" charset="0"/>
                <a:cs typeface="Times New Roman" panose="02020603050405020304" pitchFamily="18" charset="0"/>
              </a:rPr>
              <a:t>双精度可以表示的不超过</a:t>
            </a:r>
            <a:r>
              <a:rPr lang="en-US" altLang="zh-CN" b="1" dirty="0">
                <a:solidFill>
                  <a:srgbClr val="FF0000"/>
                </a:solidFill>
                <a:latin typeface="Courier New" panose="02070309020205020404" pitchFamily="49" charset="0"/>
                <a:cs typeface="Times New Roman" panose="02020603050405020304" pitchFamily="18" charset="0"/>
              </a:rPr>
              <a:t>15</a:t>
            </a:r>
            <a:r>
              <a:rPr lang="zh-CN" altLang="en-US" b="1" dirty="0">
                <a:solidFill>
                  <a:srgbClr val="FF0000"/>
                </a:solidFill>
                <a:latin typeface="Courier New" panose="02070309020205020404" pitchFamily="49" charset="0"/>
                <a:cs typeface="Times New Roman" panose="02020603050405020304" pitchFamily="18" charset="0"/>
              </a:rPr>
              <a:t>位有效数字的整数</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a1 = -12345678901234</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a2=</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(0.12345)	   %</a:t>
            </a:r>
            <a:r>
              <a:rPr lang="zh-CN" altLang="en-US" b="1" dirty="0">
                <a:solidFill>
                  <a:srgbClr val="FF0000"/>
                </a:solidFill>
                <a:latin typeface="Courier New" panose="02070309020205020404" pitchFamily="49" charset="0"/>
                <a:cs typeface="Times New Roman" panose="02020603050405020304" pitchFamily="18" charset="0"/>
              </a:rPr>
              <a:t>双精度可以表示的有限小数</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a2 = 2469/20000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a3=</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(1.627e-3)	   %</a:t>
            </a:r>
            <a:r>
              <a:rPr lang="zh-CN" altLang="en-US" b="1" dirty="0">
                <a:solidFill>
                  <a:srgbClr val="FF0000"/>
                </a:solidFill>
                <a:latin typeface="Courier New" panose="02070309020205020404" pitchFamily="49" charset="0"/>
                <a:cs typeface="Times New Roman" panose="02020603050405020304" pitchFamily="18" charset="0"/>
              </a:rPr>
              <a:t>双精度可以表示的科学计数法小数（会产生误差）</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a3 = 468950821998835/288230376151711744</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a4=</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(1234567/7654321)</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分数录入会首先用双精度计算再转换，因此也会产生误差</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a4 = 2905546020954131/18014398509481984</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b1=</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('1.23456789012345678901')</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a:solidFill>
                  <a:srgbClr val="FF0000"/>
                </a:solidFill>
                <a:latin typeface="Courier New" panose="02070309020205020404" pitchFamily="49" charset="0"/>
                <a:cs typeface="Times New Roman" panose="02020603050405020304" pitchFamily="18" charset="0"/>
              </a:rPr>
              <a:t>21</a:t>
            </a:r>
            <a:r>
              <a:rPr lang="zh-CN" altLang="en-US" b="1" dirty="0">
                <a:solidFill>
                  <a:srgbClr val="FF0000"/>
                </a:solidFill>
                <a:latin typeface="Courier New" panose="02070309020205020404" pitchFamily="49" charset="0"/>
                <a:cs typeface="Times New Roman" panose="02020603050405020304" pitchFamily="18" charset="0"/>
              </a:rPr>
              <a:t>位有效数字的小数字符串（双精度无法表示）</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b1 = 1.23456789012345678901</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b2=</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('1234567890123456789/9876543210987654321098')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双精度计算误差将导致该分数的定义被破坏，而字符串可以保留全部信息</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b2 = 1234567890123456789/9876543210987654321098</a:t>
            </a:r>
            <a:endParaRPr lang="en-US" altLang="zh-CN" b="1" dirty="0">
              <a:solidFill>
                <a:srgbClr val="008000"/>
              </a:solidFill>
              <a:latin typeface="Courier New" panose="02070309020205020404" pitchFamily="49" charset="0"/>
              <a:cs typeface="Times New Roman" panose="02020603050405020304" pitchFamily="18" charset="0"/>
            </a:endParaRPr>
          </a:p>
        </p:txBody>
      </p:sp>
      <p:sp>
        <p:nvSpPr>
          <p:cNvPr id="3" name="文本框 2"/>
          <p:cNvSpPr txBox="1"/>
          <p:nvPr/>
        </p:nvSpPr>
        <p:spPr>
          <a:xfrm>
            <a:off x="150395" y="1516728"/>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2.1-1】</a:t>
            </a:r>
            <a:r>
              <a:rPr lang="zh-CN" altLang="en-US" sz="1800" b="1" dirty="0">
                <a:solidFill>
                  <a:prstClr val="black"/>
                </a:solidFill>
                <a:latin typeface="+mn-ea"/>
              </a:rPr>
              <a:t>符号数的定义实例</a:t>
            </a:r>
            <a:endParaRPr lang="zh-CN" altLang="en-US"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2.1-1</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（续）</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6" name="矩形 5"/>
          <p:cNvSpPr/>
          <p:nvPr/>
        </p:nvSpPr>
        <p:spPr>
          <a:xfrm>
            <a:off x="150394" y="1259175"/>
            <a:ext cx="8814093" cy="4801314"/>
          </a:xfrm>
          <a:prstGeom prst="rect">
            <a:avLst/>
          </a:prstGeom>
        </p:spPr>
        <p:txBody>
          <a:bodyPr wrap="square" numCol="1">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c1=</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(1.23456789012345678901)</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输入的数会在进行必要双精度截断后再转换为符号数</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c1 = 5559999489923579/4503599627370496</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c2=</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(1234567890123456789/9876543210987654321098)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双精度计算误差将导致该分数的定义被破坏，符号数为一个近似的分数</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c2 = 4611685976403399/36893488147419103232</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FF0000"/>
              </a:solidFill>
              <a:latin typeface="Times New Roman" panose="02020603050405020304" pitchFamily="18" charset="0"/>
            </a:endParaRPr>
          </a:p>
          <a:p>
            <a:pPr algn="just" hangingPunct="0">
              <a:spcAft>
                <a:spcPts val="0"/>
              </a:spcAft>
              <a:tabLst>
                <a:tab pos="269875" algn="l"/>
              </a:tabLst>
            </a:pPr>
            <a:endParaRPr lang="en-US" altLang="zh-CN" dirty="0">
              <a:solidFill>
                <a:srgbClr val="FF0000"/>
              </a:solidFill>
              <a:latin typeface="Times New Roman" panose="02020603050405020304" pitchFamily="18" charset="0"/>
            </a:endParaRPr>
          </a:p>
          <a:p>
            <a:pPr algn="just" hangingPunct="0">
              <a:spcAft>
                <a:spcPts val="0"/>
              </a:spcAft>
              <a:tabLst>
                <a:tab pos="269875" algn="l"/>
              </a:tabLst>
            </a:pPr>
            <a:endParaRPr lang="en-US" altLang="zh-CN" dirty="0">
              <a:solidFill>
                <a:srgbClr val="FF0000"/>
              </a:solidFill>
              <a:latin typeface="Times New Roman" panose="02020603050405020304" pitchFamily="18" charset="0"/>
            </a:endParaRPr>
          </a:p>
          <a:p>
            <a:pPr algn="just" hangingPunct="0">
              <a:spcAft>
                <a:spcPts val="0"/>
              </a:spcAft>
              <a:tabLst>
                <a:tab pos="269875" algn="l"/>
              </a:tabLst>
            </a:pPr>
            <a:endParaRPr lang="en-US" altLang="zh-CN"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bc1=</a:t>
            </a:r>
            <a:r>
              <a:rPr lang="en-US" altLang="zh-CN" b="1" dirty="0" err="1">
                <a:solidFill>
                  <a:srgbClr val="008000"/>
                </a:solidFill>
                <a:latin typeface="Courier New" panose="02070309020205020404" pitchFamily="49" charset="0"/>
                <a:cs typeface="Times New Roman" panose="02020603050405020304" pitchFamily="18" charset="0"/>
              </a:rPr>
              <a:t>vpa</a:t>
            </a:r>
            <a:r>
              <a:rPr lang="en-US" altLang="zh-CN" b="1" dirty="0">
                <a:solidFill>
                  <a:srgbClr val="008000"/>
                </a:solidFill>
                <a:latin typeface="Courier New" panose="02070309020205020404" pitchFamily="49" charset="0"/>
                <a:cs typeface="Times New Roman" panose="02020603050405020304" pitchFamily="18" charset="0"/>
              </a:rPr>
              <a:t>(abs(b1-c1),32)</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a:solidFill>
                  <a:srgbClr val="FF0000"/>
                </a:solidFill>
                <a:latin typeface="Courier New" panose="02070309020205020404" pitchFamily="49" charset="0"/>
                <a:cs typeface="Times New Roman" panose="02020603050405020304" pitchFamily="18" charset="0"/>
              </a:rPr>
              <a:t>abs</a:t>
            </a:r>
            <a:r>
              <a:rPr lang="zh-CN" altLang="en-US" b="1" dirty="0">
                <a:solidFill>
                  <a:srgbClr val="FF0000"/>
                </a:solidFill>
                <a:latin typeface="Courier New" panose="02070309020205020404" pitchFamily="49" charset="0"/>
                <a:cs typeface="Times New Roman" panose="02020603050405020304" pitchFamily="18" charset="0"/>
              </a:rPr>
              <a:t>代表绝对值的计算，</a:t>
            </a:r>
            <a:r>
              <a:rPr lang="en-US" altLang="zh-CN" b="1" dirty="0" err="1">
                <a:solidFill>
                  <a:srgbClr val="FF0000"/>
                </a:solidFill>
                <a:latin typeface="Courier New" panose="02070309020205020404" pitchFamily="49" charset="0"/>
                <a:cs typeface="Times New Roman" panose="02020603050405020304" pitchFamily="18" charset="0"/>
              </a:rPr>
              <a:t>vpa</a:t>
            </a:r>
            <a:r>
              <a:rPr lang="en-US" altLang="zh-CN" b="1" dirty="0">
                <a:solidFill>
                  <a:srgbClr val="FF0000"/>
                </a:solidFill>
                <a:latin typeface="Courier New" panose="02070309020205020404" pitchFamily="49" charset="0"/>
                <a:cs typeface="Times New Roman" panose="02020603050405020304" pitchFamily="18" charset="0"/>
              </a:rPr>
              <a:t>(</a:t>
            </a:r>
            <a:r>
              <a:rPr lang="en-US" altLang="zh-CN" b="1" dirty="0" err="1">
                <a:solidFill>
                  <a:srgbClr val="FF0000"/>
                </a:solidFill>
                <a:latin typeface="Courier New" panose="02070309020205020404" pitchFamily="49" charset="0"/>
                <a:cs typeface="Times New Roman" panose="02020603050405020304" pitchFamily="18" charset="0"/>
              </a:rPr>
              <a:t>A,k</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含义为将符号数</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以</a:t>
            </a:r>
            <a:r>
              <a:rPr lang="en-US" altLang="zh-CN" b="1" dirty="0">
                <a:solidFill>
                  <a:srgbClr val="FF0000"/>
                </a:solidFill>
                <a:latin typeface="Courier New" panose="02070309020205020404" pitchFamily="49" charset="0"/>
                <a:cs typeface="Times New Roman" panose="02020603050405020304" pitchFamily="18" charset="0"/>
              </a:rPr>
              <a:t>k</a:t>
            </a:r>
            <a:r>
              <a:rPr lang="zh-CN" altLang="en-US" b="1" dirty="0">
                <a:solidFill>
                  <a:srgbClr val="FF0000"/>
                </a:solidFill>
                <a:latin typeface="Courier New" panose="02070309020205020404" pitchFamily="49" charset="0"/>
                <a:cs typeface="Times New Roman" panose="02020603050405020304" pitchFamily="18" charset="0"/>
              </a:rPr>
              <a:t>位有效数字小数来表示。本行描述了</a:t>
            </a:r>
            <a:r>
              <a:rPr lang="en-US" altLang="zh-CN" b="1" dirty="0">
                <a:solidFill>
                  <a:srgbClr val="FF0000"/>
                </a:solidFill>
                <a:latin typeface="Courier New" panose="02070309020205020404" pitchFamily="49" charset="0"/>
                <a:cs typeface="Times New Roman" panose="02020603050405020304" pitchFamily="18" charset="0"/>
              </a:rPr>
              <a:t>c1</a:t>
            </a:r>
            <a:r>
              <a:rPr lang="zh-CN" altLang="en-US" b="1" dirty="0">
                <a:solidFill>
                  <a:srgbClr val="FF0000"/>
                </a:solidFill>
                <a:latin typeface="Courier New" panose="02070309020205020404" pitchFamily="49" charset="0"/>
                <a:cs typeface="Times New Roman" panose="02020603050405020304" pitchFamily="18" charset="0"/>
              </a:rPr>
              <a:t>和准确值</a:t>
            </a:r>
            <a:r>
              <a:rPr lang="en-US" altLang="zh-CN" b="1" dirty="0">
                <a:solidFill>
                  <a:srgbClr val="FF0000"/>
                </a:solidFill>
                <a:latin typeface="Courier New" panose="02070309020205020404" pitchFamily="49" charset="0"/>
                <a:cs typeface="Times New Roman" panose="02020603050405020304" pitchFamily="18" charset="0"/>
              </a:rPr>
              <a:t>b1</a:t>
            </a:r>
            <a:r>
              <a:rPr lang="zh-CN" altLang="en-US" b="1" dirty="0">
                <a:solidFill>
                  <a:srgbClr val="FF0000"/>
                </a:solidFill>
                <a:latin typeface="Courier New" panose="02070309020205020404" pitchFamily="49" charset="0"/>
                <a:cs typeface="Times New Roman" panose="02020603050405020304" pitchFamily="18" charset="0"/>
              </a:rPr>
              <a:t>之间的误差。</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bc1 = 0.000000000000000098577864525888580828905169849534</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bc2=</a:t>
            </a:r>
            <a:r>
              <a:rPr lang="en-US" altLang="zh-CN" b="1" dirty="0" err="1">
                <a:solidFill>
                  <a:srgbClr val="008000"/>
                </a:solidFill>
                <a:latin typeface="Courier New" panose="02070309020205020404" pitchFamily="49" charset="0"/>
                <a:cs typeface="Times New Roman" panose="02020603050405020304" pitchFamily="18" charset="0"/>
              </a:rPr>
              <a:t>vpa</a:t>
            </a:r>
            <a:r>
              <a:rPr lang="en-US" altLang="zh-CN" b="1" dirty="0">
                <a:solidFill>
                  <a:srgbClr val="008000"/>
                </a:solidFill>
                <a:latin typeface="Courier New" panose="02070309020205020404" pitchFamily="49" charset="0"/>
                <a:cs typeface="Times New Roman" panose="02020603050405020304" pitchFamily="18" charset="0"/>
              </a:rPr>
              <a:t>(abs(b2-c2),32)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因为</a:t>
            </a:r>
            <a:r>
              <a:rPr lang="en-US" altLang="zh-CN" b="1" dirty="0">
                <a:solidFill>
                  <a:srgbClr val="FF0000"/>
                </a:solidFill>
                <a:latin typeface="Courier New" panose="02070309020205020404" pitchFamily="49" charset="0"/>
                <a:cs typeface="Times New Roman" panose="02020603050405020304" pitchFamily="18" charset="0"/>
              </a:rPr>
              <a:t>32</a:t>
            </a:r>
            <a:r>
              <a:rPr lang="zh-CN" altLang="en-US" b="1" dirty="0">
                <a:solidFill>
                  <a:srgbClr val="FF0000"/>
                </a:solidFill>
                <a:latin typeface="Courier New" panose="02070309020205020404" pitchFamily="49" charset="0"/>
                <a:cs typeface="Times New Roman" panose="02020603050405020304" pitchFamily="18" charset="0"/>
              </a:rPr>
              <a:t>位小数无法由双精度型表示，因此</a:t>
            </a:r>
            <a:r>
              <a:rPr lang="en-US" altLang="zh-CN" b="1" dirty="0" err="1">
                <a:solidFill>
                  <a:srgbClr val="FF0000"/>
                </a:solidFill>
                <a:latin typeface="Courier New" panose="02070309020205020404" pitchFamily="49" charset="0"/>
                <a:cs typeface="Times New Roman" panose="02020603050405020304" pitchFamily="18" charset="0"/>
              </a:rPr>
              <a:t>vpa</a:t>
            </a:r>
            <a:r>
              <a:rPr lang="zh-CN" altLang="en-US" b="1" dirty="0">
                <a:solidFill>
                  <a:srgbClr val="FF0000"/>
                </a:solidFill>
                <a:latin typeface="Courier New" panose="02070309020205020404" pitchFamily="49" charset="0"/>
                <a:cs typeface="Times New Roman" panose="02020603050405020304" pitchFamily="18" charset="0"/>
              </a:rPr>
              <a:t>的结果仍然以符号数（</a:t>
            </a:r>
            <a:r>
              <a:rPr lang="en-US" altLang="zh-CN" b="1" dirty="0" err="1">
                <a:solidFill>
                  <a:srgbClr val="FF0000"/>
                </a:solidFill>
                <a:latin typeface="Courier New" panose="02070309020205020404" pitchFamily="49" charset="0"/>
                <a:cs typeface="Times New Roman" panose="02020603050405020304" pitchFamily="18" charset="0"/>
              </a:rPr>
              <a:t>sym</a:t>
            </a:r>
            <a:r>
              <a:rPr lang="zh-CN" altLang="en-US" b="1" dirty="0">
                <a:solidFill>
                  <a:srgbClr val="FF0000"/>
                </a:solidFill>
                <a:latin typeface="Courier New" panose="02070309020205020404" pitchFamily="49" charset="0"/>
                <a:cs typeface="Times New Roman" panose="02020603050405020304" pitchFamily="18" charset="0"/>
              </a:rPr>
              <a:t>类型）存储</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bc2 = 0.0000000000000000000016685862796505638232220163916629</a:t>
            </a:r>
            <a:endParaRPr lang="en-US" altLang="zh-CN" sz="2000" dirty="0">
              <a:solidFill>
                <a:srgbClr val="FF0000"/>
              </a:solidFill>
              <a:latin typeface="Times New Roman" panose="02020603050405020304" pitchFamily="18" charset="0"/>
            </a:endParaRPr>
          </a:p>
        </p:txBody>
      </p:sp>
      <p:sp>
        <p:nvSpPr>
          <p:cNvPr id="3" name="文本框 2"/>
          <p:cNvSpPr txBox="1"/>
          <p:nvPr/>
        </p:nvSpPr>
        <p:spPr>
          <a:xfrm>
            <a:off x="150395" y="823472"/>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2.1-1】</a:t>
            </a:r>
            <a:r>
              <a:rPr lang="zh-CN" altLang="en-US" sz="1800" b="1" dirty="0">
                <a:solidFill>
                  <a:prstClr val="black"/>
                </a:solidFill>
                <a:latin typeface="+mn-ea"/>
              </a:rPr>
              <a:t>符号数的定义实例</a:t>
            </a:r>
            <a:endParaRPr lang="zh-CN" altLang="en-US" b="1" dirty="0">
              <a:latin typeface="+mn-ea"/>
            </a:endParaRPr>
          </a:p>
        </p:txBody>
      </p:sp>
      <p:sp>
        <p:nvSpPr>
          <p:cNvPr id="7" name="文本框 6"/>
          <p:cNvSpPr txBox="1"/>
          <p:nvPr/>
        </p:nvSpPr>
        <p:spPr>
          <a:xfrm>
            <a:off x="107504" y="3198167"/>
            <a:ext cx="8545574" cy="461665"/>
          </a:xfrm>
          <a:prstGeom prst="rect">
            <a:avLst/>
          </a:prstGeom>
          <a:noFill/>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en-US" altLang="zh-CN" sz="2400" b="1" dirty="0" err="1">
                <a:solidFill>
                  <a:srgbClr val="9B2D1F"/>
                </a:solidFill>
                <a:latin typeface="Courier New" panose="02070309020205020404" pitchFamily="49" charset="0"/>
                <a:cs typeface="Courier New" panose="02070309020205020404" pitchFamily="49" charset="0"/>
              </a:rPr>
              <a:t>xs</a:t>
            </a:r>
            <a:r>
              <a:rPr lang="en-US" altLang="zh-CN" sz="2400" b="1" dirty="0">
                <a:solidFill>
                  <a:srgbClr val="9B2D1F"/>
                </a:solidFill>
                <a:latin typeface="Courier New" panose="02070309020205020404" pitchFamily="49" charset="0"/>
                <a:cs typeface="Courier New" panose="02070309020205020404" pitchFamily="49" charset="0"/>
              </a:rPr>
              <a:t>=</a:t>
            </a:r>
            <a:r>
              <a:rPr lang="en-US" altLang="zh-CN" sz="2400" b="1" dirty="0" err="1">
                <a:solidFill>
                  <a:srgbClr val="9B2D1F"/>
                </a:solidFill>
                <a:latin typeface="Courier New" panose="02070309020205020404" pitchFamily="49" charset="0"/>
                <a:cs typeface="Courier New" panose="02070309020205020404" pitchFamily="49" charset="0"/>
              </a:rPr>
              <a:t>vpa</a:t>
            </a:r>
            <a:r>
              <a:rPr lang="en-US" altLang="zh-CN" sz="2400" b="1" dirty="0">
                <a:solidFill>
                  <a:srgbClr val="9B2D1F"/>
                </a:solidFill>
                <a:latin typeface="Courier New" panose="02070309020205020404" pitchFamily="49" charset="0"/>
                <a:cs typeface="Courier New" panose="02070309020205020404" pitchFamily="49" charset="0"/>
              </a:rPr>
              <a:t>(</a:t>
            </a:r>
            <a:r>
              <a:rPr lang="en-US" altLang="zh-CN" sz="2400" b="1" dirty="0" err="1">
                <a:solidFill>
                  <a:srgbClr val="9B2D1F"/>
                </a:solidFill>
                <a:latin typeface="Courier New" panose="02070309020205020404" pitchFamily="49" charset="0"/>
                <a:cs typeface="Courier New" panose="02070309020205020404" pitchFamily="49" charset="0"/>
              </a:rPr>
              <a:t>x,n</a:t>
            </a:r>
            <a:r>
              <a:rPr lang="en-US" altLang="zh-CN" sz="2400" b="1" dirty="0">
                <a:solidFill>
                  <a:srgbClr val="9B2D1F"/>
                </a:solidFill>
                <a:latin typeface="Courier New" panose="02070309020205020404" pitchFamily="49" charset="0"/>
                <a:cs typeface="Courier New" panose="02070309020205020404" pitchFamily="49" charset="0"/>
              </a:rPr>
              <a:t>)</a:t>
            </a:r>
            <a:r>
              <a:rPr lang="zh-CN" altLang="en-US" sz="2400" b="1" dirty="0">
                <a:solidFill>
                  <a:prstClr val="black"/>
                </a:solidFill>
                <a:latin typeface="幼圆" panose="02010509060101010101" pitchFamily="49" charset="-122"/>
                <a:ea typeface="幼圆" panose="02010509060101010101" pitchFamily="49" charset="-122"/>
              </a:rPr>
              <a:t>对</a:t>
            </a:r>
            <a:r>
              <a:rPr lang="en-US" altLang="zh-CN" sz="2400" b="1" dirty="0">
                <a:solidFill>
                  <a:prstClr val="black"/>
                </a:solidFill>
                <a:latin typeface="幼圆" panose="02010509060101010101" pitchFamily="49" charset="-122"/>
                <a:ea typeface="幼圆" panose="02010509060101010101" pitchFamily="49" charset="-122"/>
              </a:rPr>
              <a:t>x</a:t>
            </a:r>
            <a:r>
              <a:rPr lang="zh-CN" altLang="en-US" sz="2400" b="1" dirty="0">
                <a:solidFill>
                  <a:prstClr val="black"/>
                </a:solidFill>
                <a:latin typeface="幼圆" panose="02010509060101010101" pitchFamily="49" charset="-122"/>
                <a:ea typeface="幼圆" panose="02010509060101010101" pitchFamily="49" charset="-122"/>
              </a:rPr>
              <a:t>按照</a:t>
            </a:r>
            <a:r>
              <a:rPr lang="en-US" altLang="zh-CN" sz="2400" b="1" dirty="0">
                <a:solidFill>
                  <a:prstClr val="black"/>
                </a:solidFill>
                <a:latin typeface="幼圆" panose="02010509060101010101" pitchFamily="49" charset="-122"/>
                <a:ea typeface="幼圆" panose="02010509060101010101" pitchFamily="49" charset="-122"/>
              </a:rPr>
              <a:t>n</a:t>
            </a:r>
            <a:r>
              <a:rPr lang="zh-CN" altLang="en-US" sz="2400" b="1" dirty="0">
                <a:solidFill>
                  <a:prstClr val="black"/>
                </a:solidFill>
                <a:latin typeface="幼圆" panose="02010509060101010101" pitchFamily="49" charset="-122"/>
                <a:ea typeface="幼圆" panose="02010509060101010101" pitchFamily="49" charset="-122"/>
              </a:rPr>
              <a:t>位有效数字来截取到小数</a:t>
            </a:r>
            <a:r>
              <a:rPr lang="en-US" altLang="zh-CN" sz="2400" b="1" dirty="0">
                <a:solidFill>
                  <a:prstClr val="black"/>
                </a:solidFill>
                <a:latin typeface="幼圆" panose="02010509060101010101" pitchFamily="49" charset="-122"/>
                <a:ea typeface="幼圆" panose="02010509060101010101" pitchFamily="49" charset="-122"/>
              </a:rPr>
              <a:t>(</a:t>
            </a:r>
            <a:r>
              <a:rPr lang="zh-CN" altLang="en-US" sz="2400" b="1" dirty="0">
                <a:solidFill>
                  <a:srgbClr val="FF0000"/>
                </a:solidFill>
                <a:latin typeface="幼圆" panose="02010509060101010101" pitchFamily="49" charset="-122"/>
                <a:ea typeface="幼圆" panose="02010509060101010101" pitchFamily="49" charset="-122"/>
              </a:rPr>
              <a:t>仍是</a:t>
            </a:r>
            <a:r>
              <a:rPr lang="en-US" altLang="zh-CN" sz="2400" b="1" dirty="0" err="1">
                <a:solidFill>
                  <a:srgbClr val="FF0000"/>
                </a:solidFill>
                <a:latin typeface="幼圆" panose="02010509060101010101" pitchFamily="49" charset="-122"/>
                <a:ea typeface="幼圆" panose="02010509060101010101" pitchFamily="49" charset="-122"/>
              </a:rPr>
              <a:t>sym</a:t>
            </a:r>
            <a:r>
              <a:rPr lang="en-US" altLang="zh-CN" sz="2400" b="1" dirty="0">
                <a:solidFill>
                  <a:prstClr val="black"/>
                </a:solidFill>
                <a:latin typeface="幼圆" panose="02010509060101010101" pitchFamily="49" charset="-122"/>
                <a:ea typeface="幼圆" panose="02010509060101010101" pitchFamily="49" charset="-122"/>
              </a:rPr>
              <a:t>)</a:t>
            </a:r>
            <a:endParaRPr lang="en-US" altLang="zh-CN" sz="2400" b="1" dirty="0">
              <a:solidFill>
                <a:prstClr val="black"/>
              </a:solidFill>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4" end="1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2.1-1</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（续）</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mc:AlternateContent xmlns:mc="http://schemas.openxmlformats.org/markup-compatibility/2006">
        <mc:Choice xmlns:a14="http://schemas.microsoft.com/office/drawing/2010/main" Requires="a14">
          <p:sp>
            <p:nvSpPr>
              <p:cNvPr id="6" name="矩形 5"/>
              <p:cNvSpPr/>
              <p:nvPr/>
            </p:nvSpPr>
            <p:spPr>
              <a:xfrm>
                <a:off x="150394" y="1259175"/>
                <a:ext cx="8814093" cy="5632311"/>
              </a:xfrm>
              <a:prstGeom prst="rect">
                <a:avLst/>
              </a:prstGeom>
            </p:spPr>
            <p:txBody>
              <a:bodyPr wrap="square" numCol="1">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d1=</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(pi)             %</a:t>
                </a:r>
                <a:r>
                  <a:rPr lang="en-US" altLang="zh-CN" b="1" dirty="0">
                    <a:solidFill>
                      <a:srgbClr val="FF0000"/>
                    </a:solidFill>
                    <a:latin typeface="Courier New" panose="02070309020205020404" pitchFamily="49" charset="0"/>
                    <a:cs typeface="Times New Roman" panose="02020603050405020304" pitchFamily="18" charset="0"/>
                  </a:rPr>
                  <a:t>MATLAB</a:t>
                </a:r>
                <a:r>
                  <a:rPr lang="zh-CN" altLang="en-US" b="1" dirty="0">
                    <a:solidFill>
                      <a:srgbClr val="FF0000"/>
                    </a:solidFill>
                    <a:latin typeface="Courier New" panose="02070309020205020404" pitchFamily="49" charset="0"/>
                    <a:cs typeface="Times New Roman" panose="02020603050405020304" pitchFamily="18" charset="0"/>
                  </a:rPr>
                  <a:t>预存了</a:t>
                </a:r>
                <a:r>
                  <a:rPr lang="en-US" altLang="zh-CN" b="1" dirty="0">
                    <a:solidFill>
                      <a:srgbClr val="FF0000"/>
                    </a:solidFill>
                    <a:latin typeface="Courier New" panose="02070309020205020404" pitchFamily="49" charset="0"/>
                    <a:cs typeface="Times New Roman" panose="02020603050405020304" pitchFamily="18" charset="0"/>
                  </a:rPr>
                  <a:t>pi</a:t>
                </a:r>
                <a:r>
                  <a:rPr lang="zh-CN" altLang="en-US" b="1" dirty="0">
                    <a:solidFill>
                      <a:srgbClr val="FF0000"/>
                    </a:solidFill>
                    <a:latin typeface="Courier New" panose="02070309020205020404" pitchFamily="49" charset="0"/>
                    <a:cs typeface="Times New Roman" panose="02020603050405020304" pitchFamily="18" charset="0"/>
                  </a:rPr>
                  <a:t>的值并可以识别为圆周率常数</a:t>
                </a:r>
                <a14:m>
                  <m:oMath xmlns:m="http://schemas.openxmlformats.org/officeDocument/2006/math">
                    <m:r>
                      <a:rPr lang="en-US" altLang="zh-CN" b="1" i="1" smtClean="0">
                        <a:solidFill>
                          <a:srgbClr val="FF0000"/>
                        </a:solidFill>
                        <a:latin typeface="Cambria Math" panose="02040503050406030204" pitchFamily="18" charset="0"/>
                        <a:cs typeface="Times New Roman" panose="02020603050405020304" pitchFamily="18" charset="0"/>
                      </a:rPr>
                      <m:t>𝝅</m:t>
                    </m:r>
                  </m:oMath>
                </a14:m>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d1 = pi</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d2=</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('pi')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字符串将被识别为相同的圆周率常数</a:t>
                </a:r>
                <a14:m>
                  <m:oMath xmlns:m="http://schemas.openxmlformats.org/officeDocument/2006/math">
                    <m:r>
                      <a:rPr lang="en-US" altLang="zh-CN" b="1" i="1">
                        <a:solidFill>
                          <a:srgbClr val="FF0000"/>
                        </a:solidFill>
                        <a:latin typeface="Cambria Math" panose="02040503050406030204" pitchFamily="18" charset="0"/>
                        <a:cs typeface="Times New Roman" panose="02020603050405020304" pitchFamily="18" charset="0"/>
                      </a:rPr>
                      <m:t>𝝅</m:t>
                    </m:r>
                  </m:oMath>
                </a14:m>
                <a:r>
                  <a:rPr lang="zh-CN" altLang="en-US" b="1" dirty="0">
                    <a:solidFill>
                      <a:srgbClr val="FF0000"/>
                    </a:solidFill>
                    <a:latin typeface="Courier New" panose="02070309020205020404" pitchFamily="49" charset="0"/>
                    <a:cs typeface="Times New Roman" panose="02020603050405020304" pitchFamily="18" charset="0"/>
                  </a:rPr>
                  <a:t>（</a:t>
                </a:r>
                <a:r>
                  <a:rPr lang="zh-CN" altLang="en-US" b="1" dirty="0">
                    <a:solidFill>
                      <a:schemeClr val="accent2"/>
                    </a:solidFill>
                    <a:latin typeface="Courier New" panose="02070309020205020404" pitchFamily="49" charset="0"/>
                    <a:cs typeface="Times New Roman" panose="02020603050405020304" pitchFamily="18" charset="0"/>
                  </a:rPr>
                  <a:t>新版识别为变量</a:t>
                </a:r>
                <a:r>
                  <a:rPr lang="en-US" altLang="zh-CN" b="1" dirty="0">
                    <a:solidFill>
                      <a:schemeClr val="accent2"/>
                    </a:solidFill>
                    <a:latin typeface="Courier New" panose="02070309020205020404" pitchFamily="49" charset="0"/>
                    <a:cs typeface="Times New Roman" panose="02020603050405020304" pitchFamily="18" charset="0"/>
                  </a:rPr>
                  <a:t>pi</a:t>
                </a:r>
                <a:r>
                  <a:rPr lang="zh-CN" altLang="en-US" b="1" dirty="0">
                    <a:solidFill>
                      <a:srgbClr val="FF0000"/>
                    </a:solidFill>
                    <a:latin typeface="Courier New" panose="02070309020205020404" pitchFamily="49" charset="0"/>
                    <a:cs typeface="Times New Roman" panose="02020603050405020304" pitchFamily="18" charset="0"/>
                  </a:rPr>
                  <a:t>）</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d2 = pi</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FF0000"/>
                  </a:solidFill>
                  <a:latin typeface="Times New Roman" panose="02020603050405020304" pitchFamily="18" charset="0"/>
                </a:endParaRPr>
              </a:p>
              <a:p>
                <a:pPr algn="just" hangingPunct="0">
                  <a:spcAft>
                    <a:spcPts val="0"/>
                  </a:spcAft>
                  <a:tabLst>
                    <a:tab pos="269875" algn="l"/>
                  </a:tabLst>
                </a:pPr>
                <a:endParaRPr lang="en-US" altLang="zh-CN" dirty="0">
                  <a:solidFill>
                    <a:srgbClr val="FF0000"/>
                  </a:solidFill>
                  <a:latin typeface="Times New Roman" panose="02020603050405020304" pitchFamily="18" charset="0"/>
                </a:endParaRPr>
              </a:p>
              <a:p>
                <a:pPr algn="just" hangingPunct="0">
                  <a:spcAft>
                    <a:spcPts val="0"/>
                  </a:spcAft>
                  <a:tabLst>
                    <a:tab pos="269875" algn="l"/>
                  </a:tabLst>
                </a:pPr>
                <a:endParaRPr lang="en-US" altLang="zh-CN"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isAlways</a:t>
                </a:r>
                <a:r>
                  <a:rPr lang="en-US" altLang="zh-CN" b="1" dirty="0">
                    <a:solidFill>
                      <a:srgbClr val="008000"/>
                    </a:solidFill>
                    <a:latin typeface="Courier New" panose="02070309020205020404" pitchFamily="49" charset="0"/>
                    <a:cs typeface="Times New Roman" panose="02020603050405020304" pitchFamily="18" charset="0"/>
                  </a:rPr>
                  <a:t>(d1 == pi)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检测</a:t>
                </a:r>
                <a:r>
                  <a:rPr lang="en-US" altLang="zh-CN" b="1" dirty="0">
                    <a:solidFill>
                      <a:srgbClr val="FF0000"/>
                    </a:solidFill>
                    <a:latin typeface="Courier New" panose="02070309020205020404" pitchFamily="49" charset="0"/>
                    <a:cs typeface="Times New Roman" panose="02020603050405020304" pitchFamily="18" charset="0"/>
                  </a:rPr>
                  <a:t>d1</a:t>
                </a:r>
                <a:r>
                  <a:rPr lang="zh-CN" altLang="en-US" b="1" dirty="0">
                    <a:solidFill>
                      <a:srgbClr val="FF0000"/>
                    </a:solidFill>
                    <a:latin typeface="Courier New" panose="02070309020205020404" pitchFamily="49" charset="0"/>
                    <a:cs typeface="Times New Roman" panose="02020603050405020304" pitchFamily="18" charset="0"/>
                  </a:rPr>
                  <a:t>和常数</a:t>
                </a:r>
                <a14:m>
                  <m:oMath xmlns:m="http://schemas.openxmlformats.org/officeDocument/2006/math">
                    <m:r>
                      <a:rPr lang="en-US" altLang="zh-CN" b="1" i="1" smtClean="0">
                        <a:solidFill>
                          <a:srgbClr val="FF0000"/>
                        </a:solidFill>
                        <a:latin typeface="Cambria Math" panose="02040503050406030204" pitchFamily="18" charset="0"/>
                        <a:cs typeface="Times New Roman" panose="02020603050405020304" pitchFamily="18" charset="0"/>
                      </a:rPr>
                      <m:t>𝝅</m:t>
                    </m:r>
                  </m:oMath>
                </a14:m>
                <a:r>
                  <a:rPr lang="zh-CN" altLang="en-US" b="1" dirty="0">
                    <a:solidFill>
                      <a:srgbClr val="FF0000"/>
                    </a:solidFill>
                    <a:latin typeface="Courier New" panose="02070309020205020404" pitchFamily="49" charset="0"/>
                    <a:cs typeface="Times New Roman" panose="02020603050405020304" pitchFamily="18" charset="0"/>
                  </a:rPr>
                  <a:t>是否相同。</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不赋值则赋值给临时答案变量</a:t>
                </a:r>
                <a:r>
                  <a:rPr lang="en-US" altLang="zh-CN" b="1" dirty="0" err="1">
                    <a:solidFill>
                      <a:srgbClr val="FF0000"/>
                    </a:solidFill>
                    <a:latin typeface="Courier New" panose="02070309020205020404" pitchFamily="49" charset="0"/>
                    <a:cs typeface="Times New Roman" panose="02020603050405020304" pitchFamily="18" charset="0"/>
                  </a:rPr>
                  <a:t>ans</a:t>
                </a:r>
                <a:r>
                  <a:rPr lang="en-US" altLang="zh-CN" b="1" dirty="0">
                    <a:solidFill>
                      <a:srgbClr val="FF0000"/>
                    </a:solidFill>
                    <a:latin typeface="Courier New" panose="02070309020205020404" pitchFamily="49" charset="0"/>
                    <a:cs typeface="Times New Roman" panose="02020603050405020304" pitchFamily="18" charset="0"/>
                  </a:rPr>
                  <a:t>)</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logical </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isAlways(d2 == pi)    %</a:t>
                </a:r>
                <a:r>
                  <a:rPr lang="zh-CN" altLang="en-US" b="1" dirty="0">
                    <a:solidFill>
                      <a:srgbClr val="FF0000"/>
                    </a:solidFill>
                    <a:latin typeface="Courier New" panose="02070309020205020404" pitchFamily="49" charset="0"/>
                    <a:cs typeface="Times New Roman" panose="02020603050405020304" pitchFamily="18" charset="0"/>
                  </a:rPr>
                  <a:t>检测</a:t>
                </a:r>
                <a:r>
                  <a:rPr lang="en-US" altLang="zh-CN" b="1" dirty="0">
                    <a:solidFill>
                      <a:srgbClr val="FF0000"/>
                    </a:solidFill>
                    <a:latin typeface="Courier New" panose="02070309020205020404" pitchFamily="49" charset="0"/>
                    <a:cs typeface="Times New Roman" panose="02020603050405020304" pitchFamily="18" charset="0"/>
                  </a:rPr>
                  <a:t>d2</a:t>
                </a:r>
                <a:r>
                  <a:rPr lang="zh-CN" altLang="en-US" b="1" dirty="0">
                    <a:solidFill>
                      <a:srgbClr val="FF0000"/>
                    </a:solidFill>
                    <a:latin typeface="Courier New" panose="02070309020205020404" pitchFamily="49" charset="0"/>
                    <a:cs typeface="Times New Roman" panose="02020603050405020304" pitchFamily="18" charset="0"/>
                  </a:rPr>
                  <a:t>和常数</a:t>
                </a:r>
                <a14:m>
                  <m:oMath xmlns:m="http://schemas.openxmlformats.org/officeDocument/2006/math">
                    <m:r>
                      <a:rPr lang="en-US" altLang="zh-CN" b="1" i="1">
                        <a:solidFill>
                          <a:srgbClr val="FF0000"/>
                        </a:solidFill>
                        <a:latin typeface="Cambria Math" panose="02040503050406030204" pitchFamily="18" charset="0"/>
                        <a:cs typeface="Times New Roman" panose="02020603050405020304" pitchFamily="18" charset="0"/>
                      </a:rPr>
                      <m:t>𝝅</m:t>
                    </m:r>
                  </m:oMath>
                </a14:m>
                <a:r>
                  <a:rPr lang="zh-CN" altLang="en-US" b="1" dirty="0">
                    <a:solidFill>
                      <a:srgbClr val="FF0000"/>
                    </a:solidFill>
                    <a:latin typeface="Courier New" panose="02070309020205020404" pitchFamily="49" charset="0"/>
                    <a:cs typeface="Times New Roman" panose="02020603050405020304" pitchFamily="18" charset="0"/>
                  </a:rPr>
                  <a:t>是否相同。</a:t>
                </a:r>
                <a:r>
                  <a:rPr lang="zh-CN" altLang="en-US" b="1" dirty="0">
                    <a:solidFill>
                      <a:schemeClr val="accent2"/>
                    </a:solidFill>
                    <a:latin typeface="Courier New" panose="02070309020205020404" pitchFamily="49" charset="0"/>
                    <a:cs typeface="Times New Roman" panose="02020603050405020304" pitchFamily="18" charset="0"/>
                  </a:rPr>
                  <a:t>新版返回</a:t>
                </a:r>
                <a:r>
                  <a:rPr lang="en-US" altLang="zh-CN" b="1" dirty="0">
                    <a:solidFill>
                      <a:schemeClr val="accent2"/>
                    </a:solidFill>
                    <a:latin typeface="Courier New" panose="02070309020205020404" pitchFamily="49" charset="0"/>
                    <a:cs typeface="Times New Roman" panose="02020603050405020304" pitchFamily="18" charset="0"/>
                  </a:rPr>
                  <a:t>0</a:t>
                </a:r>
                <a:r>
                  <a:rPr lang="zh-CN" altLang="en-US" b="1" dirty="0">
                    <a:solidFill>
                      <a:schemeClr val="accent2"/>
                    </a:solidFill>
                    <a:latin typeface="Courier New" panose="02070309020205020404" pitchFamily="49" charset="0"/>
                    <a:cs typeface="Times New Roman" panose="02020603050405020304" pitchFamily="18" charset="0"/>
                  </a:rPr>
                  <a:t>！！</a:t>
                </a:r>
                <a:endParaRPr lang="en-US" altLang="zh-CN" b="1" dirty="0">
                  <a:solidFill>
                    <a:schemeClr val="accent2"/>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logical </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isAlways(d1 == d2)    %</a:t>
                </a:r>
                <a:r>
                  <a:rPr lang="zh-CN" altLang="en-US" b="1" dirty="0">
                    <a:solidFill>
                      <a:srgbClr val="FF0000"/>
                    </a:solidFill>
                    <a:latin typeface="Courier New" panose="02070309020205020404" pitchFamily="49" charset="0"/>
                    <a:cs typeface="Times New Roman" panose="02020603050405020304" pitchFamily="18" charset="0"/>
                  </a:rPr>
                  <a:t>检测</a:t>
                </a:r>
                <a:r>
                  <a:rPr lang="en-US" altLang="zh-CN" b="1" dirty="0">
                    <a:solidFill>
                      <a:srgbClr val="FF0000"/>
                    </a:solidFill>
                    <a:latin typeface="Courier New" panose="02070309020205020404" pitchFamily="49" charset="0"/>
                    <a:cs typeface="Times New Roman" panose="02020603050405020304" pitchFamily="18" charset="0"/>
                  </a:rPr>
                  <a:t>d1</a:t>
                </a:r>
                <a:r>
                  <a:rPr lang="zh-CN" altLang="en-US" b="1" dirty="0">
                    <a:solidFill>
                      <a:srgbClr val="FF0000"/>
                    </a:solidFill>
                    <a:latin typeface="Courier New" panose="02070309020205020404" pitchFamily="49" charset="0"/>
                    <a:cs typeface="Times New Roman" panose="02020603050405020304" pitchFamily="18" charset="0"/>
                  </a:rPr>
                  <a:t>和</a:t>
                </a:r>
                <a:r>
                  <a:rPr lang="en-US" altLang="zh-CN" b="1" dirty="0">
                    <a:solidFill>
                      <a:srgbClr val="FF0000"/>
                    </a:solidFill>
                    <a:latin typeface="Courier New" panose="02070309020205020404" pitchFamily="49" charset="0"/>
                    <a:cs typeface="Times New Roman" panose="02020603050405020304" pitchFamily="18" charset="0"/>
                  </a:rPr>
                  <a:t>d2</a:t>
                </a:r>
                <a:r>
                  <a:rPr lang="zh-CN" altLang="en-US" b="1" dirty="0">
                    <a:solidFill>
                      <a:srgbClr val="FF0000"/>
                    </a:solidFill>
                    <a:latin typeface="Courier New" panose="02070309020205020404" pitchFamily="49" charset="0"/>
                    <a:cs typeface="Times New Roman" panose="02020603050405020304" pitchFamily="18" charset="0"/>
                  </a:rPr>
                  <a:t>是否相同。</a:t>
                </a:r>
                <a:r>
                  <a:rPr lang="zh-CN" altLang="en-US" b="1" dirty="0">
                    <a:solidFill>
                      <a:schemeClr val="accent2"/>
                    </a:solidFill>
                    <a:latin typeface="Courier New" panose="02070309020205020404" pitchFamily="49" charset="0"/>
                    <a:cs typeface="Times New Roman" panose="02020603050405020304" pitchFamily="18" charset="0"/>
                  </a:rPr>
                  <a:t>新版返回</a:t>
                </a:r>
                <a:r>
                  <a:rPr lang="en-US" altLang="zh-CN" b="1" dirty="0">
                    <a:solidFill>
                      <a:schemeClr val="accent2"/>
                    </a:solidFill>
                    <a:latin typeface="Courier New" panose="02070309020205020404" pitchFamily="49" charset="0"/>
                    <a:cs typeface="Times New Roman" panose="02020603050405020304" pitchFamily="18" charset="0"/>
                  </a:rPr>
                  <a:t>0</a:t>
                </a:r>
                <a:r>
                  <a:rPr lang="zh-CN" altLang="en-US" b="1" dirty="0">
                    <a:solidFill>
                      <a:schemeClr val="accent2"/>
                    </a:solidFill>
                    <a:latin typeface="Courier New" panose="02070309020205020404" pitchFamily="49" charset="0"/>
                    <a:cs typeface="Times New Roman" panose="02020603050405020304" pitchFamily="18" charset="0"/>
                  </a:rPr>
                  <a:t>！！</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logical </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150394" y="1259175"/>
                <a:ext cx="8814093" cy="5632311"/>
              </a:xfrm>
              <a:prstGeom prst="rect">
                <a:avLst/>
              </a:prstGeom>
              <a:blipFill rotWithShape="1">
                <a:blip r:embed="rId1"/>
                <a:stretch>
                  <a:fillRect l="-6" t="-11" r="2" b="8"/>
                </a:stretch>
              </a:blipFill>
            </p:spPr>
            <p:txBody>
              <a:bodyPr/>
              <a:lstStyle/>
              <a:p>
                <a:r>
                  <a:rPr lang="zh-CN" altLang="en-US">
                    <a:noFill/>
                  </a:rPr>
                  <a:t> </a:t>
                </a:r>
              </a:p>
            </p:txBody>
          </p:sp>
        </mc:Fallback>
      </mc:AlternateContent>
      <p:sp>
        <p:nvSpPr>
          <p:cNvPr id="3" name="文本框 2"/>
          <p:cNvSpPr txBox="1"/>
          <p:nvPr/>
        </p:nvSpPr>
        <p:spPr>
          <a:xfrm>
            <a:off x="150395" y="823472"/>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2.1-1】</a:t>
            </a:r>
            <a:r>
              <a:rPr lang="zh-CN" altLang="en-US" sz="1800" b="1" dirty="0">
                <a:solidFill>
                  <a:prstClr val="black"/>
                </a:solidFill>
                <a:latin typeface="+mn-ea"/>
              </a:rPr>
              <a:t>符号数的定义实例</a:t>
            </a:r>
            <a:endParaRPr lang="zh-CN" altLang="en-US" b="1" dirty="0">
              <a:latin typeface="+mn-ea"/>
            </a:endParaRPr>
          </a:p>
        </p:txBody>
      </p:sp>
      <p:sp>
        <p:nvSpPr>
          <p:cNvPr id="7" name="文本框 6"/>
          <p:cNvSpPr txBox="1"/>
          <p:nvPr/>
        </p:nvSpPr>
        <p:spPr>
          <a:xfrm>
            <a:off x="107504" y="2708920"/>
            <a:ext cx="8545574" cy="830997"/>
          </a:xfrm>
          <a:prstGeom prst="rect">
            <a:avLst/>
          </a:prstGeom>
          <a:noFill/>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en-US" altLang="zh-CN" sz="2400" b="1" dirty="0" err="1">
                <a:solidFill>
                  <a:srgbClr val="9B2D1F"/>
                </a:solidFill>
                <a:latin typeface="Courier New" panose="02070309020205020404" pitchFamily="49" charset="0"/>
                <a:cs typeface="Courier New" panose="02070309020205020404" pitchFamily="49" charset="0"/>
              </a:rPr>
              <a:t>isAlways</a:t>
            </a:r>
            <a:r>
              <a:rPr lang="en-US" altLang="zh-CN" sz="2400" b="1" dirty="0">
                <a:solidFill>
                  <a:srgbClr val="9B2D1F"/>
                </a:solidFill>
                <a:latin typeface="Courier New" panose="02070309020205020404" pitchFamily="49" charset="0"/>
                <a:cs typeface="Courier New" panose="02070309020205020404" pitchFamily="49" charset="0"/>
              </a:rPr>
              <a:t>(a==b) </a:t>
            </a:r>
            <a:r>
              <a:rPr lang="zh-CN" altLang="en-US" sz="2400" b="1" dirty="0">
                <a:latin typeface="+mj-ea"/>
                <a:ea typeface="+mj-ea"/>
                <a:cs typeface="Courier New" panose="02070309020205020404" pitchFamily="49" charset="0"/>
              </a:rPr>
              <a:t>可以判断表达式</a:t>
            </a:r>
            <a:r>
              <a:rPr lang="en-US" altLang="zh-CN" sz="2400" b="1" dirty="0">
                <a:latin typeface="+mj-ea"/>
                <a:ea typeface="+mj-ea"/>
                <a:cs typeface="Courier New" panose="02070309020205020404" pitchFamily="49" charset="0"/>
              </a:rPr>
              <a:t>a==b</a:t>
            </a:r>
            <a:r>
              <a:rPr lang="zh-CN" altLang="en-US" sz="2400" b="1" dirty="0">
                <a:latin typeface="+mj-ea"/>
                <a:ea typeface="+mj-ea"/>
                <a:cs typeface="Courier New" panose="02070309020205020404" pitchFamily="49" charset="0"/>
              </a:rPr>
              <a:t>是否恒成立，如果成立则返回</a:t>
            </a:r>
            <a:r>
              <a:rPr lang="en-US" altLang="zh-CN" sz="2400" b="1" dirty="0">
                <a:latin typeface="+mj-ea"/>
                <a:ea typeface="+mj-ea"/>
                <a:cs typeface="Courier New" panose="02070309020205020404" pitchFamily="49" charset="0"/>
              </a:rPr>
              <a:t>logical</a:t>
            </a:r>
            <a:r>
              <a:rPr lang="zh-CN" altLang="en-US" sz="2400" b="1" dirty="0">
                <a:latin typeface="+mj-ea"/>
                <a:ea typeface="+mj-ea"/>
                <a:cs typeface="Courier New" panose="02070309020205020404" pitchFamily="49" charset="0"/>
              </a:rPr>
              <a:t>型常数</a:t>
            </a:r>
            <a:r>
              <a:rPr lang="en-US" altLang="zh-CN" sz="2400" b="1" dirty="0">
                <a:latin typeface="+mj-ea"/>
                <a:ea typeface="+mj-ea"/>
                <a:cs typeface="Courier New" panose="02070309020205020404" pitchFamily="49" charset="0"/>
              </a:rPr>
              <a:t>1</a:t>
            </a:r>
            <a:r>
              <a:rPr lang="zh-CN" altLang="en-US" sz="2400" b="1" dirty="0">
                <a:latin typeface="+mj-ea"/>
                <a:ea typeface="+mj-ea"/>
                <a:cs typeface="Courier New" panose="02070309020205020404" pitchFamily="49" charset="0"/>
              </a:rPr>
              <a:t>，否则返回</a:t>
            </a:r>
            <a:r>
              <a:rPr lang="en-US" altLang="zh-CN" sz="2400" b="1" dirty="0">
                <a:latin typeface="+mj-ea"/>
                <a:ea typeface="+mj-ea"/>
                <a:cs typeface="Courier New" panose="02070309020205020404" pitchFamily="49" charset="0"/>
              </a:rPr>
              <a:t>0</a:t>
            </a:r>
            <a:endParaRPr lang="en-US" altLang="zh-CN" sz="2400" b="1" dirty="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6" end="1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7" end="1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2.1-1</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（续）</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mc:AlternateContent xmlns:mc="http://schemas.openxmlformats.org/markup-compatibility/2006">
        <mc:Choice xmlns:a14="http://schemas.microsoft.com/office/drawing/2010/main" Requires="a14">
          <p:sp>
            <p:nvSpPr>
              <p:cNvPr id="6" name="矩形 5"/>
              <p:cNvSpPr/>
              <p:nvPr/>
            </p:nvSpPr>
            <p:spPr>
              <a:xfrm>
                <a:off x="150394" y="1259175"/>
                <a:ext cx="8814093" cy="5409301"/>
              </a:xfrm>
              <a:prstGeom prst="rect">
                <a:avLst/>
              </a:prstGeom>
            </p:spPr>
            <p:txBody>
              <a:bodyPr wrap="square" numCol="1">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e1=</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(i)              %</a:t>
                </a:r>
                <a:r>
                  <a:rPr lang="en-US" altLang="zh-CN" b="1" dirty="0">
                    <a:solidFill>
                      <a:srgbClr val="FF0000"/>
                    </a:solidFill>
                    <a:latin typeface="Courier New" panose="02070309020205020404" pitchFamily="49" charset="0"/>
                    <a:cs typeface="Times New Roman" panose="02020603050405020304" pitchFamily="18" charset="0"/>
                  </a:rPr>
                  <a:t>MATLAB</a:t>
                </a:r>
                <a:r>
                  <a:rPr lang="zh-CN" altLang="en-US" b="1" dirty="0">
                    <a:solidFill>
                      <a:srgbClr val="FF0000"/>
                    </a:solidFill>
                    <a:latin typeface="Courier New" panose="02070309020205020404" pitchFamily="49" charset="0"/>
                    <a:cs typeface="Times New Roman" panose="02020603050405020304" pitchFamily="18" charset="0"/>
                  </a:rPr>
                  <a:t>预设</a:t>
                </a:r>
                <a:r>
                  <a:rPr lang="en-US" altLang="zh-CN" b="1" dirty="0">
                    <a:solidFill>
                      <a:srgbClr val="FF0000"/>
                    </a:solidFill>
                    <a:latin typeface="Courier New" panose="02070309020205020404" pitchFamily="49" charset="0"/>
                    <a:cs typeface="Times New Roman" panose="02020603050405020304" pitchFamily="18" charset="0"/>
                  </a:rPr>
                  <a:t>i</a:t>
                </a:r>
                <a:r>
                  <a:rPr lang="zh-CN" altLang="en-US" b="1" dirty="0">
                    <a:solidFill>
                      <a:srgbClr val="FF0000"/>
                    </a:solidFill>
                    <a:latin typeface="Courier New" panose="02070309020205020404" pitchFamily="49" charset="0"/>
                    <a:cs typeface="Times New Roman" panose="02020603050405020304" pitchFamily="18" charset="0"/>
                  </a:rPr>
                  <a:t>为虚数单位，转换后则记为虚数单位</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e1 = 1i</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a:solidFill>
                      <a:srgbClr val="008000"/>
                    </a:solidFill>
                    <a:latin typeface="Courier New" panose="02070309020205020404" pitchFamily="49" charset="0"/>
                    <a:cs typeface="Times New Roman" panose="02020603050405020304" pitchFamily="18" charset="0"/>
                  </a:rPr>
                  <a:t>e2</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(j)              %</a:t>
                </a:r>
                <a:r>
                  <a:rPr lang="zh-CN" altLang="en-US" b="1" dirty="0">
                    <a:solidFill>
                      <a:srgbClr val="FF0000"/>
                    </a:solidFill>
                    <a:latin typeface="Courier New" panose="02070309020205020404" pitchFamily="49" charset="0"/>
                    <a:cs typeface="Times New Roman" panose="02020603050405020304" pitchFamily="18" charset="0"/>
                  </a:rPr>
                  <a:t>对于</a:t>
                </a:r>
                <a:r>
                  <a:rPr lang="en-US" altLang="zh-CN" b="1" dirty="0">
                    <a:solidFill>
                      <a:srgbClr val="FF0000"/>
                    </a:solidFill>
                    <a:latin typeface="Courier New" panose="02070309020205020404" pitchFamily="49" charset="0"/>
                    <a:cs typeface="Times New Roman" panose="02020603050405020304" pitchFamily="18" charset="0"/>
                  </a:rPr>
                  <a:t>j</a:t>
                </a:r>
                <a:r>
                  <a:rPr lang="zh-CN" altLang="en-US" b="1" dirty="0">
                    <a:solidFill>
                      <a:srgbClr val="FF0000"/>
                    </a:solidFill>
                    <a:latin typeface="Courier New" panose="02070309020205020404" pitchFamily="49" charset="0"/>
                    <a:cs typeface="Times New Roman" panose="02020603050405020304" pitchFamily="18" charset="0"/>
                  </a:rPr>
                  <a:t>的处理与</a:t>
                </a:r>
                <a:r>
                  <a:rPr lang="en-US" altLang="zh-CN" b="1" dirty="0">
                    <a:solidFill>
                      <a:srgbClr val="FF0000"/>
                    </a:solidFill>
                    <a:latin typeface="Courier New" panose="02070309020205020404" pitchFamily="49" charset="0"/>
                    <a:cs typeface="Times New Roman" panose="02020603050405020304" pitchFamily="18" charset="0"/>
                  </a:rPr>
                  <a:t>i</a:t>
                </a:r>
                <a:r>
                  <a:rPr lang="zh-CN" altLang="en-US" b="1" dirty="0">
                    <a:solidFill>
                      <a:srgbClr val="FF0000"/>
                    </a:solidFill>
                    <a:latin typeface="Courier New" panose="02070309020205020404" pitchFamily="49" charset="0"/>
                    <a:cs typeface="Times New Roman" panose="02020603050405020304" pitchFamily="18" charset="0"/>
                  </a:rPr>
                  <a:t>相同。</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e2 = 1i</a:t>
                </a:r>
                <a:r>
                  <a:rPr lang="en-US" altLang="zh-CN" b="1" dirty="0">
                    <a:solidFill>
                      <a:srgbClr val="008000"/>
                    </a:solidFill>
                    <a:latin typeface="Courier New" panose="02070309020205020404" pitchFamily="49" charset="0"/>
                    <a:cs typeface="Times New Roman" panose="02020603050405020304" pitchFamily="18" charset="0"/>
                  </a:rPr>
                  <a:t>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isAlways</a:t>
                </a:r>
                <a:r>
                  <a:rPr lang="en-US" altLang="zh-CN" b="1" dirty="0">
                    <a:solidFill>
                      <a:srgbClr val="008000"/>
                    </a:solidFill>
                    <a:latin typeface="Courier New" panose="02070309020205020404" pitchFamily="49" charset="0"/>
                    <a:cs typeface="Times New Roman" panose="02020603050405020304" pitchFamily="18" charset="0"/>
                  </a:rPr>
                  <a:t>(e1 == i)      %</a:t>
                </a:r>
                <a:r>
                  <a:rPr lang="zh-CN" altLang="en-US" b="1" dirty="0">
                    <a:solidFill>
                      <a:srgbClr val="FF0000"/>
                    </a:solidFill>
                    <a:latin typeface="Courier New" panose="02070309020205020404" pitchFamily="49" charset="0"/>
                    <a:cs typeface="Times New Roman" panose="02020603050405020304" pitchFamily="18" charset="0"/>
                  </a:rPr>
                  <a:t>检测</a:t>
                </a:r>
                <a:r>
                  <a:rPr lang="en-US" altLang="zh-CN" b="1" dirty="0">
                    <a:solidFill>
                      <a:srgbClr val="FF0000"/>
                    </a:solidFill>
                    <a:latin typeface="Courier New" panose="02070309020205020404" pitchFamily="49" charset="0"/>
                    <a:cs typeface="Times New Roman" panose="02020603050405020304" pitchFamily="18" charset="0"/>
                  </a:rPr>
                  <a:t>e1</a:t>
                </a:r>
                <a:r>
                  <a:rPr lang="zh-CN" altLang="en-US" b="1" dirty="0">
                    <a:solidFill>
                      <a:srgbClr val="FF0000"/>
                    </a:solidFill>
                    <a:latin typeface="Courier New" panose="02070309020205020404" pitchFamily="49" charset="0"/>
                    <a:cs typeface="Times New Roman" panose="02020603050405020304" pitchFamily="18" charset="0"/>
                  </a:rPr>
                  <a:t>和常数</a:t>
                </a:r>
                <a14:m>
                  <m:oMath xmlns:m="http://schemas.openxmlformats.org/officeDocument/2006/math">
                    <m:r>
                      <a:rPr lang="en-US" altLang="zh-CN" b="1" i="1" smtClean="0">
                        <a:solidFill>
                          <a:srgbClr val="FF0000"/>
                        </a:solidFill>
                        <a:latin typeface="Cambria Math" panose="02040503050406030204" pitchFamily="18" charset="0"/>
                        <a:cs typeface="Times New Roman" panose="02020603050405020304" pitchFamily="18" charset="0"/>
                      </a:rPr>
                      <m:t>𝒊</m:t>
                    </m:r>
                    <m:r>
                      <a:rPr lang="en-US" altLang="zh-CN" b="1" i="1" smtClean="0">
                        <a:solidFill>
                          <a:srgbClr val="FF0000"/>
                        </a:solidFill>
                        <a:latin typeface="Cambria Math" panose="02040503050406030204" pitchFamily="18" charset="0"/>
                        <a:cs typeface="Times New Roman" panose="02020603050405020304" pitchFamily="18" charset="0"/>
                      </a:rPr>
                      <m:t>=</m:t>
                    </m:r>
                    <m:rad>
                      <m:radPr>
                        <m:degHide m:val="on"/>
                        <m:ctrlPr>
                          <a:rPr lang="en-US" altLang="zh-CN" b="1" i="1" smtClean="0">
                            <a:solidFill>
                              <a:srgbClr val="FF0000"/>
                            </a:solidFill>
                            <a:latin typeface="Cambria Math" panose="02040503050406030204" pitchFamily="18" charset="0"/>
                            <a:cs typeface="Times New Roman" panose="02020603050405020304" pitchFamily="18" charset="0"/>
                          </a:rPr>
                        </m:ctrlPr>
                      </m:radPr>
                      <m:deg/>
                      <m:e>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𝟏</m:t>
                        </m:r>
                      </m:e>
                    </m:rad>
                  </m:oMath>
                </a14:m>
                <a:r>
                  <a:rPr lang="zh-CN" altLang="en-US" b="1" dirty="0">
                    <a:solidFill>
                      <a:srgbClr val="FF0000"/>
                    </a:solidFill>
                    <a:latin typeface="Courier New" panose="02070309020205020404" pitchFamily="49" charset="0"/>
                    <a:cs typeface="Times New Roman" panose="02020603050405020304" pitchFamily="18" charset="0"/>
                  </a:rPr>
                  <a:t>是否相同。</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logical </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isAlways(e2 == j)      %</a:t>
                </a:r>
                <a:r>
                  <a:rPr lang="zh-CN" altLang="en-US" b="1" dirty="0">
                    <a:solidFill>
                      <a:srgbClr val="FF0000"/>
                    </a:solidFill>
                    <a:latin typeface="Courier New" panose="02070309020205020404" pitchFamily="49" charset="0"/>
                    <a:cs typeface="Times New Roman" panose="02020603050405020304" pitchFamily="18" charset="0"/>
                  </a:rPr>
                  <a:t>检测</a:t>
                </a:r>
                <a:r>
                  <a:rPr lang="en-US" altLang="zh-CN" b="1" dirty="0">
                    <a:solidFill>
                      <a:srgbClr val="FF0000"/>
                    </a:solidFill>
                    <a:latin typeface="Courier New" panose="02070309020205020404" pitchFamily="49" charset="0"/>
                    <a:cs typeface="Times New Roman" panose="02020603050405020304" pitchFamily="18" charset="0"/>
                  </a:rPr>
                  <a:t>e2</a:t>
                </a:r>
                <a:r>
                  <a:rPr lang="zh-CN" altLang="en-US" b="1" dirty="0">
                    <a:solidFill>
                      <a:srgbClr val="FF0000"/>
                    </a:solidFill>
                    <a:latin typeface="Courier New" panose="02070309020205020404" pitchFamily="49" charset="0"/>
                    <a:cs typeface="Times New Roman" panose="02020603050405020304" pitchFamily="18" charset="0"/>
                  </a:rPr>
                  <a:t>和常数</a:t>
                </a:r>
                <a14:m>
                  <m:oMath xmlns:m="http://schemas.openxmlformats.org/officeDocument/2006/math">
                    <m:r>
                      <a:rPr lang="en-US" altLang="zh-CN" b="1" i="1" smtClean="0">
                        <a:solidFill>
                          <a:srgbClr val="FF0000"/>
                        </a:solidFill>
                        <a:latin typeface="Cambria Math" panose="02040503050406030204" pitchFamily="18" charset="0"/>
                        <a:cs typeface="Times New Roman" panose="02020603050405020304" pitchFamily="18" charset="0"/>
                      </a:rPr>
                      <m:t>𝒋</m:t>
                    </m:r>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a:solidFill>
                          <a:srgbClr val="FF0000"/>
                        </a:solidFill>
                        <a:latin typeface="Cambria Math" panose="02040503050406030204" pitchFamily="18" charset="0"/>
                        <a:cs typeface="Times New Roman" panose="02020603050405020304" pitchFamily="18" charset="0"/>
                      </a:rPr>
                      <m:t>𝒊</m:t>
                    </m:r>
                    <m:r>
                      <a:rPr lang="en-US" altLang="zh-CN" b="1" i="1">
                        <a:solidFill>
                          <a:srgbClr val="FF0000"/>
                        </a:solidFill>
                        <a:latin typeface="Cambria Math" panose="02040503050406030204" pitchFamily="18" charset="0"/>
                        <a:cs typeface="Times New Roman" panose="02020603050405020304" pitchFamily="18" charset="0"/>
                      </a:rPr>
                      <m:t>=</m:t>
                    </m:r>
                    <m:rad>
                      <m:radPr>
                        <m:degHide m:val="on"/>
                        <m:ctrlPr>
                          <a:rPr lang="en-US" altLang="zh-CN" b="1" i="1">
                            <a:solidFill>
                              <a:srgbClr val="FF0000"/>
                            </a:solidFill>
                            <a:latin typeface="Cambria Math" panose="02040503050406030204" pitchFamily="18" charset="0"/>
                            <a:cs typeface="Times New Roman" panose="02020603050405020304" pitchFamily="18" charset="0"/>
                          </a:rPr>
                        </m:ctrlPr>
                      </m:radPr>
                      <m:deg/>
                      <m:e>
                        <m:r>
                          <a:rPr lang="en-US" altLang="zh-CN" b="1" i="1">
                            <a:solidFill>
                              <a:srgbClr val="FF0000"/>
                            </a:solidFill>
                            <a:latin typeface="Cambria Math" panose="02040503050406030204" pitchFamily="18" charset="0"/>
                            <a:cs typeface="Times New Roman" panose="02020603050405020304" pitchFamily="18" charset="0"/>
                          </a:rPr>
                          <m:t>−</m:t>
                        </m:r>
                        <m:r>
                          <a:rPr lang="en-US" altLang="zh-CN" b="1" i="1">
                            <a:solidFill>
                              <a:srgbClr val="FF0000"/>
                            </a:solidFill>
                            <a:latin typeface="Cambria Math" panose="02040503050406030204" pitchFamily="18" charset="0"/>
                            <a:cs typeface="Times New Roman" panose="02020603050405020304" pitchFamily="18" charset="0"/>
                          </a:rPr>
                          <m:t>𝟏</m:t>
                        </m:r>
                      </m:e>
                    </m:rad>
                  </m:oMath>
                </a14:m>
                <a:r>
                  <a:rPr lang="zh-CN" altLang="en-US" b="1" dirty="0">
                    <a:solidFill>
                      <a:srgbClr val="FF0000"/>
                    </a:solidFill>
                    <a:latin typeface="Courier New" panose="02070309020205020404" pitchFamily="49" charset="0"/>
                    <a:cs typeface="Times New Roman" panose="02020603050405020304" pitchFamily="18" charset="0"/>
                  </a:rPr>
                  <a:t>是否相同。</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logical</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 </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e1*e1                  %</a:t>
                </a:r>
                <a:r>
                  <a:rPr lang="zh-CN" altLang="en-US" b="1" dirty="0">
                    <a:solidFill>
                      <a:srgbClr val="FF0000"/>
                    </a:solidFill>
                    <a:latin typeface="Courier New" panose="02070309020205020404" pitchFamily="49" charset="0"/>
                    <a:cs typeface="Times New Roman" panose="02020603050405020304" pitchFamily="18" charset="0"/>
                  </a:rPr>
                  <a:t>检验</a:t>
                </a:r>
                <a:r>
                  <a:rPr lang="en-US" altLang="zh-CN" b="1" dirty="0">
                    <a:solidFill>
                      <a:srgbClr val="FF0000"/>
                    </a:solidFill>
                    <a:latin typeface="Courier New" panose="02070309020205020404" pitchFamily="49" charset="0"/>
                    <a:cs typeface="Times New Roman" panose="02020603050405020304" pitchFamily="18" charset="0"/>
                  </a:rPr>
                  <a:t>e1</a:t>
                </a:r>
                <a:r>
                  <a:rPr lang="zh-CN" altLang="en-US" b="1" dirty="0">
                    <a:solidFill>
                      <a:srgbClr val="FF0000"/>
                    </a:solidFill>
                    <a:latin typeface="Courier New" panose="02070309020205020404" pitchFamily="49" charset="0"/>
                    <a:cs typeface="Times New Roman" panose="02020603050405020304" pitchFamily="18" charset="0"/>
                  </a:rPr>
                  <a:t>的平方值。</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-1</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f1=</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('i')            %</a:t>
                </a:r>
                <a:r>
                  <a:rPr lang="zh-CN" altLang="en-US" b="1" dirty="0">
                    <a:solidFill>
                      <a:srgbClr val="FF0000"/>
                    </a:solidFill>
                    <a:latin typeface="Courier New" panose="02070309020205020404" pitchFamily="49" charset="0"/>
                    <a:cs typeface="Times New Roman" panose="02020603050405020304" pitchFamily="18" charset="0"/>
                  </a:rPr>
                  <a:t>字符串</a:t>
                </a:r>
                <a:r>
                  <a:rPr lang="en-US" altLang="zh-CN" b="1" dirty="0">
                    <a:solidFill>
                      <a:srgbClr val="FF0000"/>
                    </a:solidFill>
                    <a:latin typeface="Courier New" panose="02070309020205020404" pitchFamily="49" charset="0"/>
                    <a:cs typeface="Times New Roman" panose="02020603050405020304" pitchFamily="18" charset="0"/>
                  </a:rPr>
                  <a:t>i</a:t>
                </a:r>
                <a:r>
                  <a:rPr lang="zh-CN" altLang="en-US" b="1" dirty="0">
                    <a:solidFill>
                      <a:srgbClr val="FF0000"/>
                    </a:solidFill>
                    <a:latin typeface="Courier New" panose="02070309020205020404" pitchFamily="49" charset="0"/>
                    <a:cs typeface="Times New Roman" panose="02020603050405020304" pitchFamily="18" charset="0"/>
                  </a:rPr>
                  <a:t>会被识别为字母变量</a:t>
                </a:r>
                <a:r>
                  <a:rPr lang="en-US" altLang="zh-CN" b="1" dirty="0">
                    <a:solidFill>
                      <a:srgbClr val="FF0000"/>
                    </a:solidFill>
                    <a:latin typeface="Courier New" panose="02070309020205020404" pitchFamily="49" charset="0"/>
                    <a:cs typeface="Times New Roman" panose="02020603050405020304" pitchFamily="18" charset="0"/>
                  </a:rPr>
                  <a:t>i</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f1 = i</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f2=</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('j')            %</a:t>
                </a:r>
                <a:r>
                  <a:rPr lang="zh-CN" altLang="en-US" b="1" dirty="0">
                    <a:solidFill>
                      <a:srgbClr val="FF0000"/>
                    </a:solidFill>
                    <a:latin typeface="Courier New" panose="02070309020205020404" pitchFamily="49" charset="0"/>
                    <a:cs typeface="Times New Roman" panose="02020603050405020304" pitchFamily="18" charset="0"/>
                  </a:rPr>
                  <a:t>字符串</a:t>
                </a:r>
                <a:r>
                  <a:rPr lang="en-US" altLang="zh-CN" b="1" dirty="0">
                    <a:solidFill>
                      <a:srgbClr val="FF0000"/>
                    </a:solidFill>
                    <a:latin typeface="Courier New" panose="02070309020205020404" pitchFamily="49" charset="0"/>
                    <a:cs typeface="Times New Roman" panose="02020603050405020304" pitchFamily="18" charset="0"/>
                  </a:rPr>
                  <a:t>j</a:t>
                </a:r>
                <a:r>
                  <a:rPr lang="zh-CN" altLang="en-US" b="1" dirty="0">
                    <a:solidFill>
                      <a:srgbClr val="FF0000"/>
                    </a:solidFill>
                    <a:latin typeface="Courier New" panose="02070309020205020404" pitchFamily="49" charset="0"/>
                    <a:cs typeface="Times New Roman" panose="02020603050405020304" pitchFamily="18" charset="0"/>
                  </a:rPr>
                  <a:t>会被识别为字母变量</a:t>
                </a:r>
                <a:r>
                  <a:rPr lang="en-US" altLang="zh-CN" b="1" dirty="0">
                    <a:solidFill>
                      <a:srgbClr val="FF0000"/>
                    </a:solidFill>
                    <a:latin typeface="Courier New" panose="02070309020205020404" pitchFamily="49" charset="0"/>
                    <a:cs typeface="Times New Roman" panose="02020603050405020304" pitchFamily="18" charset="0"/>
                  </a:rPr>
                  <a:t>j</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f2 = j</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f1*f1                  %</a:t>
                </a:r>
                <a:r>
                  <a:rPr lang="zh-CN" altLang="en-US" b="1" dirty="0">
                    <a:solidFill>
                      <a:srgbClr val="FF0000"/>
                    </a:solidFill>
                    <a:latin typeface="Courier New" panose="02070309020205020404" pitchFamily="49" charset="0"/>
                    <a:cs typeface="Times New Roman" panose="02020603050405020304" pitchFamily="18" charset="0"/>
                  </a:rPr>
                  <a:t>检验</a:t>
                </a:r>
                <a:r>
                  <a:rPr lang="en-US" altLang="zh-CN" b="1" dirty="0">
                    <a:solidFill>
                      <a:srgbClr val="FF0000"/>
                    </a:solidFill>
                    <a:latin typeface="Courier New" panose="02070309020205020404" pitchFamily="49" charset="0"/>
                    <a:cs typeface="Times New Roman" panose="02020603050405020304" pitchFamily="18" charset="0"/>
                  </a:rPr>
                  <a:t>f1</a:t>
                </a:r>
                <a:r>
                  <a:rPr lang="zh-CN" altLang="en-US" b="1" dirty="0">
                    <a:solidFill>
                      <a:srgbClr val="FF0000"/>
                    </a:solidFill>
                    <a:latin typeface="Courier New" panose="02070309020205020404" pitchFamily="49" charset="0"/>
                    <a:cs typeface="Times New Roman" panose="02020603050405020304" pitchFamily="18" charset="0"/>
                  </a:rPr>
                  <a:t>的平方值。</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i^2</a:t>
                </a:r>
                <a:endParaRPr lang="en-US" altLang="zh-CN" dirty="0">
                  <a:solidFill>
                    <a:srgbClr val="0000FF"/>
                  </a:solidFill>
                  <a:latin typeface="Courier New" panose="02070309020205020404" pitchFamily="49" charset="0"/>
                  <a:cs typeface="Times New Roman" panose="0202060305040502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150394" y="1259175"/>
                <a:ext cx="8814093" cy="5409301"/>
              </a:xfrm>
              <a:prstGeom prst="rect">
                <a:avLst/>
              </a:prstGeom>
              <a:blipFill rotWithShape="1">
                <a:blip r:embed="rId1"/>
                <a:stretch>
                  <a:fillRect l="-6" t="-11" r="2" b="6"/>
                </a:stretch>
              </a:blipFill>
            </p:spPr>
            <p:txBody>
              <a:bodyPr/>
              <a:lstStyle/>
              <a:p>
                <a:r>
                  <a:rPr lang="zh-CN" altLang="en-US">
                    <a:noFill/>
                  </a:rPr>
                  <a:t> </a:t>
                </a:r>
              </a:p>
            </p:txBody>
          </p:sp>
        </mc:Fallback>
      </mc:AlternateContent>
      <p:sp>
        <p:nvSpPr>
          <p:cNvPr id="3" name="文本框 2"/>
          <p:cNvSpPr txBox="1"/>
          <p:nvPr/>
        </p:nvSpPr>
        <p:spPr>
          <a:xfrm>
            <a:off x="150395" y="823472"/>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2.1-1】</a:t>
            </a:r>
            <a:r>
              <a:rPr lang="zh-CN" altLang="en-US" sz="1800" b="1" dirty="0">
                <a:solidFill>
                  <a:prstClr val="black"/>
                </a:solidFill>
                <a:latin typeface="+mn-ea"/>
              </a:rPr>
              <a:t>符号数的定义实例</a:t>
            </a:r>
            <a:endParaRPr lang="zh-CN" altLang="en-US"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6" end="1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7" end="1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复合运算的误差规避</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6" name="矩形 5"/>
          <p:cNvSpPr/>
          <p:nvPr/>
        </p:nvSpPr>
        <p:spPr>
          <a:xfrm>
            <a:off x="211380" y="1422883"/>
            <a:ext cx="8343106" cy="3969385"/>
          </a:xfrm>
          <a:prstGeom prst="rect">
            <a:avLst/>
          </a:prstGeom>
        </p:spPr>
        <p:txBody>
          <a:bodyPr wrap="square" numCol="2">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 all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R1=sin(</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(0.3))%</a:t>
            </a:r>
            <a:r>
              <a:rPr lang="zh-CN" altLang="en-US" b="1" dirty="0">
                <a:solidFill>
                  <a:srgbClr val="FF0000"/>
                </a:solidFill>
                <a:latin typeface="Courier New" panose="02070309020205020404" pitchFamily="49" charset="0"/>
                <a:cs typeface="Times New Roman" panose="02020603050405020304" pitchFamily="18" charset="0"/>
              </a:rPr>
              <a:t>普通小数</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R2=sin(</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(3e-1))%</a:t>
            </a:r>
            <a:r>
              <a:rPr lang="zh-CN" altLang="en-US" b="1" dirty="0">
                <a:solidFill>
                  <a:srgbClr val="FF0000"/>
                </a:solidFill>
                <a:latin typeface="Courier New" panose="02070309020205020404" pitchFamily="49" charset="0"/>
                <a:cs typeface="Times New Roman" panose="02020603050405020304" pitchFamily="18" charset="0"/>
              </a:rPr>
              <a:t>科学计数</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R3=sin(</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(3/10))%</a:t>
            </a:r>
            <a:r>
              <a:rPr lang="zh-CN" altLang="en-US" b="1" dirty="0">
                <a:solidFill>
                  <a:srgbClr val="FF0000"/>
                </a:solidFill>
                <a:latin typeface="Courier New" panose="02070309020205020404" pitchFamily="49" charset="0"/>
                <a:cs typeface="Times New Roman" panose="02020603050405020304" pitchFamily="18" charset="0"/>
              </a:rPr>
              <a:t>分数</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R4=sin(</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('3/10'))%</a:t>
            </a:r>
            <a:r>
              <a:rPr lang="zh-CN" altLang="en-US" b="1" dirty="0">
                <a:solidFill>
                  <a:srgbClr val="FF0000"/>
                </a:solidFill>
                <a:latin typeface="Courier New" panose="02070309020205020404" pitchFamily="49" charset="0"/>
                <a:cs typeface="Times New Roman" panose="02020603050405020304" pitchFamily="18" charset="0"/>
              </a:rPr>
              <a:t>有理分数字串</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(['R1</a:t>
            </a:r>
            <a:r>
              <a:rPr lang="zh-CN" altLang="zh-CN" b="1" dirty="0">
                <a:solidFill>
                  <a:srgbClr val="008000"/>
                </a:solidFill>
                <a:latin typeface="Courier New" panose="02070309020205020404" pitchFamily="49" charset="0"/>
                <a:cs typeface="Times New Roman" panose="02020603050405020304" pitchFamily="18" charset="0"/>
              </a:rPr>
              <a:t>属于什么类别？ 答：</a:t>
            </a:r>
            <a:r>
              <a:rPr lang="en-US" altLang="zh-CN" b="1" dirty="0">
                <a:solidFill>
                  <a:srgbClr val="008000"/>
                </a:solidFill>
                <a:latin typeface="Courier New" panose="02070309020205020404" pitchFamily="49" charset="0"/>
                <a:cs typeface="Times New Roman" panose="02020603050405020304" pitchFamily="18" charset="0"/>
              </a:rPr>
              <a:t>',class(R1)])</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(['R1</a:t>
            </a:r>
            <a:r>
              <a:rPr lang="zh-CN" altLang="zh-CN" b="1" dirty="0">
                <a:solidFill>
                  <a:srgbClr val="008000"/>
                </a:solidFill>
                <a:latin typeface="Courier New" panose="02070309020205020404" pitchFamily="49" charset="0"/>
                <a:cs typeface="Times New Roman" panose="02020603050405020304" pitchFamily="18" charset="0"/>
              </a:rPr>
              <a:t>与</a:t>
            </a:r>
            <a:r>
              <a:rPr lang="en-US" altLang="zh-CN" b="1" dirty="0">
                <a:solidFill>
                  <a:srgbClr val="008000"/>
                </a:solidFill>
                <a:latin typeface="Courier New" panose="02070309020205020404" pitchFamily="49" charset="0"/>
                <a:cs typeface="Times New Roman" panose="02020603050405020304" pitchFamily="18" charset="0"/>
              </a:rPr>
              <a:t>R4</a:t>
            </a:r>
            <a:r>
              <a:rPr lang="zh-CN" altLang="zh-CN" b="1" dirty="0">
                <a:solidFill>
                  <a:srgbClr val="008000"/>
                </a:solidFill>
                <a:latin typeface="Courier New" panose="02070309020205020404" pitchFamily="49" charset="0"/>
                <a:cs typeface="Times New Roman" panose="02020603050405020304" pitchFamily="18" charset="0"/>
              </a:rPr>
              <a:t>是否相等？（是为</a:t>
            </a:r>
            <a:r>
              <a:rPr lang="en-US" altLang="zh-CN" b="1" dirty="0">
                <a:solidFill>
                  <a:srgbClr val="008000"/>
                </a:solidFill>
                <a:latin typeface="Courier New" panose="02070309020205020404" pitchFamily="49" charset="0"/>
                <a:cs typeface="Times New Roman" panose="02020603050405020304" pitchFamily="18" charset="0"/>
              </a:rPr>
              <a:t>1</a:t>
            </a:r>
            <a:r>
              <a:rPr lang="zh-CN" altLang="zh-CN" b="1" dirty="0">
                <a:solidFill>
                  <a:srgbClr val="008000"/>
                </a:solidFill>
                <a:latin typeface="Courier New" panose="02070309020205020404" pitchFamily="49" charset="0"/>
                <a:cs typeface="Times New Roman" panose="02020603050405020304" pitchFamily="18" charset="0"/>
              </a:rPr>
              <a:t>，否为</a:t>
            </a:r>
            <a:r>
              <a:rPr lang="en-US" altLang="zh-CN" b="1" dirty="0">
                <a:solidFill>
                  <a:srgbClr val="008000"/>
                </a:solidFill>
                <a:latin typeface="Courier New" panose="02070309020205020404" pitchFamily="49" charset="0"/>
                <a:cs typeface="Times New Roman" panose="02020603050405020304" pitchFamily="18" charset="0"/>
              </a:rPr>
              <a:t>0</a:t>
            </a:r>
            <a:r>
              <a:rPr lang="zh-CN" altLang="zh-CN" b="1" dirty="0">
                <a:solidFill>
                  <a:srgbClr val="008000"/>
                </a:solidFill>
                <a:latin typeface="Courier New" panose="02070309020205020404" pitchFamily="49" charset="0"/>
                <a:cs typeface="Times New Roman" panose="02020603050405020304" pitchFamily="18" charset="0"/>
              </a:rPr>
              <a:t>） 答：</a:t>
            </a:r>
            <a:r>
              <a:rPr lang="en-US" altLang="zh-CN" b="1" dirty="0">
                <a:solidFill>
                  <a:srgbClr val="008000"/>
                </a:solidFill>
                <a:latin typeface="Courier New" panose="02070309020205020404" pitchFamily="49" charset="0"/>
                <a:cs typeface="Times New Roman" panose="02020603050405020304" pitchFamily="18" charset="0"/>
              </a:rPr>
              <a:t>',int2str(logical(R1==R4))])</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R1 =sin(3/10)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R2 =sin(3/10)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R3 =sin(3/10)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R4 =sin(3/10)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R1</a:t>
            </a:r>
            <a:r>
              <a:rPr lang="zh-CN" altLang="zh-CN" dirty="0">
                <a:solidFill>
                  <a:srgbClr val="0000FF"/>
                </a:solidFill>
                <a:latin typeface="Courier New" panose="02070309020205020404" pitchFamily="49" charset="0"/>
                <a:cs typeface="Times New Roman" panose="02020603050405020304" pitchFamily="18" charset="0"/>
              </a:rPr>
              <a:t>属于什么类别？ 答：</a:t>
            </a:r>
            <a:r>
              <a:rPr lang="en-US" altLang="zh-CN" dirty="0" err="1">
                <a:solidFill>
                  <a:srgbClr val="0000FF"/>
                </a:solidFill>
                <a:latin typeface="Courier New" panose="02070309020205020404" pitchFamily="49" charset="0"/>
                <a:cs typeface="Times New Roman" panose="02020603050405020304" pitchFamily="18" charset="0"/>
              </a:rPr>
              <a:t>sym</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R1</a:t>
            </a:r>
            <a:r>
              <a:rPr lang="zh-CN" altLang="zh-CN" dirty="0">
                <a:solidFill>
                  <a:srgbClr val="0000FF"/>
                </a:solidFill>
                <a:latin typeface="Courier New" panose="02070309020205020404" pitchFamily="49" charset="0"/>
                <a:cs typeface="Times New Roman" panose="02020603050405020304" pitchFamily="18" charset="0"/>
              </a:rPr>
              <a:t>与</a:t>
            </a:r>
            <a:r>
              <a:rPr lang="en-US" altLang="zh-CN" dirty="0">
                <a:solidFill>
                  <a:srgbClr val="0000FF"/>
                </a:solidFill>
                <a:latin typeface="Courier New" panose="02070309020205020404" pitchFamily="49" charset="0"/>
                <a:cs typeface="Times New Roman" panose="02020603050405020304" pitchFamily="18" charset="0"/>
              </a:rPr>
              <a:t>R4</a:t>
            </a:r>
            <a:r>
              <a:rPr lang="zh-CN" altLang="zh-CN" dirty="0">
                <a:solidFill>
                  <a:srgbClr val="0000FF"/>
                </a:solidFill>
                <a:latin typeface="Courier New" panose="02070309020205020404" pitchFamily="49" charset="0"/>
                <a:cs typeface="Times New Roman" panose="02020603050405020304" pitchFamily="18" charset="0"/>
              </a:rPr>
              <a:t>是否相等？（是为</a:t>
            </a:r>
            <a:r>
              <a:rPr lang="en-US" altLang="zh-CN" dirty="0">
                <a:solidFill>
                  <a:srgbClr val="0000FF"/>
                </a:solidFill>
                <a:latin typeface="Courier New" panose="02070309020205020404" pitchFamily="49" charset="0"/>
                <a:cs typeface="Times New Roman" panose="02020603050405020304" pitchFamily="18" charset="0"/>
              </a:rPr>
              <a:t>1</a:t>
            </a:r>
            <a:r>
              <a:rPr lang="zh-CN" altLang="zh-CN" dirty="0">
                <a:solidFill>
                  <a:srgbClr val="0000FF"/>
                </a:solidFill>
                <a:latin typeface="Courier New" panose="02070309020205020404" pitchFamily="49" charset="0"/>
                <a:cs typeface="Times New Roman" panose="02020603050405020304" pitchFamily="18" charset="0"/>
              </a:rPr>
              <a:t>，否为</a:t>
            </a:r>
            <a:r>
              <a:rPr lang="en-US" altLang="zh-CN" dirty="0">
                <a:solidFill>
                  <a:srgbClr val="0000FF"/>
                </a:solidFill>
                <a:latin typeface="Courier New" panose="02070309020205020404" pitchFamily="49" charset="0"/>
                <a:cs typeface="Times New Roman" panose="02020603050405020304" pitchFamily="18" charset="0"/>
              </a:rPr>
              <a:t>0</a:t>
            </a:r>
            <a:r>
              <a:rPr lang="zh-CN" altLang="zh-CN" dirty="0">
                <a:solidFill>
                  <a:srgbClr val="0000FF"/>
                </a:solidFill>
                <a:latin typeface="Courier New" panose="02070309020205020404" pitchFamily="49" charset="0"/>
                <a:cs typeface="Times New Roman" panose="02020603050405020304" pitchFamily="18" charset="0"/>
              </a:rPr>
              <a:t>） 答：</a:t>
            </a:r>
            <a:r>
              <a:rPr lang="en-US" altLang="zh-CN" dirty="0">
                <a:solidFill>
                  <a:srgbClr val="0000FF"/>
                </a:solidFill>
                <a:latin typeface="Courier New" panose="02070309020205020404" pitchFamily="49" charset="0"/>
                <a:cs typeface="Times New Roman" panose="02020603050405020304" pitchFamily="18" charset="0"/>
              </a:rPr>
              <a:t>1  </a:t>
            </a:r>
            <a:endParaRPr lang="zh-CN" altLang="zh-CN" dirty="0">
              <a:latin typeface="Courier New" panose="02070309020205020404" pitchFamily="49" charset="0"/>
              <a:cs typeface="Times New Roman" panose="02020603050405020304" pitchFamily="18" charset="0"/>
            </a:endParaRPr>
          </a:p>
        </p:txBody>
      </p:sp>
      <p:sp>
        <p:nvSpPr>
          <p:cNvPr id="10" name="矩形 9"/>
          <p:cNvSpPr/>
          <p:nvPr/>
        </p:nvSpPr>
        <p:spPr>
          <a:xfrm>
            <a:off x="107504" y="5373216"/>
            <a:ext cx="8928992" cy="1200329"/>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en-US" altLang="zh-CN" sz="2400" b="1" dirty="0" err="1">
                <a:solidFill>
                  <a:prstClr val="black"/>
                </a:solidFill>
                <a:latin typeface="幼圆" panose="02010509060101010101" pitchFamily="49" charset="-122"/>
                <a:ea typeface="幼圆" panose="02010509060101010101" pitchFamily="49" charset="-122"/>
              </a:rPr>
              <a:t>disp</a:t>
            </a:r>
            <a:r>
              <a:rPr lang="en-US" altLang="zh-CN" sz="2400" b="1" dirty="0">
                <a:solidFill>
                  <a:prstClr val="black"/>
                </a:solidFill>
                <a:latin typeface="幼圆" panose="02010509060101010101" pitchFamily="49" charset="-122"/>
                <a:ea typeface="幼圆" panose="02010509060101010101" pitchFamily="49" charset="-122"/>
              </a:rPr>
              <a:t>([‘XXXXX’,</a:t>
            </a:r>
            <a:r>
              <a:rPr lang="zh-CN" altLang="en-US" sz="2400" b="1" dirty="0">
                <a:solidFill>
                  <a:prstClr val="black"/>
                </a:solidFill>
                <a:latin typeface="幼圆" panose="02010509060101010101" pitchFamily="49" charset="-122"/>
                <a:ea typeface="幼圆" panose="02010509060101010101" pitchFamily="49" charset="-122"/>
              </a:rPr>
              <a:t>字符串变量</a:t>
            </a:r>
            <a:r>
              <a:rPr lang="en-US" altLang="zh-CN" sz="2400" b="1" dirty="0">
                <a:solidFill>
                  <a:prstClr val="black"/>
                </a:solidFill>
                <a:latin typeface="幼圆" panose="02010509060101010101" pitchFamily="49" charset="-122"/>
                <a:ea typeface="幼圆" panose="02010509060101010101" pitchFamily="49" charset="-122"/>
              </a:rPr>
              <a:t>,…])</a:t>
            </a:r>
            <a:r>
              <a:rPr lang="zh-CN" altLang="en-US" sz="2400" b="1" dirty="0">
                <a:solidFill>
                  <a:prstClr val="black"/>
                </a:solidFill>
                <a:latin typeface="幼圆" panose="02010509060101010101" pitchFamily="49" charset="-122"/>
                <a:ea typeface="幼圆" panose="02010509060101010101" pitchFamily="49" charset="-122"/>
              </a:rPr>
              <a:t>可依次输出多条字符串</a:t>
            </a:r>
            <a:r>
              <a:rPr lang="en-US" altLang="zh-CN" sz="2400" b="1" dirty="0">
                <a:solidFill>
                  <a:prstClr val="black"/>
                </a:solidFill>
                <a:latin typeface="幼圆" panose="02010509060101010101" pitchFamily="49" charset="-122"/>
                <a:ea typeface="幼圆" panose="02010509060101010101" pitchFamily="49" charset="-122"/>
              </a:rPr>
              <a:t>,</a:t>
            </a:r>
            <a:r>
              <a:rPr lang="zh-CN" altLang="en-US" sz="2400" b="1" dirty="0">
                <a:solidFill>
                  <a:srgbClr val="FF0000"/>
                </a:solidFill>
                <a:latin typeface="幼圆" panose="02010509060101010101" pitchFamily="49" charset="-122"/>
                <a:ea typeface="幼圆" panose="02010509060101010101" pitchFamily="49" charset="-122"/>
              </a:rPr>
              <a:t>非字符串可以用自带变量类型输出，也可用</a:t>
            </a:r>
            <a:r>
              <a:rPr lang="en-US" altLang="zh-CN" sz="2400" b="1" dirty="0">
                <a:solidFill>
                  <a:srgbClr val="FF0000"/>
                </a:solidFill>
                <a:latin typeface="幼圆" panose="02010509060101010101" pitchFamily="49" charset="-122"/>
                <a:ea typeface="幼圆" panose="02010509060101010101" pitchFamily="49" charset="-122"/>
              </a:rPr>
              <a:t>int2str</a:t>
            </a:r>
            <a:r>
              <a:rPr lang="zh-CN" altLang="en-US" sz="2400" b="1" dirty="0">
                <a:solidFill>
                  <a:srgbClr val="FF0000"/>
                </a:solidFill>
                <a:latin typeface="幼圆" panose="02010509060101010101" pitchFamily="49" charset="-122"/>
                <a:ea typeface="幼圆" panose="02010509060101010101" pitchFamily="49" charset="-122"/>
              </a:rPr>
              <a:t>转换</a:t>
            </a:r>
            <a:r>
              <a:rPr lang="zh-CN" altLang="en-US" sz="2400" b="1" dirty="0">
                <a:solidFill>
                  <a:prstClr val="black"/>
                </a:solidFill>
                <a:latin typeface="幼圆" panose="02010509060101010101" pitchFamily="49" charset="-122"/>
                <a:ea typeface="幼圆" panose="02010509060101010101" pitchFamily="49" charset="-122"/>
              </a:rPr>
              <a:t>，</a:t>
            </a:r>
            <a:r>
              <a:rPr lang="en-US" altLang="zh-CN" sz="2400" b="1" dirty="0" err="1">
                <a:solidFill>
                  <a:prstClr val="black"/>
                </a:solidFill>
                <a:latin typeface="幼圆" panose="02010509060101010101" pitchFamily="49" charset="-122"/>
                <a:ea typeface="幼圆" panose="02010509060101010101" pitchFamily="49" charset="-122"/>
              </a:rPr>
              <a:t>disp</a:t>
            </a:r>
            <a:r>
              <a:rPr lang="zh-CN" altLang="en-US" sz="2400" b="1" dirty="0">
                <a:solidFill>
                  <a:prstClr val="black"/>
                </a:solidFill>
                <a:latin typeface="幼圆" panose="02010509060101010101" pitchFamily="49" charset="-122"/>
                <a:ea typeface="幼圆" panose="02010509060101010101" pitchFamily="49" charset="-122"/>
              </a:rPr>
              <a:t>此时可等价的换为</a:t>
            </a:r>
            <a:r>
              <a:rPr lang="en-US" altLang="zh-CN" sz="2400" b="1" dirty="0">
                <a:solidFill>
                  <a:prstClr val="black"/>
                </a:solidFill>
                <a:latin typeface="幼圆" panose="02010509060101010101" pitchFamily="49" charset="-122"/>
                <a:ea typeface="幼圆" panose="02010509060101010101" pitchFamily="49" charset="-122"/>
              </a:rPr>
              <a:t>display</a:t>
            </a:r>
            <a:r>
              <a:rPr lang="zh-CN" altLang="en-US" sz="2400" b="1" dirty="0">
                <a:solidFill>
                  <a:prstClr val="black"/>
                </a:solidFill>
                <a:latin typeface="幼圆" panose="02010509060101010101" pitchFamily="49" charset="-122"/>
                <a:ea typeface="幼圆" panose="02010509060101010101" pitchFamily="49" charset="-122"/>
              </a:rPr>
              <a:t>，</a:t>
            </a:r>
            <a:r>
              <a:rPr lang="zh-CN" altLang="en-US" sz="2400" b="1" u="sng" dirty="0">
                <a:solidFill>
                  <a:srgbClr val="FF0000"/>
                </a:solidFill>
                <a:latin typeface="幼圆" panose="02010509060101010101" pitchFamily="49" charset="-122"/>
                <a:ea typeface="幼圆" panose="02010509060101010101" pitchFamily="49" charset="-122"/>
              </a:rPr>
              <a:t>多目标输出小括号内中括号不可省略</a:t>
            </a:r>
            <a:endParaRPr lang="en-US" altLang="zh-CN" sz="2400" u="sng" dirty="0">
              <a:solidFill>
                <a:srgbClr val="FF0000"/>
              </a:solidFill>
            </a:endParaRPr>
          </a:p>
        </p:txBody>
      </p:sp>
      <mc:AlternateContent xmlns:mc="http://schemas.openxmlformats.org/markup-compatibility/2006">
        <mc:Choice xmlns:a14="http://schemas.microsoft.com/office/drawing/2010/main" Requires="a14">
          <p:sp>
            <p:nvSpPr>
              <p:cNvPr id="3" name="文本框 2"/>
              <p:cNvSpPr txBox="1"/>
              <p:nvPr/>
            </p:nvSpPr>
            <p:spPr>
              <a:xfrm>
                <a:off x="150395" y="961216"/>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a:t>
                </a:r>
                <a:r>
                  <a:rPr lang="zh-CN" altLang="en-US" b="1" dirty="0">
                    <a:solidFill>
                      <a:prstClr val="black"/>
                    </a:solidFill>
                    <a:latin typeface="+mn-ea"/>
                  </a:rPr>
                  <a:t>如何获得</a:t>
                </a:r>
                <a:r>
                  <a:rPr lang="zh-CN" altLang="en-US" sz="1800" b="1" dirty="0">
                    <a:solidFill>
                      <a:prstClr val="black"/>
                    </a:solidFill>
                    <a:latin typeface="+mn-ea"/>
                  </a:rPr>
                  <a:t>符号数使得</a:t>
                </a:r>
                <a14:m>
                  <m:oMath xmlns:m="http://schemas.openxmlformats.org/officeDocument/2006/math">
                    <m:r>
                      <a:rPr lang="en-US" altLang="zh-CN" sz="1800" b="1" i="1" smtClean="0">
                        <a:solidFill>
                          <a:prstClr val="black"/>
                        </a:solidFill>
                        <a:latin typeface="Cambria Math" panose="02040503050406030204" pitchFamily="18" charset="0"/>
                      </a:rPr>
                      <m:t>𝒔𝒊𝒏</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𝟎</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𝟑</m:t>
                    </m:r>
                    <m:r>
                      <a:rPr lang="en-US" altLang="zh-CN" sz="1800" b="1" i="1" smtClean="0">
                        <a:solidFill>
                          <a:prstClr val="black"/>
                        </a:solidFill>
                        <a:latin typeface="Cambria Math" panose="02040503050406030204" pitchFamily="18" charset="0"/>
                      </a:rPr>
                      <m:t>)</m:t>
                    </m:r>
                  </m:oMath>
                </a14:m>
                <a:r>
                  <a:rPr lang="zh-CN" altLang="en-US" b="1" dirty="0">
                    <a:latin typeface="+mn-ea"/>
                  </a:rPr>
                  <a:t>可以准确的被显示</a:t>
                </a:r>
                <a:endParaRPr lang="zh-CN" altLang="en-US" b="1" dirty="0">
                  <a:latin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150395" y="961216"/>
                <a:ext cx="8208912" cy="369332"/>
              </a:xfrm>
              <a:prstGeom prst="rect">
                <a:avLst/>
              </a:prstGeom>
              <a:blipFill rotWithShape="1">
                <a:blip r:embed="rId1"/>
                <a:stretch>
                  <a:fillRect l="-7" t="-125" r="2" b="6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复合运算的误差规避</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3" name="矩形 2"/>
          <p:cNvSpPr/>
          <p:nvPr/>
        </p:nvSpPr>
        <p:spPr>
          <a:xfrm>
            <a:off x="201806" y="1152770"/>
            <a:ext cx="4572000" cy="5355312"/>
          </a:xfrm>
          <a:prstGeom prst="rect">
            <a:avLst/>
          </a:prstGeom>
        </p:spPr>
        <p:txBody>
          <a:bodyPr>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S1=sin(</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('0.3'))</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S2=sin(</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('3e-1'))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字符串小数转换为符号对象在运算中会保留</a:t>
            </a:r>
            <a:r>
              <a:rPr lang="en-US" altLang="zh-CN" b="1" dirty="0">
                <a:solidFill>
                  <a:srgbClr val="FF0000"/>
                </a:solidFill>
                <a:latin typeface="Courier New" panose="02070309020205020404" pitchFamily="49" charset="0"/>
                <a:cs typeface="Times New Roman" panose="02020603050405020304" pitchFamily="18" charset="0"/>
              </a:rPr>
              <a:t>32</a:t>
            </a:r>
            <a:r>
              <a:rPr lang="zh-CN" altLang="en-US" b="1" dirty="0">
                <a:solidFill>
                  <a:srgbClr val="FF0000"/>
                </a:solidFill>
                <a:latin typeface="Courier New" panose="02070309020205020404" pitchFamily="49" charset="0"/>
                <a:cs typeface="Times New Roman" panose="02020603050405020304" pitchFamily="18" charset="0"/>
              </a:rPr>
              <a:t>位精度的近似小数，计算会有误差（因此如不是超长数不建议使用字符串）</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eRS</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vpa</a:t>
            </a:r>
            <a:r>
              <a:rPr lang="en-US" altLang="zh-CN" b="1" dirty="0">
                <a:solidFill>
                  <a:srgbClr val="008000"/>
                </a:solidFill>
                <a:latin typeface="Courier New" panose="02070309020205020404" pitchFamily="49" charset="0"/>
                <a:cs typeface="Times New Roman" panose="02020603050405020304" pitchFamily="18" charset="0"/>
              </a:rPr>
              <a:t>(abs(R1-S1),64);</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(['S1</a:t>
            </a:r>
            <a:r>
              <a:rPr lang="zh-CN" altLang="zh-CN" b="1" dirty="0">
                <a:solidFill>
                  <a:srgbClr val="008000"/>
                </a:solidFill>
                <a:latin typeface="Courier New" panose="02070309020205020404" pitchFamily="49" charset="0"/>
                <a:cs typeface="Times New Roman" panose="02020603050405020304" pitchFamily="18" charset="0"/>
              </a:rPr>
              <a:t>属于什么类别？</a:t>
            </a:r>
            <a:r>
              <a:rPr lang="en-US" altLang="zh-CN" b="1" dirty="0">
                <a:solidFill>
                  <a:srgbClr val="008000"/>
                </a:solidFill>
                <a:latin typeface="Courier New" panose="02070309020205020404" pitchFamily="49" charset="0"/>
                <a:cs typeface="Times New Roman" panose="02020603050405020304" pitchFamily="18" charset="0"/>
              </a:rPr>
              <a:t>  </a:t>
            </a:r>
            <a:r>
              <a:rPr lang="zh-CN" altLang="zh-CN" b="1" dirty="0">
                <a:solidFill>
                  <a:srgbClr val="008000"/>
                </a:solidFill>
                <a:latin typeface="Courier New" panose="02070309020205020404" pitchFamily="49" charset="0"/>
                <a:cs typeface="Times New Roman" panose="02020603050405020304" pitchFamily="18" charset="0"/>
              </a:rPr>
              <a:t>答：</a:t>
            </a:r>
            <a:r>
              <a:rPr lang="en-US" altLang="zh-CN" b="1" dirty="0">
                <a:solidFill>
                  <a:srgbClr val="008000"/>
                </a:solidFill>
                <a:latin typeface="Courier New" panose="02070309020205020404" pitchFamily="49" charset="0"/>
                <a:cs typeface="Times New Roman" panose="02020603050405020304" pitchFamily="18" charset="0"/>
              </a:rPr>
              <a:t>',class(S1)])</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(['S1</a:t>
            </a:r>
            <a:r>
              <a:rPr lang="zh-CN" altLang="zh-CN" b="1" dirty="0">
                <a:solidFill>
                  <a:srgbClr val="008000"/>
                </a:solidFill>
                <a:latin typeface="Courier New" panose="02070309020205020404" pitchFamily="49" charset="0"/>
                <a:cs typeface="Times New Roman" panose="02020603050405020304" pitchFamily="18" charset="0"/>
              </a:rPr>
              <a:t>与</a:t>
            </a:r>
            <a:r>
              <a:rPr lang="en-US" altLang="zh-CN" b="1" dirty="0">
                <a:solidFill>
                  <a:srgbClr val="008000"/>
                </a:solidFill>
                <a:latin typeface="Courier New" panose="02070309020205020404" pitchFamily="49" charset="0"/>
                <a:cs typeface="Times New Roman" panose="02020603050405020304" pitchFamily="18" charset="0"/>
              </a:rPr>
              <a:t>R1</a:t>
            </a:r>
            <a:r>
              <a:rPr lang="zh-CN" altLang="zh-CN" b="1" dirty="0">
                <a:solidFill>
                  <a:srgbClr val="008000"/>
                </a:solidFill>
                <a:latin typeface="Courier New" panose="02070309020205020404" pitchFamily="49" charset="0"/>
                <a:cs typeface="Times New Roman" panose="02020603050405020304" pitchFamily="18" charset="0"/>
              </a:rPr>
              <a:t>是否相同？ 答</a:t>
            </a:r>
            <a:r>
              <a:rPr lang="en-US" altLang="zh-CN" b="1" dirty="0">
                <a:solidFill>
                  <a:srgbClr val="008000"/>
                </a:solidFill>
                <a:latin typeface="Courier New" panose="02070309020205020404" pitchFamily="49" charset="0"/>
                <a:cs typeface="Times New Roman" panose="02020603050405020304" pitchFamily="18" charset="0"/>
              </a:rPr>
              <a:t>: ',int2str(logical(R1==S1))])</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('S1</a:t>
            </a:r>
            <a:r>
              <a:rPr lang="zh-CN" altLang="zh-CN" b="1" dirty="0">
                <a:solidFill>
                  <a:srgbClr val="008000"/>
                </a:solidFill>
                <a:latin typeface="Courier New" panose="02070309020205020404" pitchFamily="49" charset="0"/>
                <a:cs typeface="Times New Roman" panose="02020603050405020304" pitchFamily="18" charset="0"/>
              </a:rPr>
              <a:t>与</a:t>
            </a:r>
            <a:r>
              <a:rPr lang="en-US" altLang="zh-CN" b="1" dirty="0">
                <a:solidFill>
                  <a:srgbClr val="008000"/>
                </a:solidFill>
                <a:latin typeface="Courier New" panose="02070309020205020404" pitchFamily="49" charset="0"/>
                <a:cs typeface="Times New Roman" panose="02020603050405020304" pitchFamily="18" charset="0"/>
              </a:rPr>
              <a:t>R1</a:t>
            </a:r>
            <a:r>
              <a:rPr lang="zh-CN" altLang="zh-CN" b="1" dirty="0">
                <a:solidFill>
                  <a:srgbClr val="008000"/>
                </a:solidFill>
                <a:latin typeface="Courier New" panose="02070309020205020404" pitchFamily="49" charset="0"/>
                <a:cs typeface="Times New Roman" panose="02020603050405020304" pitchFamily="18" charset="0"/>
              </a:rPr>
              <a:t>的误差为</a:t>
            </a:r>
            <a:r>
              <a:rPr lang="en-US" altLang="zh-CN" b="1" dirty="0">
                <a:solidFill>
                  <a:srgbClr val="008000"/>
                </a:solidFill>
                <a:latin typeface="Courier New" panose="02070309020205020404" pitchFamily="49" charset="0"/>
                <a:cs typeface="Times New Roman" panose="02020603050405020304" pitchFamily="18" charset="0"/>
              </a:rPr>
              <a:t>')</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(double(</a:t>
            </a:r>
            <a:r>
              <a:rPr lang="en-US" altLang="zh-CN" b="1" dirty="0" err="1">
                <a:solidFill>
                  <a:srgbClr val="008000"/>
                </a:solidFill>
                <a:latin typeface="Courier New" panose="02070309020205020404" pitchFamily="49" charset="0"/>
                <a:cs typeface="Times New Roman" panose="02020603050405020304" pitchFamily="18" charset="0"/>
              </a:rPr>
              <a:t>eRS</a:t>
            </a:r>
            <a:r>
              <a:rPr lang="en-US" altLang="zh-CN" b="1" dirty="0">
                <a:solidFill>
                  <a:srgbClr val="008000"/>
                </a:solidFill>
                <a:latin typeface="Courier New" panose="02070309020205020404" pitchFamily="49" charset="0"/>
                <a:cs typeface="Times New Roman" panose="02020603050405020304" pitchFamily="18" charset="0"/>
              </a:rPr>
              <a:t>))</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S1=0.29552020666133957510532074568503</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S2=0.29552020666133957510532074568503</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S1</a:t>
            </a:r>
            <a:r>
              <a:rPr lang="zh-CN" altLang="zh-CN" dirty="0">
                <a:solidFill>
                  <a:srgbClr val="0000FF"/>
                </a:solidFill>
                <a:latin typeface="Courier New" panose="02070309020205020404" pitchFamily="49" charset="0"/>
                <a:cs typeface="Times New Roman" panose="02020603050405020304" pitchFamily="18" charset="0"/>
              </a:rPr>
              <a:t>属于什么类别？</a:t>
            </a:r>
            <a:r>
              <a:rPr lang="en-US" altLang="zh-CN" dirty="0">
                <a:solidFill>
                  <a:srgbClr val="0000FF"/>
                </a:solidFill>
                <a:latin typeface="Courier New" panose="02070309020205020404" pitchFamily="49" charset="0"/>
                <a:cs typeface="Times New Roman" panose="02020603050405020304" pitchFamily="18" charset="0"/>
              </a:rPr>
              <a:t>  </a:t>
            </a:r>
            <a:r>
              <a:rPr lang="zh-CN" altLang="zh-CN" dirty="0">
                <a:solidFill>
                  <a:srgbClr val="0000FF"/>
                </a:solidFill>
                <a:latin typeface="Courier New" panose="02070309020205020404" pitchFamily="49" charset="0"/>
                <a:cs typeface="Times New Roman" panose="02020603050405020304" pitchFamily="18" charset="0"/>
              </a:rPr>
              <a:t>答：</a:t>
            </a:r>
            <a:r>
              <a:rPr lang="en-US" altLang="zh-CN" dirty="0" err="1">
                <a:solidFill>
                  <a:srgbClr val="0000FF"/>
                </a:solidFill>
                <a:latin typeface="Courier New" panose="02070309020205020404" pitchFamily="49" charset="0"/>
                <a:cs typeface="Times New Roman" panose="02020603050405020304" pitchFamily="18" charset="0"/>
              </a:rPr>
              <a:t>sym</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S1</a:t>
            </a:r>
            <a:r>
              <a:rPr lang="zh-CN" altLang="zh-CN" dirty="0">
                <a:solidFill>
                  <a:srgbClr val="0000FF"/>
                </a:solidFill>
                <a:latin typeface="Courier New" panose="02070309020205020404" pitchFamily="49" charset="0"/>
                <a:cs typeface="Times New Roman" panose="02020603050405020304" pitchFamily="18" charset="0"/>
              </a:rPr>
              <a:t>与</a:t>
            </a:r>
            <a:r>
              <a:rPr lang="en-US" altLang="zh-CN" dirty="0">
                <a:solidFill>
                  <a:srgbClr val="0000FF"/>
                </a:solidFill>
                <a:latin typeface="Courier New" panose="02070309020205020404" pitchFamily="49" charset="0"/>
                <a:cs typeface="Times New Roman" panose="02020603050405020304" pitchFamily="18" charset="0"/>
              </a:rPr>
              <a:t>R1</a:t>
            </a:r>
            <a:r>
              <a:rPr lang="zh-CN" altLang="zh-CN" dirty="0">
                <a:solidFill>
                  <a:srgbClr val="0000FF"/>
                </a:solidFill>
                <a:latin typeface="Courier New" panose="02070309020205020404" pitchFamily="49" charset="0"/>
                <a:cs typeface="Times New Roman" panose="02020603050405020304" pitchFamily="18" charset="0"/>
              </a:rPr>
              <a:t>是否相同？ 答</a:t>
            </a:r>
            <a:r>
              <a:rPr lang="en-US" altLang="zh-CN" dirty="0">
                <a:solidFill>
                  <a:srgbClr val="0000FF"/>
                </a:solidFill>
                <a:latin typeface="Courier New" panose="02070309020205020404" pitchFamily="49" charset="0"/>
                <a:cs typeface="Times New Roman" panose="02020603050405020304" pitchFamily="18" charset="0"/>
              </a:rPr>
              <a:t>: 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S1</a:t>
            </a:r>
            <a:r>
              <a:rPr lang="zh-CN" altLang="zh-CN" dirty="0">
                <a:solidFill>
                  <a:srgbClr val="0000FF"/>
                </a:solidFill>
                <a:latin typeface="Courier New" panose="02070309020205020404" pitchFamily="49" charset="0"/>
                <a:cs typeface="Times New Roman" panose="02020603050405020304" pitchFamily="18" charset="0"/>
              </a:rPr>
              <a:t>与</a:t>
            </a:r>
            <a:r>
              <a:rPr lang="en-US" altLang="zh-CN" dirty="0">
                <a:solidFill>
                  <a:srgbClr val="0000FF"/>
                </a:solidFill>
                <a:latin typeface="Courier New" panose="02070309020205020404" pitchFamily="49" charset="0"/>
                <a:cs typeface="Times New Roman" panose="02020603050405020304" pitchFamily="18" charset="0"/>
              </a:rPr>
              <a:t>R1</a:t>
            </a:r>
            <a:r>
              <a:rPr lang="zh-CN" altLang="zh-CN" dirty="0">
                <a:solidFill>
                  <a:srgbClr val="0000FF"/>
                </a:solidFill>
                <a:latin typeface="Courier New" panose="02070309020205020404" pitchFamily="49" charset="0"/>
                <a:cs typeface="Times New Roman" panose="02020603050405020304" pitchFamily="18" charset="0"/>
              </a:rPr>
              <a:t>的误差为</a:t>
            </a:r>
            <a:r>
              <a:rPr lang="en-US" altLang="zh-CN" dirty="0">
                <a:latin typeface="Courier New" panose="02070309020205020404" pitchFamily="49" charset="0"/>
                <a:cs typeface="Times New Roman" panose="02020603050405020304" pitchFamily="18" charset="0"/>
              </a:rPr>
              <a:t> </a:t>
            </a:r>
            <a:r>
              <a:rPr lang="en-US" altLang="zh-CN" dirty="0">
                <a:solidFill>
                  <a:srgbClr val="0000FF"/>
                </a:solidFill>
                <a:latin typeface="Courier New" panose="02070309020205020404" pitchFamily="49" charset="0"/>
                <a:cs typeface="Times New Roman" panose="02020603050405020304" pitchFamily="18" charset="0"/>
              </a:rPr>
              <a:t>6.3494e-41</a:t>
            </a:r>
            <a:endParaRPr lang="zh-CN" altLang="zh-CN" dirty="0">
              <a:latin typeface="Courier New" panose="02070309020205020404" pitchFamily="49" charset="0"/>
              <a:cs typeface="Times New Roman" panose="02020603050405020304" pitchFamily="18" charset="0"/>
            </a:endParaRPr>
          </a:p>
        </p:txBody>
      </p:sp>
      <p:sp>
        <p:nvSpPr>
          <p:cNvPr id="7" name="矩形 6"/>
          <p:cNvSpPr/>
          <p:nvPr/>
        </p:nvSpPr>
        <p:spPr>
          <a:xfrm>
            <a:off x="4860032" y="1152770"/>
            <a:ext cx="3960440" cy="5693866"/>
          </a:xfrm>
          <a:prstGeom prst="rect">
            <a:avLst/>
          </a:prstGeom>
        </p:spPr>
        <p:txBody>
          <a:bodyPr wrap="square">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F1=</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(sin(3/10))</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F2=</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(sin(0.3))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先计算再转换的双精度符号对象仅有</a:t>
            </a:r>
            <a:r>
              <a:rPr lang="en-US" altLang="zh-CN" b="1" dirty="0">
                <a:solidFill>
                  <a:srgbClr val="FF0000"/>
                </a:solidFill>
                <a:latin typeface="Courier New" panose="02070309020205020404" pitchFamily="49" charset="0"/>
                <a:cs typeface="Times New Roman" panose="02020603050405020304" pitchFamily="18" charset="0"/>
              </a:rPr>
              <a:t>16</a:t>
            </a:r>
            <a:r>
              <a:rPr lang="zh-CN" altLang="en-US" b="1" dirty="0">
                <a:solidFill>
                  <a:srgbClr val="FF0000"/>
                </a:solidFill>
                <a:latin typeface="Courier New" panose="02070309020205020404" pitchFamily="49" charset="0"/>
                <a:cs typeface="Times New Roman" panose="02020603050405020304" pitchFamily="18" charset="0"/>
              </a:rPr>
              <a:t>位有效数字，误差更大</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eFS</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vpa</a:t>
            </a:r>
            <a:r>
              <a:rPr lang="en-US" altLang="zh-CN" b="1" dirty="0">
                <a:solidFill>
                  <a:srgbClr val="008000"/>
                </a:solidFill>
                <a:latin typeface="Courier New" panose="02070309020205020404" pitchFamily="49" charset="0"/>
                <a:cs typeface="Times New Roman" panose="02020603050405020304" pitchFamily="18" charset="0"/>
              </a:rPr>
              <a:t>(abs(F1-S1),32);</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(['F1</a:t>
            </a:r>
            <a:r>
              <a:rPr lang="zh-CN" altLang="zh-CN" b="1" dirty="0">
                <a:solidFill>
                  <a:srgbClr val="008000"/>
                </a:solidFill>
                <a:latin typeface="Courier New" panose="02070309020205020404" pitchFamily="49" charset="0"/>
                <a:cs typeface="Times New Roman" panose="02020603050405020304" pitchFamily="18" charset="0"/>
              </a:rPr>
              <a:t>属于什么类别？</a:t>
            </a:r>
            <a:r>
              <a:rPr lang="en-US" altLang="zh-CN" b="1" dirty="0">
                <a:solidFill>
                  <a:srgbClr val="008000"/>
                </a:solidFill>
                <a:latin typeface="Courier New" panose="02070309020205020404" pitchFamily="49" charset="0"/>
                <a:cs typeface="Times New Roman" panose="02020603050405020304" pitchFamily="18" charset="0"/>
              </a:rPr>
              <a:t>  </a:t>
            </a:r>
            <a:r>
              <a:rPr lang="zh-CN" altLang="zh-CN" b="1" dirty="0">
                <a:solidFill>
                  <a:srgbClr val="008000"/>
                </a:solidFill>
                <a:latin typeface="Courier New" panose="02070309020205020404" pitchFamily="49" charset="0"/>
                <a:cs typeface="Times New Roman" panose="02020603050405020304" pitchFamily="18" charset="0"/>
              </a:rPr>
              <a:t>答：</a:t>
            </a:r>
            <a:r>
              <a:rPr lang="en-US" altLang="zh-CN" b="1" dirty="0">
                <a:solidFill>
                  <a:srgbClr val="008000"/>
                </a:solidFill>
                <a:latin typeface="Courier New" panose="02070309020205020404" pitchFamily="49" charset="0"/>
                <a:cs typeface="Times New Roman" panose="02020603050405020304" pitchFamily="18" charset="0"/>
              </a:rPr>
              <a:t>',class(F1)])</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(['S1</a:t>
            </a:r>
            <a:r>
              <a:rPr lang="zh-CN" altLang="zh-CN" b="1" dirty="0">
                <a:solidFill>
                  <a:srgbClr val="008000"/>
                </a:solidFill>
                <a:latin typeface="Courier New" panose="02070309020205020404" pitchFamily="49" charset="0"/>
                <a:cs typeface="Times New Roman" panose="02020603050405020304" pitchFamily="18" charset="0"/>
              </a:rPr>
              <a:t>与</a:t>
            </a:r>
            <a:r>
              <a:rPr lang="en-US" altLang="zh-CN" b="1" dirty="0">
                <a:solidFill>
                  <a:srgbClr val="008000"/>
                </a:solidFill>
                <a:latin typeface="Courier New" panose="02070309020205020404" pitchFamily="49" charset="0"/>
                <a:cs typeface="Times New Roman" panose="02020603050405020304" pitchFamily="18" charset="0"/>
              </a:rPr>
              <a:t>F1</a:t>
            </a:r>
            <a:r>
              <a:rPr lang="zh-CN" altLang="zh-CN" b="1" dirty="0">
                <a:solidFill>
                  <a:srgbClr val="008000"/>
                </a:solidFill>
                <a:latin typeface="Courier New" panose="02070309020205020404" pitchFamily="49" charset="0"/>
                <a:cs typeface="Times New Roman" panose="02020603050405020304" pitchFamily="18" charset="0"/>
              </a:rPr>
              <a:t>是否相同？ 答</a:t>
            </a:r>
            <a:r>
              <a:rPr lang="en-US" altLang="zh-CN" b="1" dirty="0">
                <a:solidFill>
                  <a:srgbClr val="008000"/>
                </a:solidFill>
                <a:latin typeface="Courier New" panose="02070309020205020404" pitchFamily="49" charset="0"/>
                <a:cs typeface="Times New Roman" panose="02020603050405020304" pitchFamily="18" charset="0"/>
              </a:rPr>
              <a:t>: ',int2str(logical(F1==S1))])</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('F1</a:t>
            </a:r>
            <a:r>
              <a:rPr lang="zh-CN" altLang="zh-CN" b="1" dirty="0">
                <a:solidFill>
                  <a:srgbClr val="008000"/>
                </a:solidFill>
                <a:latin typeface="Courier New" panose="02070309020205020404" pitchFamily="49" charset="0"/>
                <a:cs typeface="Times New Roman" panose="02020603050405020304" pitchFamily="18" charset="0"/>
              </a:rPr>
              <a:t>与</a:t>
            </a:r>
            <a:r>
              <a:rPr lang="en-US" altLang="zh-CN" b="1" dirty="0">
                <a:solidFill>
                  <a:srgbClr val="008000"/>
                </a:solidFill>
                <a:latin typeface="Courier New" panose="02070309020205020404" pitchFamily="49" charset="0"/>
                <a:cs typeface="Times New Roman" panose="02020603050405020304" pitchFamily="18" charset="0"/>
              </a:rPr>
              <a:t>S1</a:t>
            </a:r>
            <a:r>
              <a:rPr lang="zh-CN" altLang="zh-CN" b="1" dirty="0">
                <a:solidFill>
                  <a:srgbClr val="008000"/>
                </a:solidFill>
                <a:latin typeface="Courier New" panose="02070309020205020404" pitchFamily="49" charset="0"/>
                <a:cs typeface="Times New Roman" panose="02020603050405020304" pitchFamily="18" charset="0"/>
              </a:rPr>
              <a:t>的误差为</a:t>
            </a:r>
            <a:r>
              <a:rPr lang="en-US" altLang="zh-CN" b="1" dirty="0">
                <a:solidFill>
                  <a:srgbClr val="008000"/>
                </a:solidFill>
                <a:latin typeface="Courier New" panose="02070309020205020404" pitchFamily="49" charset="0"/>
                <a:cs typeface="Times New Roman" panose="02020603050405020304" pitchFamily="18" charset="0"/>
              </a:rPr>
              <a:t>')</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disp</a:t>
            </a:r>
            <a:r>
              <a:rPr lang="en-US" altLang="zh-CN" b="1" dirty="0">
                <a:solidFill>
                  <a:srgbClr val="008000"/>
                </a:solidFill>
                <a:latin typeface="Courier New" panose="02070309020205020404" pitchFamily="49" charset="0"/>
                <a:cs typeface="Times New Roman" panose="02020603050405020304" pitchFamily="18" charset="0"/>
              </a:rPr>
              <a:t>(double(</a:t>
            </a:r>
            <a:r>
              <a:rPr lang="en-US" altLang="zh-CN" b="1" dirty="0" err="1">
                <a:solidFill>
                  <a:srgbClr val="008000"/>
                </a:solidFill>
                <a:latin typeface="Courier New" panose="02070309020205020404" pitchFamily="49" charset="0"/>
                <a:cs typeface="Times New Roman" panose="02020603050405020304" pitchFamily="18" charset="0"/>
              </a:rPr>
              <a:t>eFS</a:t>
            </a: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sz="2000" dirty="0">
                <a:latin typeface="Times New Roman" panose="02020603050405020304" pitchFamily="18" charset="0"/>
              </a:rPr>
              <a:t>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F1=5323618770401843/18014398509481984</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F2=5323618770401843/18014398509481984</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F1</a:t>
            </a:r>
            <a:r>
              <a:rPr lang="zh-CN" altLang="zh-CN" dirty="0">
                <a:solidFill>
                  <a:srgbClr val="0000FF"/>
                </a:solidFill>
                <a:latin typeface="Courier New" panose="02070309020205020404" pitchFamily="49" charset="0"/>
                <a:cs typeface="Times New Roman" panose="02020603050405020304" pitchFamily="18" charset="0"/>
              </a:rPr>
              <a:t>属于什么类别？</a:t>
            </a:r>
            <a:r>
              <a:rPr lang="en-US" altLang="zh-CN" dirty="0">
                <a:solidFill>
                  <a:srgbClr val="0000FF"/>
                </a:solidFill>
                <a:latin typeface="Courier New" panose="02070309020205020404" pitchFamily="49" charset="0"/>
                <a:cs typeface="Times New Roman" panose="02020603050405020304" pitchFamily="18" charset="0"/>
              </a:rPr>
              <a:t>  </a:t>
            </a:r>
            <a:r>
              <a:rPr lang="zh-CN" altLang="zh-CN" dirty="0">
                <a:solidFill>
                  <a:srgbClr val="0000FF"/>
                </a:solidFill>
                <a:latin typeface="Courier New" panose="02070309020205020404" pitchFamily="49" charset="0"/>
                <a:cs typeface="Times New Roman" panose="02020603050405020304" pitchFamily="18" charset="0"/>
              </a:rPr>
              <a:t>答：</a:t>
            </a:r>
            <a:r>
              <a:rPr lang="en-US" altLang="zh-CN" dirty="0" err="1">
                <a:solidFill>
                  <a:srgbClr val="0000FF"/>
                </a:solidFill>
                <a:latin typeface="Courier New" panose="02070309020205020404" pitchFamily="49" charset="0"/>
                <a:cs typeface="Times New Roman" panose="02020603050405020304" pitchFamily="18" charset="0"/>
              </a:rPr>
              <a:t>sym</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S1</a:t>
            </a:r>
            <a:r>
              <a:rPr lang="zh-CN" altLang="zh-CN" dirty="0">
                <a:solidFill>
                  <a:srgbClr val="0000FF"/>
                </a:solidFill>
                <a:latin typeface="Courier New" panose="02070309020205020404" pitchFamily="49" charset="0"/>
                <a:cs typeface="Times New Roman" panose="02020603050405020304" pitchFamily="18" charset="0"/>
              </a:rPr>
              <a:t>与</a:t>
            </a:r>
            <a:r>
              <a:rPr lang="en-US" altLang="zh-CN" dirty="0">
                <a:solidFill>
                  <a:srgbClr val="0000FF"/>
                </a:solidFill>
                <a:latin typeface="Courier New" panose="02070309020205020404" pitchFamily="49" charset="0"/>
                <a:cs typeface="Times New Roman" panose="02020603050405020304" pitchFamily="18" charset="0"/>
              </a:rPr>
              <a:t>F1</a:t>
            </a:r>
            <a:r>
              <a:rPr lang="zh-CN" altLang="zh-CN" dirty="0">
                <a:solidFill>
                  <a:srgbClr val="0000FF"/>
                </a:solidFill>
                <a:latin typeface="Courier New" panose="02070309020205020404" pitchFamily="49" charset="0"/>
                <a:cs typeface="Times New Roman" panose="02020603050405020304" pitchFamily="18" charset="0"/>
              </a:rPr>
              <a:t>是否相同？ 答</a:t>
            </a:r>
            <a:r>
              <a:rPr lang="en-US" altLang="zh-CN" dirty="0">
                <a:solidFill>
                  <a:srgbClr val="0000FF"/>
                </a:solidFill>
                <a:latin typeface="Courier New" panose="02070309020205020404" pitchFamily="49" charset="0"/>
                <a:cs typeface="Times New Roman" panose="02020603050405020304" pitchFamily="18" charset="0"/>
              </a:rPr>
              <a:t>: 0</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F1</a:t>
            </a:r>
            <a:r>
              <a:rPr lang="zh-CN" altLang="zh-CN" dirty="0">
                <a:solidFill>
                  <a:srgbClr val="0000FF"/>
                </a:solidFill>
                <a:latin typeface="Courier New" panose="02070309020205020404" pitchFamily="49" charset="0"/>
                <a:cs typeface="Times New Roman" panose="02020603050405020304" pitchFamily="18" charset="0"/>
              </a:rPr>
              <a:t>与</a:t>
            </a:r>
            <a:r>
              <a:rPr lang="en-US" altLang="zh-CN" dirty="0">
                <a:solidFill>
                  <a:srgbClr val="0000FF"/>
                </a:solidFill>
                <a:latin typeface="Courier New" panose="02070309020205020404" pitchFamily="49" charset="0"/>
                <a:cs typeface="Times New Roman" panose="02020603050405020304" pitchFamily="18" charset="0"/>
              </a:rPr>
              <a:t>S1</a:t>
            </a:r>
            <a:r>
              <a:rPr lang="zh-CN" altLang="zh-CN" dirty="0">
                <a:solidFill>
                  <a:srgbClr val="0000FF"/>
                </a:solidFill>
                <a:latin typeface="Courier New" panose="02070309020205020404" pitchFamily="49" charset="0"/>
                <a:cs typeface="Times New Roman" panose="02020603050405020304" pitchFamily="18" charset="0"/>
              </a:rPr>
              <a:t>的误差为</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2.8922e-17 </a:t>
            </a:r>
            <a:r>
              <a:rPr lang="en-US" altLang="zh-CN" sz="2000" dirty="0">
                <a:latin typeface="Times New Roman" panose="02020603050405020304" pitchFamily="18" charset="0"/>
              </a:rPr>
              <a:t> </a:t>
            </a:r>
            <a:endParaRPr lang="zh-CN" altLang="zh-CN" sz="2000"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文本框 3"/>
              <p:cNvSpPr txBox="1"/>
              <p:nvPr/>
            </p:nvSpPr>
            <p:spPr>
              <a:xfrm>
                <a:off x="150395" y="783438"/>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a:t>
                </a:r>
                <a:r>
                  <a:rPr lang="zh-CN" altLang="en-US" b="1" dirty="0">
                    <a:solidFill>
                      <a:prstClr val="black"/>
                    </a:solidFill>
                    <a:latin typeface="+mn-ea"/>
                  </a:rPr>
                  <a:t>如何获得</a:t>
                </a:r>
                <a:r>
                  <a:rPr lang="zh-CN" altLang="en-US" sz="1800" b="1" dirty="0">
                    <a:solidFill>
                      <a:prstClr val="black"/>
                    </a:solidFill>
                    <a:latin typeface="+mn-ea"/>
                  </a:rPr>
                  <a:t>符号数使得</a:t>
                </a:r>
                <a14:m>
                  <m:oMath xmlns:m="http://schemas.openxmlformats.org/officeDocument/2006/math">
                    <m:r>
                      <a:rPr lang="en-US" altLang="zh-CN" sz="1800" b="1" i="1" smtClean="0">
                        <a:solidFill>
                          <a:prstClr val="black"/>
                        </a:solidFill>
                        <a:latin typeface="Cambria Math" panose="02040503050406030204" pitchFamily="18" charset="0"/>
                      </a:rPr>
                      <m:t>𝒔𝒊𝒏</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𝟎</m:t>
                    </m:r>
                    <m:r>
                      <a:rPr lang="en-US" altLang="zh-CN" sz="1800" b="1" i="1" smtClean="0">
                        <a:solidFill>
                          <a:prstClr val="black"/>
                        </a:solidFill>
                        <a:latin typeface="Cambria Math" panose="02040503050406030204" pitchFamily="18" charset="0"/>
                      </a:rPr>
                      <m:t>.</m:t>
                    </m:r>
                    <m:r>
                      <a:rPr lang="en-US" altLang="zh-CN" sz="1800" b="1" i="1" smtClean="0">
                        <a:solidFill>
                          <a:prstClr val="black"/>
                        </a:solidFill>
                        <a:latin typeface="Cambria Math" panose="02040503050406030204" pitchFamily="18" charset="0"/>
                      </a:rPr>
                      <m:t>𝟑</m:t>
                    </m:r>
                    <m:r>
                      <a:rPr lang="en-US" altLang="zh-CN" sz="1800" b="1" i="1" smtClean="0">
                        <a:solidFill>
                          <a:prstClr val="black"/>
                        </a:solidFill>
                        <a:latin typeface="Cambria Math" panose="02040503050406030204" pitchFamily="18" charset="0"/>
                      </a:rPr>
                      <m:t>)</m:t>
                    </m:r>
                  </m:oMath>
                </a14:m>
                <a:r>
                  <a:rPr lang="zh-CN" altLang="en-US" b="1" dirty="0">
                    <a:latin typeface="+mn-ea"/>
                  </a:rPr>
                  <a:t>可以准确的被显示</a:t>
                </a:r>
                <a:endParaRPr lang="zh-CN" altLang="en-US" b="1" dirty="0">
                  <a:latin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150395" y="783438"/>
                <a:ext cx="8208912" cy="369332"/>
              </a:xfrm>
              <a:prstGeom prst="rect">
                <a:avLst/>
              </a:prstGeom>
              <a:blipFill rotWithShape="1">
                <a:blip r:embed="rId1"/>
                <a:stretch>
                  <a:fillRect l="-7" t="-131" r="2" b="66"/>
                </a:stretch>
              </a:blipFill>
            </p:spPr>
            <p:txBody>
              <a:bodyPr/>
              <a:lstStyle/>
              <a:p>
                <a:r>
                  <a:rPr lang="zh-CN" altLang="en-US">
                    <a:noFill/>
                  </a:rPr>
                  <a:t> </a:t>
                </a:r>
              </a:p>
            </p:txBody>
          </p:sp>
        </mc:Fallback>
      </mc:AlternateContent>
      <p:sp>
        <p:nvSpPr>
          <p:cNvPr id="8" name="文本框 7"/>
          <p:cNvSpPr txBox="1"/>
          <p:nvPr/>
        </p:nvSpPr>
        <p:spPr>
          <a:xfrm>
            <a:off x="323528" y="6422639"/>
            <a:ext cx="4572000" cy="369332"/>
          </a:xfrm>
          <a:prstGeom prst="rect">
            <a:avLst/>
          </a:prstGeom>
          <a:noFill/>
        </p:spPr>
        <p:txBody>
          <a:bodyPr wrap="square">
            <a:spAutoFit/>
          </a:bodyPr>
          <a:lstStyle/>
          <a:p>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FF0000"/>
                </a:solidFill>
                <a:latin typeface="Courier New" panose="02070309020205020404" pitchFamily="49" charset="0"/>
                <a:cs typeface="Times New Roman" panose="02020603050405020304" pitchFamily="18" charset="0"/>
              </a:rPr>
              <a:t>logical,isAlways</a:t>
            </a:r>
            <a:r>
              <a:rPr lang="zh-CN" altLang="en-US" b="1" dirty="0">
                <a:solidFill>
                  <a:srgbClr val="FF0000"/>
                </a:solidFill>
                <a:latin typeface="Courier New" panose="02070309020205020404" pitchFamily="49" charset="0"/>
                <a:cs typeface="Times New Roman" panose="02020603050405020304" pitchFamily="18" charset="0"/>
              </a:rPr>
              <a:t>区别见</a:t>
            </a:r>
            <a:r>
              <a:rPr lang="en-US" altLang="zh-CN" b="1" dirty="0">
                <a:solidFill>
                  <a:srgbClr val="FF0000"/>
                </a:solidFill>
                <a:latin typeface="Courier New" panose="02070309020205020404" pitchFamily="49" charset="0"/>
                <a:cs typeface="Times New Roman" panose="02020603050405020304" pitchFamily="18" charset="0"/>
              </a:rPr>
              <a:t>P53.</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6366524" y="2973965"/>
            <a:ext cx="2441776" cy="2644455"/>
          </a:xfrm>
          <a:prstGeom prst="rect">
            <a:avLst/>
          </a:prstGeom>
        </p:spPr>
      </p:pic>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定义</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基本符号变量</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4" name="矩形 3"/>
          <p:cNvSpPr/>
          <p:nvPr/>
        </p:nvSpPr>
        <p:spPr>
          <a:xfrm>
            <a:off x="211380" y="943950"/>
            <a:ext cx="8609092" cy="461665"/>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利用命令</a:t>
            </a:r>
            <a:r>
              <a:rPr lang="en-US" altLang="zh-CN" sz="2400" b="1" dirty="0" err="1">
                <a:solidFill>
                  <a:schemeClr val="accent2"/>
                </a:solidFill>
                <a:latin typeface="Courier New" panose="02070309020205020404" pitchFamily="49" charset="0"/>
                <a:ea typeface="+mj-ea"/>
                <a:cs typeface="Courier New" panose="02070309020205020404" pitchFamily="49" charset="0"/>
              </a:rPr>
              <a:t>sym</a:t>
            </a:r>
            <a:r>
              <a:rPr lang="zh-CN" altLang="en-US" sz="2400" b="1" dirty="0">
                <a:solidFill>
                  <a:prstClr val="black"/>
                </a:solidFill>
                <a:latin typeface="+mj-ea"/>
                <a:ea typeface="+mj-ea"/>
              </a:rPr>
              <a:t>或</a:t>
            </a:r>
            <a:r>
              <a:rPr lang="en-US" altLang="zh-CN" sz="2400" b="1" dirty="0" err="1">
                <a:solidFill>
                  <a:schemeClr val="accent2"/>
                </a:solidFill>
                <a:latin typeface="Courier New" panose="02070309020205020404" pitchFamily="49" charset="0"/>
                <a:ea typeface="+mj-ea"/>
                <a:cs typeface="Courier New" panose="02070309020205020404" pitchFamily="49" charset="0"/>
              </a:rPr>
              <a:t>syms</a:t>
            </a:r>
            <a:r>
              <a:rPr lang="zh-CN" altLang="en-US" sz="2400" b="1" dirty="0">
                <a:solidFill>
                  <a:prstClr val="black"/>
                </a:solidFill>
                <a:latin typeface="+mj-ea"/>
                <a:ea typeface="+mj-ea"/>
              </a:rPr>
              <a:t>定义符号对象的推荐方法（默认复变量）</a:t>
            </a:r>
            <a:endParaRPr lang="en-US" altLang="zh-CN" sz="2400" b="1" dirty="0">
              <a:solidFill>
                <a:prstClr val="black"/>
              </a:solidFill>
              <a:latin typeface="+mj-ea"/>
              <a:ea typeface="+mj-ea"/>
            </a:endParaRPr>
          </a:p>
        </p:txBody>
      </p:sp>
      <p:sp>
        <p:nvSpPr>
          <p:cNvPr id="11" name="矩形 10"/>
          <p:cNvSpPr/>
          <p:nvPr/>
        </p:nvSpPr>
        <p:spPr>
          <a:xfrm>
            <a:off x="211380" y="1773327"/>
            <a:ext cx="9113148" cy="907941"/>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ea typeface="+mj-ea"/>
              </a:rPr>
              <a:t>&gt;&gt; </a:t>
            </a:r>
            <a:r>
              <a:rPr lang="en-US" altLang="zh-CN" sz="2400" b="1" dirty="0">
                <a:solidFill>
                  <a:srgbClr val="0070C0"/>
                </a:solidFill>
                <a:latin typeface="+mj-ea"/>
                <a:ea typeface="+mj-ea"/>
              </a:rPr>
              <a:t>A=</a:t>
            </a:r>
            <a:r>
              <a:rPr lang="en-US" altLang="zh-CN" sz="2400" b="1" dirty="0" err="1">
                <a:solidFill>
                  <a:srgbClr val="0070C0"/>
                </a:solidFill>
                <a:latin typeface="+mj-ea"/>
                <a:ea typeface="+mj-ea"/>
              </a:rPr>
              <a:t>sym</a:t>
            </a:r>
            <a:r>
              <a:rPr lang="en-US" altLang="zh-CN" sz="2400" b="1" dirty="0">
                <a:solidFill>
                  <a:srgbClr val="0070C0"/>
                </a:solidFill>
                <a:latin typeface="+mj-ea"/>
                <a:ea typeface="+mj-ea"/>
              </a:rPr>
              <a:t>(</a:t>
            </a:r>
            <a:r>
              <a:rPr lang="en-US" altLang="zh-CN" sz="2400" b="1" dirty="0">
                <a:solidFill>
                  <a:srgbClr val="0070C0"/>
                </a:solidFill>
                <a:latin typeface="+mj-ea"/>
              </a:rPr>
              <a:t>'</a:t>
            </a:r>
            <a:r>
              <a:rPr lang="en-US" altLang="zh-CN" sz="2400" b="1" dirty="0">
                <a:solidFill>
                  <a:srgbClr val="0070C0"/>
                </a:solidFill>
                <a:latin typeface="+mj-ea"/>
                <a:ea typeface="+mj-ea"/>
              </a:rPr>
              <a:t>a</a:t>
            </a:r>
            <a:r>
              <a:rPr lang="en-US" altLang="zh-CN" sz="2400" b="1" dirty="0">
                <a:solidFill>
                  <a:srgbClr val="0070C0"/>
                </a:solidFill>
                <a:latin typeface="+mj-ea"/>
              </a:rPr>
              <a:t>'</a:t>
            </a:r>
            <a:r>
              <a:rPr lang="en-US" altLang="zh-CN" sz="2400" b="1" dirty="0">
                <a:solidFill>
                  <a:srgbClr val="0070C0"/>
                </a:solidFill>
                <a:latin typeface="+mj-ea"/>
                <a:ea typeface="+mj-ea"/>
              </a:rPr>
              <a:t>,</a:t>
            </a:r>
            <a:r>
              <a:rPr lang="en-US" altLang="zh-CN" sz="2400" b="1" dirty="0">
                <a:solidFill>
                  <a:srgbClr val="0070C0"/>
                </a:solidFill>
                <a:latin typeface="+mj-ea"/>
              </a:rPr>
              <a:t> '</a:t>
            </a:r>
            <a:r>
              <a:rPr lang="en-US" altLang="zh-CN" sz="2400" b="1" dirty="0">
                <a:solidFill>
                  <a:srgbClr val="0070C0"/>
                </a:solidFill>
                <a:latin typeface="+mj-ea"/>
                <a:ea typeface="+mj-ea"/>
              </a:rPr>
              <a:t>real</a:t>
            </a:r>
            <a:r>
              <a:rPr lang="en-US" altLang="zh-CN" sz="2400" b="1" dirty="0">
                <a:solidFill>
                  <a:srgbClr val="0070C0"/>
                </a:solidFill>
                <a:latin typeface="+mj-ea"/>
              </a:rPr>
              <a:t>'</a:t>
            </a:r>
            <a:r>
              <a:rPr lang="en-US" altLang="zh-CN" sz="2400" b="1" dirty="0">
                <a:solidFill>
                  <a:srgbClr val="0070C0"/>
                </a:solidFill>
                <a:latin typeface="+mj-ea"/>
                <a:ea typeface="+mj-ea"/>
              </a:rPr>
              <a:t>)</a:t>
            </a:r>
            <a:endParaRPr lang="en-US" altLang="zh-CN" sz="2400" b="1" dirty="0">
              <a:solidFill>
                <a:srgbClr val="00B050"/>
              </a:solidFill>
              <a:latin typeface="+mj-ea"/>
              <a:ea typeface="+mj-ea"/>
            </a:endParaRPr>
          </a:p>
          <a:p>
            <a:pPr lvl="0">
              <a:spcBef>
                <a:spcPts val="580"/>
              </a:spcBef>
              <a:buClr>
                <a:srgbClr val="00B050"/>
              </a:buClr>
              <a:buSzPct val="85000"/>
            </a:pPr>
            <a:r>
              <a:rPr lang="en-US" altLang="zh-CN" sz="2400" b="1" dirty="0">
                <a:latin typeface="+mj-ea"/>
                <a:ea typeface="+mj-ea"/>
              </a:rPr>
              <a:t> A =a         </a:t>
            </a:r>
            <a:r>
              <a:rPr lang="zh-CN" altLang="en-US" sz="2400" b="1" dirty="0">
                <a:latin typeface="+mj-ea"/>
                <a:ea typeface="+mj-ea"/>
              </a:rPr>
              <a:t>定义一个基本符号变量并赋值为常实数字母</a:t>
            </a:r>
            <a:r>
              <a:rPr lang="en-US" altLang="zh-CN" sz="2400" b="1" dirty="0">
                <a:latin typeface="Courier New" panose="02070309020205020404" pitchFamily="49" charset="0"/>
                <a:cs typeface="Times New Roman" panose="02020603050405020304" pitchFamily="18" charset="0"/>
              </a:rPr>
              <a:t>'</a:t>
            </a:r>
            <a:r>
              <a:rPr lang="en-US" altLang="zh-CN" sz="2400" b="1" dirty="0">
                <a:latin typeface="+mj-ea"/>
                <a:ea typeface="+mj-ea"/>
              </a:rPr>
              <a:t>a</a:t>
            </a:r>
            <a:r>
              <a:rPr lang="en-US" altLang="zh-CN" sz="2400" b="1" dirty="0">
                <a:latin typeface="Courier New" panose="02070309020205020404" pitchFamily="49" charset="0"/>
                <a:cs typeface="Times New Roman" panose="02020603050405020304" pitchFamily="18" charset="0"/>
              </a:rPr>
              <a:t>'</a:t>
            </a:r>
            <a:endParaRPr lang="en-US" altLang="zh-CN" sz="2400" b="1" dirty="0">
              <a:latin typeface="+mj-ea"/>
              <a:ea typeface="+mj-ea"/>
            </a:endParaRPr>
          </a:p>
        </p:txBody>
      </p:sp>
      <p:sp>
        <p:nvSpPr>
          <p:cNvPr id="12" name="矩形 11"/>
          <p:cNvSpPr/>
          <p:nvPr/>
        </p:nvSpPr>
        <p:spPr>
          <a:xfrm>
            <a:off x="211380" y="2993076"/>
            <a:ext cx="8086942" cy="907941"/>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ea typeface="+mj-ea"/>
              </a:rPr>
              <a:t>&gt;&gt; </a:t>
            </a:r>
            <a:r>
              <a:rPr lang="en-US" altLang="zh-CN" sz="2400" b="1" dirty="0" err="1">
                <a:solidFill>
                  <a:srgbClr val="0070C0"/>
                </a:solidFill>
                <a:latin typeface="+mj-ea"/>
                <a:ea typeface="+mj-ea"/>
              </a:rPr>
              <a:t>syms</a:t>
            </a:r>
            <a:r>
              <a:rPr lang="en-US" altLang="zh-CN" sz="2400" b="1" dirty="0">
                <a:solidFill>
                  <a:srgbClr val="0070C0"/>
                </a:solidFill>
                <a:latin typeface="+mj-ea"/>
                <a:ea typeface="+mj-ea"/>
              </a:rPr>
              <a:t> C</a:t>
            </a:r>
            <a:endParaRPr lang="en-US" altLang="zh-CN" sz="2400" b="1" dirty="0">
              <a:solidFill>
                <a:srgbClr val="0070C0"/>
              </a:solidFill>
              <a:latin typeface="+mj-ea"/>
              <a:ea typeface="+mj-ea"/>
            </a:endParaRPr>
          </a:p>
          <a:p>
            <a:pPr lvl="0">
              <a:spcBef>
                <a:spcPts val="580"/>
              </a:spcBef>
              <a:buClr>
                <a:srgbClr val="00B050"/>
              </a:buClr>
              <a:buSzPct val="85000"/>
            </a:pPr>
            <a:r>
              <a:rPr lang="en-US" altLang="zh-CN" sz="2400" b="1" dirty="0">
                <a:latin typeface="+mj-ea"/>
                <a:ea typeface="+mj-ea"/>
              </a:rPr>
              <a:t>(</a:t>
            </a:r>
            <a:r>
              <a:rPr lang="zh-CN" altLang="en-US" sz="2400" b="1" dirty="0">
                <a:latin typeface="+mj-ea"/>
                <a:ea typeface="+mj-ea"/>
              </a:rPr>
              <a:t>无输出）     定义</a:t>
            </a:r>
            <a:r>
              <a:rPr lang="en-US" altLang="zh-CN" sz="2400" b="1" dirty="0">
                <a:latin typeface="+mj-ea"/>
                <a:ea typeface="+mj-ea"/>
              </a:rPr>
              <a:t>C</a:t>
            </a:r>
            <a:r>
              <a:rPr lang="zh-CN" altLang="en-US" sz="2400" b="1" dirty="0">
                <a:latin typeface="+mj-ea"/>
                <a:ea typeface="+mj-ea"/>
              </a:rPr>
              <a:t>为基本符号变量（无值）</a:t>
            </a:r>
            <a:endParaRPr lang="en-US" altLang="zh-CN" sz="2400" b="1" dirty="0">
              <a:latin typeface="+mj-ea"/>
              <a:ea typeface="+mj-ea"/>
            </a:endParaRPr>
          </a:p>
        </p:txBody>
      </p:sp>
      <p:sp>
        <p:nvSpPr>
          <p:cNvPr id="13" name="矩形 12"/>
          <p:cNvSpPr/>
          <p:nvPr/>
        </p:nvSpPr>
        <p:spPr>
          <a:xfrm>
            <a:off x="207890" y="4392187"/>
            <a:ext cx="8396557" cy="907941"/>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ea typeface="+mj-ea"/>
              </a:rPr>
              <a:t>&gt;&gt; </a:t>
            </a:r>
            <a:r>
              <a:rPr lang="en-US" altLang="zh-CN" sz="2400" b="1" dirty="0" err="1">
                <a:solidFill>
                  <a:srgbClr val="0070C0"/>
                </a:solidFill>
                <a:latin typeface="+mj-ea"/>
                <a:ea typeface="+mj-ea"/>
              </a:rPr>
              <a:t>syms</a:t>
            </a:r>
            <a:r>
              <a:rPr lang="en-US" altLang="zh-CN" sz="2400" b="1" dirty="0">
                <a:solidFill>
                  <a:srgbClr val="0070C0"/>
                </a:solidFill>
                <a:latin typeface="+mj-ea"/>
                <a:ea typeface="+mj-ea"/>
              </a:rPr>
              <a:t> A B</a:t>
            </a:r>
            <a:endParaRPr lang="en-US" altLang="zh-CN" sz="2400" b="1" dirty="0">
              <a:solidFill>
                <a:srgbClr val="0070C0"/>
              </a:solidFill>
              <a:latin typeface="+mj-ea"/>
              <a:ea typeface="+mj-ea"/>
            </a:endParaRPr>
          </a:p>
          <a:p>
            <a:pPr lvl="0">
              <a:spcBef>
                <a:spcPts val="580"/>
              </a:spcBef>
              <a:buClr>
                <a:srgbClr val="00B050"/>
              </a:buClr>
              <a:buSzPct val="85000"/>
            </a:pPr>
            <a:r>
              <a:rPr lang="en-US" altLang="zh-CN" sz="2400" b="1" dirty="0">
                <a:latin typeface="+mj-ea"/>
                <a:ea typeface="+mj-ea"/>
              </a:rPr>
              <a:t>(</a:t>
            </a:r>
            <a:r>
              <a:rPr lang="zh-CN" altLang="en-US" sz="2400" b="1" dirty="0">
                <a:latin typeface="+mj-ea"/>
                <a:ea typeface="+mj-ea"/>
              </a:rPr>
              <a:t>无输出）     同时定义</a:t>
            </a:r>
            <a:r>
              <a:rPr lang="en-US" altLang="zh-CN" sz="2400" b="1" dirty="0">
                <a:latin typeface="+mj-ea"/>
                <a:ea typeface="+mj-ea"/>
              </a:rPr>
              <a:t>A</a:t>
            </a:r>
            <a:r>
              <a:rPr lang="zh-CN" altLang="en-US" sz="2400" b="1" dirty="0">
                <a:latin typeface="+mj-ea"/>
                <a:ea typeface="+mj-ea"/>
              </a:rPr>
              <a:t>与</a:t>
            </a:r>
            <a:r>
              <a:rPr lang="en-US" altLang="zh-CN" sz="2400" b="1" dirty="0">
                <a:latin typeface="+mj-ea"/>
                <a:ea typeface="+mj-ea"/>
              </a:rPr>
              <a:t>B</a:t>
            </a:r>
            <a:r>
              <a:rPr lang="zh-CN" altLang="en-US" sz="2400" b="1" dirty="0">
                <a:latin typeface="+mj-ea"/>
                <a:ea typeface="+mj-ea"/>
              </a:rPr>
              <a:t>为两个基本符号变量（无值）</a:t>
            </a:r>
            <a:endParaRPr lang="en-US" altLang="zh-CN" sz="2400" b="1" dirty="0">
              <a:latin typeface="+mj-ea"/>
              <a:ea typeface="+mj-ea"/>
            </a:endParaRPr>
          </a:p>
        </p:txBody>
      </p:sp>
      <p:sp>
        <p:nvSpPr>
          <p:cNvPr id="14" name="矩形 13"/>
          <p:cNvSpPr/>
          <p:nvPr/>
        </p:nvSpPr>
        <p:spPr>
          <a:xfrm>
            <a:off x="194301" y="5727640"/>
            <a:ext cx="8086942" cy="461665"/>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更多语法与用法区别参见</a:t>
            </a:r>
            <a:r>
              <a:rPr lang="zh-CN" altLang="en-US" sz="2400" b="1" dirty="0">
                <a:solidFill>
                  <a:srgbClr val="FF0000"/>
                </a:solidFill>
                <a:latin typeface="+mj-ea"/>
                <a:ea typeface="+mj-ea"/>
              </a:rPr>
              <a:t>课本表</a:t>
            </a:r>
            <a:r>
              <a:rPr lang="en-US" altLang="zh-CN" sz="2400" b="1" dirty="0">
                <a:solidFill>
                  <a:srgbClr val="FF0000"/>
                </a:solidFill>
                <a:latin typeface="+mj-ea"/>
                <a:ea typeface="+mj-ea"/>
              </a:rPr>
              <a:t>2.2-1(</a:t>
            </a:r>
            <a:r>
              <a:rPr lang="zh-CN" altLang="en-US" sz="2400" b="1" dirty="0">
                <a:solidFill>
                  <a:srgbClr val="FF0000"/>
                </a:solidFill>
                <a:latin typeface="+mj-ea"/>
                <a:ea typeface="+mj-ea"/>
              </a:rPr>
              <a:t>非重点</a:t>
            </a:r>
            <a:r>
              <a:rPr lang="en-US" altLang="zh-CN" sz="2400" b="1" dirty="0">
                <a:solidFill>
                  <a:srgbClr val="FF0000"/>
                </a:solidFill>
                <a:latin typeface="+mj-ea"/>
                <a:ea typeface="+mj-ea"/>
              </a:rPr>
              <a:t>)</a:t>
            </a:r>
            <a:endParaRPr lang="en-US" altLang="zh-CN" sz="2400" b="1" dirty="0">
              <a:solidFill>
                <a:srgbClr val="FF0000"/>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符号表达式与符号函数</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4" name="矩形 3"/>
          <p:cNvSpPr/>
          <p:nvPr/>
        </p:nvSpPr>
        <p:spPr>
          <a:xfrm>
            <a:off x="211380" y="863054"/>
            <a:ext cx="8086942" cy="1200329"/>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基于</a:t>
            </a:r>
            <a:r>
              <a:rPr lang="zh-CN" altLang="en-US" sz="2400" b="1" dirty="0">
                <a:solidFill>
                  <a:srgbClr val="FF0000"/>
                </a:solidFill>
                <a:latin typeface="+mj-ea"/>
                <a:ea typeface="+mj-ea"/>
              </a:rPr>
              <a:t>函数与运算符重载</a:t>
            </a:r>
            <a:r>
              <a:rPr lang="zh-CN" altLang="en-US" sz="2400" b="1" dirty="0">
                <a:solidFill>
                  <a:prstClr val="black"/>
                </a:solidFill>
                <a:latin typeface="+mj-ea"/>
                <a:ea typeface="+mj-ea"/>
              </a:rPr>
              <a:t>的技术，所有基础的代数运算、矩阵运算与常用函数使用方法与变量和矩阵的数值运算用法基本相同。</a:t>
            </a:r>
            <a:r>
              <a:rPr lang="zh-CN" altLang="en-US" sz="2400" b="1" dirty="0">
                <a:solidFill>
                  <a:srgbClr val="FF0000"/>
                </a:solidFill>
                <a:latin typeface="+mj-ea"/>
                <a:ea typeface="+mj-ea"/>
              </a:rPr>
              <a:t>符号变量的运算式可以构成符号表达式</a:t>
            </a:r>
            <a:endParaRPr lang="en-US" altLang="zh-CN" sz="2400" b="1" dirty="0">
              <a:solidFill>
                <a:srgbClr val="FF0000"/>
              </a:solidFill>
              <a:latin typeface="+mj-ea"/>
              <a:ea typeface="+mj-ea"/>
            </a:endParaRPr>
          </a:p>
        </p:txBody>
      </p:sp>
      <p:sp>
        <p:nvSpPr>
          <p:cNvPr id="11" name="矩形 10"/>
          <p:cNvSpPr/>
          <p:nvPr/>
        </p:nvSpPr>
        <p:spPr>
          <a:xfrm>
            <a:off x="207891" y="2036279"/>
            <a:ext cx="8609092" cy="1200329"/>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符号函数</a:t>
            </a:r>
            <a:r>
              <a:rPr lang="zh-CN" altLang="en-US" sz="2400" b="1" dirty="0">
                <a:latin typeface="+mj-ea"/>
                <a:ea typeface="+mj-ea"/>
              </a:rPr>
              <a:t>是一种抽象定义的函数，其包括了函数名以及其自变量名，如</a:t>
            </a:r>
            <a:r>
              <a:rPr lang="en-US" altLang="zh-CN" sz="2400" b="1" dirty="0">
                <a:latin typeface="+mj-ea"/>
                <a:ea typeface="+mj-ea"/>
              </a:rPr>
              <a:t>&gt;&gt;</a:t>
            </a:r>
            <a:r>
              <a:rPr lang="en-US" altLang="zh-CN" sz="2400" b="1" dirty="0" err="1">
                <a:solidFill>
                  <a:srgbClr val="0070C0"/>
                </a:solidFill>
                <a:latin typeface="+mj-ea"/>
                <a:ea typeface="+mj-ea"/>
              </a:rPr>
              <a:t>syms</a:t>
            </a:r>
            <a:r>
              <a:rPr lang="en-US" altLang="zh-CN" sz="2400" b="1" dirty="0">
                <a:solidFill>
                  <a:srgbClr val="0070C0"/>
                </a:solidFill>
                <a:latin typeface="+mj-ea"/>
                <a:ea typeface="+mj-ea"/>
              </a:rPr>
              <a:t> f(</a:t>
            </a:r>
            <a:r>
              <a:rPr lang="en-US" altLang="zh-CN" sz="2400" b="1" dirty="0" err="1">
                <a:solidFill>
                  <a:srgbClr val="0070C0"/>
                </a:solidFill>
                <a:latin typeface="+mj-ea"/>
                <a:ea typeface="+mj-ea"/>
              </a:rPr>
              <a:t>x,y</a:t>
            </a:r>
            <a:r>
              <a:rPr lang="en-US" altLang="zh-CN" sz="2400" b="1" dirty="0">
                <a:solidFill>
                  <a:srgbClr val="0070C0"/>
                </a:solidFill>
                <a:latin typeface="+mj-ea"/>
                <a:ea typeface="+mj-ea"/>
              </a:rPr>
              <a:t>)</a:t>
            </a:r>
            <a:r>
              <a:rPr lang="zh-CN" altLang="en-US" sz="2400" b="1" dirty="0">
                <a:latin typeface="+mj-ea"/>
                <a:ea typeface="+mj-ea"/>
              </a:rPr>
              <a:t>就定义了一个二元函数，函数的具体定义与</a:t>
            </a:r>
            <a:r>
              <a:rPr lang="zh-CN" altLang="en-US" sz="2400" b="1">
                <a:latin typeface="+mj-ea"/>
                <a:ea typeface="+mj-ea"/>
              </a:rPr>
              <a:t>计算方式可以在随后给</a:t>
            </a:r>
            <a:r>
              <a:rPr lang="zh-CN" altLang="en-US" sz="2400" b="1" dirty="0">
                <a:latin typeface="+mj-ea"/>
                <a:ea typeface="+mj-ea"/>
              </a:rPr>
              <a:t>出</a:t>
            </a:r>
            <a:endParaRPr lang="en-US" altLang="zh-CN" sz="2400" b="1" dirty="0">
              <a:latin typeface="+mj-ea"/>
              <a:ea typeface="+mj-ea"/>
            </a:endParaRPr>
          </a:p>
        </p:txBody>
      </p:sp>
      <p:sp>
        <p:nvSpPr>
          <p:cNvPr id="6" name="文本框 5"/>
          <p:cNvSpPr txBox="1"/>
          <p:nvPr/>
        </p:nvSpPr>
        <p:spPr>
          <a:xfrm>
            <a:off x="89410" y="3252061"/>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2.4-1】</a:t>
            </a:r>
            <a:r>
              <a:rPr lang="zh-CN" altLang="en-US" sz="1800" b="1" dirty="0">
                <a:solidFill>
                  <a:prstClr val="black"/>
                </a:solidFill>
                <a:latin typeface="+mn-ea"/>
              </a:rPr>
              <a:t>符号表达式与符号方程的创建与表示（有改动）</a:t>
            </a:r>
            <a:endParaRPr lang="zh-CN" altLang="en-US" b="1" dirty="0">
              <a:latin typeface="+mn-ea"/>
            </a:endParaRPr>
          </a:p>
        </p:txBody>
      </p:sp>
      <mc:AlternateContent xmlns:mc="http://schemas.openxmlformats.org/markup-compatibility/2006">
        <mc:Choice xmlns:a14="http://schemas.microsoft.com/office/drawing/2010/main" Requires="a14">
          <p:sp>
            <p:nvSpPr>
              <p:cNvPr id="9" name="矩形 8"/>
              <p:cNvSpPr/>
              <p:nvPr/>
            </p:nvSpPr>
            <p:spPr>
              <a:xfrm>
                <a:off x="164953" y="3645602"/>
                <a:ext cx="8814093" cy="3168175"/>
              </a:xfrm>
              <a:prstGeom prst="rect">
                <a:avLst/>
              </a:prstGeom>
            </p:spPr>
            <p:txBody>
              <a:bodyPr wrap="square" numCol="1">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 all		   %</a:t>
                </a:r>
                <a:r>
                  <a:rPr lang="zh-CN" altLang="en-US" b="1" dirty="0">
                    <a:solidFill>
                      <a:srgbClr val="FF0000"/>
                    </a:solidFill>
                    <a:latin typeface="Courier New" panose="02070309020205020404" pitchFamily="49" charset="0"/>
                    <a:cs typeface="Times New Roman" panose="02020603050405020304" pitchFamily="18" charset="0"/>
                  </a:rPr>
                  <a:t>清空</a:t>
                </a:r>
                <a:r>
                  <a:rPr lang="en-US" altLang="zh-CN" b="1" dirty="0">
                    <a:solidFill>
                      <a:srgbClr val="FF0000"/>
                    </a:solidFill>
                    <a:latin typeface="Courier New" panose="02070309020205020404" pitchFamily="49" charset="0"/>
                    <a:cs typeface="Times New Roman" panose="02020603050405020304" pitchFamily="18" charset="0"/>
                  </a:rPr>
                  <a:t>MATLAB</a:t>
                </a:r>
                <a:r>
                  <a:rPr lang="zh-CN" altLang="en-US" b="1" dirty="0">
                    <a:solidFill>
                      <a:srgbClr val="FF0000"/>
                    </a:solidFill>
                    <a:latin typeface="Courier New" panose="02070309020205020404" pitchFamily="49" charset="0"/>
                    <a:cs typeface="Times New Roman" panose="02020603050405020304" pitchFamily="18" charset="0"/>
                  </a:rPr>
                  <a:t>与</a:t>
                </a:r>
                <a:r>
                  <a:rPr lang="en-US" altLang="zh-CN" b="1" dirty="0" err="1">
                    <a:solidFill>
                      <a:srgbClr val="FF0000"/>
                    </a:solidFill>
                    <a:latin typeface="Courier New" panose="02070309020205020404" pitchFamily="49" charset="0"/>
                    <a:cs typeface="Times New Roman" panose="02020603050405020304" pitchFamily="18" charset="0"/>
                  </a:rPr>
                  <a:t>Mupad</a:t>
                </a:r>
                <a:r>
                  <a:rPr lang="zh-CN" altLang="en-US" b="1" dirty="0">
                    <a:solidFill>
                      <a:srgbClr val="FF0000"/>
                    </a:solidFill>
                    <a:latin typeface="Courier New" panose="02070309020205020404" pitchFamily="49" charset="0"/>
                    <a:cs typeface="Times New Roman" panose="02020603050405020304" pitchFamily="18" charset="0"/>
                  </a:rPr>
                  <a:t>内存（包含符号变量设置）</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a	x               %</a:t>
                </a:r>
                <a:r>
                  <a:rPr lang="zh-CN" altLang="en-US" b="1" dirty="0">
                    <a:solidFill>
                      <a:srgbClr val="FF0000"/>
                    </a:solidFill>
                    <a:latin typeface="Courier New" panose="02070309020205020404" pitchFamily="49" charset="0"/>
                    <a:cs typeface="Times New Roman" panose="02020603050405020304" pitchFamily="18" charset="0"/>
                  </a:rPr>
                  <a:t>定义基本符号变量</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与</a:t>
                </a:r>
                <a:r>
                  <a:rPr lang="en-US" altLang="zh-CN" b="1" dirty="0">
                    <a:solidFill>
                      <a:srgbClr val="FF0000"/>
                    </a:solidFill>
                    <a:latin typeface="Courier New" panose="02070309020205020404" pitchFamily="49" charset="0"/>
                    <a:cs typeface="Times New Roman" panose="02020603050405020304" pitchFamily="18" charset="0"/>
                  </a:rPr>
                  <a:t>x</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Ex = a*sin(1+sqrt(</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(5)))+1</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符号运算中，</a:t>
                </a:r>
                <a:r>
                  <a:rPr lang="en-US" altLang="zh-CN" b="1" dirty="0" err="1">
                    <a:solidFill>
                      <a:srgbClr val="FF0000"/>
                    </a:solidFill>
                    <a:latin typeface="Courier New" panose="02070309020205020404" pitchFamily="49" charset="0"/>
                    <a:cs typeface="Times New Roman" panose="02020603050405020304" pitchFamily="18" charset="0"/>
                  </a:rPr>
                  <a:t>sym</a:t>
                </a:r>
                <a:r>
                  <a:rPr lang="zh-CN" altLang="en-US" b="1" dirty="0">
                    <a:solidFill>
                      <a:srgbClr val="FF0000"/>
                    </a:solidFill>
                    <a:latin typeface="Courier New" panose="02070309020205020404" pitchFamily="49" charset="0"/>
                    <a:cs typeface="Times New Roman" panose="02020603050405020304" pitchFamily="18" charset="0"/>
                  </a:rPr>
                  <a:t>和双精度运算时会自动将双精度表达式转化为更精确的</a:t>
                </a:r>
                <a:r>
                  <a:rPr lang="en-US" altLang="zh-CN" b="1" dirty="0" err="1">
                    <a:solidFill>
                      <a:srgbClr val="FF0000"/>
                    </a:solidFill>
                    <a:latin typeface="Courier New" panose="02070309020205020404" pitchFamily="49" charset="0"/>
                    <a:cs typeface="Times New Roman" panose="02020603050405020304" pitchFamily="18" charset="0"/>
                  </a:rPr>
                  <a:t>sym</a:t>
                </a:r>
                <a:r>
                  <a:rPr lang="zh-CN" altLang="en-US" b="1" dirty="0">
                    <a:solidFill>
                      <a:srgbClr val="FF0000"/>
                    </a:solidFill>
                    <a:latin typeface="Courier New" panose="02070309020205020404" pitchFamily="49" charset="0"/>
                    <a:cs typeface="Times New Roman" panose="02020603050405020304" pitchFamily="18" charset="0"/>
                  </a:rPr>
                  <a:t>型</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s-ES" altLang="zh-CN" dirty="0">
                    <a:solidFill>
                      <a:srgbClr val="0000FF"/>
                    </a:solidFill>
                    <a:latin typeface="Courier New" panose="02070309020205020404" pitchFamily="49" charset="0"/>
                    <a:cs typeface="Times New Roman" panose="02020603050405020304" pitchFamily="18" charset="0"/>
                  </a:rPr>
                  <a:t>Ex = a*sin(5^(1/2) + 1) + 1</a:t>
                </a:r>
                <a:endParaRPr lang="es-E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Ex2 = a*</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(sin(1+sqrt(5))+1)</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双精度运算的</a:t>
                </a:r>
                <a14:m>
                  <m:oMath xmlns:m="http://schemas.openxmlformats.org/officeDocument/2006/math">
                    <m:r>
                      <a:rPr lang="en-US" altLang="zh-CN" b="1" i="1" smtClean="0">
                        <a:solidFill>
                          <a:srgbClr val="FF0000"/>
                        </a:solidFill>
                        <a:latin typeface="Cambria Math" panose="02040503050406030204" pitchFamily="18" charset="0"/>
                        <a:cs typeface="Times New Roman" panose="02020603050405020304" pitchFamily="18" charset="0"/>
                      </a:rPr>
                      <m:t>𝟏</m:t>
                    </m:r>
                    <m:r>
                      <a:rPr lang="en-US" altLang="zh-CN" b="1" i="1" smtClean="0">
                        <a:solidFill>
                          <a:srgbClr val="FF0000"/>
                        </a:solidFill>
                        <a:latin typeface="Cambria Math" panose="02040503050406030204" pitchFamily="18" charset="0"/>
                        <a:cs typeface="Times New Roman" panose="02020603050405020304" pitchFamily="18" charset="0"/>
                      </a:rPr>
                      <m:t>+</m:t>
                    </m:r>
                    <m:rad>
                      <m:radPr>
                        <m:degHide m:val="on"/>
                        <m:ctrlPr>
                          <a:rPr lang="en-US" altLang="zh-CN" b="1" i="1" smtClean="0">
                            <a:solidFill>
                              <a:srgbClr val="FF0000"/>
                            </a:solidFill>
                            <a:latin typeface="Cambria Math" panose="02040503050406030204" pitchFamily="18" charset="0"/>
                            <a:cs typeface="Times New Roman" panose="02020603050405020304" pitchFamily="18" charset="0"/>
                          </a:rPr>
                        </m:ctrlPr>
                      </m:radPr>
                      <m:deg/>
                      <m:e>
                        <m:r>
                          <a:rPr lang="en-US" altLang="zh-CN" b="1" i="1" smtClean="0">
                            <a:solidFill>
                              <a:srgbClr val="FF0000"/>
                            </a:solidFill>
                            <a:latin typeface="Cambria Math" panose="02040503050406030204" pitchFamily="18" charset="0"/>
                            <a:cs typeface="Times New Roman" panose="02020603050405020304" pitchFamily="18" charset="0"/>
                          </a:rPr>
                          <m:t>𝟓</m:t>
                        </m:r>
                      </m:e>
                    </m:rad>
                  </m:oMath>
                </a14:m>
                <a:r>
                  <a:rPr lang="zh-CN" altLang="en-US" b="1" dirty="0">
                    <a:solidFill>
                      <a:srgbClr val="FF0000"/>
                    </a:solidFill>
                    <a:latin typeface="Courier New" panose="02070309020205020404" pitchFamily="49" charset="0"/>
                    <a:cs typeface="Times New Roman" panose="02020603050405020304" pitchFamily="18" charset="0"/>
                  </a:rPr>
                  <a:t>已经有截断误差，在后面的计算中无法保留精确定义</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s-ES" altLang="zh-CN" dirty="0">
                    <a:solidFill>
                      <a:srgbClr val="0000FF"/>
                    </a:solidFill>
                    <a:latin typeface="Courier New" panose="02070309020205020404" pitchFamily="49" charset="0"/>
                    <a:cs typeface="Times New Roman" panose="02020603050405020304" pitchFamily="18" charset="0"/>
                  </a:rPr>
                  <a:t>Ex2 = (4078753253081199*a)/4503599627370496</a:t>
                </a:r>
                <a:endParaRPr lang="es-E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Eq = x/(1+sin(pi/</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(2)+1))==1</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定义符号方程，</a:t>
                </a:r>
                <a:r>
                  <a:rPr lang="en-US" altLang="zh-CN" b="1" dirty="0" err="1">
                    <a:solidFill>
                      <a:srgbClr val="FF0000"/>
                    </a:solidFill>
                    <a:latin typeface="Courier New" panose="02070309020205020404" pitchFamily="49" charset="0"/>
                    <a:cs typeface="Times New Roman" panose="02020603050405020304" pitchFamily="18" charset="0"/>
                  </a:rPr>
                  <a:t>sym</a:t>
                </a:r>
                <a:r>
                  <a:rPr lang="zh-CN" altLang="en-US" b="1" dirty="0">
                    <a:solidFill>
                      <a:srgbClr val="FF0000"/>
                    </a:solidFill>
                    <a:latin typeface="Courier New" panose="02070309020205020404" pitchFamily="49" charset="0"/>
                    <a:cs typeface="Times New Roman" panose="02020603050405020304" pitchFamily="18" charset="0"/>
                  </a:rPr>
                  <a:t>可以将所有的数包含</a:t>
                </a:r>
                <a:r>
                  <a:rPr lang="en-US" altLang="zh-CN" b="1" dirty="0">
                    <a:solidFill>
                      <a:srgbClr val="FF0000"/>
                    </a:solidFill>
                    <a:latin typeface="Courier New" panose="02070309020205020404" pitchFamily="49" charset="0"/>
                    <a:cs typeface="Times New Roman" panose="02020603050405020304" pitchFamily="18" charset="0"/>
                  </a:rPr>
                  <a:t>pi</a:t>
                </a:r>
                <a:r>
                  <a:rPr lang="zh-CN" altLang="en-US" b="1" dirty="0">
                    <a:solidFill>
                      <a:srgbClr val="FF0000"/>
                    </a:solidFill>
                    <a:latin typeface="Courier New" panose="02070309020205020404" pitchFamily="49" charset="0"/>
                    <a:cs typeface="Times New Roman" panose="02020603050405020304" pitchFamily="18" charset="0"/>
                  </a:rPr>
                  <a:t>来转换但比较啰嗦，建议在最内层转换</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s-ES" altLang="zh-CN" dirty="0">
                    <a:solidFill>
                      <a:srgbClr val="0000FF"/>
                    </a:solidFill>
                    <a:latin typeface="Courier New" panose="02070309020205020404" pitchFamily="49" charset="0"/>
                    <a:cs typeface="Times New Roman" panose="02020603050405020304" pitchFamily="18" charset="0"/>
                  </a:rPr>
                  <a:t>Eq = x/(sin(pi/2 + 1) + 1) == 1</a:t>
                </a:r>
                <a:endParaRPr lang="es-ES" altLang="zh-CN" dirty="0">
                  <a:solidFill>
                    <a:srgbClr val="0000FF"/>
                  </a:solidFill>
                  <a:latin typeface="Courier New" panose="02070309020205020404" pitchFamily="49" charset="0"/>
                  <a:cs typeface="Times New Roman" panose="02020603050405020304" pitchFamily="18" charset="0"/>
                </a:endParaRPr>
              </a:p>
            </p:txBody>
          </p:sp>
        </mc:Choice>
        <mc:Fallback>
          <p:sp>
            <p:nvSpPr>
              <p:cNvPr id="9" name="矩形 8"/>
              <p:cNvSpPr>
                <a:spLocks noRot="1" noChangeAspect="1" noMove="1" noResize="1" noEditPoints="1" noAdjustHandles="1" noChangeArrowheads="1" noChangeShapeType="1" noTextEdit="1"/>
              </p:cNvSpPr>
              <p:nvPr/>
            </p:nvSpPr>
            <p:spPr>
              <a:xfrm>
                <a:off x="164953" y="3645602"/>
                <a:ext cx="8814093" cy="3168175"/>
              </a:xfrm>
              <a:prstGeom prst="rect">
                <a:avLst/>
              </a:prstGeom>
              <a:blipFill rotWithShape="1">
                <a:blip r:embed="rId1"/>
                <a:stretch>
                  <a:fillRect l="-6" t="-2" r="2" b="7"/>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符号表达式与符号函数</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6" name="矩形 5"/>
          <p:cNvSpPr/>
          <p:nvPr/>
        </p:nvSpPr>
        <p:spPr>
          <a:xfrm>
            <a:off x="164953" y="2186739"/>
            <a:ext cx="8814093" cy="646331"/>
          </a:xfrm>
          <a:prstGeom prst="rect">
            <a:avLst/>
          </a:prstGeom>
        </p:spPr>
        <p:txBody>
          <a:bodyPr wrap="square" numCol="1">
            <a:spAutoFit/>
          </a:bodyPr>
          <a:lstStyle/>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xs</a:t>
            </a:r>
            <a:r>
              <a:rPr lang="en-US" altLang="zh-CN" b="1" dirty="0">
                <a:solidFill>
                  <a:srgbClr val="008000"/>
                </a:solidFill>
                <a:latin typeface="Courier New" panose="02070309020205020404" pitchFamily="49" charset="0"/>
                <a:cs typeface="Times New Roman" panose="02020603050405020304" pitchFamily="18" charset="0"/>
              </a:rPr>
              <a:t> = solve(</a:t>
            </a:r>
            <a:r>
              <a:rPr lang="en-US" altLang="zh-CN" b="1" dirty="0" err="1">
                <a:solidFill>
                  <a:srgbClr val="008000"/>
                </a:solidFill>
                <a:latin typeface="Courier New" panose="02070309020205020404" pitchFamily="49" charset="0"/>
                <a:cs typeface="Times New Roman" panose="02020603050405020304" pitchFamily="18" charset="0"/>
              </a:rPr>
              <a:t>Eq,x</a:t>
            </a: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此命令与</a:t>
            </a:r>
            <a:r>
              <a:rPr lang="en-US" altLang="zh-CN" b="1" dirty="0">
                <a:solidFill>
                  <a:srgbClr val="FF0000"/>
                </a:solidFill>
                <a:latin typeface="Courier New" panose="02070309020205020404" pitchFamily="49" charset="0"/>
                <a:cs typeface="Times New Roman" panose="02020603050405020304" pitchFamily="18" charset="0"/>
              </a:rPr>
              <a:t>solve(</a:t>
            </a:r>
            <a:r>
              <a:rPr lang="sv-SE" altLang="zh-CN" b="1" dirty="0">
                <a:solidFill>
                  <a:srgbClr val="FF0000"/>
                </a:solidFill>
                <a:latin typeface="Courier New" panose="02070309020205020404" pitchFamily="49" charset="0"/>
                <a:cs typeface="Times New Roman" panose="02020603050405020304" pitchFamily="18" charset="0"/>
              </a:rPr>
              <a:t>x/(1+sin(pi/sym(2)+1))==1,x</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等价</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xs</a:t>
            </a:r>
            <a:r>
              <a:rPr lang="en-US" altLang="zh-CN" dirty="0">
                <a:solidFill>
                  <a:srgbClr val="0000FF"/>
                </a:solidFill>
                <a:latin typeface="Courier New" panose="02070309020205020404" pitchFamily="49" charset="0"/>
                <a:cs typeface="Times New Roman" panose="02020603050405020304" pitchFamily="18" charset="0"/>
              </a:rPr>
              <a:t> = sin(pi/2 + 1) +1</a:t>
            </a:r>
            <a:endParaRPr lang="en-US" altLang="zh-CN" dirty="0">
              <a:solidFill>
                <a:srgbClr val="0000FF"/>
              </a:solidFill>
              <a:latin typeface="Courier New" panose="02070309020205020404" pitchFamily="49" charset="0"/>
              <a:cs typeface="Times New Roman" panose="02020603050405020304" pitchFamily="18" charset="0"/>
            </a:endParaRPr>
          </a:p>
        </p:txBody>
      </p:sp>
      <p:sp>
        <p:nvSpPr>
          <p:cNvPr id="7" name="文本框 6"/>
          <p:cNvSpPr txBox="1"/>
          <p:nvPr/>
        </p:nvSpPr>
        <p:spPr>
          <a:xfrm>
            <a:off x="56376" y="1319740"/>
            <a:ext cx="8545574" cy="830997"/>
          </a:xfrm>
          <a:prstGeom prst="rect">
            <a:avLst/>
          </a:prstGeom>
          <a:noFill/>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en-US" altLang="zh-CN" sz="2400" b="1">
                <a:solidFill>
                  <a:srgbClr val="9B2D1F"/>
                </a:solidFill>
                <a:latin typeface="Courier New" panose="02070309020205020404" pitchFamily="49" charset="0"/>
                <a:cs typeface="Courier New" panose="02070309020205020404" pitchFamily="49" charset="0"/>
              </a:rPr>
              <a:t>solve</a:t>
            </a:r>
            <a:r>
              <a:rPr lang="en-US" altLang="zh-CN" sz="2400" b="1" dirty="0">
                <a:solidFill>
                  <a:srgbClr val="9B2D1F"/>
                </a:solidFill>
                <a:latin typeface="Courier New" panose="02070309020205020404" pitchFamily="49" charset="0"/>
                <a:cs typeface="Courier New" panose="02070309020205020404" pitchFamily="49" charset="0"/>
              </a:rPr>
              <a:t>(</a:t>
            </a:r>
            <a:r>
              <a:rPr lang="en-US" altLang="zh-CN" sz="2400" b="1" dirty="0" err="1">
                <a:solidFill>
                  <a:srgbClr val="9B2D1F"/>
                </a:solidFill>
                <a:latin typeface="Courier New" panose="02070309020205020404" pitchFamily="49" charset="0"/>
                <a:cs typeface="Courier New" panose="02070309020205020404" pitchFamily="49" charset="0"/>
              </a:rPr>
              <a:t>Eq,x</a:t>
            </a:r>
            <a:r>
              <a:rPr lang="en-US" altLang="zh-CN" sz="2400" b="1" dirty="0">
                <a:solidFill>
                  <a:srgbClr val="9B2D1F"/>
                </a:solidFill>
                <a:latin typeface="Courier New" panose="02070309020205020404" pitchFamily="49" charset="0"/>
                <a:cs typeface="Courier New" panose="02070309020205020404" pitchFamily="49" charset="0"/>
              </a:rPr>
              <a:t>) </a:t>
            </a:r>
            <a:r>
              <a:rPr lang="zh-CN" altLang="en-US" sz="2400" b="1" dirty="0">
                <a:latin typeface="+mj-ea"/>
                <a:ea typeface="+mj-ea"/>
                <a:cs typeface="Courier New" panose="02070309020205020404" pitchFamily="49" charset="0"/>
              </a:rPr>
              <a:t>可以求解符号方程</a:t>
            </a:r>
            <a:r>
              <a:rPr lang="en-US" altLang="zh-CN" sz="2400" b="1" dirty="0">
                <a:latin typeface="+mj-ea"/>
                <a:ea typeface="+mj-ea"/>
                <a:cs typeface="Courier New" panose="02070309020205020404" pitchFamily="49" charset="0"/>
              </a:rPr>
              <a:t>Eq</a:t>
            </a:r>
            <a:r>
              <a:rPr lang="zh-CN" altLang="en-US" sz="2400" b="1" dirty="0">
                <a:latin typeface="+mj-ea"/>
                <a:ea typeface="+mj-ea"/>
                <a:cs typeface="Courier New" panose="02070309020205020404" pitchFamily="49" charset="0"/>
              </a:rPr>
              <a:t>，其中假设符号变量</a:t>
            </a:r>
            <a:r>
              <a:rPr lang="en-US" altLang="zh-CN" sz="2400" b="1" dirty="0">
                <a:latin typeface="+mj-ea"/>
                <a:ea typeface="+mj-ea"/>
                <a:cs typeface="Courier New" panose="02070309020205020404" pitchFamily="49" charset="0"/>
              </a:rPr>
              <a:t>x</a:t>
            </a:r>
            <a:r>
              <a:rPr lang="zh-CN" altLang="en-US" sz="2400" b="1" dirty="0">
                <a:latin typeface="+mj-ea"/>
                <a:ea typeface="+mj-ea"/>
                <a:cs typeface="Courier New" panose="02070309020205020404" pitchFamily="49" charset="0"/>
              </a:rPr>
              <a:t>为未知变量，其他变量为已知变量（如果有多个变量）。</a:t>
            </a:r>
            <a:endParaRPr lang="en-US" altLang="zh-CN" sz="2400" b="1" dirty="0">
              <a:latin typeface="+mj-ea"/>
              <a:ea typeface="+mj-ea"/>
            </a:endParaRPr>
          </a:p>
        </p:txBody>
      </p:sp>
      <p:sp>
        <p:nvSpPr>
          <p:cNvPr id="8" name="文本框 7"/>
          <p:cNvSpPr txBox="1"/>
          <p:nvPr/>
        </p:nvSpPr>
        <p:spPr>
          <a:xfrm>
            <a:off x="35024" y="879362"/>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2.4-1】</a:t>
            </a:r>
            <a:r>
              <a:rPr lang="zh-CN" altLang="en-US" sz="1800" b="1" dirty="0">
                <a:solidFill>
                  <a:prstClr val="black"/>
                </a:solidFill>
                <a:latin typeface="+mn-ea"/>
              </a:rPr>
              <a:t>符号表达式与符号方程的创建与表示（有改动）</a:t>
            </a:r>
            <a:endParaRPr lang="zh-CN" altLang="en-US" b="1" dirty="0">
              <a:latin typeface="+mn-ea"/>
            </a:endParaRPr>
          </a:p>
        </p:txBody>
      </p:sp>
      <p:sp>
        <p:nvSpPr>
          <p:cNvPr id="4" name="文本框 3"/>
          <p:cNvSpPr txBox="1"/>
          <p:nvPr/>
        </p:nvSpPr>
        <p:spPr>
          <a:xfrm>
            <a:off x="46112" y="2807546"/>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2.4-2】</a:t>
            </a:r>
            <a:r>
              <a:rPr lang="zh-CN" altLang="en-US" b="1" dirty="0">
                <a:solidFill>
                  <a:prstClr val="black"/>
                </a:solidFill>
                <a:latin typeface="+mn-ea"/>
              </a:rPr>
              <a:t>符号函数的定义方式（精简改动版）</a:t>
            </a:r>
            <a:endParaRPr lang="zh-CN" altLang="en-US" b="1" dirty="0">
              <a:latin typeface="+mn-ea"/>
            </a:endParaRPr>
          </a:p>
        </p:txBody>
      </p:sp>
      <p:sp>
        <p:nvSpPr>
          <p:cNvPr id="10" name="矩形 9"/>
          <p:cNvSpPr/>
          <p:nvPr/>
        </p:nvSpPr>
        <p:spPr>
          <a:xfrm>
            <a:off x="164953" y="3176878"/>
            <a:ext cx="8814093" cy="3693319"/>
          </a:xfrm>
          <a:prstGeom prst="rect">
            <a:avLst/>
          </a:prstGeom>
        </p:spPr>
        <p:txBody>
          <a:bodyPr wrap="square" numCol="1">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 all		   %</a:t>
            </a:r>
            <a:r>
              <a:rPr lang="zh-CN" altLang="en-US" b="1" dirty="0">
                <a:solidFill>
                  <a:srgbClr val="FF0000"/>
                </a:solidFill>
                <a:latin typeface="Courier New" panose="02070309020205020404" pitchFamily="49" charset="0"/>
                <a:cs typeface="Times New Roman" panose="02020603050405020304" pitchFamily="18" charset="0"/>
              </a:rPr>
              <a:t>清空</a:t>
            </a:r>
            <a:r>
              <a:rPr lang="en-US" altLang="zh-CN" b="1" dirty="0">
                <a:solidFill>
                  <a:srgbClr val="FF0000"/>
                </a:solidFill>
                <a:latin typeface="Courier New" panose="02070309020205020404" pitchFamily="49" charset="0"/>
                <a:cs typeface="Times New Roman" panose="02020603050405020304" pitchFamily="18" charset="0"/>
              </a:rPr>
              <a:t>MATLAB</a:t>
            </a:r>
            <a:r>
              <a:rPr lang="zh-CN" altLang="en-US" b="1" dirty="0">
                <a:solidFill>
                  <a:srgbClr val="FF0000"/>
                </a:solidFill>
                <a:latin typeface="Courier New" panose="02070309020205020404" pitchFamily="49" charset="0"/>
                <a:cs typeface="Times New Roman" panose="02020603050405020304" pitchFamily="18" charset="0"/>
              </a:rPr>
              <a:t>与</a:t>
            </a:r>
            <a:r>
              <a:rPr lang="en-US" altLang="zh-CN" b="1" dirty="0" err="1">
                <a:solidFill>
                  <a:srgbClr val="FF0000"/>
                </a:solidFill>
                <a:latin typeface="Courier New" panose="02070309020205020404" pitchFamily="49" charset="0"/>
                <a:cs typeface="Times New Roman" panose="02020603050405020304" pitchFamily="18" charset="0"/>
              </a:rPr>
              <a:t>Mupad</a:t>
            </a:r>
            <a:r>
              <a:rPr lang="zh-CN" altLang="en-US" b="1" dirty="0">
                <a:solidFill>
                  <a:srgbClr val="FF0000"/>
                </a:solidFill>
                <a:latin typeface="Courier New" panose="02070309020205020404" pitchFamily="49" charset="0"/>
                <a:cs typeface="Times New Roman" panose="02020603050405020304" pitchFamily="18" charset="0"/>
              </a:rPr>
              <a:t>内存（包含符号变量设置）</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f1(</a:t>
            </a:r>
            <a:r>
              <a:rPr lang="en-US" altLang="zh-CN" b="1" dirty="0" err="1">
                <a:solidFill>
                  <a:srgbClr val="008000"/>
                </a:solidFill>
                <a:latin typeface="Courier New" panose="02070309020205020404" pitchFamily="49" charset="0"/>
                <a:cs typeface="Times New Roman" panose="02020603050405020304" pitchFamily="18" charset="0"/>
              </a:rPr>
              <a:t>x,y</a:t>
            </a: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定义抽象符号函数</a:t>
            </a:r>
            <a:r>
              <a:rPr lang="en-US" altLang="zh-CN" b="1" dirty="0">
                <a:solidFill>
                  <a:srgbClr val="FF0000"/>
                </a:solidFill>
                <a:latin typeface="Courier New" panose="02070309020205020404" pitchFamily="49" charset="0"/>
                <a:cs typeface="Times New Roman" panose="02020603050405020304" pitchFamily="18" charset="0"/>
              </a:rPr>
              <a:t>f(</a:t>
            </a:r>
            <a:r>
              <a:rPr lang="en-US" altLang="zh-CN" b="1" dirty="0" err="1">
                <a:solidFill>
                  <a:srgbClr val="FF0000"/>
                </a:solidFill>
                <a:latin typeface="Courier New" panose="02070309020205020404" pitchFamily="49" charset="0"/>
                <a:cs typeface="Times New Roman" panose="02020603050405020304" pitchFamily="18" charset="0"/>
              </a:rPr>
              <a:t>x,y</a:t>
            </a: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，会自动生成</a:t>
            </a:r>
            <a:r>
              <a:rPr lang="en-US" altLang="zh-CN" b="1" dirty="0">
                <a:solidFill>
                  <a:srgbClr val="FF0000"/>
                </a:solidFill>
                <a:latin typeface="Courier New" panose="02070309020205020404" pitchFamily="49" charset="0"/>
                <a:cs typeface="Times New Roman" panose="02020603050405020304" pitchFamily="18" charset="0"/>
              </a:rPr>
              <a:t>x</a:t>
            </a:r>
            <a:r>
              <a:rPr lang="zh-CN" altLang="en-US" b="1" dirty="0">
                <a:solidFill>
                  <a:srgbClr val="FF0000"/>
                </a:solidFill>
                <a:latin typeface="Courier New" panose="02070309020205020404" pitchFamily="49" charset="0"/>
                <a:cs typeface="Times New Roman" panose="02020603050405020304" pitchFamily="18" charset="0"/>
              </a:rPr>
              <a:t>与</a:t>
            </a:r>
            <a:r>
              <a:rPr lang="en-US" altLang="zh-CN" b="1" dirty="0">
                <a:solidFill>
                  <a:srgbClr val="FF0000"/>
                </a:solidFill>
                <a:latin typeface="Courier New" panose="02070309020205020404" pitchFamily="49" charset="0"/>
                <a:cs typeface="Times New Roman" panose="02020603050405020304" pitchFamily="18" charset="0"/>
              </a:rPr>
              <a:t>y</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who			   %</a:t>
            </a:r>
            <a:r>
              <a:rPr lang="zh-CN" altLang="en-US" b="1" dirty="0">
                <a:solidFill>
                  <a:srgbClr val="FF0000"/>
                </a:solidFill>
                <a:latin typeface="Courier New" panose="02070309020205020404" pitchFamily="49" charset="0"/>
                <a:cs typeface="Times New Roman" panose="02020603050405020304" pitchFamily="18" charset="0"/>
              </a:rPr>
              <a:t>显示当前内存区的所有变量名</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f1 x y</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a b		   		%</a:t>
            </a:r>
            <a:r>
              <a:rPr lang="zh-CN" altLang="en-US" b="1" dirty="0">
                <a:solidFill>
                  <a:srgbClr val="FF0000"/>
                </a:solidFill>
                <a:latin typeface="Courier New" panose="02070309020205020404" pitchFamily="49" charset="0"/>
                <a:cs typeface="Times New Roman" panose="02020603050405020304" pitchFamily="18" charset="0"/>
              </a:rPr>
              <a:t>定义符号变量</a:t>
            </a:r>
            <a:r>
              <a:rPr lang="en-US" altLang="zh-CN" b="1" dirty="0" err="1">
                <a:solidFill>
                  <a:srgbClr val="FF0000"/>
                </a:solidFill>
                <a:latin typeface="Courier New" panose="02070309020205020404" pitchFamily="49" charset="0"/>
                <a:cs typeface="Times New Roman" panose="02020603050405020304" pitchFamily="18" charset="0"/>
              </a:rPr>
              <a:t>a,b</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F21(</a:t>
            </a:r>
            <a:r>
              <a:rPr lang="en-US" altLang="zh-CN" b="1" dirty="0" err="1">
                <a:solidFill>
                  <a:srgbClr val="008000"/>
                </a:solidFill>
                <a:latin typeface="Courier New" panose="02070309020205020404" pitchFamily="49" charset="0"/>
                <a:cs typeface="Times New Roman" panose="02020603050405020304" pitchFamily="18" charset="0"/>
              </a:rPr>
              <a:t>x,y</a:t>
            </a:r>
            <a:r>
              <a:rPr lang="en-US" altLang="zh-CN" b="1" dirty="0">
                <a:solidFill>
                  <a:srgbClr val="008000"/>
                </a:solidFill>
                <a:latin typeface="Courier New" panose="02070309020205020404" pitchFamily="49" charset="0"/>
                <a:cs typeface="Times New Roman" panose="02020603050405020304" pitchFamily="18" charset="0"/>
              </a:rPr>
              <a:t>)=[a*sin(x);b*cos(y)]     %</a:t>
            </a:r>
            <a:r>
              <a:rPr lang="zh-CN" altLang="en-US" b="1" dirty="0">
                <a:solidFill>
                  <a:srgbClr val="FF0000"/>
                </a:solidFill>
                <a:latin typeface="Courier New" panose="02070309020205020404" pitchFamily="49" charset="0"/>
                <a:cs typeface="Times New Roman" panose="02020603050405020304" pitchFamily="18" charset="0"/>
              </a:rPr>
              <a:t>定义具体定义的符号函数</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s-ES" altLang="zh-CN" dirty="0">
                <a:solidFill>
                  <a:srgbClr val="0000FF"/>
                </a:solidFill>
                <a:latin typeface="Courier New" panose="02070309020205020404" pitchFamily="49" charset="0"/>
                <a:cs typeface="Times New Roman" panose="02020603050405020304" pitchFamily="18" charset="0"/>
              </a:rPr>
              <a:t>F21(x, y) = </a:t>
            </a:r>
            <a:endParaRPr lang="es-E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s-ES" altLang="zh-CN" dirty="0">
                <a:solidFill>
                  <a:srgbClr val="0000FF"/>
                </a:solidFill>
                <a:latin typeface="Courier New" panose="02070309020205020404" pitchFamily="49" charset="0"/>
                <a:cs typeface="Times New Roman" panose="02020603050405020304" pitchFamily="18" charset="0"/>
              </a:rPr>
              <a:t> a*sin(x)</a:t>
            </a:r>
            <a:endParaRPr lang="es-E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s-ES" altLang="zh-CN" dirty="0">
                <a:solidFill>
                  <a:srgbClr val="0000FF"/>
                </a:solidFill>
                <a:latin typeface="Courier New" panose="02070309020205020404" pitchFamily="49" charset="0"/>
                <a:cs typeface="Times New Roman" panose="02020603050405020304" pitchFamily="18" charset="0"/>
              </a:rPr>
              <a:t> b*cos(y)</a:t>
            </a:r>
            <a:endParaRPr lang="es-E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f(x) g(x), Du = diff(f(x)*g(x),x)</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a:solidFill>
                  <a:srgbClr val="FF0000"/>
                </a:solidFill>
                <a:latin typeface="Courier New" panose="02070309020205020404" pitchFamily="49" charset="0"/>
                <a:cs typeface="Times New Roman" panose="02020603050405020304" pitchFamily="18" charset="0"/>
              </a:rPr>
              <a:t>diff</a:t>
            </a:r>
            <a:r>
              <a:rPr lang="zh-CN" altLang="en-US" b="1" dirty="0">
                <a:solidFill>
                  <a:srgbClr val="FF0000"/>
                </a:solidFill>
                <a:latin typeface="Courier New" panose="02070309020205020404" pitchFamily="49" charset="0"/>
                <a:cs typeface="Times New Roman" panose="02020603050405020304" pitchFamily="18" charset="0"/>
              </a:rPr>
              <a:t>函数为符号微分（求导）函数，此行来验证导数乘积法则</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s-ES" altLang="zh-CN" dirty="0">
                <a:solidFill>
                  <a:srgbClr val="0000FF"/>
                </a:solidFill>
                <a:latin typeface="Courier New" panose="02070309020205020404" pitchFamily="49" charset="0"/>
                <a:cs typeface="Times New Roman" panose="02020603050405020304" pitchFamily="18" charset="0"/>
              </a:rPr>
              <a:t>Du = f(x)*diff(g(x), x) + g(x)*diff(f(x), x)</a:t>
            </a:r>
            <a:endParaRPr lang="es-ES" altLang="zh-CN" dirty="0">
              <a:solidFill>
                <a:srgbClr val="0000FF"/>
              </a:solidFill>
              <a:latin typeface="Courier New" panose="02070309020205020404" pitchFamily="49"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符号变量列表与自由变量</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1" name="文本框 10"/>
          <p:cNvSpPr txBox="1"/>
          <p:nvPr/>
        </p:nvSpPr>
        <p:spPr>
          <a:xfrm>
            <a:off x="122767" y="818212"/>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2.4-3】</a:t>
            </a:r>
            <a:r>
              <a:rPr lang="zh-CN" altLang="en-US" b="1" dirty="0">
                <a:solidFill>
                  <a:prstClr val="black"/>
                </a:solidFill>
                <a:latin typeface="+mn-ea"/>
              </a:rPr>
              <a:t>符号表达式中变量罗列与自由变量的识别（精简改动版）</a:t>
            </a:r>
            <a:endParaRPr lang="zh-CN" altLang="en-US" b="1" dirty="0">
              <a:latin typeface="+mn-ea"/>
            </a:endParaRPr>
          </a:p>
        </p:txBody>
      </p:sp>
      <p:sp>
        <p:nvSpPr>
          <p:cNvPr id="12" name="矩形 11"/>
          <p:cNvSpPr/>
          <p:nvPr/>
        </p:nvSpPr>
        <p:spPr>
          <a:xfrm>
            <a:off x="116310" y="1187544"/>
            <a:ext cx="8814093" cy="5632311"/>
          </a:xfrm>
          <a:prstGeom prst="rect">
            <a:avLst/>
          </a:prstGeom>
        </p:spPr>
        <p:txBody>
          <a:bodyPr wrap="square" numCol="1">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 all		 		  %</a:t>
            </a:r>
            <a:r>
              <a:rPr lang="zh-CN" altLang="en-US" b="1" dirty="0">
                <a:solidFill>
                  <a:srgbClr val="FF0000"/>
                </a:solidFill>
                <a:latin typeface="Courier New" panose="02070309020205020404" pitchFamily="49" charset="0"/>
                <a:cs typeface="Times New Roman" panose="02020603050405020304" pitchFamily="18" charset="0"/>
              </a:rPr>
              <a:t>清空</a:t>
            </a:r>
            <a:r>
              <a:rPr lang="en-US" altLang="zh-CN" b="1" dirty="0">
                <a:solidFill>
                  <a:srgbClr val="FF0000"/>
                </a:solidFill>
                <a:latin typeface="Courier New" panose="02070309020205020404" pitchFamily="49" charset="0"/>
                <a:cs typeface="Times New Roman" panose="02020603050405020304" pitchFamily="18" charset="0"/>
              </a:rPr>
              <a:t>MATLAB</a:t>
            </a:r>
            <a:r>
              <a:rPr lang="zh-CN" altLang="en-US" b="1" dirty="0">
                <a:solidFill>
                  <a:srgbClr val="FF0000"/>
                </a:solidFill>
                <a:latin typeface="Courier New" panose="02070309020205020404" pitchFamily="49" charset="0"/>
                <a:cs typeface="Times New Roman" panose="02020603050405020304" pitchFamily="18" charset="0"/>
              </a:rPr>
              <a:t>与</a:t>
            </a:r>
            <a:r>
              <a:rPr lang="en-US" altLang="zh-CN" b="1" dirty="0" err="1">
                <a:solidFill>
                  <a:srgbClr val="FF0000"/>
                </a:solidFill>
                <a:latin typeface="Courier New" panose="02070309020205020404" pitchFamily="49" charset="0"/>
                <a:cs typeface="Times New Roman" panose="02020603050405020304" pitchFamily="18" charset="0"/>
              </a:rPr>
              <a:t>Mupad</a:t>
            </a:r>
            <a:r>
              <a:rPr lang="zh-CN" altLang="en-US" b="1" dirty="0">
                <a:solidFill>
                  <a:srgbClr val="FF0000"/>
                </a:solidFill>
                <a:latin typeface="Courier New" panose="02070309020205020404" pitchFamily="49" charset="0"/>
                <a:cs typeface="Times New Roman" panose="02020603050405020304" pitchFamily="18" charset="0"/>
              </a:rPr>
              <a:t>内存</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b t u v w x y z X A		  %</a:t>
            </a:r>
            <a:r>
              <a:rPr lang="zh-CN" altLang="en-US" b="1" dirty="0">
                <a:solidFill>
                  <a:srgbClr val="FF0000"/>
                </a:solidFill>
                <a:latin typeface="Courier New" panose="02070309020205020404" pitchFamily="49" charset="0"/>
                <a:cs typeface="Times New Roman" panose="02020603050405020304" pitchFamily="18" charset="0"/>
              </a:rPr>
              <a:t>定义一系列符号变量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C1 = </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(2);C2=</a:t>
            </a:r>
            <a:r>
              <a:rPr lang="en-US" altLang="zh-CN" b="1" dirty="0" err="1">
                <a:solidFill>
                  <a:srgbClr val="008000"/>
                </a:solidFill>
                <a:latin typeface="Courier New" panose="02070309020205020404" pitchFamily="49" charset="0"/>
                <a:cs typeface="Times New Roman" panose="02020603050405020304" pitchFamily="18" charset="0"/>
              </a:rPr>
              <a:t>sym</a:t>
            </a:r>
            <a:r>
              <a:rPr lang="en-US" altLang="zh-CN" b="1" dirty="0">
                <a:solidFill>
                  <a:srgbClr val="008000"/>
                </a:solidFill>
                <a:latin typeface="Courier New" panose="02070309020205020404" pitchFamily="49" charset="0"/>
                <a:cs typeface="Times New Roman" panose="02020603050405020304" pitchFamily="18" charset="0"/>
              </a:rPr>
              <a:t>(pi);     	   %</a:t>
            </a:r>
            <a:r>
              <a:rPr lang="zh-CN" altLang="en-US" b="1" dirty="0">
                <a:solidFill>
                  <a:srgbClr val="FF0000"/>
                </a:solidFill>
                <a:latin typeface="Courier New" panose="02070309020205020404" pitchFamily="49" charset="0"/>
                <a:cs typeface="Times New Roman" panose="02020603050405020304" pitchFamily="18" charset="0"/>
              </a:rPr>
              <a:t>定义两个符号常量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xE1 = exp(-1i*t)*sin(x*y); 	   %</a:t>
            </a:r>
            <a:r>
              <a:rPr lang="zh-CN" altLang="en-US" b="1" dirty="0">
                <a:solidFill>
                  <a:srgbClr val="FF0000"/>
                </a:solidFill>
                <a:latin typeface="Courier New" panose="02070309020205020404" pitchFamily="49" charset="0"/>
                <a:cs typeface="Times New Roman" panose="02020603050405020304" pitchFamily="18" charset="0"/>
              </a:rPr>
              <a:t>定义中间符号表达式</a:t>
            </a:r>
            <a:r>
              <a:rPr lang="en-US" altLang="zh-CN" b="1" dirty="0">
                <a:solidFill>
                  <a:srgbClr val="FF0000"/>
                </a:solidFill>
                <a:latin typeface="Courier New" panose="02070309020205020404" pitchFamily="49" charset="0"/>
                <a:cs typeface="Times New Roman" panose="02020603050405020304" pitchFamily="18" charset="0"/>
              </a:rPr>
              <a:t>xE1</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E2 = C1*x+5*x/u+C2*w*</a:t>
            </a:r>
            <a:r>
              <a:rPr lang="en-US" altLang="zh-CN" b="1" dirty="0" err="1">
                <a:solidFill>
                  <a:srgbClr val="008000"/>
                </a:solidFill>
                <a:latin typeface="Courier New" panose="02070309020205020404" pitchFamily="49" charset="0"/>
                <a:cs typeface="Times New Roman" panose="02020603050405020304" pitchFamily="18" charset="0"/>
              </a:rPr>
              <a:t>z+A</a:t>
            </a:r>
            <a:r>
              <a:rPr lang="en-US" altLang="zh-CN" b="1" dirty="0">
                <a:solidFill>
                  <a:srgbClr val="008000"/>
                </a:solidFill>
                <a:latin typeface="Courier New" panose="02070309020205020404" pitchFamily="49" charset="0"/>
                <a:cs typeface="Times New Roman" panose="02020603050405020304" pitchFamily="18" charset="0"/>
              </a:rPr>
              <a:t>*xE1	   %</a:t>
            </a:r>
            <a:r>
              <a:rPr lang="zh-CN" altLang="en-US" b="1" dirty="0">
                <a:solidFill>
                  <a:srgbClr val="FF0000"/>
                </a:solidFill>
                <a:latin typeface="Courier New" panose="02070309020205020404" pitchFamily="49" charset="0"/>
                <a:cs typeface="Times New Roman" panose="02020603050405020304" pitchFamily="18" charset="0"/>
              </a:rPr>
              <a:t>定义符号表达式</a:t>
            </a:r>
            <a:r>
              <a:rPr lang="en-US" altLang="zh-CN" b="1" dirty="0">
                <a:solidFill>
                  <a:srgbClr val="FF0000"/>
                </a:solidFill>
                <a:latin typeface="Courier New" panose="02070309020205020404" pitchFamily="49" charset="0"/>
                <a:cs typeface="Times New Roman" panose="02020603050405020304" pitchFamily="18" charset="0"/>
              </a:rPr>
              <a:t>E2</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pl-PL" altLang="zh-CN" dirty="0">
                <a:solidFill>
                  <a:srgbClr val="0000FF"/>
                </a:solidFill>
                <a:latin typeface="Courier New" panose="02070309020205020404" pitchFamily="49" charset="0"/>
                <a:cs typeface="Times New Roman" panose="02020603050405020304" pitchFamily="18" charset="0"/>
              </a:rPr>
              <a:t>E2 =</a:t>
            </a:r>
            <a:r>
              <a:rPr lang="en-US" altLang="zh-CN" dirty="0">
                <a:solidFill>
                  <a:srgbClr val="0000FF"/>
                </a:solidFill>
                <a:latin typeface="Courier New" panose="02070309020205020404" pitchFamily="49" charset="0"/>
                <a:cs typeface="Times New Roman" panose="02020603050405020304" pitchFamily="18" charset="0"/>
              </a:rPr>
              <a:t> </a:t>
            </a:r>
            <a:r>
              <a:rPr lang="pl-PL" altLang="zh-CN" dirty="0">
                <a:solidFill>
                  <a:srgbClr val="0000FF"/>
                </a:solidFill>
                <a:latin typeface="Courier New" panose="02070309020205020404" pitchFamily="49" charset="0"/>
                <a:cs typeface="Times New Roman" panose="02020603050405020304" pitchFamily="18" charset="0"/>
              </a:rPr>
              <a:t>2*x + (5*x)/u + A*exp(-t*1i)*sin(x*y) + pi*w*z</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R1 = </a:t>
            </a:r>
            <a:r>
              <a:rPr lang="en-US" altLang="zh-CN" b="1" dirty="0" err="1">
                <a:solidFill>
                  <a:srgbClr val="008000"/>
                </a:solidFill>
                <a:latin typeface="Courier New" panose="02070309020205020404" pitchFamily="49" charset="0"/>
                <a:cs typeface="Times New Roman" panose="02020603050405020304" pitchFamily="18" charset="0"/>
              </a:rPr>
              <a:t>symvar</a:t>
            </a:r>
            <a:r>
              <a:rPr lang="en-US" altLang="zh-CN" b="1" dirty="0">
                <a:solidFill>
                  <a:srgbClr val="008000"/>
                </a:solidFill>
                <a:latin typeface="Courier New" panose="02070309020205020404" pitchFamily="49" charset="0"/>
                <a:cs typeface="Times New Roman" panose="02020603050405020304" pitchFamily="18" charset="0"/>
              </a:rPr>
              <a:t>(E2)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按</a:t>
            </a:r>
            <a:r>
              <a:rPr lang="en-US" altLang="zh-CN" b="1" dirty="0">
                <a:solidFill>
                  <a:schemeClr val="accent2"/>
                </a:solidFill>
                <a:latin typeface="Courier New" panose="02070309020205020404" pitchFamily="49" charset="0"/>
                <a:cs typeface="Times New Roman" panose="02020603050405020304" pitchFamily="18" charset="0"/>
              </a:rPr>
              <a:t>ASCII</a:t>
            </a:r>
            <a:r>
              <a:rPr lang="zh-CN" altLang="en-US" b="1" dirty="0">
                <a:solidFill>
                  <a:schemeClr val="accent2"/>
                </a:solidFill>
                <a:latin typeface="Courier New" panose="02070309020205020404" pitchFamily="49" charset="0"/>
                <a:cs typeface="Times New Roman" panose="02020603050405020304" pitchFamily="18" charset="0"/>
              </a:rPr>
              <a:t>字典序</a:t>
            </a:r>
            <a:r>
              <a:rPr lang="zh-CN" altLang="en-US" b="1" dirty="0">
                <a:solidFill>
                  <a:srgbClr val="FF0000"/>
                </a:solidFill>
                <a:latin typeface="Courier New" panose="02070309020205020404" pitchFamily="49" charset="0"/>
                <a:cs typeface="Times New Roman" panose="02020603050405020304" pitchFamily="18" charset="0"/>
              </a:rPr>
              <a:t>列出</a:t>
            </a:r>
            <a:r>
              <a:rPr lang="en-US" altLang="zh-CN" b="1" dirty="0">
                <a:solidFill>
                  <a:srgbClr val="FF0000"/>
                </a:solidFill>
                <a:latin typeface="Courier New" panose="02070309020205020404" pitchFamily="49" charset="0"/>
                <a:cs typeface="Times New Roman" panose="02020603050405020304" pitchFamily="18" charset="0"/>
              </a:rPr>
              <a:t>E2</a:t>
            </a:r>
            <a:r>
              <a:rPr lang="zh-CN" altLang="en-US" b="1" dirty="0">
                <a:solidFill>
                  <a:srgbClr val="FF0000"/>
                </a:solidFill>
                <a:latin typeface="Courier New" panose="02070309020205020404" pitchFamily="49" charset="0"/>
                <a:cs typeface="Times New Roman" panose="02020603050405020304" pitchFamily="18" charset="0"/>
              </a:rPr>
              <a:t>所有基本符号变量（不含符号常量与中间表达式）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pl-PL" altLang="zh-CN" dirty="0">
                <a:solidFill>
                  <a:srgbClr val="0000FF"/>
                </a:solidFill>
                <a:latin typeface="Courier New" panose="02070309020205020404" pitchFamily="49" charset="0"/>
                <a:cs typeface="Times New Roman" panose="02020603050405020304" pitchFamily="18" charset="0"/>
              </a:rPr>
              <a:t>R1 =</a:t>
            </a:r>
            <a:r>
              <a:rPr lang="en-US" altLang="zh-CN" dirty="0">
                <a:solidFill>
                  <a:srgbClr val="0000FF"/>
                </a:solidFill>
                <a:latin typeface="Courier New" panose="02070309020205020404" pitchFamily="49" charset="0"/>
                <a:cs typeface="Times New Roman" panose="02020603050405020304" pitchFamily="18" charset="0"/>
              </a:rPr>
              <a:t> </a:t>
            </a:r>
            <a:r>
              <a:rPr lang="pl-PL" altLang="zh-CN" dirty="0">
                <a:solidFill>
                  <a:srgbClr val="0000FF"/>
                </a:solidFill>
                <a:latin typeface="Courier New" panose="02070309020205020404" pitchFamily="49" charset="0"/>
                <a:cs typeface="Times New Roman" panose="02020603050405020304" pitchFamily="18" charset="0"/>
              </a:rPr>
              <a:t>[ A, t, u, w, x, y, z]</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Rf1 = </a:t>
            </a:r>
            <a:r>
              <a:rPr lang="en-US" altLang="zh-CN" b="1" dirty="0" err="1">
                <a:solidFill>
                  <a:srgbClr val="008000"/>
                </a:solidFill>
                <a:latin typeface="Courier New" panose="02070309020205020404" pitchFamily="49" charset="0"/>
                <a:cs typeface="Times New Roman" panose="02020603050405020304" pitchFamily="18" charset="0"/>
              </a:rPr>
              <a:t>symvar</a:t>
            </a:r>
            <a:r>
              <a:rPr lang="en-US" altLang="zh-CN" b="1" dirty="0">
                <a:solidFill>
                  <a:srgbClr val="008000"/>
                </a:solidFill>
                <a:latin typeface="Courier New" panose="02070309020205020404" pitchFamily="49" charset="0"/>
                <a:cs typeface="Times New Roman" panose="02020603050405020304" pitchFamily="18" charset="0"/>
              </a:rPr>
              <a:t>(E2,1) 			   %</a:t>
            </a:r>
            <a:r>
              <a:rPr lang="zh-CN" altLang="en-US" b="1" dirty="0">
                <a:solidFill>
                  <a:srgbClr val="FF0000"/>
                </a:solidFill>
                <a:latin typeface="Courier New" panose="02070309020205020404" pitchFamily="49" charset="0"/>
                <a:cs typeface="Times New Roman" panose="02020603050405020304" pitchFamily="18" charset="0"/>
              </a:rPr>
              <a:t>显示</a:t>
            </a:r>
            <a:r>
              <a:rPr lang="en-US" altLang="zh-CN" b="1" dirty="0">
                <a:solidFill>
                  <a:srgbClr val="FF0000"/>
                </a:solidFill>
                <a:latin typeface="Courier New" panose="02070309020205020404" pitchFamily="49" charset="0"/>
                <a:cs typeface="Times New Roman" panose="02020603050405020304" pitchFamily="18" charset="0"/>
              </a:rPr>
              <a:t>E2</a:t>
            </a:r>
            <a:r>
              <a:rPr lang="zh-CN" altLang="en-US" b="1" dirty="0">
                <a:solidFill>
                  <a:srgbClr val="FF0000"/>
                </a:solidFill>
                <a:latin typeface="Courier New" panose="02070309020205020404" pitchFamily="49" charset="0"/>
                <a:cs typeface="Times New Roman" panose="02020603050405020304" pitchFamily="18" charset="0"/>
              </a:rPr>
              <a:t>的第一自由变量，自由变量以</a:t>
            </a:r>
            <a:r>
              <a:rPr lang="en-US" altLang="zh-CN" b="1" dirty="0">
                <a:solidFill>
                  <a:srgbClr val="FF0000"/>
                </a:solidFill>
                <a:latin typeface="Courier New" panose="02070309020205020404" pitchFamily="49" charset="0"/>
                <a:cs typeface="Times New Roman" panose="02020603050405020304" pitchFamily="18" charset="0"/>
              </a:rPr>
              <a:t>’x’</a:t>
            </a:r>
            <a:r>
              <a:rPr lang="zh-CN" altLang="en-US" b="1" dirty="0">
                <a:solidFill>
                  <a:srgbClr val="FF0000"/>
                </a:solidFill>
                <a:latin typeface="Courier New" panose="02070309020205020404" pitchFamily="49" charset="0"/>
                <a:cs typeface="Times New Roman" panose="02020603050405020304" pitchFamily="18" charset="0"/>
              </a:rPr>
              <a:t>为最高优先级，如果无</a:t>
            </a:r>
            <a:r>
              <a:rPr lang="en-US" altLang="zh-CN" b="1" dirty="0">
                <a:solidFill>
                  <a:srgbClr val="FF0000"/>
                </a:solidFill>
                <a:latin typeface="Courier New" panose="02070309020205020404" pitchFamily="49" charset="0"/>
                <a:cs typeface="Times New Roman" panose="02020603050405020304" pitchFamily="18" charset="0"/>
              </a:rPr>
              <a:t>’x’</a:t>
            </a:r>
            <a:r>
              <a:rPr lang="zh-CN" altLang="en-US" b="1" dirty="0">
                <a:solidFill>
                  <a:srgbClr val="FF0000"/>
                </a:solidFill>
                <a:latin typeface="Courier New" panose="02070309020205020404" pitchFamily="49" charset="0"/>
                <a:cs typeface="Times New Roman" panose="02020603050405020304" pitchFamily="18" charset="0"/>
              </a:rPr>
              <a:t>则按</a:t>
            </a:r>
            <a:r>
              <a:rPr lang="en-US" altLang="zh-CN" b="1" dirty="0">
                <a:solidFill>
                  <a:srgbClr val="FF0000"/>
                </a:solidFill>
                <a:latin typeface="Courier New" panose="02070309020205020404" pitchFamily="49" charset="0"/>
                <a:cs typeface="Times New Roman" panose="02020603050405020304" pitchFamily="18" charset="0"/>
              </a:rPr>
              <a:t>ASCII</a:t>
            </a:r>
            <a:r>
              <a:rPr lang="zh-CN" altLang="en-US" b="1" dirty="0">
                <a:solidFill>
                  <a:srgbClr val="FF0000"/>
                </a:solidFill>
                <a:latin typeface="Courier New" panose="02070309020205020404" pitchFamily="49" charset="0"/>
                <a:cs typeface="Times New Roman" panose="02020603050405020304" pitchFamily="18" charset="0"/>
              </a:rPr>
              <a:t>码对应位置就近寻找</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pl-PL" altLang="zh-CN" dirty="0">
                <a:solidFill>
                  <a:srgbClr val="0000FF"/>
                </a:solidFill>
                <a:latin typeface="Courier New" panose="02070309020205020404" pitchFamily="49" charset="0"/>
                <a:cs typeface="Times New Roman" panose="02020603050405020304" pitchFamily="18" charset="0"/>
              </a:rPr>
              <a:t>R</a:t>
            </a:r>
            <a:r>
              <a:rPr lang="en-US" altLang="zh-CN" dirty="0">
                <a:solidFill>
                  <a:srgbClr val="0000FF"/>
                </a:solidFill>
                <a:latin typeface="Courier New" panose="02070309020205020404" pitchFamily="49" charset="0"/>
                <a:cs typeface="Times New Roman" panose="02020603050405020304" pitchFamily="18" charset="0"/>
              </a:rPr>
              <a:t>f</a:t>
            </a:r>
            <a:r>
              <a:rPr lang="pl-PL" altLang="zh-CN" dirty="0">
                <a:solidFill>
                  <a:srgbClr val="0000FF"/>
                </a:solidFill>
                <a:latin typeface="Courier New" panose="02070309020205020404" pitchFamily="49" charset="0"/>
                <a:cs typeface="Times New Roman" panose="02020603050405020304" pitchFamily="18" charset="0"/>
              </a:rPr>
              <a:t>1 =</a:t>
            </a:r>
            <a:r>
              <a:rPr lang="en-US" altLang="zh-CN" dirty="0">
                <a:solidFill>
                  <a:srgbClr val="0000FF"/>
                </a:solidFill>
                <a:latin typeface="Courier New" panose="02070309020205020404" pitchFamily="49" charset="0"/>
                <a:cs typeface="Times New Roman" panose="02020603050405020304" pitchFamily="18" charset="0"/>
              </a:rPr>
              <a:t> x</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Rf2 = </a:t>
            </a:r>
            <a:r>
              <a:rPr lang="en-US" altLang="zh-CN" b="1" dirty="0" err="1">
                <a:solidFill>
                  <a:srgbClr val="008000"/>
                </a:solidFill>
                <a:latin typeface="Courier New" panose="02070309020205020404" pitchFamily="49" charset="0"/>
                <a:cs typeface="Times New Roman" panose="02020603050405020304" pitchFamily="18" charset="0"/>
              </a:rPr>
              <a:t>symvar</a:t>
            </a:r>
            <a:r>
              <a:rPr lang="en-US" altLang="zh-CN" b="1" dirty="0">
                <a:solidFill>
                  <a:srgbClr val="008000"/>
                </a:solidFill>
                <a:latin typeface="Courier New" panose="02070309020205020404" pitchFamily="49" charset="0"/>
                <a:cs typeface="Times New Roman" panose="02020603050405020304" pitchFamily="18" charset="0"/>
              </a:rPr>
              <a:t>(E2,2)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列出</a:t>
            </a:r>
            <a:r>
              <a:rPr lang="en-US" altLang="zh-CN" b="1" dirty="0">
                <a:solidFill>
                  <a:srgbClr val="FF0000"/>
                </a:solidFill>
                <a:latin typeface="Courier New" panose="02070309020205020404" pitchFamily="49" charset="0"/>
                <a:cs typeface="Times New Roman" panose="02020603050405020304" pitchFamily="18" charset="0"/>
              </a:rPr>
              <a:t>E2</a:t>
            </a:r>
            <a:r>
              <a:rPr lang="zh-CN" altLang="en-US" b="1" dirty="0">
                <a:solidFill>
                  <a:srgbClr val="FF0000"/>
                </a:solidFill>
                <a:latin typeface="Courier New" panose="02070309020205020404" pitchFamily="49" charset="0"/>
                <a:cs typeface="Times New Roman" panose="02020603050405020304" pitchFamily="18" charset="0"/>
              </a:rPr>
              <a:t>两个自由变量，注意：选取自由变量按靠近</a:t>
            </a:r>
            <a:r>
              <a:rPr lang="en-US" altLang="zh-CN" b="1" dirty="0">
                <a:solidFill>
                  <a:srgbClr val="FF0000"/>
                </a:solidFill>
                <a:latin typeface="Courier New" panose="02070309020205020404" pitchFamily="49" charset="0"/>
                <a:cs typeface="Times New Roman" panose="02020603050405020304" pitchFamily="18" charset="0"/>
              </a:rPr>
              <a:t>’x’</a:t>
            </a:r>
            <a:r>
              <a:rPr lang="zh-CN" altLang="en-US" b="1" dirty="0">
                <a:solidFill>
                  <a:srgbClr val="FF0000"/>
                </a:solidFill>
                <a:latin typeface="Courier New" panose="02070309020205020404" pitchFamily="49" charset="0"/>
                <a:cs typeface="Times New Roman" panose="02020603050405020304" pitchFamily="18" charset="0"/>
              </a:rPr>
              <a:t>决定，但显示是字典序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Rf2 = [ x, y]</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Rf3 = </a:t>
            </a:r>
            <a:r>
              <a:rPr lang="en-US" altLang="zh-CN" b="1" dirty="0" err="1">
                <a:solidFill>
                  <a:srgbClr val="008000"/>
                </a:solidFill>
                <a:latin typeface="Courier New" panose="02070309020205020404" pitchFamily="49" charset="0"/>
                <a:cs typeface="Times New Roman" panose="02020603050405020304" pitchFamily="18" charset="0"/>
              </a:rPr>
              <a:t>symvar</a:t>
            </a:r>
            <a:r>
              <a:rPr lang="en-US" altLang="zh-CN" b="1" dirty="0">
                <a:solidFill>
                  <a:srgbClr val="008000"/>
                </a:solidFill>
                <a:latin typeface="Courier New" panose="02070309020205020404" pitchFamily="49" charset="0"/>
                <a:cs typeface="Times New Roman" panose="02020603050405020304" pitchFamily="18" charset="0"/>
              </a:rPr>
              <a:t>(E2,3)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Rf3 = [ w, x, y]</a:t>
            </a:r>
            <a:endParaRPr lang="en-US" altLang="zh-CN" dirty="0">
              <a:solidFill>
                <a:srgbClr val="0000FF"/>
              </a:solidFill>
              <a:latin typeface="Courier New" panose="02070309020205020404" pitchFamily="49"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xEl>
                                              <p:pRg st="16" end="1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7" end="1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119"/>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2.4-3</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（续）</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1" name="文本框 10"/>
          <p:cNvSpPr txBox="1"/>
          <p:nvPr/>
        </p:nvSpPr>
        <p:spPr>
          <a:xfrm>
            <a:off x="122767" y="818212"/>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2.4-3】</a:t>
            </a:r>
            <a:r>
              <a:rPr lang="zh-CN" altLang="en-US" b="1" dirty="0">
                <a:solidFill>
                  <a:prstClr val="black"/>
                </a:solidFill>
                <a:latin typeface="+mn-ea"/>
              </a:rPr>
              <a:t>符号表达式中变量罗列与自由变量的识别（精简改动版）</a:t>
            </a:r>
            <a:endParaRPr lang="zh-CN" altLang="en-US" b="1" dirty="0">
              <a:latin typeface="+mn-ea"/>
            </a:endParaRPr>
          </a:p>
        </p:txBody>
      </p:sp>
      <p:sp>
        <p:nvSpPr>
          <p:cNvPr id="12" name="矩形 11"/>
          <p:cNvSpPr/>
          <p:nvPr/>
        </p:nvSpPr>
        <p:spPr>
          <a:xfrm>
            <a:off x="116310" y="1187544"/>
            <a:ext cx="8814093" cy="6463308"/>
          </a:xfrm>
          <a:prstGeom prst="rect">
            <a:avLst/>
          </a:prstGeom>
        </p:spPr>
        <p:txBody>
          <a:bodyPr wrap="square" numCol="1">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 all		 		  %</a:t>
            </a:r>
            <a:r>
              <a:rPr lang="zh-CN" altLang="en-US" b="1" dirty="0">
                <a:solidFill>
                  <a:srgbClr val="FF0000"/>
                </a:solidFill>
                <a:latin typeface="Courier New" panose="02070309020205020404" pitchFamily="49" charset="0"/>
                <a:cs typeface="Times New Roman" panose="02020603050405020304" pitchFamily="18" charset="0"/>
              </a:rPr>
              <a:t>清空</a:t>
            </a:r>
            <a:r>
              <a:rPr lang="en-US" altLang="zh-CN" b="1" dirty="0">
                <a:solidFill>
                  <a:srgbClr val="FF0000"/>
                </a:solidFill>
                <a:latin typeface="Courier New" panose="02070309020205020404" pitchFamily="49" charset="0"/>
                <a:cs typeface="Times New Roman" panose="02020603050405020304" pitchFamily="18" charset="0"/>
              </a:rPr>
              <a:t>MATLAB</a:t>
            </a:r>
            <a:r>
              <a:rPr lang="zh-CN" altLang="en-US" b="1" dirty="0">
                <a:solidFill>
                  <a:srgbClr val="FF0000"/>
                </a:solidFill>
                <a:latin typeface="Courier New" panose="02070309020205020404" pitchFamily="49" charset="0"/>
                <a:cs typeface="Times New Roman" panose="02020603050405020304" pitchFamily="18" charset="0"/>
              </a:rPr>
              <a:t>与</a:t>
            </a:r>
            <a:r>
              <a:rPr lang="en-US" altLang="zh-CN" b="1" dirty="0" err="1">
                <a:solidFill>
                  <a:srgbClr val="FF0000"/>
                </a:solidFill>
                <a:latin typeface="Courier New" panose="02070309020205020404" pitchFamily="49" charset="0"/>
                <a:cs typeface="Times New Roman" panose="02020603050405020304" pitchFamily="18" charset="0"/>
              </a:rPr>
              <a:t>Mupad</a:t>
            </a:r>
            <a:r>
              <a:rPr lang="zh-CN" altLang="en-US" b="1" dirty="0">
                <a:solidFill>
                  <a:srgbClr val="FF0000"/>
                </a:solidFill>
                <a:latin typeface="Courier New" panose="02070309020205020404" pitchFamily="49" charset="0"/>
                <a:cs typeface="Times New Roman" panose="02020603050405020304" pitchFamily="18" charset="0"/>
              </a:rPr>
              <a:t>内存</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x y 				  %</a:t>
            </a:r>
            <a:r>
              <a:rPr lang="zh-CN" altLang="en-US" b="1" dirty="0">
                <a:solidFill>
                  <a:srgbClr val="FF0000"/>
                </a:solidFill>
                <a:latin typeface="Courier New" panose="02070309020205020404" pitchFamily="49" charset="0"/>
                <a:cs typeface="Times New Roman" panose="02020603050405020304" pitchFamily="18" charset="0"/>
              </a:rPr>
              <a:t>定义符号变量</a:t>
            </a:r>
            <a:r>
              <a:rPr lang="en-US" altLang="zh-CN" b="1" dirty="0" err="1">
                <a:solidFill>
                  <a:srgbClr val="FF0000"/>
                </a:solidFill>
                <a:latin typeface="Courier New" panose="02070309020205020404" pitchFamily="49" charset="0"/>
                <a:cs typeface="Times New Roman" panose="02020603050405020304" pitchFamily="18" charset="0"/>
              </a:rPr>
              <a:t>x,y</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 = x^2 + y				  %</a:t>
            </a:r>
            <a:r>
              <a:rPr lang="zh-CN" altLang="en-US" b="1" dirty="0">
                <a:solidFill>
                  <a:srgbClr val="FF0000"/>
                </a:solidFill>
                <a:latin typeface="Courier New" panose="02070309020205020404" pitchFamily="49" charset="0"/>
                <a:cs typeface="Times New Roman" panose="02020603050405020304" pitchFamily="18" charset="0"/>
              </a:rPr>
              <a:t>定义二元符号表达式</a:t>
            </a:r>
            <a:r>
              <a:rPr lang="en-US" altLang="zh-CN" b="1" dirty="0">
                <a:solidFill>
                  <a:srgbClr val="FF0000"/>
                </a:solidFill>
                <a:latin typeface="Courier New" panose="02070309020205020404" pitchFamily="49" charset="0"/>
                <a:cs typeface="Times New Roman" panose="02020603050405020304" pitchFamily="18" charset="0"/>
              </a:rPr>
              <a:t>F</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 = x^2 + y</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diff(</a:t>
            </a:r>
            <a:r>
              <a:rPr lang="en-US" altLang="zh-CN" b="1" dirty="0" err="1">
                <a:solidFill>
                  <a:srgbClr val="008000"/>
                </a:solidFill>
                <a:latin typeface="Courier New" panose="02070309020205020404" pitchFamily="49" charset="0"/>
                <a:cs typeface="Times New Roman" panose="02020603050405020304" pitchFamily="18" charset="0"/>
              </a:rPr>
              <a:t>F,x</a:t>
            </a: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求</a:t>
            </a:r>
            <a:r>
              <a:rPr lang="en-US" altLang="zh-CN" b="1" dirty="0">
                <a:solidFill>
                  <a:srgbClr val="FF0000"/>
                </a:solidFill>
                <a:latin typeface="Courier New" panose="02070309020205020404" pitchFamily="49" charset="0"/>
                <a:cs typeface="Times New Roman" panose="02020603050405020304" pitchFamily="18" charset="0"/>
              </a:rPr>
              <a:t>F</a:t>
            </a:r>
            <a:r>
              <a:rPr lang="zh-CN" altLang="en-US" b="1" dirty="0">
                <a:solidFill>
                  <a:srgbClr val="FF0000"/>
                </a:solidFill>
                <a:latin typeface="Courier New" panose="02070309020205020404" pitchFamily="49" charset="0"/>
                <a:cs typeface="Times New Roman" panose="02020603050405020304" pitchFamily="18" charset="0"/>
              </a:rPr>
              <a:t>关于</a:t>
            </a:r>
            <a:r>
              <a:rPr lang="en-US" altLang="zh-CN" b="1" dirty="0">
                <a:solidFill>
                  <a:srgbClr val="FF0000"/>
                </a:solidFill>
                <a:latin typeface="Courier New" panose="02070309020205020404" pitchFamily="49" charset="0"/>
                <a:cs typeface="Times New Roman" panose="02020603050405020304" pitchFamily="18" charset="0"/>
              </a:rPr>
              <a:t>x</a:t>
            </a:r>
            <a:r>
              <a:rPr lang="zh-CN" altLang="en-US" b="1" dirty="0">
                <a:solidFill>
                  <a:srgbClr val="FF0000"/>
                </a:solidFill>
                <a:latin typeface="Courier New" panose="02070309020205020404" pitchFamily="49" charset="0"/>
                <a:cs typeface="Times New Roman" panose="02020603050405020304" pitchFamily="18" charset="0"/>
              </a:rPr>
              <a:t>的偏导（函）数</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2*x</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diff(F)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不指定求导变量，则计算</a:t>
            </a:r>
            <a:r>
              <a:rPr lang="en-US" altLang="zh-CN" b="1" dirty="0">
                <a:solidFill>
                  <a:srgbClr val="FF0000"/>
                </a:solidFill>
                <a:latin typeface="Courier New" panose="02070309020205020404" pitchFamily="49" charset="0"/>
                <a:cs typeface="Times New Roman" panose="02020603050405020304" pitchFamily="18" charset="0"/>
              </a:rPr>
              <a:t>F</a:t>
            </a:r>
            <a:r>
              <a:rPr lang="zh-CN" altLang="en-US" b="1" dirty="0">
                <a:solidFill>
                  <a:srgbClr val="FF0000"/>
                </a:solidFill>
                <a:latin typeface="Courier New" panose="02070309020205020404" pitchFamily="49" charset="0"/>
                <a:cs typeface="Times New Roman" panose="02020603050405020304" pitchFamily="18" charset="0"/>
              </a:rPr>
              <a:t>关于自由变量</a:t>
            </a:r>
            <a:r>
              <a:rPr lang="en-US" altLang="zh-CN" b="1" dirty="0">
                <a:solidFill>
                  <a:srgbClr val="FF0000"/>
                </a:solidFill>
                <a:latin typeface="Courier New" panose="02070309020205020404" pitchFamily="49" charset="0"/>
                <a:cs typeface="Times New Roman" panose="02020603050405020304" pitchFamily="18" charset="0"/>
              </a:rPr>
              <a:t>x</a:t>
            </a:r>
            <a:r>
              <a:rPr lang="zh-CN" altLang="en-US" b="1" dirty="0">
                <a:solidFill>
                  <a:srgbClr val="FF0000"/>
                </a:solidFill>
                <a:latin typeface="Courier New" panose="02070309020205020404" pitchFamily="49" charset="0"/>
                <a:cs typeface="Times New Roman" panose="02020603050405020304" pitchFamily="18" charset="0"/>
              </a:rPr>
              <a:t>的偏导（函）数，结果同上</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2*x</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diff(</a:t>
            </a:r>
            <a:r>
              <a:rPr lang="en-US" altLang="zh-CN" b="1" dirty="0" err="1">
                <a:solidFill>
                  <a:srgbClr val="008000"/>
                </a:solidFill>
                <a:latin typeface="Courier New" panose="02070309020205020404" pitchFamily="49" charset="0"/>
                <a:cs typeface="Times New Roman" panose="02020603050405020304" pitchFamily="18" charset="0"/>
              </a:rPr>
              <a:t>F,y</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a:solidFill>
                  <a:srgbClr val="FF0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计算</a:t>
            </a:r>
            <a:r>
              <a:rPr lang="en-US" altLang="zh-CN" b="1" dirty="0">
                <a:solidFill>
                  <a:srgbClr val="FF0000"/>
                </a:solidFill>
                <a:latin typeface="Courier New" panose="02070309020205020404" pitchFamily="49" charset="0"/>
                <a:cs typeface="Times New Roman" panose="02020603050405020304" pitchFamily="18" charset="0"/>
              </a:rPr>
              <a:t>F</a:t>
            </a:r>
            <a:r>
              <a:rPr lang="zh-CN" altLang="en-US" b="1" dirty="0">
                <a:solidFill>
                  <a:srgbClr val="FF0000"/>
                </a:solidFill>
                <a:latin typeface="Courier New" panose="02070309020205020404" pitchFamily="49" charset="0"/>
                <a:cs typeface="Times New Roman" panose="02020603050405020304" pitchFamily="18" charset="0"/>
              </a:rPr>
              <a:t>关于</a:t>
            </a:r>
            <a:r>
              <a:rPr lang="en-US" altLang="zh-CN" b="1" dirty="0">
                <a:solidFill>
                  <a:srgbClr val="FF0000"/>
                </a:solidFill>
                <a:latin typeface="Courier New" panose="02070309020205020404" pitchFamily="49" charset="0"/>
                <a:cs typeface="Times New Roman" panose="02020603050405020304" pitchFamily="18" charset="0"/>
              </a:rPr>
              <a:t>y</a:t>
            </a:r>
            <a:r>
              <a:rPr lang="zh-CN" altLang="en-US" b="1" dirty="0">
                <a:solidFill>
                  <a:srgbClr val="FF0000"/>
                </a:solidFill>
                <a:latin typeface="Courier New" panose="02070309020205020404" pitchFamily="49" charset="0"/>
                <a:cs typeface="Times New Roman" panose="02020603050405020304" pitchFamily="18" charset="0"/>
              </a:rPr>
              <a:t>的偏导需要指定</a:t>
            </a:r>
            <a:r>
              <a:rPr lang="en-US" altLang="zh-CN" b="1" dirty="0">
                <a:solidFill>
                  <a:srgbClr val="FF0000"/>
                </a:solidFill>
                <a:latin typeface="Courier New" panose="02070309020205020404" pitchFamily="49" charset="0"/>
                <a:cs typeface="Times New Roman" panose="02020603050405020304" pitchFamily="18" charset="0"/>
              </a:rPr>
              <a:t>y</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1</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a</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solve(x^2 + x + 1 == a)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FF0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未指定未知变量时，默认该符号方程求解是解自由变量</a:t>
            </a:r>
            <a:r>
              <a:rPr lang="en-US" altLang="zh-CN" b="1" dirty="0">
                <a:solidFill>
                  <a:srgbClr val="FF0000"/>
                </a:solidFill>
                <a:latin typeface="Courier New" panose="02070309020205020404" pitchFamily="49" charset="0"/>
                <a:cs typeface="Times New Roman" panose="02020603050405020304" pitchFamily="18" charset="0"/>
              </a:rPr>
              <a:t>x</a:t>
            </a:r>
            <a:r>
              <a:rPr lang="zh-CN" altLang="en-US" b="1" dirty="0">
                <a:solidFill>
                  <a:srgbClr val="FF0000"/>
                </a:solidFill>
                <a:latin typeface="Courier New" panose="02070309020205020404" pitchFamily="49" charset="0"/>
                <a:cs typeface="Times New Roman" panose="02020603050405020304" pitchFamily="18" charset="0"/>
              </a:rPr>
              <a:t>关于</a:t>
            </a:r>
            <a:r>
              <a:rPr lang="en-US" altLang="zh-CN" b="1" dirty="0">
                <a:solidFill>
                  <a:srgbClr val="FF0000"/>
                </a:solidFill>
                <a:latin typeface="Courier New" panose="02070309020205020404" pitchFamily="49" charset="0"/>
                <a:cs typeface="Times New Roman" panose="02020603050405020304" pitchFamily="18" charset="0"/>
              </a:rPr>
              <a:t>a</a:t>
            </a:r>
            <a:r>
              <a:rPr lang="zh-CN" altLang="en-US" b="1" dirty="0">
                <a:solidFill>
                  <a:srgbClr val="FF0000"/>
                </a:solidFill>
                <a:latin typeface="Courier New" panose="02070309020205020404" pitchFamily="49" charset="0"/>
                <a:cs typeface="Times New Roman" panose="02020603050405020304" pitchFamily="18" charset="0"/>
              </a:rPr>
              <a:t>的表达式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  - (4*a - 3)^(1/2)/2 - 1/2</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(4*a - 3)^(1/2)/2 - 1/2</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FF0000"/>
              </a:solidFill>
              <a:latin typeface="Courier New" panose="02070309020205020404" pitchFamily="49" charset="0"/>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7619565" y="5013176"/>
            <a:ext cx="1095383" cy="8953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18" end="1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140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符号微积分</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计算级数和</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mc:AlternateContent xmlns:mc="http://schemas.openxmlformats.org/markup-compatibility/2006">
        <mc:Choice xmlns:a14="http://schemas.microsoft.com/office/drawing/2010/main" Requires="a14">
          <p:sp>
            <p:nvSpPr>
              <p:cNvPr id="9" name="矩形 8"/>
              <p:cNvSpPr/>
              <p:nvPr/>
            </p:nvSpPr>
            <p:spPr>
              <a:xfrm>
                <a:off x="347601" y="2492896"/>
                <a:ext cx="8339199" cy="4820615"/>
              </a:xfrm>
              <a:prstGeom prst="rect">
                <a:avLst/>
              </a:prstGeom>
            </p:spPr>
            <p:txBody>
              <a:bodyPr wrap="square">
                <a:spAutoFit/>
              </a:bodyPr>
              <a:lstStyle/>
              <a:p>
                <a:r>
                  <a:rPr lang="zh-CN" altLang="en-US" sz="2400" b="1" dirty="0">
                    <a:solidFill>
                      <a:prstClr val="black"/>
                    </a:solidFill>
                    <a:latin typeface="+mj-ea"/>
                    <a:ea typeface="+mj-ea"/>
                  </a:rPr>
                  <a:t>例：验证</a:t>
                </a:r>
                <a14:m>
                  <m:oMath xmlns:m="http://schemas.openxmlformats.org/officeDocument/2006/math">
                    <m:nary>
                      <m:naryPr>
                        <m:chr m:val="∑"/>
                        <m:ctrlPr>
                          <a:rPr lang="en-US" altLang="zh-CN" sz="2400" b="1" i="1">
                            <a:solidFill>
                              <a:prstClr val="black"/>
                            </a:solidFill>
                            <a:latin typeface="Cambria Math" panose="02040503050406030204" pitchFamily="18" charset="0"/>
                            <a:ea typeface="幼圆" panose="02010509060101010101" pitchFamily="49" charset="-122"/>
                          </a:rPr>
                        </m:ctrlPr>
                      </m:naryPr>
                      <m:sub>
                        <m:r>
                          <a:rPr lang="en-US" altLang="zh-CN" sz="2400" b="1" i="1">
                            <a:solidFill>
                              <a:prstClr val="black"/>
                            </a:solidFill>
                            <a:latin typeface="Cambria Math" panose="02040503050406030204" pitchFamily="18" charset="0"/>
                            <a:ea typeface="幼圆" panose="02010509060101010101" pitchFamily="49" charset="-122"/>
                          </a:rPr>
                          <m:t>𝒏</m:t>
                        </m:r>
                        <m:r>
                          <a:rPr lang="en-US" altLang="zh-CN" sz="2400" b="1" i="1">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𝟎</m:t>
                        </m:r>
                      </m:sub>
                      <m:sup>
                        <m:r>
                          <a:rPr lang="en-US" altLang="zh-CN" sz="2400" b="1" i="1">
                            <a:solidFill>
                              <a:prstClr val="black"/>
                            </a:solidFill>
                            <a:latin typeface="Cambria Math" panose="02040503050406030204" pitchFamily="18" charset="0"/>
                            <a:ea typeface="幼圆" panose="02010509060101010101" pitchFamily="49" charset="-122"/>
                          </a:rPr>
                          <m:t>∞</m:t>
                        </m:r>
                      </m:sup>
                      <m:e>
                        <m:f>
                          <m:fPr>
                            <m:ctrlPr>
                              <a:rPr lang="en-US" altLang="zh-CN" sz="2400" b="1" i="1">
                                <a:solidFill>
                                  <a:prstClr val="black"/>
                                </a:solidFill>
                                <a:latin typeface="Cambria Math" panose="02040503050406030204" pitchFamily="18" charset="0"/>
                                <a:ea typeface="幼圆" panose="02010509060101010101" pitchFamily="49" charset="-122"/>
                              </a:rPr>
                            </m:ctrlPr>
                          </m:fPr>
                          <m:num>
                            <m:r>
                              <a:rPr lang="en-US" altLang="zh-CN" sz="2400" b="1" i="1">
                                <a:solidFill>
                                  <a:prstClr val="black"/>
                                </a:solidFill>
                                <a:latin typeface="Cambria Math" panose="02040503050406030204" pitchFamily="18" charset="0"/>
                                <a:ea typeface="幼圆" panose="02010509060101010101" pitchFamily="49" charset="-122"/>
                              </a:rPr>
                              <m:t>𝟏</m:t>
                            </m:r>
                          </m:num>
                          <m:den>
                            <m:r>
                              <a:rPr lang="en-US" altLang="zh-CN" sz="2400" b="1" i="1" smtClean="0">
                                <a:solidFill>
                                  <a:prstClr val="black"/>
                                </a:solidFill>
                                <a:latin typeface="Cambria Math" panose="02040503050406030204" pitchFamily="18" charset="0"/>
                                <a:ea typeface="幼圆" panose="02010509060101010101" pitchFamily="49" charset="-122"/>
                              </a:rPr>
                              <m:t>𝒏</m:t>
                            </m:r>
                            <m:r>
                              <a:rPr lang="en-US" altLang="zh-CN" sz="2400" b="1" i="1" smtClean="0">
                                <a:solidFill>
                                  <a:prstClr val="black"/>
                                </a:solidFill>
                                <a:latin typeface="Cambria Math" panose="02040503050406030204" pitchFamily="18" charset="0"/>
                                <a:ea typeface="幼圆" panose="02010509060101010101" pitchFamily="49" charset="-122"/>
                              </a:rPr>
                              <m:t>!</m:t>
                            </m:r>
                          </m:den>
                        </m:f>
                      </m:e>
                    </m:nary>
                    <m:r>
                      <a:rPr lang="en-US" altLang="zh-CN" sz="2400" b="1" i="1">
                        <a:solidFill>
                          <a:prstClr val="black"/>
                        </a:solidFill>
                        <a:latin typeface="Cambria Math" panose="02040503050406030204" pitchFamily="18" charset="0"/>
                        <a:ea typeface="幼圆" panose="02010509060101010101" pitchFamily="49" charset="-122"/>
                      </a:rPr>
                      <m:t>=</m:t>
                    </m:r>
                    <m:r>
                      <m:rPr>
                        <m:sty m:val="p"/>
                      </m:rPr>
                      <a:rPr lang="en-US" altLang="zh-CN" sz="2400" b="1" i="1">
                        <a:solidFill>
                          <a:prstClr val="black"/>
                        </a:solidFill>
                        <a:latin typeface="Cambria Math" panose="02040503050406030204" pitchFamily="18" charset="0"/>
                        <a:ea typeface="幼圆" panose="02010509060101010101" pitchFamily="49" charset="-122"/>
                      </a:rPr>
                      <m:t>e</m:t>
                    </m:r>
                    <m:r>
                      <m:rPr>
                        <m:nor/>
                      </m:rPr>
                      <a:rPr lang="zh-CN" altLang="en-US" sz="2400" b="1" dirty="0">
                        <a:solidFill>
                          <a:prstClr val="black"/>
                        </a:solidFill>
                        <a:latin typeface="+mj-ea"/>
                      </a:rPr>
                      <m:t>与</m:t>
                    </m:r>
                    <m:nary>
                      <m:naryPr>
                        <m:chr m:val="∑"/>
                        <m:ctrlPr>
                          <a:rPr lang="en-US" altLang="zh-CN" sz="2400" b="1" i="1">
                            <a:solidFill>
                              <a:prstClr val="black"/>
                            </a:solidFill>
                            <a:latin typeface="Cambria Math" panose="02040503050406030204" pitchFamily="18" charset="0"/>
                            <a:ea typeface="幼圆" panose="02010509060101010101" pitchFamily="49" charset="-122"/>
                          </a:rPr>
                        </m:ctrlPr>
                      </m:naryPr>
                      <m:sub>
                        <m:r>
                          <a:rPr lang="en-US" altLang="zh-CN" sz="2400" b="1" i="1">
                            <a:solidFill>
                              <a:prstClr val="black"/>
                            </a:solidFill>
                            <a:latin typeface="Cambria Math" panose="02040503050406030204" pitchFamily="18" charset="0"/>
                            <a:ea typeface="幼圆" panose="02010509060101010101" pitchFamily="49" charset="-122"/>
                          </a:rPr>
                          <m:t>𝒏</m:t>
                        </m:r>
                        <m:r>
                          <a:rPr lang="en-US" altLang="zh-CN" sz="2400" b="1" i="1">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𝟏</m:t>
                        </m:r>
                      </m:sub>
                      <m:sup>
                        <m:r>
                          <a:rPr lang="en-US" altLang="zh-CN" sz="2400" b="1" i="1">
                            <a:solidFill>
                              <a:prstClr val="black"/>
                            </a:solidFill>
                            <a:latin typeface="Cambria Math" panose="02040503050406030204" pitchFamily="18" charset="0"/>
                            <a:ea typeface="幼圆" panose="02010509060101010101" pitchFamily="49" charset="-122"/>
                          </a:rPr>
                          <m:t>∞</m:t>
                        </m:r>
                      </m:sup>
                      <m:e>
                        <m:f>
                          <m:fPr>
                            <m:ctrlPr>
                              <a:rPr lang="en-US" altLang="zh-CN" sz="2400" b="1" i="1">
                                <a:solidFill>
                                  <a:prstClr val="black"/>
                                </a:solidFill>
                                <a:latin typeface="Cambria Math" panose="02040503050406030204" pitchFamily="18" charset="0"/>
                                <a:ea typeface="幼圆" panose="02010509060101010101" pitchFamily="49" charset="-122"/>
                              </a:rPr>
                            </m:ctrlPr>
                          </m:fPr>
                          <m:num>
                            <m:r>
                              <a:rPr lang="en-US" altLang="zh-CN" sz="2400" b="1" i="1">
                                <a:solidFill>
                                  <a:prstClr val="black"/>
                                </a:solidFill>
                                <a:latin typeface="Cambria Math" panose="02040503050406030204" pitchFamily="18" charset="0"/>
                                <a:ea typeface="幼圆" panose="02010509060101010101" pitchFamily="49" charset="-122"/>
                              </a:rPr>
                              <m:t>𝟏</m:t>
                            </m:r>
                          </m:num>
                          <m:den>
                            <m:sSup>
                              <m:sSupPr>
                                <m:ctrlPr>
                                  <a:rPr lang="en-US" altLang="zh-CN" sz="2400" b="1" i="1">
                                    <a:solidFill>
                                      <a:prstClr val="black"/>
                                    </a:solidFill>
                                    <a:latin typeface="Cambria Math" panose="02040503050406030204" pitchFamily="18" charset="0"/>
                                    <a:ea typeface="幼圆" panose="02010509060101010101" pitchFamily="49" charset="-122"/>
                                  </a:rPr>
                                </m:ctrlPr>
                              </m:sSupPr>
                              <m:e>
                                <m:r>
                                  <a:rPr lang="en-US" altLang="zh-CN" sz="2400" b="1" i="1">
                                    <a:solidFill>
                                      <a:prstClr val="black"/>
                                    </a:solidFill>
                                    <a:latin typeface="Cambria Math" panose="02040503050406030204" pitchFamily="18" charset="0"/>
                                    <a:ea typeface="幼圆" panose="02010509060101010101" pitchFamily="49" charset="-122"/>
                                  </a:rPr>
                                  <m:t>𝒏</m:t>
                                </m:r>
                              </m:e>
                              <m:sup>
                                <m:r>
                                  <a:rPr lang="en-US" altLang="zh-CN" sz="2400" b="1" i="1">
                                    <a:solidFill>
                                      <a:prstClr val="black"/>
                                    </a:solidFill>
                                    <a:latin typeface="Cambria Math" panose="02040503050406030204" pitchFamily="18" charset="0"/>
                                    <a:ea typeface="幼圆" panose="02010509060101010101" pitchFamily="49" charset="-122"/>
                                  </a:rPr>
                                  <m:t>𝟐</m:t>
                                </m:r>
                              </m:sup>
                            </m:sSup>
                          </m:den>
                        </m:f>
                      </m:e>
                    </m:nary>
                    <m:r>
                      <a:rPr lang="en-US" altLang="zh-CN" sz="2400" b="1" i="1">
                        <a:solidFill>
                          <a:prstClr val="black"/>
                        </a:solidFill>
                        <a:latin typeface="Cambria Math" panose="02040503050406030204" pitchFamily="18" charset="0"/>
                        <a:ea typeface="幼圆" panose="02010509060101010101" pitchFamily="49" charset="-122"/>
                      </a:rPr>
                      <m:t>=</m:t>
                    </m:r>
                    <m:f>
                      <m:fPr>
                        <m:ctrlPr>
                          <a:rPr lang="en-US" altLang="zh-CN" sz="2400" b="1" i="1" smtClean="0">
                            <a:solidFill>
                              <a:prstClr val="black"/>
                            </a:solidFill>
                            <a:latin typeface="Cambria Math" panose="02040503050406030204" pitchFamily="18" charset="0"/>
                            <a:ea typeface="幼圆" panose="02010509060101010101" pitchFamily="49" charset="-122"/>
                          </a:rPr>
                        </m:ctrlPr>
                      </m:fPr>
                      <m:num>
                        <m:sSup>
                          <m:sSupPr>
                            <m:ctrlPr>
                              <a:rPr lang="en-US" altLang="zh-CN" sz="2400" b="1" i="1" smtClean="0">
                                <a:solidFill>
                                  <a:prstClr val="black"/>
                                </a:solidFill>
                                <a:latin typeface="Cambria Math" panose="02040503050406030204" pitchFamily="18" charset="0"/>
                                <a:ea typeface="幼圆" panose="02010509060101010101" pitchFamily="49" charset="-122"/>
                              </a:rPr>
                            </m:ctrlPr>
                          </m:sSupPr>
                          <m:e>
                            <m:r>
                              <a:rPr lang="en-US" altLang="zh-CN" sz="2400" b="1" i="1" smtClean="0">
                                <a:solidFill>
                                  <a:prstClr val="black"/>
                                </a:solidFill>
                                <a:latin typeface="Cambria Math" panose="02040503050406030204" pitchFamily="18" charset="0"/>
                                <a:ea typeface="幼圆" panose="02010509060101010101" pitchFamily="49" charset="-122"/>
                              </a:rPr>
                              <m:t>𝝅</m:t>
                            </m:r>
                          </m:e>
                          <m:sup>
                            <m:r>
                              <a:rPr lang="en-US" altLang="zh-CN" sz="2400" b="1" i="1" smtClean="0">
                                <a:solidFill>
                                  <a:prstClr val="black"/>
                                </a:solidFill>
                                <a:latin typeface="Cambria Math" panose="02040503050406030204" pitchFamily="18" charset="0"/>
                                <a:ea typeface="幼圆" panose="02010509060101010101" pitchFamily="49" charset="-122"/>
                              </a:rPr>
                              <m:t>𝟐</m:t>
                            </m:r>
                          </m:sup>
                        </m:sSup>
                      </m:num>
                      <m:den>
                        <m:r>
                          <a:rPr lang="en-US" altLang="zh-CN" sz="2400" b="1" i="1" smtClean="0">
                            <a:solidFill>
                              <a:prstClr val="black"/>
                            </a:solidFill>
                            <a:latin typeface="Cambria Math" panose="02040503050406030204" pitchFamily="18" charset="0"/>
                            <a:ea typeface="幼圆" panose="02010509060101010101" pitchFamily="49" charset="-122"/>
                          </a:rPr>
                          <m:t>𝟔</m:t>
                        </m:r>
                      </m:den>
                    </m:f>
                  </m:oMath>
                </a14:m>
                <a:r>
                  <a:rPr lang="en-US" altLang="zh-CN" sz="2400" b="1" dirty="0">
                    <a:solidFill>
                      <a:prstClr val="black"/>
                    </a:solidFill>
                    <a:latin typeface="+mj-ea"/>
                    <a:ea typeface="+mj-ea"/>
                  </a:rPr>
                  <a:t>,</a:t>
                </a:r>
                <a:r>
                  <a:rPr lang="zh-CN" altLang="en-US" sz="2400" b="1" dirty="0">
                    <a:solidFill>
                      <a:prstClr val="black"/>
                    </a:solidFill>
                    <a:latin typeface="+mj-ea"/>
                    <a:ea typeface="+mj-ea"/>
                  </a:rPr>
                  <a:t>并尝试计算</a:t>
                </a:r>
                <a14:m>
                  <m:oMath xmlns:m="http://schemas.openxmlformats.org/officeDocument/2006/math">
                    <m:nary>
                      <m:naryPr>
                        <m:chr m:val="∑"/>
                        <m:ctrlPr>
                          <a:rPr lang="en-US" altLang="zh-CN" sz="2400" b="1" i="1">
                            <a:solidFill>
                              <a:prstClr val="black"/>
                            </a:solidFill>
                            <a:latin typeface="Cambria Math" panose="02040503050406030204" pitchFamily="18" charset="0"/>
                            <a:ea typeface="幼圆" panose="02010509060101010101" pitchFamily="49" charset="-122"/>
                          </a:rPr>
                        </m:ctrlPr>
                      </m:naryPr>
                      <m:sub>
                        <m:r>
                          <a:rPr lang="en-US" altLang="zh-CN" sz="2400" b="1" i="1" smtClean="0">
                            <a:solidFill>
                              <a:prstClr val="black"/>
                            </a:solidFill>
                            <a:latin typeface="Cambria Math" panose="02040503050406030204" pitchFamily="18" charset="0"/>
                            <a:ea typeface="幼圆" panose="02010509060101010101" pitchFamily="49" charset="-122"/>
                          </a:rPr>
                          <m:t>𝒏</m:t>
                        </m:r>
                        <m:r>
                          <a:rPr lang="en-US" altLang="zh-CN" sz="2400" b="1" i="1">
                            <a:solidFill>
                              <a:prstClr val="black"/>
                            </a:solidFill>
                            <a:latin typeface="Cambria Math" panose="02040503050406030204" pitchFamily="18" charset="0"/>
                            <a:ea typeface="幼圆" panose="02010509060101010101" pitchFamily="49" charset="-122"/>
                          </a:rPr>
                          <m:t>=</m:t>
                        </m:r>
                        <m:r>
                          <a:rPr lang="en-US" altLang="zh-CN" sz="2400" b="1" i="1" smtClean="0">
                            <a:solidFill>
                              <a:prstClr val="black"/>
                            </a:solidFill>
                            <a:latin typeface="Cambria Math" panose="02040503050406030204" pitchFamily="18" charset="0"/>
                            <a:ea typeface="幼圆" panose="02010509060101010101" pitchFamily="49" charset="-122"/>
                          </a:rPr>
                          <m:t>𝟏</m:t>
                        </m:r>
                      </m:sub>
                      <m:sup>
                        <m:r>
                          <a:rPr lang="en-US" altLang="zh-CN" sz="2400" b="1" i="1" smtClean="0">
                            <a:solidFill>
                              <a:prstClr val="black"/>
                            </a:solidFill>
                            <a:latin typeface="Cambria Math" panose="02040503050406030204" pitchFamily="18" charset="0"/>
                            <a:ea typeface="幼圆" panose="02010509060101010101" pitchFamily="49" charset="-122"/>
                          </a:rPr>
                          <m:t>𝟏𝟎𝟎</m:t>
                        </m:r>
                      </m:sup>
                      <m:e>
                        <m:f>
                          <m:fPr>
                            <m:ctrlPr>
                              <a:rPr lang="en-US" altLang="zh-CN" sz="2400" b="1" i="1">
                                <a:solidFill>
                                  <a:prstClr val="black"/>
                                </a:solidFill>
                                <a:latin typeface="Cambria Math" panose="02040503050406030204" pitchFamily="18" charset="0"/>
                                <a:ea typeface="幼圆" panose="02010509060101010101" pitchFamily="49" charset="-122"/>
                              </a:rPr>
                            </m:ctrlPr>
                          </m:fPr>
                          <m:num>
                            <m:r>
                              <a:rPr lang="en-US" altLang="zh-CN" sz="2400" b="1" i="1">
                                <a:solidFill>
                                  <a:prstClr val="black"/>
                                </a:solidFill>
                                <a:latin typeface="Cambria Math" panose="02040503050406030204" pitchFamily="18" charset="0"/>
                                <a:ea typeface="幼圆" panose="02010509060101010101" pitchFamily="49" charset="-122"/>
                              </a:rPr>
                              <m:t>𝟏</m:t>
                            </m:r>
                          </m:num>
                          <m:den>
                            <m:sSup>
                              <m:sSupPr>
                                <m:ctrlPr>
                                  <a:rPr lang="en-US" altLang="zh-CN" sz="2400" b="1" i="1">
                                    <a:solidFill>
                                      <a:prstClr val="black"/>
                                    </a:solidFill>
                                    <a:latin typeface="Cambria Math" panose="02040503050406030204" pitchFamily="18" charset="0"/>
                                    <a:ea typeface="幼圆" panose="02010509060101010101" pitchFamily="49" charset="-122"/>
                                  </a:rPr>
                                </m:ctrlPr>
                              </m:sSupPr>
                              <m:e>
                                <m:r>
                                  <a:rPr lang="en-US" altLang="zh-CN" sz="2400" b="1" i="1" smtClean="0">
                                    <a:solidFill>
                                      <a:prstClr val="black"/>
                                    </a:solidFill>
                                    <a:latin typeface="Cambria Math" panose="02040503050406030204" pitchFamily="18" charset="0"/>
                                    <a:ea typeface="幼圆" panose="02010509060101010101" pitchFamily="49" charset="-122"/>
                                  </a:rPr>
                                  <m:t>𝒏</m:t>
                                </m:r>
                              </m:e>
                              <m:sup>
                                <m:r>
                                  <a:rPr lang="en-US" altLang="zh-CN" sz="2400" b="1" i="1">
                                    <a:solidFill>
                                      <a:prstClr val="black"/>
                                    </a:solidFill>
                                    <a:latin typeface="Cambria Math" panose="02040503050406030204" pitchFamily="18" charset="0"/>
                                    <a:ea typeface="幼圆" panose="02010509060101010101" pitchFamily="49" charset="-122"/>
                                  </a:rPr>
                                  <m:t>𝟐</m:t>
                                </m:r>
                              </m:sup>
                            </m:sSup>
                          </m:den>
                        </m:f>
                      </m:e>
                    </m:nary>
                  </m:oMath>
                </a14:m>
                <a:endParaRPr lang="en-US" altLang="zh-CN" sz="2400" b="1" dirty="0">
                  <a:solidFill>
                    <a:prstClr val="black"/>
                  </a:solidFill>
                  <a:latin typeface="+mj-ea"/>
                  <a:ea typeface="+mj-ea"/>
                </a:endParaRPr>
              </a:p>
              <a:p>
                <a:endParaRPr lang="pt-BR" altLang="zh-CN" b="1" dirty="0">
                  <a:solidFill>
                    <a:srgbClr val="008000"/>
                  </a:solidFill>
                  <a:latin typeface="Courier New" panose="02070309020205020404" pitchFamily="49" charset="0"/>
                  <a:cs typeface="Times New Roman" panose="02020603050405020304" pitchFamily="18" charset="0"/>
                </a:endParaRPr>
              </a:p>
              <a:p>
                <a:r>
                  <a:rPr lang="pt-BR" altLang="zh-CN" b="1" dirty="0">
                    <a:solidFill>
                      <a:srgbClr val="008000"/>
                    </a:solidFill>
                    <a:latin typeface="Courier New" panose="02070309020205020404" pitchFamily="49" charset="0"/>
                    <a:cs typeface="Times New Roman" panose="02020603050405020304" pitchFamily="18" charset="0"/>
                  </a:rPr>
                  <a:t>syms n; f1 = 1/factorial(n); f2=1/n^2;</a:t>
                </a:r>
                <a:endParaRPr lang="pt-BR" altLang="zh-CN" b="1" dirty="0">
                  <a:solidFill>
                    <a:srgbClr val="008000"/>
                  </a:solidFill>
                  <a:latin typeface="Courier New" panose="02070309020205020404" pitchFamily="49" charset="0"/>
                  <a:cs typeface="Times New Roman" panose="02020603050405020304" pitchFamily="18" charset="0"/>
                </a:endParaRPr>
              </a:p>
              <a:p>
                <a:r>
                  <a:rPr lang="pt-BR"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定义符号变量</a:t>
                </a:r>
                <a:r>
                  <a:rPr lang="en-US" altLang="zh-CN" b="1" dirty="0">
                    <a:solidFill>
                      <a:srgbClr val="FF0000"/>
                    </a:solidFill>
                    <a:latin typeface="Courier New" panose="02070309020205020404" pitchFamily="49" charset="0"/>
                    <a:cs typeface="Times New Roman" panose="02020603050405020304" pitchFamily="18" charset="0"/>
                  </a:rPr>
                  <a:t>n</a:t>
                </a:r>
                <a:r>
                  <a:rPr lang="zh-CN" altLang="en-US" b="1" dirty="0">
                    <a:solidFill>
                      <a:srgbClr val="FF0000"/>
                    </a:solidFill>
                    <a:latin typeface="Courier New" panose="02070309020205020404" pitchFamily="49" charset="0"/>
                    <a:cs typeface="Times New Roman" panose="02020603050405020304" pitchFamily="18" charset="0"/>
                  </a:rPr>
                  <a:t>与符号表达式</a:t>
                </a:r>
                <a:r>
                  <a:rPr lang="en-US" altLang="zh-CN" b="1" dirty="0">
                    <a:solidFill>
                      <a:srgbClr val="FF0000"/>
                    </a:solidFill>
                    <a:latin typeface="Courier New" panose="02070309020205020404" pitchFamily="49" charset="0"/>
                    <a:cs typeface="Times New Roman" panose="02020603050405020304" pitchFamily="18" charset="0"/>
                  </a:rPr>
                  <a:t>f1,f2</a:t>
                </a:r>
                <a:endParaRPr lang="en-US" altLang="zh-CN" b="1" dirty="0">
                  <a:solidFill>
                    <a:srgbClr val="FF0000"/>
                  </a:solidFill>
                  <a:latin typeface="Courier New" panose="02070309020205020404" pitchFamily="49" charset="0"/>
                  <a:cs typeface="Times New Roman" panose="02020603050405020304" pitchFamily="18" charset="0"/>
                </a:endParaRPr>
              </a:p>
              <a:p>
                <a:r>
                  <a:rPr lang="pt-BR" altLang="zh-CN" b="1" dirty="0">
                    <a:solidFill>
                      <a:srgbClr val="008000"/>
                    </a:solidFill>
                    <a:latin typeface="Courier New" panose="02070309020205020404" pitchFamily="49" charset="0"/>
                    <a:cs typeface="Times New Roman" panose="02020603050405020304" pitchFamily="18" charset="0"/>
                  </a:rPr>
                  <a:t>S1 = symsum(f1,n,0,inf)  		</a:t>
                </a: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计算无穷级数的和</a:t>
                </a:r>
                <a:endParaRPr lang="en-US" altLang="zh-CN" b="1" dirty="0">
                  <a:solidFill>
                    <a:srgbClr val="FF0000"/>
                  </a:solidFill>
                  <a:latin typeface="Courier New" panose="02070309020205020404" pitchFamily="49" charset="0"/>
                  <a:cs typeface="Times New Roman" panose="02020603050405020304" pitchFamily="18" charset="0"/>
                </a:endParaRPr>
              </a:p>
              <a:p>
                <a:r>
                  <a:rPr lang="en-US" altLang="zh-CN" dirty="0">
                    <a:solidFill>
                      <a:srgbClr val="0000FF"/>
                    </a:solidFill>
                    <a:latin typeface="Courier New" panose="02070309020205020404" pitchFamily="49" charset="0"/>
                    <a:cs typeface="Times New Roman" panose="02020603050405020304" pitchFamily="18" charset="0"/>
                  </a:rPr>
                  <a:t>S1 = exp(1)</a:t>
                </a:r>
                <a:endParaRPr lang="en-US" altLang="zh-CN" dirty="0">
                  <a:solidFill>
                    <a:srgbClr val="0000FF"/>
                  </a:solidFill>
                  <a:latin typeface="Courier New" panose="02070309020205020404" pitchFamily="49" charset="0"/>
                  <a:cs typeface="Times New Roman" panose="02020603050405020304" pitchFamily="18" charset="0"/>
                </a:endParaRPr>
              </a:p>
              <a:p>
                <a:r>
                  <a:rPr lang="pt-BR" altLang="zh-CN" b="1" dirty="0">
                    <a:solidFill>
                      <a:srgbClr val="008000"/>
                    </a:solidFill>
                    <a:latin typeface="Courier New" panose="02070309020205020404" pitchFamily="49" charset="0"/>
                    <a:cs typeface="Times New Roman" panose="02020603050405020304" pitchFamily="18" charset="0"/>
                  </a:rPr>
                  <a:t>S2 = symsum(f2,n,1,inf)  		</a:t>
                </a: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计算无穷级数的和</a:t>
                </a:r>
                <a:endParaRPr lang="en-US" altLang="zh-CN" b="1" dirty="0">
                  <a:solidFill>
                    <a:srgbClr val="FF0000"/>
                  </a:solidFill>
                  <a:latin typeface="Courier New" panose="02070309020205020404" pitchFamily="49" charset="0"/>
                  <a:cs typeface="Times New Roman" panose="02020603050405020304" pitchFamily="18" charset="0"/>
                </a:endParaRPr>
              </a:p>
              <a:p>
                <a:r>
                  <a:rPr lang="en-US" altLang="zh-CN" dirty="0">
                    <a:solidFill>
                      <a:srgbClr val="0000FF"/>
                    </a:solidFill>
                    <a:latin typeface="Courier New" panose="02070309020205020404" pitchFamily="49" charset="0"/>
                    <a:cs typeface="Times New Roman" panose="02020603050405020304" pitchFamily="18" charset="0"/>
                  </a:rPr>
                  <a:t>S2 = pi^2/6</a:t>
                </a:r>
                <a:endParaRPr lang="pt-BR" altLang="zh-CN" dirty="0">
                  <a:solidFill>
                    <a:srgbClr val="0000FF"/>
                  </a:solidFill>
                  <a:latin typeface="Courier New" panose="02070309020205020404" pitchFamily="49" charset="0"/>
                  <a:cs typeface="Times New Roman" panose="02020603050405020304" pitchFamily="18" charset="0"/>
                </a:endParaRPr>
              </a:p>
              <a:p>
                <a:r>
                  <a:rPr lang="pt-BR" altLang="zh-CN" b="1" dirty="0">
                    <a:solidFill>
                      <a:srgbClr val="008000"/>
                    </a:solidFill>
                    <a:latin typeface="Courier New" panose="02070309020205020404" pitchFamily="49" charset="0"/>
                    <a:cs typeface="Times New Roman" panose="02020603050405020304" pitchFamily="18" charset="0"/>
                  </a:rPr>
                  <a:t>S2P = symsum(f2,n,1,100)          %</a:t>
                </a:r>
                <a:r>
                  <a:rPr lang="zh-CN" altLang="en-US" b="1" dirty="0">
                    <a:solidFill>
                      <a:srgbClr val="FF0000"/>
                    </a:solidFill>
                    <a:latin typeface="Courier New" panose="02070309020205020404" pitchFamily="49" charset="0"/>
                    <a:cs typeface="Times New Roman" panose="02020603050405020304" pitchFamily="18" charset="0"/>
                  </a:rPr>
                  <a:t>计算前</a:t>
                </a:r>
                <a:r>
                  <a:rPr lang="en-US" altLang="zh-CN" b="1" dirty="0">
                    <a:solidFill>
                      <a:srgbClr val="FF0000"/>
                    </a:solidFill>
                    <a:latin typeface="Courier New" panose="02070309020205020404" pitchFamily="49" charset="0"/>
                    <a:cs typeface="Times New Roman" panose="02020603050405020304" pitchFamily="18" charset="0"/>
                  </a:rPr>
                  <a:t>100</a:t>
                </a:r>
                <a:r>
                  <a:rPr lang="zh-CN" altLang="en-US" b="1" dirty="0">
                    <a:solidFill>
                      <a:srgbClr val="FF0000"/>
                    </a:solidFill>
                    <a:latin typeface="Courier New" panose="02070309020205020404" pitchFamily="49" charset="0"/>
                    <a:cs typeface="Times New Roman" panose="02020603050405020304" pitchFamily="18" charset="0"/>
                  </a:rPr>
                  <a:t>项和</a:t>
                </a:r>
                <a:endParaRPr lang="en-US" altLang="zh-CN" b="1" dirty="0">
                  <a:solidFill>
                    <a:srgbClr val="FF0000"/>
                  </a:solidFill>
                  <a:latin typeface="Courier New" panose="02070309020205020404" pitchFamily="49" charset="0"/>
                  <a:cs typeface="Times New Roman" panose="02020603050405020304" pitchFamily="18" charset="0"/>
                </a:endParaRPr>
              </a:p>
              <a:p>
                <a:r>
                  <a:rPr lang="en-US" altLang="zh-CN" dirty="0">
                    <a:solidFill>
                      <a:srgbClr val="0000FF"/>
                    </a:solidFill>
                    <a:latin typeface="Courier New" panose="02070309020205020404" pitchFamily="49" charset="0"/>
                    <a:cs typeface="Times New Roman" panose="02020603050405020304" pitchFamily="18" charset="0"/>
                  </a:rPr>
                  <a:t>S2P = 1589508694133037873112297928517553859702383498543709859889432834803818131090369901/972186144434381030589657976672623144161975583995746241782720354705517986165248000</a:t>
                </a:r>
                <a:endParaRPr lang="en-US" altLang="zh-CN" dirty="0">
                  <a:solidFill>
                    <a:srgbClr val="0000FF"/>
                  </a:solidFill>
                  <a:latin typeface="Courier New" panose="02070309020205020404" pitchFamily="49" charset="0"/>
                  <a:cs typeface="Times New Roman" panose="02020603050405020304" pitchFamily="18" charset="0"/>
                </a:endParaRPr>
              </a:p>
              <a:p>
                <a:r>
                  <a:rPr lang="en-US" altLang="zh-CN" sz="2400" b="1" dirty="0">
                    <a:solidFill>
                      <a:srgbClr val="008000"/>
                    </a:solidFill>
                    <a:latin typeface="Courier New" panose="02070309020205020404" pitchFamily="49" charset="0"/>
                    <a:cs typeface="Times New Roman" panose="02020603050405020304" pitchFamily="18" charset="0"/>
                  </a:rPr>
                  <a:t> </a:t>
                </a:r>
                <a:endParaRPr lang="pt-BR" altLang="zh-CN" sz="2400" b="1" dirty="0">
                  <a:solidFill>
                    <a:srgbClr val="008000"/>
                  </a:solidFill>
                  <a:latin typeface="Courier New" panose="02070309020205020404" pitchFamily="49" charset="0"/>
                  <a:cs typeface="Times New Roman" panose="02020603050405020304" pitchFamily="18" charset="0"/>
                </a:endParaRPr>
              </a:p>
              <a:p>
                <a:pPr marL="274320" lvl="0" indent="-274320">
                  <a:spcBef>
                    <a:spcPts val="580"/>
                  </a:spcBef>
                  <a:buClr>
                    <a:srgbClr val="00B050"/>
                  </a:buClr>
                  <a:buSzPct val="85000"/>
                  <a:buFont typeface="Wingdings" panose="05000000000000000000" pitchFamily="2" charset="2"/>
                  <a:buChar char="q"/>
                </a:pPr>
                <a:endParaRPr lang="en-US" altLang="zh-CN" sz="2400" b="1" dirty="0">
                  <a:solidFill>
                    <a:srgbClr val="FF0000"/>
                  </a:solidFill>
                  <a:latin typeface="+mj-ea"/>
                  <a:ea typeface="+mj-ea"/>
                </a:endParaRPr>
              </a:p>
            </p:txBody>
          </p:sp>
        </mc:Choice>
        <mc:Fallback>
          <p:sp>
            <p:nvSpPr>
              <p:cNvPr id="9" name="矩形 8"/>
              <p:cNvSpPr>
                <a:spLocks noRot="1" noChangeAspect="1" noMove="1" noResize="1" noEditPoints="1" noAdjustHandles="1" noChangeArrowheads="1" noChangeShapeType="1" noTextEdit="1"/>
              </p:cNvSpPr>
              <p:nvPr/>
            </p:nvSpPr>
            <p:spPr>
              <a:xfrm>
                <a:off x="347601" y="2492896"/>
                <a:ext cx="8339199" cy="4820615"/>
              </a:xfrm>
              <a:prstGeom prst="rect">
                <a:avLst/>
              </a:prstGeom>
              <a:blipFill rotWithShape="1">
                <a:blip r:embed="rId1"/>
                <a:stretch>
                  <a:fillRect l="-3" t="-11" b="4"/>
                </a:stretch>
              </a:blipFill>
            </p:spPr>
            <p:txBody>
              <a:bodyPr/>
              <a:lstStyle/>
              <a:p>
                <a:r>
                  <a:rPr lang="zh-CN" altLang="en-US">
                    <a:noFill/>
                  </a:rPr>
                  <a:t> </a:t>
                </a:r>
              </a:p>
            </p:txBody>
          </p:sp>
        </mc:Fallback>
      </mc:AlternateContent>
      <p:pic>
        <p:nvPicPr>
          <p:cNvPr id="3" name="图片 2"/>
          <p:cNvPicPr>
            <a:picLocks noChangeAspect="1"/>
          </p:cNvPicPr>
          <p:nvPr/>
        </p:nvPicPr>
        <p:blipFill>
          <a:blip r:embed="rId2"/>
          <a:stretch>
            <a:fillRect/>
          </a:stretch>
        </p:blipFill>
        <p:spPr>
          <a:xfrm>
            <a:off x="725097" y="971600"/>
            <a:ext cx="7693806" cy="14332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9392"/>
            <a:ext cx="7772400" cy="1143000"/>
          </a:xfrm>
        </p:spPr>
        <p:txBody>
          <a:bodyPr>
            <a:normAutofit/>
          </a:bodyPr>
          <a:lstStyle/>
          <a:p>
            <a:pPr algn="ctr" eaLnBrk="0" fontAlgn="base" hangingPunct="0">
              <a:spcAft>
                <a:spcPct val="0"/>
              </a:spcAft>
              <a:defRPr/>
            </a:pP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MATLAB</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符号对象与求和</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mc:AlternateContent xmlns:mc="http://schemas.openxmlformats.org/markup-compatibility/2006">
        <mc:Choice xmlns:a14="http://schemas.microsoft.com/office/drawing/2010/main" Requires="a14">
          <p:sp>
            <p:nvSpPr>
              <p:cNvPr id="4" name="矩形 3"/>
              <p:cNvSpPr/>
              <p:nvPr/>
            </p:nvSpPr>
            <p:spPr>
              <a:xfrm>
                <a:off x="467544" y="1988840"/>
                <a:ext cx="8208912" cy="4592668"/>
              </a:xfrm>
              <a:prstGeom prst="rect">
                <a:avLst/>
              </a:prstGeom>
            </p:spPr>
            <p:txBody>
              <a:bodyPr wrap="square">
                <a:spAutoFit/>
              </a:bodyPr>
              <a:lstStyle/>
              <a:p>
                <a:pPr algn="just" hangingPunct="0">
                  <a:spcAft>
                    <a:spcPts val="0"/>
                  </a:spcAft>
                  <a:tabLst>
                    <a:tab pos="269875" algn="l"/>
                  </a:tabLst>
                </a:pPr>
                <a:r>
                  <a:rPr lang="en-US" altLang="zh-CN" sz="2800" b="1" dirty="0" err="1">
                    <a:solidFill>
                      <a:srgbClr val="008000"/>
                    </a:solidFill>
                    <a:latin typeface="Courier New" panose="02070309020205020404" pitchFamily="49" charset="0"/>
                    <a:cs typeface="Times New Roman" panose="02020603050405020304" pitchFamily="18" charset="0"/>
                  </a:rPr>
                  <a:t>syms</a:t>
                </a:r>
                <a:r>
                  <a:rPr lang="en-US" altLang="zh-CN" sz="2800" b="1" dirty="0">
                    <a:solidFill>
                      <a:srgbClr val="008000"/>
                    </a:solidFill>
                    <a:latin typeface="Courier New" panose="02070309020205020404" pitchFamily="49" charset="0"/>
                    <a:cs typeface="Times New Roman" panose="02020603050405020304" pitchFamily="18" charset="0"/>
                  </a:rPr>
                  <a:t> x k     %</a:t>
                </a:r>
                <a:r>
                  <a:rPr lang="zh-CN" altLang="en-US" sz="2800" b="1" dirty="0">
                    <a:solidFill>
                      <a:srgbClr val="FF0000"/>
                    </a:solidFill>
                    <a:latin typeface="Courier New" panose="02070309020205020404" pitchFamily="49" charset="0"/>
                    <a:cs typeface="Times New Roman" panose="02020603050405020304" pitchFamily="18" charset="0"/>
                  </a:rPr>
                  <a:t>首先定义两个自由符号变量</a:t>
                </a:r>
                <a:endParaRPr lang="en-US" altLang="zh-CN" sz="2800"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sz="2800"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800" b="1" dirty="0">
                    <a:solidFill>
                      <a:srgbClr val="008000"/>
                    </a:solidFill>
                    <a:latin typeface="Courier New" panose="02070309020205020404" pitchFamily="49" charset="0"/>
                    <a:cs typeface="Times New Roman" panose="02020603050405020304" pitchFamily="18" charset="0"/>
                  </a:rPr>
                  <a:t>f2=x^(2*k-1)/(2*k-1);   </a:t>
                </a:r>
                <a:endParaRPr lang="en-US" altLang="zh-CN" sz="2800"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800" b="1" dirty="0">
                    <a:solidFill>
                      <a:srgbClr val="008000"/>
                    </a:solidFill>
                    <a:latin typeface="Courier New" panose="02070309020205020404" pitchFamily="49" charset="0"/>
                    <a:cs typeface="Times New Roman" panose="02020603050405020304" pitchFamily="18" charset="0"/>
                  </a:rPr>
                  <a:t>%</a:t>
                </a:r>
                <a:r>
                  <a:rPr lang="zh-CN" altLang="en-US" sz="2800" b="1" dirty="0">
                    <a:solidFill>
                      <a:srgbClr val="FF0000"/>
                    </a:solidFill>
                    <a:latin typeface="Courier New" panose="02070309020205020404" pitchFamily="49" charset="0"/>
                    <a:cs typeface="Times New Roman" panose="02020603050405020304" pitchFamily="18" charset="0"/>
                  </a:rPr>
                  <a:t>然后定义用于求和的符号表达式</a:t>
                </a:r>
                <a:endParaRPr lang="en-US" altLang="zh-CN" sz="2800"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sz="2800"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800" b="1" dirty="0">
                    <a:solidFill>
                      <a:srgbClr val="008000"/>
                    </a:solidFill>
                    <a:latin typeface="Courier New" panose="02070309020205020404" pitchFamily="49" charset="0"/>
                    <a:cs typeface="Times New Roman" panose="02020603050405020304" pitchFamily="18" charset="0"/>
                  </a:rPr>
                  <a:t>s2=</a:t>
                </a:r>
                <a:r>
                  <a:rPr lang="en-US" altLang="zh-CN" sz="2800" b="1" dirty="0" err="1">
                    <a:solidFill>
                      <a:srgbClr val="008000"/>
                    </a:solidFill>
                    <a:latin typeface="Courier New" panose="02070309020205020404" pitchFamily="49" charset="0"/>
                    <a:cs typeface="Times New Roman" panose="02020603050405020304" pitchFamily="18" charset="0"/>
                  </a:rPr>
                  <a:t>symsum</a:t>
                </a:r>
                <a:r>
                  <a:rPr lang="en-US" altLang="zh-CN" sz="2800" b="1" dirty="0">
                    <a:solidFill>
                      <a:srgbClr val="008000"/>
                    </a:solidFill>
                    <a:latin typeface="Courier New" panose="02070309020205020404" pitchFamily="49" charset="0"/>
                    <a:cs typeface="Times New Roman" panose="02020603050405020304" pitchFamily="18" charset="0"/>
                  </a:rPr>
                  <a:t>(f2,k,1,inf)  %</a:t>
                </a:r>
                <a:r>
                  <a:rPr lang="zh-CN" altLang="en-US" sz="2800" b="1" dirty="0">
                    <a:solidFill>
                      <a:srgbClr val="FF0000"/>
                    </a:solidFill>
                    <a:latin typeface="Courier New" panose="02070309020205020404" pitchFamily="49" charset="0"/>
                    <a:cs typeface="Times New Roman" panose="02020603050405020304" pitchFamily="18" charset="0"/>
                  </a:rPr>
                  <a:t>进行求和</a:t>
                </a:r>
                <a:endParaRPr lang="zh-CN" altLang="zh-CN" sz="2800"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800" dirty="0">
                    <a:solidFill>
                      <a:srgbClr val="0000FF"/>
                    </a:solidFill>
                    <a:latin typeface="Courier New" panose="02070309020205020404" pitchFamily="49" charset="0"/>
                    <a:cs typeface="Times New Roman" panose="02020603050405020304" pitchFamily="18" charset="0"/>
                  </a:rPr>
                  <a:t>s2 =</a:t>
                </a:r>
                <a:endParaRPr lang="zh-CN" altLang="zh-CN" sz="2800"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800" dirty="0">
                    <a:solidFill>
                      <a:srgbClr val="0000FF"/>
                    </a:solidFill>
                    <a:latin typeface="Courier New" panose="02070309020205020404" pitchFamily="49" charset="0"/>
                    <a:cs typeface="Times New Roman" panose="02020603050405020304" pitchFamily="18" charset="0"/>
                  </a:rPr>
                  <a:t>piecewise([abs(x) &lt; 1, </a:t>
                </a:r>
                <a:r>
                  <a:rPr lang="en-US" altLang="zh-CN" sz="2800" dirty="0" err="1">
                    <a:solidFill>
                      <a:srgbClr val="0000FF"/>
                    </a:solidFill>
                    <a:latin typeface="Courier New" panose="02070309020205020404" pitchFamily="49" charset="0"/>
                    <a:cs typeface="Times New Roman" panose="02020603050405020304" pitchFamily="18" charset="0"/>
                  </a:rPr>
                  <a:t>atanh</a:t>
                </a:r>
                <a:r>
                  <a:rPr lang="en-US" altLang="zh-CN" sz="2800" dirty="0">
                    <a:solidFill>
                      <a:srgbClr val="0000FF"/>
                    </a:solidFill>
                    <a:latin typeface="Courier New" panose="02070309020205020404" pitchFamily="49" charset="0"/>
                    <a:cs typeface="Times New Roman" panose="02020603050405020304" pitchFamily="18" charset="0"/>
                  </a:rPr>
                  <a:t>(x)]) </a:t>
                </a:r>
                <a:endParaRPr lang="en-US" altLang="zh-CN" sz="2800"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sz="2800" dirty="0">
                    <a:latin typeface="Courier New" panose="02070309020205020404" pitchFamily="49" charset="0"/>
                    <a:cs typeface="Times New Roman" panose="02020603050405020304" pitchFamily="18" charset="0"/>
                  </a:rPr>
                  <a:t> </a:t>
                </a:r>
                <a:r>
                  <a:rPr lang="en-US" altLang="zh-CN" sz="2800" b="1" dirty="0">
                    <a:solidFill>
                      <a:srgbClr val="008000"/>
                    </a:solidFill>
                    <a:latin typeface="Courier New" panose="02070309020205020404" pitchFamily="49" charset="0"/>
                    <a:cs typeface="Times New Roman" panose="02020603050405020304" pitchFamily="18" charset="0"/>
                  </a:rPr>
                  <a:t>%</a:t>
                </a:r>
                <a:r>
                  <a:rPr lang="zh-CN" altLang="en-US" sz="2800" b="1" dirty="0">
                    <a:solidFill>
                      <a:srgbClr val="FF0000"/>
                    </a:solidFill>
                    <a:latin typeface="Courier New" panose="02070309020205020404" pitchFamily="49" charset="0"/>
                    <a:cs typeface="Times New Roman" panose="02020603050405020304" pitchFamily="18" charset="0"/>
                  </a:rPr>
                  <a:t>收敛域为</a:t>
                </a:r>
                <a14:m>
                  <m:oMath xmlns:m="http://schemas.openxmlformats.org/officeDocument/2006/math">
                    <m:d>
                      <m:dPr>
                        <m:begChr m:val="|"/>
                        <m:endChr m:val="|"/>
                        <m:ctrlPr>
                          <a:rPr lang="en-US" altLang="zh-CN" sz="2800" b="1" i="1" smtClean="0">
                            <a:solidFill>
                              <a:srgbClr val="FF0000"/>
                            </a:solidFill>
                            <a:latin typeface="Cambria Math" panose="02040503050406030204" pitchFamily="18" charset="0"/>
                            <a:cs typeface="Times New Roman" panose="02020603050405020304" pitchFamily="18" charset="0"/>
                          </a:rPr>
                        </m:ctrlPr>
                      </m:dPr>
                      <m:e>
                        <m:r>
                          <a:rPr lang="en-US" altLang="zh-CN" sz="2800" b="1" i="1" smtClean="0">
                            <a:solidFill>
                              <a:srgbClr val="FF0000"/>
                            </a:solidFill>
                            <a:latin typeface="Cambria Math" panose="02040503050406030204" pitchFamily="18" charset="0"/>
                            <a:cs typeface="Times New Roman" panose="02020603050405020304" pitchFamily="18" charset="0"/>
                          </a:rPr>
                          <m:t>𝒙</m:t>
                        </m:r>
                      </m:e>
                    </m:d>
                    <m:r>
                      <a:rPr lang="en-US" altLang="zh-CN" sz="2800" b="1" i="1" smtClean="0">
                        <a:solidFill>
                          <a:srgbClr val="FF0000"/>
                        </a:solidFill>
                        <a:latin typeface="Cambria Math" panose="02040503050406030204" pitchFamily="18" charset="0"/>
                        <a:cs typeface="Times New Roman" panose="02020603050405020304" pitchFamily="18" charset="0"/>
                      </a:rPr>
                      <m:t>&lt;</m:t>
                    </m:r>
                    <m:r>
                      <a:rPr lang="en-US" altLang="zh-CN" sz="2800" b="1" i="1" smtClean="0">
                        <a:solidFill>
                          <a:srgbClr val="FF0000"/>
                        </a:solidFill>
                        <a:latin typeface="Cambria Math" panose="02040503050406030204" pitchFamily="18" charset="0"/>
                        <a:cs typeface="Times New Roman" panose="02020603050405020304" pitchFamily="18" charset="0"/>
                      </a:rPr>
                      <m:t>𝟏</m:t>
                    </m:r>
                  </m:oMath>
                </a14:m>
                <a:r>
                  <a:rPr lang="en-US" altLang="zh-CN" sz="2800" b="1" dirty="0">
                    <a:solidFill>
                      <a:srgbClr val="FF0000"/>
                    </a:solidFill>
                    <a:latin typeface="Courier New" panose="02070309020205020404" pitchFamily="49" charset="0"/>
                    <a:cs typeface="Times New Roman" panose="02020603050405020304" pitchFamily="18" charset="0"/>
                  </a:rPr>
                  <a:t>,</a:t>
                </a:r>
                <a:endParaRPr lang="en-US" altLang="zh-CN" sz="2800"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zh-CN" altLang="en-US" sz="2800" b="1" dirty="0">
                    <a:solidFill>
                      <a:srgbClr val="FF0000"/>
                    </a:solidFill>
                    <a:latin typeface="Courier New" panose="02070309020205020404" pitchFamily="49" charset="0"/>
                    <a:cs typeface="Times New Roman" panose="02020603050405020304" pitchFamily="18" charset="0"/>
                  </a:rPr>
                  <a:t>和函数为反双曲正切函数</a:t>
                </a:r>
                <a14:m>
                  <m:oMath xmlns:m="http://schemas.openxmlformats.org/officeDocument/2006/math">
                    <m:func>
                      <m:funcPr>
                        <m:ctrlPr>
                          <a:rPr lang="en-US" altLang="zh-CN" sz="2800" b="1" i="1" dirty="0">
                            <a:solidFill>
                              <a:srgbClr val="FF0000"/>
                            </a:solidFill>
                            <a:latin typeface="Cambria Math" panose="02040503050406030204" pitchFamily="18" charset="0"/>
                            <a:cs typeface="Times New Roman" panose="02020603050405020304" pitchFamily="18" charset="0"/>
                          </a:rPr>
                        </m:ctrlPr>
                      </m:funcPr>
                      <m:fName>
                        <m:r>
                          <m:rPr>
                            <m:sty m:val="p"/>
                          </m:rPr>
                          <a:rPr lang="en-US" altLang="zh-CN" sz="2800" b="1" dirty="0">
                            <a:solidFill>
                              <a:srgbClr val="FF0000"/>
                            </a:solidFill>
                            <a:latin typeface="Cambria Math" panose="02040503050406030204" pitchFamily="18" charset="0"/>
                            <a:cs typeface="Times New Roman" panose="02020603050405020304" pitchFamily="18" charset="0"/>
                          </a:rPr>
                          <m:t>atan</m:t>
                        </m:r>
                        <m:r>
                          <a:rPr lang="en-US" altLang="zh-CN" sz="2800" b="1" i="0" dirty="0" smtClean="0">
                            <a:solidFill>
                              <a:srgbClr val="FF0000"/>
                            </a:solidFill>
                            <a:latin typeface="Cambria Math" panose="02040503050406030204" pitchFamily="18" charset="0"/>
                            <a:cs typeface="Times New Roman" panose="02020603050405020304" pitchFamily="18" charset="0"/>
                          </a:rPr>
                          <m:t>𝐡</m:t>
                        </m:r>
                      </m:fName>
                      <m:e>
                        <m:d>
                          <m:dPr>
                            <m:ctrlPr>
                              <a:rPr lang="en-US" altLang="zh-CN" sz="2800" b="1" i="1" dirty="0">
                                <a:solidFill>
                                  <a:srgbClr val="FF0000"/>
                                </a:solidFill>
                                <a:latin typeface="Cambria Math" panose="02040503050406030204" pitchFamily="18" charset="0"/>
                                <a:cs typeface="Times New Roman" panose="02020603050405020304" pitchFamily="18" charset="0"/>
                              </a:rPr>
                            </m:ctrlPr>
                          </m:dPr>
                          <m:e>
                            <m:r>
                              <a:rPr lang="en-US" altLang="zh-CN" sz="2800" b="1" dirty="0">
                                <a:solidFill>
                                  <a:srgbClr val="FF0000"/>
                                </a:solidFill>
                                <a:latin typeface="Cambria Math" panose="02040503050406030204" pitchFamily="18" charset="0"/>
                                <a:cs typeface="Times New Roman" panose="02020603050405020304" pitchFamily="18" charset="0"/>
                              </a:rPr>
                              <m:t>𝑥</m:t>
                            </m:r>
                          </m:e>
                        </m:d>
                      </m:e>
                    </m:func>
                    <m:r>
                      <a:rPr lang="en-US" altLang="zh-CN" sz="2800" b="1" dirty="0">
                        <a:solidFill>
                          <a:srgbClr val="FF0000"/>
                        </a:solidFill>
                        <a:latin typeface="Cambria Math" panose="02040503050406030204" pitchFamily="18" charset="0"/>
                        <a:cs typeface="Times New Roman" panose="02020603050405020304" pitchFamily="18" charset="0"/>
                      </a:rPr>
                      <m:t>=</m:t>
                    </m:r>
                    <m:f>
                      <m:fPr>
                        <m:ctrlPr>
                          <a:rPr lang="en-US" altLang="zh-CN" sz="2800" b="1" i="1" dirty="0">
                            <a:solidFill>
                              <a:srgbClr val="FF0000"/>
                            </a:solidFill>
                            <a:latin typeface="Cambria Math" panose="02040503050406030204" pitchFamily="18" charset="0"/>
                            <a:cs typeface="Times New Roman" panose="02020603050405020304" pitchFamily="18" charset="0"/>
                          </a:rPr>
                        </m:ctrlPr>
                      </m:fPr>
                      <m:num>
                        <m:r>
                          <a:rPr lang="en-US" altLang="zh-CN" sz="2800" b="1" dirty="0">
                            <a:solidFill>
                              <a:srgbClr val="FF0000"/>
                            </a:solidFill>
                            <a:latin typeface="Cambria Math" panose="02040503050406030204" pitchFamily="18" charset="0"/>
                            <a:cs typeface="Times New Roman" panose="02020603050405020304" pitchFamily="18" charset="0"/>
                          </a:rPr>
                          <m:t>1</m:t>
                        </m:r>
                      </m:num>
                      <m:den>
                        <m:r>
                          <a:rPr lang="en-US" altLang="zh-CN" sz="2800" b="1" dirty="0">
                            <a:solidFill>
                              <a:srgbClr val="FF0000"/>
                            </a:solidFill>
                            <a:latin typeface="Cambria Math" panose="02040503050406030204" pitchFamily="18" charset="0"/>
                            <a:cs typeface="Times New Roman" panose="02020603050405020304" pitchFamily="18" charset="0"/>
                          </a:rPr>
                          <m:t>2</m:t>
                        </m:r>
                      </m:den>
                    </m:f>
                    <m:func>
                      <m:funcPr>
                        <m:ctrlPr>
                          <a:rPr lang="en-US" altLang="zh-CN" sz="2800" b="1" i="1" dirty="0">
                            <a:solidFill>
                              <a:srgbClr val="FF0000"/>
                            </a:solidFill>
                            <a:latin typeface="Cambria Math" panose="02040503050406030204" pitchFamily="18" charset="0"/>
                            <a:cs typeface="Times New Roman" panose="02020603050405020304" pitchFamily="18" charset="0"/>
                          </a:rPr>
                        </m:ctrlPr>
                      </m:funcPr>
                      <m:fName>
                        <m:r>
                          <m:rPr>
                            <m:sty m:val="p"/>
                          </m:rPr>
                          <a:rPr lang="en-US" altLang="zh-CN" sz="2800" b="1" dirty="0">
                            <a:solidFill>
                              <a:srgbClr val="FF0000"/>
                            </a:solidFill>
                            <a:latin typeface="Cambria Math" panose="02040503050406030204" pitchFamily="18" charset="0"/>
                            <a:cs typeface="Times New Roman" panose="02020603050405020304" pitchFamily="18" charset="0"/>
                          </a:rPr>
                          <m:t>ln</m:t>
                        </m:r>
                      </m:fName>
                      <m:e>
                        <m:f>
                          <m:fPr>
                            <m:ctrlPr>
                              <a:rPr lang="en-US" altLang="zh-CN" sz="2800" b="1" i="1" dirty="0">
                                <a:solidFill>
                                  <a:srgbClr val="FF0000"/>
                                </a:solidFill>
                                <a:latin typeface="Cambria Math" panose="02040503050406030204" pitchFamily="18" charset="0"/>
                                <a:cs typeface="Times New Roman" panose="02020603050405020304" pitchFamily="18" charset="0"/>
                              </a:rPr>
                            </m:ctrlPr>
                          </m:fPr>
                          <m:num>
                            <m:r>
                              <a:rPr lang="en-US" altLang="zh-CN" sz="2800" b="1" dirty="0">
                                <a:solidFill>
                                  <a:srgbClr val="FF0000"/>
                                </a:solidFill>
                                <a:latin typeface="Cambria Math" panose="02040503050406030204" pitchFamily="18" charset="0"/>
                                <a:cs typeface="Times New Roman" panose="02020603050405020304" pitchFamily="18" charset="0"/>
                              </a:rPr>
                              <m:t>1</m:t>
                            </m:r>
                            <m:r>
                              <a:rPr lang="en-US" altLang="zh-CN" sz="2800" b="1" dirty="0">
                                <a:solidFill>
                                  <a:srgbClr val="FF0000"/>
                                </a:solidFill>
                                <a:latin typeface="Cambria Math" panose="02040503050406030204" pitchFamily="18" charset="0"/>
                                <a:cs typeface="Times New Roman" panose="02020603050405020304" pitchFamily="18" charset="0"/>
                              </a:rPr>
                              <m:t>+</m:t>
                            </m:r>
                            <m:r>
                              <a:rPr lang="en-US" altLang="zh-CN" sz="2800" b="1" dirty="0">
                                <a:solidFill>
                                  <a:srgbClr val="FF0000"/>
                                </a:solidFill>
                                <a:latin typeface="Cambria Math" panose="02040503050406030204" pitchFamily="18" charset="0"/>
                                <a:cs typeface="Times New Roman" panose="02020603050405020304" pitchFamily="18" charset="0"/>
                              </a:rPr>
                              <m:t>𝑥</m:t>
                            </m:r>
                          </m:num>
                          <m:den>
                            <m:r>
                              <a:rPr lang="en-US" altLang="zh-CN" sz="2800" b="1" dirty="0">
                                <a:solidFill>
                                  <a:srgbClr val="FF0000"/>
                                </a:solidFill>
                                <a:latin typeface="Cambria Math" panose="02040503050406030204" pitchFamily="18" charset="0"/>
                                <a:cs typeface="Times New Roman" panose="02020603050405020304" pitchFamily="18" charset="0"/>
                              </a:rPr>
                              <m:t>1</m:t>
                            </m:r>
                            <m:r>
                              <a:rPr lang="en-US" altLang="zh-CN" sz="2800" b="1" dirty="0">
                                <a:solidFill>
                                  <a:srgbClr val="FF0000"/>
                                </a:solidFill>
                                <a:latin typeface="Cambria Math" panose="02040503050406030204" pitchFamily="18" charset="0"/>
                                <a:cs typeface="Times New Roman" panose="02020603050405020304" pitchFamily="18" charset="0"/>
                              </a:rPr>
                              <m:t>−</m:t>
                            </m:r>
                            <m:r>
                              <a:rPr lang="en-US" altLang="zh-CN" sz="2800" b="1" dirty="0">
                                <a:solidFill>
                                  <a:srgbClr val="FF0000"/>
                                </a:solidFill>
                                <a:latin typeface="Cambria Math" panose="02040503050406030204" pitchFamily="18" charset="0"/>
                                <a:cs typeface="Times New Roman" panose="02020603050405020304" pitchFamily="18" charset="0"/>
                              </a:rPr>
                              <m:t>𝑥</m:t>
                            </m:r>
                          </m:den>
                        </m:f>
                      </m:e>
                    </m:func>
                  </m:oMath>
                </a14:m>
                <a:endParaRPr lang="zh-CN" altLang="zh-CN" sz="2800" b="1" dirty="0">
                  <a:solidFill>
                    <a:srgbClr val="FF0000"/>
                  </a:solidFill>
                  <a:latin typeface="Courier New" panose="02070309020205020404" pitchFamily="49" charset="0"/>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467544" y="1988840"/>
                <a:ext cx="8208912" cy="4592668"/>
              </a:xfrm>
              <a:prstGeom prst="rect">
                <a:avLst/>
              </a:prstGeom>
              <a:blipFill rotWithShape="1">
                <a:blip r:embed="rId1"/>
                <a:stretch>
                  <a:fillRect l="-2" r="5"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22754" y="1173405"/>
                <a:ext cx="8208912" cy="685637"/>
              </a:xfrm>
              <a:prstGeom prst="rect">
                <a:avLst/>
              </a:prstGeom>
              <a:noFill/>
            </p:spPr>
            <p:txBody>
              <a:bodyPr wrap="square">
                <a:spAutoFit/>
              </a:bodyPr>
              <a:lstStyle/>
              <a:p>
                <a:r>
                  <a:rPr lang="en-US" altLang="zh-CN" sz="2400" b="1" dirty="0">
                    <a:solidFill>
                      <a:prstClr val="black"/>
                    </a:solidFill>
                    <a:latin typeface="+mn-ea"/>
                  </a:rPr>
                  <a:t>【</a:t>
                </a:r>
                <a:r>
                  <a:rPr lang="zh-CN" altLang="en-US" sz="2400" b="1" dirty="0">
                    <a:solidFill>
                      <a:prstClr val="black"/>
                    </a:solidFill>
                    <a:latin typeface="+mn-ea"/>
                  </a:rPr>
                  <a:t>例</a:t>
                </a:r>
                <a:r>
                  <a:rPr lang="en-US" altLang="zh-CN" sz="2400" b="1" dirty="0">
                    <a:solidFill>
                      <a:prstClr val="black"/>
                    </a:solidFill>
                    <a:latin typeface="+mn-ea"/>
                  </a:rPr>
                  <a:t>】</a:t>
                </a:r>
                <a:r>
                  <a:rPr lang="zh-CN" altLang="en-US" sz="2400" b="1" dirty="0">
                    <a:solidFill>
                      <a:prstClr val="black"/>
                    </a:solidFill>
                    <a:latin typeface="+mn-ea"/>
                  </a:rPr>
                  <a:t>求</a:t>
                </a:r>
                <a14:m>
                  <m:oMath xmlns:m="http://schemas.openxmlformats.org/officeDocument/2006/math">
                    <m:nary>
                      <m:naryPr>
                        <m:chr m:val="∑"/>
                        <m:ctrlPr>
                          <a:rPr lang="zh-CN" altLang="en-US" sz="2400" b="1" i="1" smtClean="0">
                            <a:solidFill>
                              <a:prstClr val="black"/>
                            </a:solidFill>
                            <a:latin typeface="Cambria Math" panose="02040503050406030204" pitchFamily="18" charset="0"/>
                          </a:rPr>
                        </m:ctrlPr>
                      </m:naryPr>
                      <m:sub>
                        <m:r>
                          <m:rPr>
                            <m:brk m:alnAt="23"/>
                          </m:rPr>
                          <a:rPr lang="en-US" altLang="zh-CN" sz="2400" b="1" i="1" smtClean="0">
                            <a:solidFill>
                              <a:prstClr val="black"/>
                            </a:solidFill>
                            <a:latin typeface="Cambria Math" panose="02040503050406030204" pitchFamily="18" charset="0"/>
                          </a:rPr>
                          <m:t>𝒌</m:t>
                        </m:r>
                        <m:r>
                          <a:rPr lang="en-US" altLang="zh-CN" sz="2400" b="1" i="1" smtClean="0">
                            <a:solidFill>
                              <a:prstClr val="black"/>
                            </a:solidFill>
                            <a:latin typeface="Cambria Math" panose="02040503050406030204" pitchFamily="18" charset="0"/>
                          </a:rPr>
                          <m:t>=</m:t>
                        </m:r>
                        <m:r>
                          <a:rPr lang="en-US" altLang="zh-CN" sz="2400" b="1" i="1" smtClean="0">
                            <a:solidFill>
                              <a:prstClr val="black"/>
                            </a:solidFill>
                            <a:latin typeface="Cambria Math" panose="02040503050406030204" pitchFamily="18" charset="0"/>
                          </a:rPr>
                          <m:t>𝟏</m:t>
                        </m:r>
                      </m:sub>
                      <m:sup>
                        <m:r>
                          <a:rPr lang="en-US" altLang="zh-CN" sz="2400" b="1" i="1" smtClean="0">
                            <a:solidFill>
                              <a:prstClr val="black"/>
                            </a:solidFill>
                            <a:latin typeface="Cambria Math" panose="02040503050406030204" pitchFamily="18" charset="0"/>
                          </a:rPr>
                          <m:t>∞</m:t>
                        </m:r>
                      </m:sup>
                      <m:e>
                        <m:f>
                          <m:fPr>
                            <m:ctrlPr>
                              <a:rPr lang="en-US" altLang="zh-CN" sz="2400" b="1" i="1" smtClean="0">
                                <a:solidFill>
                                  <a:prstClr val="black"/>
                                </a:solidFill>
                                <a:latin typeface="Cambria Math" panose="02040503050406030204" pitchFamily="18" charset="0"/>
                              </a:rPr>
                            </m:ctrlPr>
                          </m:fPr>
                          <m:num>
                            <m:sSup>
                              <m:sSupPr>
                                <m:ctrlPr>
                                  <a:rPr lang="en-US" altLang="zh-CN" sz="2400" b="1" i="1" smtClean="0">
                                    <a:solidFill>
                                      <a:prstClr val="black"/>
                                    </a:solidFill>
                                    <a:latin typeface="Cambria Math" panose="02040503050406030204" pitchFamily="18" charset="0"/>
                                  </a:rPr>
                                </m:ctrlPr>
                              </m:sSupPr>
                              <m:e>
                                <m:r>
                                  <a:rPr lang="en-US" altLang="zh-CN" sz="2400" b="1" i="1" smtClean="0">
                                    <a:solidFill>
                                      <a:prstClr val="black"/>
                                    </a:solidFill>
                                    <a:latin typeface="Cambria Math" panose="02040503050406030204" pitchFamily="18" charset="0"/>
                                  </a:rPr>
                                  <m:t>𝒙</m:t>
                                </m:r>
                              </m:e>
                              <m:sup>
                                <m:r>
                                  <a:rPr lang="en-US" altLang="zh-CN" sz="2400" b="1" i="1" smtClean="0">
                                    <a:solidFill>
                                      <a:prstClr val="black"/>
                                    </a:solidFill>
                                    <a:latin typeface="Cambria Math" panose="02040503050406030204" pitchFamily="18" charset="0"/>
                                  </a:rPr>
                                  <m:t>𝟐</m:t>
                                </m:r>
                                <m:r>
                                  <a:rPr lang="en-US" altLang="zh-CN" sz="2400" b="1" i="1" smtClean="0">
                                    <a:solidFill>
                                      <a:prstClr val="black"/>
                                    </a:solidFill>
                                    <a:latin typeface="Cambria Math" panose="02040503050406030204" pitchFamily="18" charset="0"/>
                                  </a:rPr>
                                  <m:t>𝒌</m:t>
                                </m:r>
                                <m:r>
                                  <a:rPr lang="en-US" altLang="zh-CN" sz="2400" b="1" i="1" smtClean="0">
                                    <a:solidFill>
                                      <a:prstClr val="black"/>
                                    </a:solidFill>
                                    <a:latin typeface="Cambria Math" panose="02040503050406030204" pitchFamily="18" charset="0"/>
                                  </a:rPr>
                                  <m:t>−</m:t>
                                </m:r>
                                <m:r>
                                  <a:rPr lang="en-US" altLang="zh-CN" sz="2400" b="1" i="1" smtClean="0">
                                    <a:solidFill>
                                      <a:prstClr val="black"/>
                                    </a:solidFill>
                                    <a:latin typeface="Cambria Math" panose="02040503050406030204" pitchFamily="18" charset="0"/>
                                  </a:rPr>
                                  <m:t>𝟏</m:t>
                                </m:r>
                              </m:sup>
                            </m:sSup>
                          </m:num>
                          <m:den>
                            <m:r>
                              <a:rPr lang="en-US" altLang="zh-CN" sz="2400" b="1" i="1" smtClean="0">
                                <a:solidFill>
                                  <a:prstClr val="black"/>
                                </a:solidFill>
                                <a:latin typeface="Cambria Math" panose="02040503050406030204" pitchFamily="18" charset="0"/>
                              </a:rPr>
                              <m:t>𝟐</m:t>
                            </m:r>
                            <m:r>
                              <a:rPr lang="en-US" altLang="zh-CN" sz="2400" b="1" i="1" smtClean="0">
                                <a:solidFill>
                                  <a:prstClr val="black"/>
                                </a:solidFill>
                                <a:latin typeface="Cambria Math" panose="02040503050406030204" pitchFamily="18" charset="0"/>
                              </a:rPr>
                              <m:t>𝒌</m:t>
                            </m:r>
                            <m:r>
                              <a:rPr lang="en-US" altLang="zh-CN" sz="2400" b="1" i="1" smtClean="0">
                                <a:solidFill>
                                  <a:prstClr val="black"/>
                                </a:solidFill>
                                <a:latin typeface="Cambria Math" panose="02040503050406030204" pitchFamily="18" charset="0"/>
                              </a:rPr>
                              <m:t>−</m:t>
                            </m:r>
                            <m:r>
                              <a:rPr lang="en-US" altLang="zh-CN" sz="2400" b="1" i="1" smtClean="0">
                                <a:solidFill>
                                  <a:prstClr val="black"/>
                                </a:solidFill>
                                <a:latin typeface="Cambria Math" panose="02040503050406030204" pitchFamily="18" charset="0"/>
                              </a:rPr>
                              <m:t>𝟏</m:t>
                            </m:r>
                          </m:den>
                        </m:f>
                      </m:e>
                    </m:nary>
                  </m:oMath>
                </a14:m>
                <a:endParaRPr lang="zh-CN" altLang="en-US" sz="2400" b="1" dirty="0">
                  <a:latin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322754" y="1173405"/>
                <a:ext cx="8208912" cy="685637"/>
              </a:xfrm>
              <a:prstGeom prst="rect">
                <a:avLst/>
              </a:prstGeom>
              <a:blipFill rotWithShape="1">
                <a:blip r:embed="rId2"/>
                <a:stretch>
                  <a:fillRect l="-2" t="-82" r="5" b="58"/>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140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hlinkClick r:id="rId1" action="ppaction://hlinkfile"/>
              </a:rPr>
              <a:t>符号微积分</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hlinkClick r:id="rId1" action="ppaction://hlinkfile"/>
              </a:rPr>
              <a:t>-</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hlinkClick r:id="rId1" action="ppaction://hlinkfile"/>
              </a:rPr>
              <a:t>计算极限（</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hlinkClick r:id="rId1" action="ppaction://hlinkfile"/>
              </a:rPr>
              <a:t>P51,2.3</a:t>
            </a: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hlinkClick r:id="rId1" action="ppaction://hlinkfile"/>
              </a:rPr>
              <a:t>）</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pic>
        <p:nvPicPr>
          <p:cNvPr id="3" name="图片 2"/>
          <p:cNvPicPr>
            <a:picLocks noChangeAspect="1"/>
          </p:cNvPicPr>
          <p:nvPr/>
        </p:nvPicPr>
        <p:blipFill>
          <a:blip r:embed="rId2"/>
          <a:stretch>
            <a:fillRect/>
          </a:stretch>
        </p:blipFill>
        <p:spPr>
          <a:xfrm>
            <a:off x="481273" y="908720"/>
            <a:ext cx="8181454" cy="2952328"/>
          </a:xfrm>
          <a:prstGeom prst="rect">
            <a:avLst/>
          </a:prstGeom>
        </p:spPr>
      </p:pic>
      <p:sp>
        <p:nvSpPr>
          <p:cNvPr id="7" name="矩形 6"/>
          <p:cNvSpPr/>
          <p:nvPr/>
        </p:nvSpPr>
        <p:spPr>
          <a:xfrm>
            <a:off x="323528" y="4293096"/>
            <a:ext cx="8496944" cy="461665"/>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如果需要计算正无穷远处的极限，可将常数指定为</a:t>
            </a:r>
            <a:r>
              <a:rPr lang="en-US" altLang="zh-CN" sz="2400" b="1" dirty="0" err="1">
                <a:solidFill>
                  <a:srgbClr val="FF0000"/>
                </a:solidFill>
                <a:latin typeface="+mj-ea"/>
                <a:ea typeface="+mj-ea"/>
              </a:rPr>
              <a:t>inf</a:t>
            </a:r>
            <a:endParaRPr lang="en-US" altLang="zh-CN" sz="2400" b="1" dirty="0">
              <a:solidFill>
                <a:srgbClr val="FF0000"/>
              </a:solidFill>
              <a:latin typeface="+mj-ea"/>
              <a:ea typeface="+mj-ea"/>
            </a:endParaRPr>
          </a:p>
        </p:txBody>
      </p:sp>
      <p:sp>
        <p:nvSpPr>
          <p:cNvPr id="8" name="矩形 7"/>
          <p:cNvSpPr/>
          <p:nvPr/>
        </p:nvSpPr>
        <p:spPr>
          <a:xfrm>
            <a:off x="323528" y="5072061"/>
            <a:ext cx="8086942" cy="461665"/>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默认自由变量，优先指定为离</a:t>
            </a:r>
            <a:r>
              <a:rPr lang="en-US" altLang="zh-CN" sz="2400" b="1" dirty="0">
                <a:solidFill>
                  <a:prstClr val="black"/>
                </a:solidFill>
                <a:latin typeface="+mj-ea"/>
                <a:ea typeface="+mj-ea"/>
              </a:rPr>
              <a:t>’x’</a:t>
            </a:r>
            <a:r>
              <a:rPr lang="zh-CN" altLang="en-US" sz="2400" b="1" dirty="0">
                <a:solidFill>
                  <a:prstClr val="black"/>
                </a:solidFill>
                <a:latin typeface="+mj-ea"/>
                <a:ea typeface="+mj-ea"/>
              </a:rPr>
              <a:t>最近的变量</a:t>
            </a:r>
            <a:endParaRPr lang="en-US" altLang="zh-CN" sz="2400" b="1" dirty="0">
              <a:solidFill>
                <a:srgbClr val="FF0000"/>
              </a:solidFill>
              <a:latin typeface="+mj-ea"/>
              <a:ea typeface="+mj-ea"/>
            </a:endParaRPr>
          </a:p>
        </p:txBody>
      </p:sp>
      <p:sp>
        <p:nvSpPr>
          <p:cNvPr id="10" name="矩形 9"/>
          <p:cNvSpPr/>
          <p:nvPr/>
        </p:nvSpPr>
        <p:spPr>
          <a:xfrm>
            <a:off x="323528" y="5805264"/>
            <a:ext cx="8339200" cy="830997"/>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对矩阵表达式求极限，即对矩阵的每一个表达式元素分别求极限</a:t>
            </a:r>
            <a:endParaRPr lang="en-US" altLang="zh-CN" sz="2400" b="1" dirty="0">
              <a:solidFill>
                <a:srgbClr val="FF0000"/>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140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例</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2.7-2</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mc:AlternateContent xmlns:mc="http://schemas.openxmlformats.org/markup-compatibility/2006">
        <mc:Choice xmlns:a14="http://schemas.microsoft.com/office/drawing/2010/main" Requires="a14">
          <p:sp>
            <p:nvSpPr>
              <p:cNvPr id="5" name="矩形 4"/>
              <p:cNvSpPr/>
              <p:nvPr/>
            </p:nvSpPr>
            <p:spPr>
              <a:xfrm>
                <a:off x="296652" y="1268760"/>
                <a:ext cx="8550696" cy="5500352"/>
              </a:xfrm>
              <a:prstGeom prst="rect">
                <a:avLst/>
              </a:prstGeom>
            </p:spPr>
            <p:txBody>
              <a:bodyPr wrap="square">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 all, </a:t>
                </a: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t w</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000" b="1" dirty="0">
                    <a:solidFill>
                      <a:srgbClr val="008000"/>
                    </a:solidFill>
                    <a:latin typeface="Courier New" panose="02070309020205020404" pitchFamily="49" charset="0"/>
                    <a:cs typeface="Times New Roman" panose="02020603050405020304" pitchFamily="18" charset="0"/>
                  </a:rPr>
                  <a:t>f1 = sin(w*t)/t;	     %</a:t>
                </a:r>
                <a:r>
                  <a:rPr lang="en-US" altLang="zh-CN" b="1" dirty="0">
                    <a:solidFill>
                      <a:srgbClr val="FF0000"/>
                    </a:solidFill>
                    <a:latin typeface="Courier New" panose="02070309020205020404" pitchFamily="49" charset="0"/>
                    <a:cs typeface="Times New Roman" panose="02020603050405020304" pitchFamily="18" charset="0"/>
                  </a:rPr>
                  <a:t>f1</a:t>
                </a:r>
                <a:r>
                  <a:rPr lang="zh-CN" altLang="en-US" b="1" dirty="0">
                    <a:solidFill>
                      <a:srgbClr val="FF0000"/>
                    </a:solidFill>
                    <a:latin typeface="Courier New" panose="02070309020205020404" pitchFamily="49" charset="0"/>
                    <a:cs typeface="Times New Roman" panose="02020603050405020304" pitchFamily="18" charset="0"/>
                  </a:rPr>
                  <a:t>为符号表达式，无自变量</a:t>
                </a:r>
                <a:endParaRPr lang="zh-CN" altLang="zh-CN"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L11 = limit(f1)           %</a:t>
                </a:r>
                <a:r>
                  <a:rPr lang="zh-CN" altLang="en-US" b="1" dirty="0">
                    <a:solidFill>
                      <a:srgbClr val="FF0000"/>
                    </a:solidFill>
                    <a:latin typeface="Courier New" panose="02070309020205020404" pitchFamily="49" charset="0"/>
                    <a:cs typeface="Times New Roman" panose="02020603050405020304" pitchFamily="18" charset="0"/>
                  </a:rPr>
                  <a:t>注意自由变量（默认变量）为</a:t>
                </a:r>
                <a:r>
                  <a:rPr lang="en-US" altLang="zh-CN" b="1" dirty="0">
                    <a:solidFill>
                      <a:srgbClr val="FF0000"/>
                    </a:solidFill>
                    <a:latin typeface="Courier New" panose="02070309020205020404" pitchFamily="49" charset="0"/>
                    <a:cs typeface="Times New Roman" panose="02020603050405020304" pitchFamily="18" charset="0"/>
                  </a:rPr>
                  <a:t>w</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L11 =</a:t>
                </a:r>
                <a:r>
                  <a:rPr lang="en-US" altLang="zh-CN" dirty="0">
                    <a:latin typeface="Courier New" panose="02070309020205020404" pitchFamily="49" charset="0"/>
                    <a:cs typeface="Times New Roman" panose="02020603050405020304" pitchFamily="18" charset="0"/>
                  </a:rPr>
                  <a:t> </a:t>
                </a:r>
                <a:r>
                  <a:rPr lang="en-US" altLang="zh-CN" dirty="0">
                    <a:solidFill>
                      <a:srgbClr val="0000FF"/>
                    </a:solidFill>
                    <a:latin typeface="Courier New" panose="02070309020205020404" pitchFamily="49" charset="0"/>
                    <a:cs typeface="Times New Roman" panose="02020603050405020304" pitchFamily="18" charset="0"/>
                  </a:rPr>
                  <a:t>0</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L12 = limit(f1,t,0)       %</a:t>
                </a:r>
                <a:r>
                  <a:rPr lang="zh-CN" altLang="en-US" b="1" dirty="0">
                    <a:solidFill>
                      <a:srgbClr val="FF0000"/>
                    </a:solidFill>
                    <a:latin typeface="Courier New" panose="02070309020205020404" pitchFamily="49" charset="0"/>
                    <a:cs typeface="Times New Roman" panose="02020603050405020304" pitchFamily="18" charset="0"/>
                  </a:rPr>
                  <a:t>本行计算的是</a:t>
                </a:r>
                <a14:m>
                  <m:oMath xmlns:m="http://schemas.openxmlformats.org/officeDocument/2006/math">
                    <m:func>
                      <m:funcPr>
                        <m:ctrlPr>
                          <a:rPr lang="en-US" altLang="zh-CN" b="1" i="1" smtClean="0">
                            <a:solidFill>
                              <a:srgbClr val="FF0000"/>
                            </a:solidFill>
                            <a:latin typeface="Cambria Math" panose="02040503050406030204" pitchFamily="18" charset="0"/>
                            <a:cs typeface="Times New Roman" panose="02020603050405020304" pitchFamily="18" charset="0"/>
                          </a:rPr>
                        </m:ctrlPr>
                      </m:funcPr>
                      <m:fName>
                        <m:limLow>
                          <m:limLowPr>
                            <m:ctrlPr>
                              <a:rPr lang="en-US" altLang="zh-CN" b="1" i="1" smtClean="0">
                                <a:solidFill>
                                  <a:srgbClr val="FF0000"/>
                                </a:solidFill>
                                <a:latin typeface="Cambria Math" panose="02040503050406030204" pitchFamily="18" charset="0"/>
                                <a:cs typeface="Times New Roman" panose="02020603050405020304" pitchFamily="18" charset="0"/>
                              </a:rPr>
                            </m:ctrlPr>
                          </m:limLowPr>
                          <m:e>
                            <m:r>
                              <m:rPr>
                                <m:sty m:val="p"/>
                              </m:rPr>
                              <a:rPr lang="en-US" altLang="zh-CN" b="0" i="0" smtClean="0">
                                <a:solidFill>
                                  <a:srgbClr val="FF0000"/>
                                </a:solidFill>
                                <a:latin typeface="Cambria Math" panose="02040503050406030204" pitchFamily="18" charset="0"/>
                                <a:cs typeface="Times New Roman" panose="02020603050405020304" pitchFamily="18" charset="0"/>
                              </a:rPr>
                              <m:t>lim</m:t>
                            </m:r>
                          </m:e>
                          <m:lim>
                            <m:r>
                              <a:rPr lang="en-US" altLang="zh-CN" b="1" i="1" smtClean="0">
                                <a:solidFill>
                                  <a:srgbClr val="FF0000"/>
                                </a:solidFill>
                                <a:latin typeface="Cambria Math" panose="02040503050406030204" pitchFamily="18" charset="0"/>
                                <a:cs typeface="Times New Roman" panose="02020603050405020304" pitchFamily="18" charset="0"/>
                              </a:rPr>
                              <m:t>𝒕</m:t>
                            </m:r>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𝟎</m:t>
                            </m:r>
                          </m:lim>
                        </m:limLow>
                      </m:fName>
                      <m:e>
                        <m:sSub>
                          <m:sSubPr>
                            <m:ctrlPr>
                              <a:rPr lang="en-US" altLang="zh-CN" b="1" i="1">
                                <a:solidFill>
                                  <a:srgbClr val="FF0000"/>
                                </a:solidFill>
                                <a:latin typeface="Cambria Math" panose="02040503050406030204" pitchFamily="18" charset="0"/>
                                <a:cs typeface="Times New Roman" panose="02020603050405020304" pitchFamily="18" charset="0"/>
                              </a:rPr>
                            </m:ctrlPr>
                          </m:sSubPr>
                          <m:e>
                            <m:r>
                              <a:rPr lang="en-US" altLang="zh-CN" b="1" i="1">
                                <a:solidFill>
                                  <a:srgbClr val="FF0000"/>
                                </a:solidFill>
                                <a:latin typeface="Cambria Math" panose="02040503050406030204" pitchFamily="18" charset="0"/>
                                <a:cs typeface="Times New Roman" panose="02020603050405020304" pitchFamily="18" charset="0"/>
                              </a:rPr>
                              <m:t>𝒇</m:t>
                            </m:r>
                          </m:e>
                          <m:sub>
                            <m:r>
                              <a:rPr lang="en-US" altLang="zh-CN" b="1" i="1">
                                <a:solidFill>
                                  <a:srgbClr val="FF0000"/>
                                </a:solidFill>
                                <a:latin typeface="Cambria Math" panose="02040503050406030204" pitchFamily="18" charset="0"/>
                                <a:cs typeface="Times New Roman" panose="02020603050405020304" pitchFamily="18" charset="0"/>
                              </a:rPr>
                              <m:t>𝟏</m:t>
                            </m:r>
                          </m:sub>
                        </m:sSub>
                        <m:r>
                          <a:rPr lang="en-US" altLang="zh-CN" b="1" i="1">
                            <a:solidFill>
                              <a:srgbClr val="FF0000"/>
                            </a:solidFill>
                            <a:latin typeface="Cambria Math" panose="02040503050406030204" pitchFamily="18" charset="0"/>
                            <a:cs typeface="Times New Roman" panose="02020603050405020304" pitchFamily="18" charset="0"/>
                          </a:rPr>
                          <m:t>(</m:t>
                        </m:r>
                        <m:r>
                          <a:rPr lang="en-US" altLang="zh-CN" b="1" i="1">
                            <a:solidFill>
                              <a:srgbClr val="FF0000"/>
                            </a:solidFill>
                            <a:latin typeface="Cambria Math" panose="02040503050406030204" pitchFamily="18" charset="0"/>
                            <a:cs typeface="Times New Roman" panose="02020603050405020304" pitchFamily="18" charset="0"/>
                          </a:rPr>
                          <m:t>𝒘</m:t>
                        </m:r>
                        <m:r>
                          <a:rPr lang="en-US" altLang="zh-CN" b="1" i="1">
                            <a:solidFill>
                              <a:srgbClr val="FF0000"/>
                            </a:solidFill>
                            <a:latin typeface="Cambria Math" panose="02040503050406030204" pitchFamily="18" charset="0"/>
                            <a:cs typeface="Times New Roman" panose="02020603050405020304" pitchFamily="18" charset="0"/>
                          </a:rPr>
                          <m:t>,</m:t>
                        </m:r>
                        <m:r>
                          <a:rPr lang="en-US" altLang="zh-CN" b="1" i="1">
                            <a:solidFill>
                              <a:srgbClr val="FF0000"/>
                            </a:solidFill>
                            <a:latin typeface="Cambria Math" panose="02040503050406030204" pitchFamily="18" charset="0"/>
                            <a:cs typeface="Times New Roman" panose="02020603050405020304" pitchFamily="18" charset="0"/>
                          </a:rPr>
                          <m:t>𝒕</m:t>
                        </m:r>
                        <m:r>
                          <a:rPr lang="en-US" altLang="zh-CN" b="1" i="1">
                            <a:solidFill>
                              <a:srgbClr val="FF0000"/>
                            </a:solidFill>
                            <a:latin typeface="Cambria Math" panose="02040503050406030204" pitchFamily="18" charset="0"/>
                            <a:cs typeface="Times New Roman" panose="02020603050405020304" pitchFamily="18" charset="0"/>
                          </a:rPr>
                          <m:t>)</m:t>
                        </m:r>
                        <m:r>
                          <m:rPr>
                            <m:nor/>
                          </m:rPr>
                          <a:rPr lang="en-US" altLang="zh-CN" b="1" dirty="0">
                            <a:solidFill>
                              <a:srgbClr val="FF0000"/>
                            </a:solidFill>
                            <a:latin typeface="Courier New" panose="02070309020205020404" pitchFamily="49" charset="0"/>
                            <a:cs typeface="Times New Roman" panose="02020603050405020304" pitchFamily="18" charset="0"/>
                          </a:rPr>
                          <m:t> </m:t>
                        </m:r>
                      </m:e>
                    </m:func>
                  </m:oMath>
                </a14:m>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L12 =</a:t>
                </a:r>
                <a:r>
                  <a:rPr lang="en-US" altLang="zh-CN" dirty="0">
                    <a:latin typeface="Courier New" panose="02070309020205020404" pitchFamily="49" charset="0"/>
                    <a:cs typeface="Times New Roman" panose="02020603050405020304" pitchFamily="18" charset="0"/>
                  </a:rPr>
                  <a:t> </a:t>
                </a:r>
                <a:r>
                  <a:rPr lang="en-US" altLang="zh-CN" dirty="0">
                    <a:solidFill>
                      <a:srgbClr val="0000FF"/>
                    </a:solidFill>
                    <a:latin typeface="Courier New" panose="02070309020205020404" pitchFamily="49" charset="0"/>
                    <a:cs typeface="Times New Roman" panose="02020603050405020304" pitchFamily="18" charset="0"/>
                  </a:rPr>
                  <a:t>w</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000" b="1" dirty="0">
                    <a:solidFill>
                      <a:srgbClr val="008000"/>
                    </a:solidFill>
                    <a:latin typeface="Courier New" panose="02070309020205020404" pitchFamily="49" charset="0"/>
                    <a:cs typeface="Times New Roman" panose="02020603050405020304" pitchFamily="18" charset="0"/>
                  </a:rPr>
                  <a:t>f2(t) = sin(w*t)/t;    %</a:t>
                </a:r>
                <a:r>
                  <a:rPr lang="en-US" altLang="zh-CN" b="1" dirty="0">
                    <a:solidFill>
                      <a:srgbClr val="FF0000"/>
                    </a:solidFill>
                    <a:latin typeface="Courier New" panose="02070309020205020404" pitchFamily="49" charset="0"/>
                    <a:cs typeface="Times New Roman" panose="02020603050405020304" pitchFamily="18" charset="0"/>
                  </a:rPr>
                  <a:t>f2(t)</a:t>
                </a:r>
                <a:r>
                  <a:rPr lang="zh-CN" altLang="en-US" b="1" dirty="0">
                    <a:solidFill>
                      <a:srgbClr val="FF0000"/>
                    </a:solidFill>
                    <a:latin typeface="Courier New" panose="02070309020205020404" pitchFamily="49" charset="0"/>
                    <a:cs typeface="Times New Roman" panose="02020603050405020304" pitchFamily="18" charset="0"/>
                  </a:rPr>
                  <a:t>为符号函数，有自变量</a:t>
                </a:r>
                <a:r>
                  <a:rPr lang="en-US" altLang="zh-CN" b="1" dirty="0">
                    <a:solidFill>
                      <a:srgbClr val="FF0000"/>
                    </a:solidFill>
                    <a:latin typeface="Courier New" panose="02070309020205020404" pitchFamily="49" charset="0"/>
                    <a:cs typeface="Times New Roman" panose="02020603050405020304" pitchFamily="18" charset="0"/>
                  </a:rPr>
                  <a:t>t</a:t>
                </a:r>
                <a:endParaRPr lang="zh-CN" altLang="zh-CN"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L2 = limit</a:t>
                </a:r>
                <a:r>
                  <a:rPr lang="en-US" altLang="zh-CN" b="1">
                    <a:solidFill>
                      <a:srgbClr val="008000"/>
                    </a:solidFill>
                    <a:latin typeface="Courier New" panose="02070309020205020404" pitchFamily="49" charset="0"/>
                    <a:cs typeface="Times New Roman" panose="02020603050405020304" pitchFamily="18" charset="0"/>
                  </a:rPr>
                  <a:t>(f2)            </a:t>
                </a: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符号函数的极限以规定的自变量作为默认变量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L2 =</a:t>
                </a:r>
                <a:r>
                  <a:rPr lang="en-US" altLang="zh-CN" dirty="0">
                    <a:latin typeface="Courier New" panose="02070309020205020404" pitchFamily="49" charset="0"/>
                    <a:cs typeface="Times New Roman" panose="02020603050405020304" pitchFamily="18" charset="0"/>
                  </a:rPr>
                  <a:t> </a:t>
                </a:r>
                <a:r>
                  <a:rPr lang="en-US" altLang="zh-CN" dirty="0">
                    <a:solidFill>
                      <a:srgbClr val="0000FF"/>
                    </a:solidFill>
                    <a:latin typeface="Courier New" panose="02070309020205020404" pitchFamily="49" charset="0"/>
                    <a:cs typeface="Times New Roman" panose="02020603050405020304" pitchFamily="18" charset="0"/>
                  </a:rPr>
                  <a:t>w</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L31=limit(1/t,t,0,'left')	 %</a:t>
                </a:r>
                <a:r>
                  <a:rPr lang="zh-CN" altLang="en-US" b="1" dirty="0">
                    <a:solidFill>
                      <a:srgbClr val="FF0000"/>
                    </a:solidFill>
                    <a:latin typeface="Courier New" panose="02070309020205020404" pitchFamily="49" charset="0"/>
                    <a:cs typeface="Times New Roman" panose="02020603050405020304" pitchFamily="18" charset="0"/>
                  </a:rPr>
                  <a:t>左极限为</a:t>
                </a:r>
                <a14:m>
                  <m:oMath xmlns:m="http://schemas.openxmlformats.org/officeDocument/2006/math">
                    <m:r>
                      <a:rPr lang="en-US" altLang="zh-CN" b="1" i="1" smtClean="0">
                        <a:solidFill>
                          <a:srgbClr val="FF0000"/>
                        </a:solidFill>
                        <a:latin typeface="Cambria Math" panose="02040503050406030204" pitchFamily="18" charset="0"/>
                        <a:cs typeface="Times New Roman" panose="02020603050405020304" pitchFamily="18" charset="0"/>
                      </a:rPr>
                      <m:t>−∞</m:t>
                    </m:r>
                  </m:oMath>
                </a14:m>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L31 = -Inf</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L32=limit(1/t,t,0,'right')	 %</a:t>
                </a:r>
                <a:r>
                  <a:rPr lang="zh-CN" altLang="en-US" b="1" dirty="0">
                    <a:solidFill>
                      <a:srgbClr val="FF0000"/>
                    </a:solidFill>
                    <a:latin typeface="Courier New" panose="02070309020205020404" pitchFamily="49" charset="0"/>
                    <a:cs typeface="Times New Roman" panose="02020603050405020304" pitchFamily="18" charset="0"/>
                  </a:rPr>
                  <a:t>右极限为</a:t>
                </a:r>
                <a14:m>
                  <m:oMath xmlns:m="http://schemas.openxmlformats.org/officeDocument/2006/math">
                    <m:r>
                      <a:rPr lang="en-US" altLang="zh-CN" b="1" i="1" smtClean="0">
                        <a:solidFill>
                          <a:srgbClr val="FF0000"/>
                        </a:solidFill>
                        <a:latin typeface="Cambria Math" panose="02040503050406030204" pitchFamily="18" charset="0"/>
                        <a:cs typeface="Times New Roman" panose="02020603050405020304" pitchFamily="18" charset="0"/>
                      </a:rPr>
                      <m:t>+∞</m:t>
                    </m:r>
                  </m:oMath>
                </a14:m>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L32 = Inf</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L3=limit(1/t,t,0)		 %</a:t>
                </a:r>
                <a:r>
                  <a:rPr lang="zh-CN" altLang="en-US" b="1" dirty="0">
                    <a:solidFill>
                      <a:srgbClr val="FF0000"/>
                    </a:solidFill>
                    <a:latin typeface="Courier New" panose="02070309020205020404" pitchFamily="49" charset="0"/>
                    <a:cs typeface="Times New Roman" panose="02020603050405020304" pitchFamily="18" charset="0"/>
                  </a:rPr>
                  <a:t>极限不存在，记为</a:t>
                </a:r>
                <a:r>
                  <a:rPr lang="en-US" altLang="zh-CN" b="1" dirty="0" err="1">
                    <a:solidFill>
                      <a:srgbClr val="FF0000"/>
                    </a:solidFill>
                    <a:latin typeface="Courier New" panose="02070309020205020404" pitchFamily="49" charset="0"/>
                    <a:cs typeface="Times New Roman" panose="02020603050405020304" pitchFamily="18" charset="0"/>
                  </a:rPr>
                  <a:t>NaN</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L3 = </a:t>
                </a:r>
                <a:r>
                  <a:rPr lang="en-US" altLang="zh-CN" dirty="0" err="1">
                    <a:solidFill>
                      <a:srgbClr val="0000FF"/>
                    </a:solidFill>
                    <a:latin typeface="Courier New" panose="02070309020205020404" pitchFamily="49" charset="0"/>
                    <a:cs typeface="Times New Roman" panose="02020603050405020304" pitchFamily="18" charset="0"/>
                  </a:rPr>
                  <a:t>NaN</a:t>
                </a:r>
                <a:endParaRPr lang="en-US" altLang="zh-CN" dirty="0">
                  <a:solidFill>
                    <a:srgbClr val="0000FF"/>
                  </a:solidFill>
                  <a:latin typeface="Courier New" panose="02070309020205020404" pitchFamily="49" charset="0"/>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296652" y="1268760"/>
                <a:ext cx="8550696" cy="5500352"/>
              </a:xfrm>
              <a:prstGeom prst="rect">
                <a:avLst/>
              </a:prstGeom>
              <a:blipFill rotWithShape="1">
                <a:blip r:embed="rId1"/>
                <a:stretch>
                  <a:fillRect l="-1" t="-1" r="6"/>
                </a:stretch>
              </a:blipFill>
            </p:spPr>
            <p:txBody>
              <a:bodyPr/>
              <a:lstStyle/>
              <a:p>
                <a:r>
                  <a:rPr lang="zh-CN" altLang="en-US">
                    <a:noFill/>
                  </a:rPr>
                  <a:t> </a:t>
                </a:r>
              </a:p>
            </p:txBody>
          </p:sp>
        </mc:Fallback>
      </mc:AlternateContent>
      <p:sp>
        <p:nvSpPr>
          <p:cNvPr id="3" name="文本框 2"/>
          <p:cNvSpPr txBox="1"/>
          <p:nvPr/>
        </p:nvSpPr>
        <p:spPr>
          <a:xfrm>
            <a:off x="122767" y="818212"/>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2.7-2】limit</a:t>
            </a:r>
            <a:r>
              <a:rPr lang="zh-CN" altLang="en-US" b="1" dirty="0">
                <a:solidFill>
                  <a:prstClr val="black"/>
                </a:solidFill>
                <a:latin typeface="+mn-ea"/>
              </a:rPr>
              <a:t>函数计算极限的若干应用（有改动）</a:t>
            </a:r>
            <a:endParaRPr lang="zh-CN" altLang="en-US"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7" end="1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140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符号微积分</a:t>
            </a:r>
            <a:r>
              <a:rPr lang="en-US" altLang="zh-CN"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a:t>
            </a:r>
            <a:r>
              <a:rPr lang="zh-CN" altLang="en-US" sz="360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计算（偏）导数</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pic>
        <p:nvPicPr>
          <p:cNvPr id="4" name="图片 3"/>
          <p:cNvPicPr>
            <a:picLocks noChangeAspect="1"/>
          </p:cNvPicPr>
          <p:nvPr/>
        </p:nvPicPr>
        <p:blipFill>
          <a:blip r:embed="rId1"/>
          <a:stretch>
            <a:fillRect/>
          </a:stretch>
        </p:blipFill>
        <p:spPr>
          <a:xfrm>
            <a:off x="323528" y="1015941"/>
            <a:ext cx="8523131" cy="2016224"/>
          </a:xfrm>
          <a:prstGeom prst="rect">
            <a:avLst/>
          </a:prstGeom>
        </p:spPr>
      </p:pic>
      <p:sp>
        <p:nvSpPr>
          <p:cNvPr id="9" name="矩形 8"/>
          <p:cNvSpPr/>
          <p:nvPr/>
        </p:nvSpPr>
        <p:spPr>
          <a:xfrm>
            <a:off x="323528" y="3313177"/>
            <a:ext cx="8339199" cy="830997"/>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对矩阵表达式求（偏）导数，即对矩阵的每一个元素表达式分别求（偏）导数</a:t>
            </a:r>
            <a:endParaRPr lang="en-US" altLang="zh-CN" sz="2400" b="1" dirty="0">
              <a:solidFill>
                <a:srgbClr val="FF0000"/>
              </a:solidFill>
              <a:latin typeface="+mj-ea"/>
              <a:ea typeface="+mj-ea"/>
            </a:endParaRPr>
          </a:p>
        </p:txBody>
      </p:sp>
      <p:sp>
        <p:nvSpPr>
          <p:cNvPr id="10" name="矩形 9"/>
          <p:cNvSpPr/>
          <p:nvPr/>
        </p:nvSpPr>
        <p:spPr>
          <a:xfrm>
            <a:off x="347601" y="4293096"/>
            <a:ext cx="8339199" cy="830997"/>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可使用</a:t>
            </a:r>
            <a:r>
              <a:rPr lang="en-US" altLang="zh-CN" sz="2400" b="1" dirty="0" err="1">
                <a:solidFill>
                  <a:schemeClr val="accent2"/>
                </a:solidFill>
                <a:latin typeface="Courier New" panose="02070309020205020404" pitchFamily="49" charset="0"/>
                <a:ea typeface="+mj-ea"/>
                <a:cs typeface="Courier New" panose="02070309020205020404" pitchFamily="49" charset="0"/>
              </a:rPr>
              <a:t>fjac</a:t>
            </a:r>
            <a:r>
              <a:rPr lang="en-US" altLang="zh-CN" sz="2400" b="1" dirty="0">
                <a:solidFill>
                  <a:schemeClr val="accent2"/>
                </a:solidFill>
                <a:latin typeface="Courier New" panose="02070309020205020404" pitchFamily="49" charset="0"/>
                <a:ea typeface="+mj-ea"/>
                <a:cs typeface="Courier New" panose="02070309020205020404" pitchFamily="49" charset="0"/>
              </a:rPr>
              <a:t>=</a:t>
            </a:r>
            <a:r>
              <a:rPr lang="en-US" altLang="zh-CN" sz="2400" b="1" dirty="0" err="1">
                <a:solidFill>
                  <a:schemeClr val="accent2"/>
                </a:solidFill>
                <a:latin typeface="Courier New" panose="02070309020205020404" pitchFamily="49" charset="0"/>
                <a:ea typeface="+mj-ea"/>
                <a:cs typeface="Courier New" panose="02070309020205020404" pitchFamily="49" charset="0"/>
              </a:rPr>
              <a:t>jacobian</a:t>
            </a:r>
            <a:r>
              <a:rPr lang="en-US" altLang="zh-CN" sz="2400" b="1" dirty="0">
                <a:solidFill>
                  <a:schemeClr val="accent2"/>
                </a:solidFill>
                <a:latin typeface="Courier New" panose="02070309020205020404" pitchFamily="49" charset="0"/>
                <a:ea typeface="+mj-ea"/>
                <a:cs typeface="Courier New" panose="02070309020205020404" pitchFamily="49" charset="0"/>
              </a:rPr>
              <a:t>(</a:t>
            </a:r>
            <a:r>
              <a:rPr lang="en-US" altLang="zh-CN" sz="2400" b="1" dirty="0" err="1">
                <a:solidFill>
                  <a:schemeClr val="accent2"/>
                </a:solidFill>
                <a:latin typeface="Courier New" panose="02070309020205020404" pitchFamily="49" charset="0"/>
                <a:ea typeface="+mj-ea"/>
                <a:cs typeface="Courier New" panose="02070309020205020404" pitchFamily="49" charset="0"/>
              </a:rPr>
              <a:t>f,v</a:t>
            </a:r>
            <a:r>
              <a:rPr lang="en-US" altLang="zh-CN" sz="2400" b="1" dirty="0">
                <a:solidFill>
                  <a:schemeClr val="accent2"/>
                </a:solidFill>
                <a:latin typeface="Courier New" panose="02070309020205020404" pitchFamily="49" charset="0"/>
                <a:ea typeface="+mj-ea"/>
                <a:cs typeface="Courier New" panose="02070309020205020404" pitchFamily="49" charset="0"/>
              </a:rPr>
              <a:t>)</a:t>
            </a:r>
            <a:r>
              <a:rPr lang="zh-CN" altLang="en-US" sz="2400" b="1" dirty="0">
                <a:solidFill>
                  <a:prstClr val="black"/>
                </a:solidFill>
                <a:latin typeface="+mj-ea"/>
                <a:ea typeface="+mj-ea"/>
              </a:rPr>
              <a:t>可以计算雅可比矩阵，此时的</a:t>
            </a:r>
            <a:r>
              <a:rPr lang="en-US" altLang="zh-CN" sz="2400" b="1" dirty="0">
                <a:solidFill>
                  <a:prstClr val="black"/>
                </a:solidFill>
                <a:latin typeface="+mj-ea"/>
                <a:ea typeface="+mj-ea"/>
              </a:rPr>
              <a:t>f</a:t>
            </a:r>
            <a:r>
              <a:rPr lang="zh-CN" altLang="en-US" sz="2400" b="1" dirty="0">
                <a:solidFill>
                  <a:prstClr val="black"/>
                </a:solidFill>
                <a:latin typeface="+mj-ea"/>
                <a:ea typeface="+mj-ea"/>
              </a:rPr>
              <a:t>与</a:t>
            </a:r>
            <a:r>
              <a:rPr lang="en-US" altLang="zh-CN" sz="2400" b="1" dirty="0">
                <a:solidFill>
                  <a:prstClr val="black"/>
                </a:solidFill>
                <a:latin typeface="+mj-ea"/>
                <a:ea typeface="+mj-ea"/>
              </a:rPr>
              <a:t>v</a:t>
            </a:r>
            <a:r>
              <a:rPr lang="zh-CN" altLang="en-US" sz="2400" b="1" dirty="0">
                <a:solidFill>
                  <a:prstClr val="black"/>
                </a:solidFill>
                <a:latin typeface="+mj-ea"/>
                <a:ea typeface="+mj-ea"/>
              </a:rPr>
              <a:t>需要定义为符号函数向量（后讲）与自变量向量</a:t>
            </a:r>
            <a:endParaRPr lang="en-US" altLang="zh-CN" sz="2400" b="1" dirty="0">
              <a:solidFill>
                <a:srgbClr val="FF0000"/>
              </a:solidFill>
              <a:latin typeface="+mj-ea"/>
              <a:ea typeface="+mj-ea"/>
            </a:endParaRPr>
          </a:p>
        </p:txBody>
      </p:sp>
      <p:sp>
        <p:nvSpPr>
          <p:cNvPr id="11" name="矩形 10"/>
          <p:cNvSpPr/>
          <p:nvPr/>
        </p:nvSpPr>
        <p:spPr>
          <a:xfrm>
            <a:off x="326287" y="5350746"/>
            <a:ext cx="8339199" cy="830997"/>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若雅可比矩阵</a:t>
            </a:r>
            <a:r>
              <a:rPr lang="en-US" altLang="zh-CN" sz="2400" b="1" dirty="0" err="1">
                <a:solidFill>
                  <a:schemeClr val="accent2"/>
                </a:solidFill>
                <a:latin typeface="Courier New" panose="02070309020205020404" pitchFamily="49" charset="0"/>
                <a:ea typeface="+mj-ea"/>
                <a:cs typeface="Courier New" panose="02070309020205020404" pitchFamily="49" charset="0"/>
              </a:rPr>
              <a:t>fjac</a:t>
            </a:r>
            <a:r>
              <a:rPr lang="zh-CN" altLang="en-US" sz="2400" b="1" dirty="0">
                <a:solidFill>
                  <a:prstClr val="black"/>
                </a:solidFill>
                <a:latin typeface="+mj-ea"/>
                <a:ea typeface="+mj-ea"/>
              </a:rPr>
              <a:t>为方阵，可使用</a:t>
            </a:r>
            <a:r>
              <a:rPr lang="en-US" altLang="zh-CN" sz="2400" b="1" dirty="0" err="1">
                <a:solidFill>
                  <a:schemeClr val="accent2"/>
                </a:solidFill>
                <a:latin typeface="Courier New" panose="02070309020205020404" pitchFamily="49" charset="0"/>
                <a:ea typeface="+mj-ea"/>
                <a:cs typeface="Courier New" panose="02070309020205020404" pitchFamily="49" charset="0"/>
              </a:rPr>
              <a:t>detjac</a:t>
            </a:r>
            <a:r>
              <a:rPr lang="en-US" altLang="zh-CN" sz="2400" b="1" dirty="0">
                <a:solidFill>
                  <a:schemeClr val="accent2"/>
                </a:solidFill>
                <a:latin typeface="Courier New" panose="02070309020205020404" pitchFamily="49" charset="0"/>
                <a:ea typeface="+mj-ea"/>
                <a:cs typeface="Courier New" panose="02070309020205020404" pitchFamily="49" charset="0"/>
              </a:rPr>
              <a:t>=</a:t>
            </a:r>
            <a:r>
              <a:rPr lang="en-US" altLang="zh-CN" sz="2400" b="1" dirty="0" err="1">
                <a:solidFill>
                  <a:schemeClr val="accent2"/>
                </a:solidFill>
                <a:latin typeface="Courier New" panose="02070309020205020404" pitchFamily="49" charset="0"/>
                <a:ea typeface="+mj-ea"/>
                <a:cs typeface="Courier New" panose="02070309020205020404" pitchFamily="49" charset="0"/>
              </a:rPr>
              <a:t>det</a:t>
            </a:r>
            <a:r>
              <a:rPr lang="zh-CN" altLang="en-US" sz="2400" b="1" dirty="0">
                <a:solidFill>
                  <a:schemeClr val="accent2"/>
                </a:solidFill>
                <a:latin typeface="Courier New" panose="02070309020205020404" pitchFamily="49" charset="0"/>
                <a:ea typeface="+mj-ea"/>
                <a:cs typeface="Courier New" panose="02070309020205020404" pitchFamily="49" charset="0"/>
              </a:rPr>
              <a:t>（</a:t>
            </a:r>
            <a:r>
              <a:rPr lang="en-US" altLang="zh-CN" sz="2400" b="1" dirty="0" err="1">
                <a:solidFill>
                  <a:schemeClr val="accent2"/>
                </a:solidFill>
                <a:latin typeface="Courier New" panose="02070309020205020404" pitchFamily="49" charset="0"/>
                <a:ea typeface="+mj-ea"/>
                <a:cs typeface="Courier New" panose="02070309020205020404" pitchFamily="49" charset="0"/>
              </a:rPr>
              <a:t>fjac</a:t>
            </a:r>
            <a:r>
              <a:rPr lang="zh-CN" altLang="en-US" sz="2400" b="1" dirty="0">
                <a:solidFill>
                  <a:schemeClr val="accent2"/>
                </a:solidFill>
                <a:latin typeface="Courier New" panose="02070309020205020404" pitchFamily="49" charset="0"/>
                <a:ea typeface="+mj-ea"/>
                <a:cs typeface="Courier New" panose="02070309020205020404" pitchFamily="49" charset="0"/>
              </a:rPr>
              <a:t>）</a:t>
            </a:r>
            <a:r>
              <a:rPr lang="zh-CN" altLang="en-US" sz="2400" b="1" dirty="0">
                <a:solidFill>
                  <a:prstClr val="black"/>
                </a:solidFill>
                <a:latin typeface="+mj-ea"/>
                <a:ea typeface="+mj-ea"/>
              </a:rPr>
              <a:t>来获得雅可比行列式的抽象表达式（符号型表达式）</a:t>
            </a:r>
            <a:endParaRPr lang="en-US" altLang="zh-CN" sz="2400" b="1" dirty="0">
              <a:solidFill>
                <a:srgbClr val="FF0000"/>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140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符号函数求导例题</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15" name="矩形 14"/>
          <p:cNvSpPr/>
          <p:nvPr/>
        </p:nvSpPr>
        <p:spPr>
          <a:xfrm>
            <a:off x="903569" y="1919571"/>
            <a:ext cx="7272808" cy="4247317"/>
          </a:xfrm>
          <a:prstGeom prst="rect">
            <a:avLst/>
          </a:prstGeom>
        </p:spPr>
        <p:txBody>
          <a:bodyPr wrap="square">
            <a:spAutoFit/>
          </a:bodyPr>
          <a:lstStyle/>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a t x;</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f=[a,t^3;t*cos(x), log(x)];</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df</a:t>
            </a:r>
            <a:r>
              <a:rPr lang="en-US" altLang="zh-CN" b="1" dirty="0">
                <a:solidFill>
                  <a:srgbClr val="008000"/>
                </a:solidFill>
                <a:latin typeface="Courier New" panose="02070309020205020404" pitchFamily="49" charset="0"/>
                <a:cs typeface="Times New Roman" panose="02020603050405020304" pitchFamily="18" charset="0"/>
              </a:rPr>
              <a:t>=diff(f)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dfdt2=diff(f,t,2)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dfdxdt</a:t>
            </a:r>
            <a:r>
              <a:rPr lang="en-US" altLang="zh-CN" b="1" dirty="0">
                <a:solidFill>
                  <a:srgbClr val="008000"/>
                </a:solidFill>
                <a:latin typeface="Courier New" panose="02070309020205020404" pitchFamily="49" charset="0"/>
                <a:cs typeface="Times New Roman" panose="02020603050405020304" pitchFamily="18" charset="0"/>
              </a:rPr>
              <a:t>=diff(diff(</a:t>
            </a:r>
            <a:r>
              <a:rPr lang="en-US" altLang="zh-CN" b="1" dirty="0" err="1">
                <a:solidFill>
                  <a:srgbClr val="008000"/>
                </a:solidFill>
                <a:latin typeface="Courier New" panose="02070309020205020404" pitchFamily="49" charset="0"/>
                <a:cs typeface="Times New Roman" panose="02020603050405020304" pitchFamily="18" charset="0"/>
              </a:rPr>
              <a:t>f,x</a:t>
            </a:r>
            <a:r>
              <a:rPr lang="en-US" altLang="zh-CN" b="1" dirty="0">
                <a:solidFill>
                  <a:srgbClr val="008000"/>
                </a:solidFill>
                <a:latin typeface="Courier New" panose="02070309020205020404" pitchFamily="49" charset="0"/>
                <a:cs typeface="Times New Roman" panose="02020603050405020304" pitchFamily="18" charset="0"/>
              </a:rPr>
              <a:t>),t)	%</a:t>
            </a:r>
            <a:r>
              <a:rPr lang="zh-CN" altLang="en-US" b="1" dirty="0">
                <a:solidFill>
                  <a:srgbClr val="FF0000"/>
                </a:solidFill>
                <a:latin typeface="Courier New" panose="02070309020205020404" pitchFamily="49" charset="0"/>
                <a:cs typeface="Times New Roman" panose="02020603050405020304" pitchFamily="18" charset="0"/>
              </a:rPr>
              <a:t>函数的嵌套，这里</a:t>
            </a:r>
            <a:r>
              <a:rPr lang="zh-CN" altLang="en-US" b="1" dirty="0">
                <a:solidFill>
                  <a:schemeClr val="accent2"/>
                </a:solidFill>
                <a:latin typeface="Courier New" panose="02070309020205020404" pitchFamily="49" charset="0"/>
                <a:cs typeface="Times New Roman" panose="02020603050405020304" pitchFamily="18" charset="0"/>
              </a:rPr>
              <a:t>交换次序不改变结果（为什么？）</a:t>
            </a:r>
            <a:r>
              <a:rPr lang="en-US" altLang="zh-CN" b="1" dirty="0">
                <a:solidFill>
                  <a:schemeClr val="accent2"/>
                </a:solidFill>
                <a:latin typeface="Courier New" panose="02070309020205020404" pitchFamily="49" charset="0"/>
                <a:cs typeface="Times New Roman" panose="02020603050405020304" pitchFamily="18" charset="0"/>
              </a:rPr>
              <a:t> </a:t>
            </a:r>
            <a:r>
              <a:rPr lang="en-US" altLang="zh-CN" dirty="0">
                <a:solidFill>
                  <a:schemeClr val="accent2"/>
                </a:solidFill>
                <a:latin typeface="Courier New" panose="02070309020205020404" pitchFamily="49" charset="0"/>
                <a:cs typeface="Times New Roman" panose="02020603050405020304" pitchFamily="18" charset="0"/>
              </a:rPr>
              <a:t> </a:t>
            </a:r>
            <a:endParaRPr lang="zh-CN" altLang="zh-CN" dirty="0">
              <a:solidFill>
                <a:schemeClr val="accent2"/>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df</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   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-t*sin(x), 1/x]</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dfdt2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 6*t]</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   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dfdxdt</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 0]</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-sin(x), 0]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文本框 2"/>
              <p:cNvSpPr txBox="1"/>
              <p:nvPr/>
            </p:nvSpPr>
            <p:spPr>
              <a:xfrm>
                <a:off x="477888" y="1148132"/>
                <a:ext cx="8208912" cy="594906"/>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a:t>
                </a:r>
                <a:r>
                  <a:rPr lang="zh-CN" altLang="en-US" b="1" dirty="0">
                    <a:solidFill>
                      <a:prstClr val="black"/>
                    </a:solidFill>
                    <a:latin typeface="+mn-ea"/>
                  </a:rPr>
                  <a:t>已知</a:t>
                </a:r>
                <a14:m>
                  <m:oMath xmlns:m="http://schemas.openxmlformats.org/officeDocument/2006/math">
                    <m:r>
                      <a:rPr lang="en-US" altLang="zh-CN" b="1" i="1" smtClean="0">
                        <a:solidFill>
                          <a:prstClr val="black"/>
                        </a:solidFill>
                        <a:latin typeface="Cambria Math" panose="02040503050406030204" pitchFamily="18" charset="0"/>
                      </a:rPr>
                      <m:t>𝒇</m:t>
                    </m:r>
                    <m:r>
                      <a:rPr lang="en-US" altLang="zh-CN" b="1" i="1" smtClean="0">
                        <a:solidFill>
                          <a:prstClr val="black"/>
                        </a:solidFill>
                        <a:latin typeface="Cambria Math" panose="02040503050406030204" pitchFamily="18" charset="0"/>
                      </a:rPr>
                      <m:t>=</m:t>
                    </m:r>
                    <m:d>
                      <m:dPr>
                        <m:begChr m:val="["/>
                        <m:endChr m:val="]"/>
                        <m:ctrlPr>
                          <a:rPr lang="en-US" altLang="zh-CN" b="1" i="1" smtClean="0">
                            <a:solidFill>
                              <a:prstClr val="black"/>
                            </a:solidFill>
                            <a:latin typeface="Cambria Math" panose="02040503050406030204" pitchFamily="18" charset="0"/>
                          </a:rPr>
                        </m:ctrlPr>
                      </m:dPr>
                      <m:e>
                        <m:m>
                          <m:mPr>
                            <m:mcs>
                              <m:mc>
                                <m:mcPr>
                                  <m:count m:val="2"/>
                                  <m:mcJc m:val="center"/>
                                </m:mcPr>
                              </m:mc>
                            </m:mcs>
                            <m:ctrlPr>
                              <a:rPr lang="en-US" altLang="zh-CN" b="1" i="1" smtClean="0">
                                <a:solidFill>
                                  <a:prstClr val="black"/>
                                </a:solidFill>
                                <a:latin typeface="Cambria Math" panose="02040503050406030204" pitchFamily="18" charset="0"/>
                              </a:rPr>
                            </m:ctrlPr>
                          </m:mPr>
                          <m:mr>
                            <m:e>
                              <m:r>
                                <m:rPr>
                                  <m:brk m:alnAt="7"/>
                                </m:rPr>
                                <a:rPr lang="en-US" altLang="zh-CN" b="1" i="1" smtClean="0">
                                  <a:solidFill>
                                    <a:prstClr val="black"/>
                                  </a:solidFill>
                                  <a:latin typeface="Cambria Math" panose="02040503050406030204" pitchFamily="18" charset="0"/>
                                </a:rPr>
                                <m:t>𝒂</m:t>
                              </m:r>
                            </m:e>
                            <m:e>
                              <m:sSup>
                                <m:sSupPr>
                                  <m:ctrlPr>
                                    <a:rPr lang="en-US" altLang="zh-CN" b="1" i="1" smtClean="0">
                                      <a:solidFill>
                                        <a:prstClr val="black"/>
                                      </a:solidFill>
                                      <a:latin typeface="Cambria Math" panose="02040503050406030204" pitchFamily="18" charset="0"/>
                                    </a:rPr>
                                  </m:ctrlPr>
                                </m:sSupPr>
                                <m:e>
                                  <m:r>
                                    <a:rPr lang="en-US" altLang="zh-CN" b="1" i="1" smtClean="0">
                                      <a:solidFill>
                                        <a:prstClr val="black"/>
                                      </a:solidFill>
                                      <a:latin typeface="Cambria Math" panose="02040503050406030204" pitchFamily="18" charset="0"/>
                                    </a:rPr>
                                    <m:t>𝒕</m:t>
                                  </m:r>
                                </m:e>
                                <m:sup>
                                  <m:r>
                                    <a:rPr lang="en-US" altLang="zh-CN" b="1" i="1" smtClean="0">
                                      <a:solidFill>
                                        <a:prstClr val="black"/>
                                      </a:solidFill>
                                      <a:latin typeface="Cambria Math" panose="02040503050406030204" pitchFamily="18" charset="0"/>
                                    </a:rPr>
                                    <m:t>𝟑</m:t>
                                  </m:r>
                                </m:sup>
                              </m:sSup>
                            </m:e>
                          </m:mr>
                          <m:mr>
                            <m:e>
                              <m:r>
                                <a:rPr lang="en-US" altLang="zh-CN" b="1" i="1" smtClean="0">
                                  <a:solidFill>
                                    <a:prstClr val="black"/>
                                  </a:solidFill>
                                  <a:latin typeface="Cambria Math" panose="02040503050406030204" pitchFamily="18" charset="0"/>
                                </a:rPr>
                                <m:t>𝒕</m:t>
                              </m:r>
                              <m:func>
                                <m:funcPr>
                                  <m:ctrlPr>
                                    <a:rPr lang="en-US" altLang="zh-CN" b="1" i="1" smtClean="0">
                                      <a:solidFill>
                                        <a:prstClr val="black"/>
                                      </a:solidFill>
                                      <a:latin typeface="Cambria Math" panose="02040503050406030204" pitchFamily="18" charset="0"/>
                                    </a:rPr>
                                  </m:ctrlPr>
                                </m:funcPr>
                                <m:fName>
                                  <m:r>
                                    <m:rPr>
                                      <m:sty m:val="p"/>
                                    </m:rPr>
                                    <a:rPr lang="en-US" altLang="zh-CN" b="0" i="0" smtClean="0">
                                      <a:solidFill>
                                        <a:prstClr val="black"/>
                                      </a:solidFill>
                                      <a:latin typeface="Cambria Math" panose="02040503050406030204" pitchFamily="18" charset="0"/>
                                    </a:rPr>
                                    <m:t>cos</m:t>
                                  </m:r>
                                </m:fName>
                                <m:e>
                                  <m:r>
                                    <a:rPr lang="en-US" altLang="zh-CN" b="1" i="1" smtClean="0">
                                      <a:solidFill>
                                        <a:prstClr val="black"/>
                                      </a:solidFill>
                                      <a:latin typeface="Cambria Math" panose="02040503050406030204" pitchFamily="18" charset="0"/>
                                    </a:rPr>
                                    <m:t>𝒙</m:t>
                                  </m:r>
                                </m:e>
                              </m:func>
                            </m:e>
                            <m:e>
                              <m:func>
                                <m:funcPr>
                                  <m:ctrlPr>
                                    <a:rPr lang="en-US" altLang="zh-CN" b="1" i="1" smtClean="0">
                                      <a:solidFill>
                                        <a:prstClr val="black"/>
                                      </a:solidFill>
                                      <a:latin typeface="Cambria Math" panose="02040503050406030204" pitchFamily="18" charset="0"/>
                                    </a:rPr>
                                  </m:ctrlPr>
                                </m:funcPr>
                                <m:fName>
                                  <m:r>
                                    <m:rPr>
                                      <m:sty m:val="p"/>
                                    </m:rPr>
                                    <a:rPr lang="en-US" altLang="zh-CN" b="0" i="0" smtClean="0">
                                      <a:solidFill>
                                        <a:prstClr val="black"/>
                                      </a:solidFill>
                                      <a:latin typeface="Cambria Math" panose="02040503050406030204" pitchFamily="18" charset="0"/>
                                    </a:rPr>
                                    <m:t>ln</m:t>
                                  </m:r>
                                </m:fName>
                                <m:e>
                                  <m:r>
                                    <a:rPr lang="en-US" altLang="zh-CN" b="1" i="1" smtClean="0">
                                      <a:solidFill>
                                        <a:prstClr val="black"/>
                                      </a:solidFill>
                                      <a:latin typeface="Cambria Math" panose="02040503050406030204" pitchFamily="18" charset="0"/>
                                    </a:rPr>
                                    <m:t>𝒙</m:t>
                                  </m:r>
                                </m:e>
                              </m:func>
                            </m:e>
                          </m:mr>
                        </m:m>
                      </m:e>
                    </m:d>
                  </m:oMath>
                </a14:m>
                <a:r>
                  <a:rPr lang="zh-CN" altLang="en-US" b="1" dirty="0">
                    <a:latin typeface="+mn-ea"/>
                  </a:rPr>
                  <a:t>，求</a:t>
                </a:r>
                <a14:m>
                  <m:oMath xmlns:m="http://schemas.openxmlformats.org/officeDocument/2006/math">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𝒅𝒇</m:t>
                        </m:r>
                      </m:num>
                      <m:den>
                        <m:r>
                          <a:rPr lang="en-US" altLang="zh-CN" b="1" i="1" smtClean="0">
                            <a:latin typeface="Cambria Math" panose="02040503050406030204" pitchFamily="18" charset="0"/>
                          </a:rPr>
                          <m:t>𝒅𝒙</m:t>
                        </m:r>
                      </m:den>
                    </m:f>
                    <m:r>
                      <a:rPr lang="en-US" altLang="zh-CN" b="1" i="0" smtClean="0">
                        <a:latin typeface="Cambria Math" panose="02040503050406030204" pitchFamily="18" charset="0"/>
                      </a:rPr>
                      <m:t>,</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𝒅</m:t>
                            </m:r>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𝒚</m:t>
                        </m:r>
                      </m:num>
                      <m:den>
                        <m:r>
                          <a:rPr lang="en-US" altLang="zh-CN" b="1" i="1" smtClean="0">
                            <a:latin typeface="Cambria Math" panose="02040503050406030204" pitchFamily="18" charset="0"/>
                          </a:rPr>
                          <m:t>𝒅</m:t>
                        </m:r>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𝒕</m:t>
                            </m:r>
                          </m:e>
                          <m:sup>
                            <m:r>
                              <a:rPr lang="en-US" altLang="zh-CN" b="1" i="1" smtClean="0">
                                <a:latin typeface="Cambria Math" panose="02040503050406030204" pitchFamily="18" charset="0"/>
                              </a:rPr>
                              <m:t>𝟐</m:t>
                            </m:r>
                          </m:sup>
                        </m:sSup>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𝒅</m:t>
                            </m:r>
                          </m:e>
                          <m:sup>
                            <m:r>
                              <a:rPr lang="en-US" altLang="zh-CN" b="1" i="1" smtClean="0">
                                <a:latin typeface="Cambria Math" panose="02040503050406030204" pitchFamily="18" charset="0"/>
                              </a:rPr>
                              <m:t>𝟐</m:t>
                            </m:r>
                          </m:sup>
                        </m:sSup>
                        <m:r>
                          <a:rPr lang="en-US" altLang="zh-CN" b="1" i="1" smtClean="0">
                            <a:latin typeface="Cambria Math" panose="02040503050406030204" pitchFamily="18" charset="0"/>
                          </a:rPr>
                          <m:t>𝒇</m:t>
                        </m:r>
                      </m:num>
                      <m:den>
                        <m:r>
                          <a:rPr lang="en-US" altLang="zh-CN" b="1" i="1" smtClean="0">
                            <a:latin typeface="Cambria Math" panose="02040503050406030204" pitchFamily="18" charset="0"/>
                          </a:rPr>
                          <m:t>𝒅𝒕𝒅𝒙</m:t>
                        </m:r>
                      </m:den>
                    </m:f>
                  </m:oMath>
                </a14:m>
                <a:endParaRPr lang="zh-CN" altLang="en-US" b="1" dirty="0">
                  <a:latin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477888" y="1148132"/>
                <a:ext cx="8208912" cy="594906"/>
              </a:xfrm>
              <a:prstGeom prst="rect">
                <a:avLst/>
              </a:prstGeom>
              <a:blipFill rotWithShape="1">
                <a:blip r:embed="rId1"/>
                <a:stretch>
                  <a:fillRect l="-4" t="-9" b="101"/>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140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符号函数求导例题</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9" name="矩形 8"/>
          <p:cNvSpPr/>
          <p:nvPr/>
        </p:nvSpPr>
        <p:spPr>
          <a:xfrm>
            <a:off x="491481" y="2492896"/>
            <a:ext cx="8406680" cy="4031873"/>
          </a:xfrm>
          <a:prstGeom prst="rect">
            <a:avLst/>
          </a:prstGeom>
        </p:spPr>
        <p:txBody>
          <a:bodyPr wrap="square">
            <a:spAutoFit/>
          </a:bodyPr>
          <a:lstStyle/>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x1 x2;</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f=[x1*</a:t>
            </a:r>
            <a:r>
              <a:rPr lang="en-US" altLang="zh-CN" b="1" dirty="0" err="1">
                <a:solidFill>
                  <a:srgbClr val="008000"/>
                </a:solidFill>
                <a:latin typeface="Courier New" panose="02070309020205020404" pitchFamily="49" charset="0"/>
                <a:cs typeface="Times New Roman" panose="02020603050405020304" pitchFamily="18" charset="0"/>
              </a:rPr>
              <a:t>exp</a:t>
            </a:r>
            <a:r>
              <a:rPr lang="en-US" altLang="zh-CN" b="1" dirty="0">
                <a:solidFill>
                  <a:srgbClr val="008000"/>
                </a:solidFill>
                <a:latin typeface="Courier New" panose="02070309020205020404" pitchFamily="49" charset="0"/>
                <a:cs typeface="Times New Roman" panose="02020603050405020304" pitchFamily="18" charset="0"/>
              </a:rPr>
              <a:t>(x2);x2;cos(x1)*sin(x2)];	%</a:t>
            </a:r>
            <a:r>
              <a:rPr lang="zh-CN" altLang="en-US" b="1" dirty="0">
                <a:solidFill>
                  <a:srgbClr val="FF0000"/>
                </a:solidFill>
                <a:latin typeface="Courier New" panose="02070309020205020404" pitchFamily="49" charset="0"/>
                <a:cs typeface="Times New Roman" panose="02020603050405020304" pitchFamily="18" charset="0"/>
              </a:rPr>
              <a:t>向量</a:t>
            </a:r>
            <a:r>
              <a:rPr lang="en-US" altLang="zh-CN" b="1" dirty="0">
                <a:solidFill>
                  <a:srgbClr val="FF0000"/>
                </a:solidFill>
                <a:latin typeface="Courier New" panose="02070309020205020404" pitchFamily="49" charset="0"/>
                <a:cs typeface="Times New Roman" panose="02020603050405020304" pitchFamily="18" charset="0"/>
              </a:rPr>
              <a:t>f</a:t>
            </a:r>
            <a:r>
              <a:rPr lang="zh-CN" altLang="en-US" b="1" dirty="0">
                <a:solidFill>
                  <a:srgbClr val="FF0000"/>
                </a:solidFill>
                <a:latin typeface="Courier New" panose="02070309020205020404" pitchFamily="49" charset="0"/>
                <a:cs typeface="Times New Roman" panose="02020603050405020304" pitchFamily="18" charset="0"/>
              </a:rPr>
              <a:t>为列向量</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v=[x1;x2];					%</a:t>
            </a:r>
            <a:r>
              <a:rPr lang="zh-CN" altLang="en-US" b="1" dirty="0">
                <a:solidFill>
                  <a:srgbClr val="FF0000"/>
                </a:solidFill>
                <a:latin typeface="Courier New" panose="02070309020205020404" pitchFamily="49" charset="0"/>
                <a:cs typeface="Times New Roman" panose="02020603050405020304" pitchFamily="18" charset="0"/>
              </a:rPr>
              <a:t>向量</a:t>
            </a:r>
            <a:r>
              <a:rPr lang="en-US" altLang="zh-CN" b="1" dirty="0">
                <a:solidFill>
                  <a:srgbClr val="FF0000"/>
                </a:solidFill>
                <a:latin typeface="Courier New" panose="02070309020205020404" pitchFamily="49" charset="0"/>
                <a:cs typeface="Times New Roman" panose="02020603050405020304" pitchFamily="18" charset="0"/>
              </a:rPr>
              <a:t>v</a:t>
            </a:r>
            <a:r>
              <a:rPr lang="zh-CN" altLang="en-US" b="1" dirty="0">
                <a:solidFill>
                  <a:srgbClr val="FF0000"/>
                </a:solidFill>
                <a:latin typeface="Courier New" panose="02070309020205020404" pitchFamily="49" charset="0"/>
                <a:cs typeface="Times New Roman" panose="02020603050405020304" pitchFamily="18" charset="0"/>
              </a:rPr>
              <a:t>也为列向量</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Jf</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jacobian</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f,v</a:t>
            </a:r>
            <a:r>
              <a:rPr lang="en-US" altLang="zh-CN" b="1" dirty="0">
                <a:solidFill>
                  <a:srgbClr val="008000"/>
                </a:solidFill>
                <a:latin typeface="Courier New" panose="02070309020205020404" pitchFamily="49" charset="0"/>
                <a:cs typeface="Times New Roman" panose="02020603050405020304" pitchFamily="18" charset="0"/>
              </a:rPr>
              <a:t>)				%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Jf</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a:t>
            </a:r>
            <a:r>
              <a:rPr lang="en-US" altLang="zh-CN" dirty="0" err="1">
                <a:solidFill>
                  <a:srgbClr val="0000FF"/>
                </a:solidFill>
                <a:latin typeface="Courier New" panose="02070309020205020404" pitchFamily="49" charset="0"/>
                <a:cs typeface="Times New Roman" panose="02020603050405020304" pitchFamily="18" charset="0"/>
              </a:rPr>
              <a:t>exp</a:t>
            </a:r>
            <a:r>
              <a:rPr lang="en-US" altLang="zh-CN" dirty="0">
                <a:solidFill>
                  <a:srgbClr val="0000FF"/>
                </a:solidFill>
                <a:latin typeface="Courier New" panose="02070309020205020404" pitchFamily="49" charset="0"/>
                <a:cs typeface="Times New Roman" panose="02020603050405020304" pitchFamily="18" charset="0"/>
              </a:rPr>
              <a:t>(x2),      x1*</a:t>
            </a:r>
            <a:r>
              <a:rPr lang="en-US" altLang="zh-CN" dirty="0" err="1">
                <a:solidFill>
                  <a:srgbClr val="0000FF"/>
                </a:solidFill>
                <a:latin typeface="Courier New" panose="02070309020205020404" pitchFamily="49" charset="0"/>
                <a:cs typeface="Times New Roman" panose="02020603050405020304" pitchFamily="18" charset="0"/>
              </a:rPr>
              <a:t>exp</a:t>
            </a:r>
            <a:r>
              <a:rPr lang="en-US" altLang="zh-CN" dirty="0">
                <a:solidFill>
                  <a:srgbClr val="0000FF"/>
                </a:solidFill>
                <a:latin typeface="Courier New" panose="02070309020205020404" pitchFamily="49" charset="0"/>
                <a:cs typeface="Times New Roman" panose="02020603050405020304" pitchFamily="18" charset="0"/>
              </a:rPr>
              <a:t>(x2)]</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0,               1]</a:t>
            </a:r>
            <a:endParaRPr lang="zh-CN" altLang="zh-CN" dirty="0">
              <a:latin typeface="Courier New" panose="02070309020205020404" pitchFamily="49" charset="0"/>
              <a:cs typeface="Times New Roman" panose="02020603050405020304" pitchFamily="18" charset="0"/>
            </a:endParaRPr>
          </a:p>
          <a:p>
            <a:r>
              <a:rPr lang="en-US" altLang="zh-CN" dirty="0">
                <a:solidFill>
                  <a:srgbClr val="0000FF"/>
                </a:solidFill>
                <a:latin typeface="Courier New" panose="02070309020205020404" pitchFamily="49" charset="0"/>
                <a:cs typeface="Times New Roman" panose="02020603050405020304" pitchFamily="18" charset="0"/>
              </a:rPr>
              <a:t>[ -sin(x1)*sin(x2), cos(x1)*cos(x2)] </a:t>
            </a:r>
            <a:endParaRPr lang="en-US" altLang="zh-CN" dirty="0">
              <a:solidFill>
                <a:srgbClr val="0000FF"/>
              </a:solidFill>
              <a:latin typeface="Courier New" panose="02070309020205020404" pitchFamily="49" charset="0"/>
              <a:cs typeface="Times New Roman" panose="02020603050405020304" pitchFamily="18" charset="0"/>
            </a:endParaRPr>
          </a:p>
          <a:p>
            <a:endParaRPr lang="en-US" altLang="zh-CN" dirty="0">
              <a:solidFill>
                <a:srgbClr val="0000FF"/>
              </a:solidFill>
              <a:latin typeface="Courier New" panose="02070309020205020404" pitchFamily="49" charset="0"/>
              <a:cs typeface="Times New Roman" panose="02020603050405020304" pitchFamily="18" charset="0"/>
            </a:endParaRPr>
          </a:p>
          <a:p>
            <a:r>
              <a:rPr lang="en-US" altLang="zh-CN" b="1" dirty="0">
                <a:solidFill>
                  <a:srgbClr val="008000"/>
                </a:solidFill>
                <a:latin typeface="Courier New" panose="02070309020205020404" pitchFamily="49" charset="0"/>
                <a:cs typeface="Times New Roman" panose="02020603050405020304" pitchFamily="18" charset="0"/>
              </a:rPr>
              <a:t>f=[x1*</a:t>
            </a:r>
            <a:r>
              <a:rPr lang="en-US" altLang="zh-CN" b="1" dirty="0" err="1">
                <a:solidFill>
                  <a:srgbClr val="008000"/>
                </a:solidFill>
                <a:latin typeface="Courier New" panose="02070309020205020404" pitchFamily="49" charset="0"/>
                <a:cs typeface="Times New Roman" panose="02020603050405020304" pitchFamily="18" charset="0"/>
              </a:rPr>
              <a:t>exp</a:t>
            </a:r>
            <a:r>
              <a:rPr lang="en-US" altLang="zh-CN" b="1" dirty="0">
                <a:solidFill>
                  <a:srgbClr val="008000"/>
                </a:solidFill>
                <a:latin typeface="Courier New" panose="02070309020205020404" pitchFamily="49" charset="0"/>
                <a:cs typeface="Times New Roman" panose="02020603050405020304" pitchFamily="18" charset="0"/>
              </a:rPr>
              <a:t>(x2);x2];	%</a:t>
            </a:r>
            <a:r>
              <a:rPr lang="zh-CN" altLang="en-US" b="1" dirty="0">
                <a:solidFill>
                  <a:srgbClr val="FF0000"/>
                </a:solidFill>
                <a:latin typeface="Courier New" panose="02070309020205020404" pitchFamily="49" charset="0"/>
                <a:cs typeface="Times New Roman" panose="02020603050405020304" pitchFamily="18" charset="0"/>
              </a:rPr>
              <a:t>向量</a:t>
            </a:r>
            <a:r>
              <a:rPr lang="en-US" altLang="zh-CN" b="1" dirty="0">
                <a:solidFill>
                  <a:srgbClr val="FF0000"/>
                </a:solidFill>
                <a:latin typeface="Courier New" panose="02070309020205020404" pitchFamily="49" charset="0"/>
                <a:cs typeface="Times New Roman" panose="02020603050405020304" pitchFamily="18" charset="0"/>
              </a:rPr>
              <a:t>f</a:t>
            </a:r>
            <a:r>
              <a:rPr lang="zh-CN" altLang="en-US" b="1" dirty="0">
                <a:solidFill>
                  <a:srgbClr val="FF0000"/>
                </a:solidFill>
                <a:latin typeface="Courier New" panose="02070309020205020404" pitchFamily="49" charset="0"/>
                <a:cs typeface="Times New Roman" panose="02020603050405020304" pitchFamily="18" charset="0"/>
              </a:rPr>
              <a:t>改为长度为</a:t>
            </a:r>
            <a:r>
              <a:rPr lang="en-US" altLang="zh-CN" b="1" dirty="0">
                <a:solidFill>
                  <a:srgbClr val="FF0000"/>
                </a:solidFill>
                <a:latin typeface="Courier New" panose="02070309020205020404" pitchFamily="49" charset="0"/>
                <a:cs typeface="Times New Roman" panose="02020603050405020304" pitchFamily="18" charset="0"/>
              </a:rPr>
              <a:t>2</a:t>
            </a:r>
            <a:r>
              <a:rPr lang="zh-CN" altLang="en-US" b="1" dirty="0">
                <a:solidFill>
                  <a:srgbClr val="FF0000"/>
                </a:solidFill>
                <a:latin typeface="Courier New" panose="02070309020205020404" pitchFamily="49" charset="0"/>
                <a:cs typeface="Times New Roman" panose="02020603050405020304" pitchFamily="18" charset="0"/>
              </a:rPr>
              <a:t>的列向量</a:t>
            </a:r>
            <a:endParaRPr lang="en-US" altLang="zh-CN" b="1" dirty="0">
              <a:solidFill>
                <a:srgbClr val="FF0000"/>
              </a:solidFill>
              <a:latin typeface="Courier New" panose="02070309020205020404" pitchFamily="49" charset="0"/>
              <a:cs typeface="Times New Roman" panose="02020603050405020304" pitchFamily="18" charset="0"/>
            </a:endParaRPr>
          </a:p>
          <a:p>
            <a:r>
              <a:rPr lang="en-US" altLang="zh-CN" b="1" dirty="0" err="1">
                <a:solidFill>
                  <a:srgbClr val="008000"/>
                </a:solidFill>
                <a:latin typeface="Courier New" panose="02070309020205020404" pitchFamily="49" charset="0"/>
                <a:cs typeface="Times New Roman" panose="02020603050405020304" pitchFamily="18" charset="0"/>
              </a:rPr>
              <a:t>Jf</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jacobian</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f,v</a:t>
            </a: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b="1" dirty="0" err="1">
                <a:solidFill>
                  <a:srgbClr val="FF0000"/>
                </a:solidFill>
                <a:latin typeface="Courier New" panose="02070309020205020404" pitchFamily="49" charset="0"/>
                <a:cs typeface="Times New Roman" panose="02020603050405020304" pitchFamily="18" charset="0"/>
              </a:rPr>
              <a:t>Jf</a:t>
            </a:r>
            <a:r>
              <a:rPr lang="zh-CN" altLang="en-US" b="1" dirty="0">
                <a:solidFill>
                  <a:srgbClr val="FF0000"/>
                </a:solidFill>
                <a:latin typeface="Courier New" panose="02070309020205020404" pitchFamily="49" charset="0"/>
                <a:cs typeface="Times New Roman" panose="02020603050405020304" pitchFamily="18" charset="0"/>
              </a:rPr>
              <a:t>变成了</a:t>
            </a:r>
            <a:r>
              <a:rPr lang="en-US" altLang="zh-CN" b="1" dirty="0">
                <a:solidFill>
                  <a:srgbClr val="FF0000"/>
                </a:solidFill>
                <a:latin typeface="Courier New" panose="02070309020205020404" pitchFamily="49" charset="0"/>
                <a:cs typeface="Times New Roman" panose="02020603050405020304" pitchFamily="18" charset="0"/>
              </a:rPr>
              <a:t>2X2</a:t>
            </a:r>
            <a:r>
              <a:rPr lang="zh-CN" altLang="en-US" b="1" dirty="0">
                <a:solidFill>
                  <a:srgbClr val="FF0000"/>
                </a:solidFill>
                <a:latin typeface="Courier New" panose="02070309020205020404" pitchFamily="49" charset="0"/>
                <a:cs typeface="Times New Roman" panose="02020603050405020304" pitchFamily="18" charset="0"/>
              </a:rPr>
              <a:t>的矩阵，这里加分号不显示</a:t>
            </a:r>
            <a:endParaRPr lang="en-US" altLang="zh-CN" b="1" dirty="0">
              <a:solidFill>
                <a:srgbClr val="FF0000"/>
              </a:solidFill>
              <a:latin typeface="Courier New" panose="02070309020205020404" pitchFamily="49" charset="0"/>
              <a:cs typeface="Times New Roman" panose="02020603050405020304" pitchFamily="18" charset="0"/>
            </a:endParaRPr>
          </a:p>
          <a:p>
            <a:r>
              <a:rPr lang="en-US" altLang="zh-CN" b="1" dirty="0" err="1">
                <a:solidFill>
                  <a:srgbClr val="008000"/>
                </a:solidFill>
                <a:latin typeface="Courier New" panose="02070309020205020404" pitchFamily="49" charset="0"/>
                <a:cs typeface="Times New Roman" panose="02020603050405020304" pitchFamily="18" charset="0"/>
              </a:rPr>
              <a:t>det</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Jf</a:t>
            </a:r>
            <a:r>
              <a:rPr lang="en-US" altLang="zh-CN" b="1" dirty="0">
                <a:solidFill>
                  <a:srgbClr val="008000"/>
                </a:solidFill>
                <a:latin typeface="Courier New" panose="02070309020205020404" pitchFamily="49" charset="0"/>
                <a:cs typeface="Times New Roman" panose="02020603050405020304" pitchFamily="18" charset="0"/>
              </a:rPr>
              <a:t>)</a:t>
            </a:r>
            <a:endParaRPr lang="zh-CN" altLang="zh-CN" dirty="0">
              <a:latin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ans</a:t>
            </a: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exp(x2)     %</a:t>
            </a:r>
            <a:r>
              <a:rPr lang="en-US" altLang="zh-CN" b="1" dirty="0">
                <a:solidFill>
                  <a:srgbClr val="FF0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了解一下有关的</a:t>
            </a:r>
            <a:r>
              <a:rPr lang="en-US" altLang="zh-CN" b="1" dirty="0" err="1">
                <a:solidFill>
                  <a:srgbClr val="FF0000"/>
                </a:solidFill>
                <a:latin typeface="Courier New" panose="02070309020205020404" pitchFamily="49" charset="0"/>
                <a:cs typeface="Times New Roman" panose="02020603050405020304" pitchFamily="18" charset="0"/>
              </a:rPr>
              <a:t>hession</a:t>
            </a:r>
            <a:r>
              <a:rPr lang="zh-CN" altLang="en-US" b="1" dirty="0">
                <a:solidFill>
                  <a:srgbClr val="FF0000"/>
                </a:solidFill>
                <a:latin typeface="Courier New" panose="02070309020205020404" pitchFamily="49" charset="0"/>
                <a:cs typeface="Times New Roman" panose="02020603050405020304" pitchFamily="18" charset="0"/>
              </a:rPr>
              <a:t>矩阵 函数</a:t>
            </a:r>
            <a:r>
              <a:rPr lang="en-US" altLang="zh-CN" b="1" dirty="0">
                <a:solidFill>
                  <a:srgbClr val="FF0000"/>
                </a:solidFill>
                <a:latin typeface="Courier New" panose="02070309020205020404" pitchFamily="49" charset="0"/>
                <a:cs typeface="Times New Roman" panose="02020603050405020304" pitchFamily="18" charset="0"/>
              </a:rPr>
              <a:t>hessian(</a:t>
            </a:r>
            <a:r>
              <a:rPr lang="en-US" altLang="zh-CN" b="1" dirty="0" err="1">
                <a:solidFill>
                  <a:srgbClr val="FF0000"/>
                </a:solidFill>
                <a:latin typeface="Courier New" panose="02070309020205020404" pitchFamily="49" charset="0"/>
                <a:cs typeface="Times New Roman" panose="02020603050405020304" pitchFamily="18" charset="0"/>
              </a:rPr>
              <a:t>f,v</a:t>
            </a:r>
            <a:r>
              <a:rPr lang="en-US" altLang="zh-CN" b="1" dirty="0">
                <a:solidFill>
                  <a:srgbClr val="FF0000"/>
                </a:solidFill>
                <a:latin typeface="Courier New" panose="02070309020205020404" pitchFamily="49" charset="0"/>
                <a:cs typeface="Times New Roman" panose="02020603050405020304" pitchFamily="18" charset="0"/>
              </a:rPr>
              <a:t>)</a:t>
            </a:r>
            <a:endParaRPr lang="en-US" altLang="zh-CN" dirty="0">
              <a:solidFill>
                <a:srgbClr val="0000FF"/>
              </a:solidFill>
              <a:latin typeface="Courier New" panose="02070309020205020404" pitchFamily="49"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文本框 2"/>
              <p:cNvSpPr txBox="1"/>
              <p:nvPr/>
            </p:nvSpPr>
            <p:spPr>
              <a:xfrm>
                <a:off x="467544" y="956008"/>
                <a:ext cx="8208912" cy="148502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a:t>
                </a:r>
                <a:r>
                  <a:rPr lang="zh-CN" altLang="en-US" b="1" dirty="0">
                    <a:solidFill>
                      <a:prstClr val="black"/>
                    </a:solidFill>
                    <a:latin typeface="+mn-ea"/>
                  </a:rPr>
                  <a:t>求</a:t>
                </a:r>
                <a14:m>
                  <m:oMath xmlns:m="http://schemas.openxmlformats.org/officeDocument/2006/math">
                    <m:r>
                      <a:rPr lang="en-US" altLang="zh-CN" b="1" i="1" smtClean="0">
                        <a:solidFill>
                          <a:prstClr val="black"/>
                        </a:solidFill>
                        <a:latin typeface="Cambria Math" panose="02040503050406030204" pitchFamily="18" charset="0"/>
                      </a:rPr>
                      <m:t>𝒇</m:t>
                    </m:r>
                    <m:r>
                      <a:rPr lang="en-US" altLang="zh-CN" b="1" i="1" smtClean="0">
                        <a:solidFill>
                          <a:prstClr val="black"/>
                        </a:solidFill>
                        <a:latin typeface="Cambria Math" panose="02040503050406030204" pitchFamily="18" charset="0"/>
                      </a:rPr>
                      <m:t>(</m:t>
                    </m:r>
                    <m:sSub>
                      <m:sSubPr>
                        <m:ctrlPr>
                          <a:rPr lang="en-US" altLang="zh-CN" b="1" i="1" smtClean="0">
                            <a:solidFill>
                              <a:prstClr val="black"/>
                            </a:solidFill>
                            <a:latin typeface="Cambria Math" panose="02040503050406030204" pitchFamily="18" charset="0"/>
                          </a:rPr>
                        </m:ctrlPr>
                      </m:sSubPr>
                      <m:e>
                        <m:r>
                          <a:rPr lang="en-US" altLang="zh-CN" b="1" i="1" smtClean="0">
                            <a:solidFill>
                              <a:prstClr val="black"/>
                            </a:solidFill>
                            <a:latin typeface="Cambria Math" panose="02040503050406030204" pitchFamily="18" charset="0"/>
                          </a:rPr>
                          <m:t>𝒙</m:t>
                        </m:r>
                      </m:e>
                      <m:sub>
                        <m:r>
                          <a:rPr lang="en-US" altLang="zh-CN" b="1" i="1" smtClean="0">
                            <a:solidFill>
                              <a:prstClr val="black"/>
                            </a:solidFill>
                            <a:latin typeface="Cambria Math" panose="02040503050406030204" pitchFamily="18" charset="0"/>
                          </a:rPr>
                          <m:t>𝟏</m:t>
                        </m:r>
                      </m:sub>
                    </m:sSub>
                    <m:r>
                      <a:rPr lang="en-US" altLang="zh-CN" b="1" i="1" smtClean="0">
                        <a:solidFill>
                          <a:prstClr val="black"/>
                        </a:solidFill>
                        <a:latin typeface="Cambria Math" panose="02040503050406030204" pitchFamily="18" charset="0"/>
                      </a:rPr>
                      <m:t>,</m:t>
                    </m:r>
                    <m:sSub>
                      <m:sSubPr>
                        <m:ctrlPr>
                          <a:rPr lang="en-US" altLang="zh-CN" b="1" i="1" smtClean="0">
                            <a:solidFill>
                              <a:prstClr val="black"/>
                            </a:solidFill>
                            <a:latin typeface="Cambria Math" panose="02040503050406030204" pitchFamily="18" charset="0"/>
                          </a:rPr>
                        </m:ctrlPr>
                      </m:sSubPr>
                      <m:e>
                        <m:r>
                          <a:rPr lang="en-US" altLang="zh-CN" b="1" i="1" smtClean="0">
                            <a:solidFill>
                              <a:prstClr val="black"/>
                            </a:solidFill>
                            <a:latin typeface="Cambria Math" panose="02040503050406030204" pitchFamily="18" charset="0"/>
                          </a:rPr>
                          <m:t>𝒙</m:t>
                        </m:r>
                      </m:e>
                      <m:sub>
                        <m:r>
                          <a:rPr lang="en-US" altLang="zh-CN" b="1" i="1" smtClean="0">
                            <a:solidFill>
                              <a:prstClr val="black"/>
                            </a:solidFill>
                            <a:latin typeface="Cambria Math" panose="02040503050406030204" pitchFamily="18" charset="0"/>
                          </a:rPr>
                          <m:t>𝟐</m:t>
                        </m:r>
                      </m:sub>
                    </m:sSub>
                    <m:r>
                      <a:rPr lang="en-US" altLang="zh-CN" b="1" i="1" smtClean="0">
                        <a:solidFill>
                          <a:prstClr val="black"/>
                        </a:solidFill>
                        <a:latin typeface="Cambria Math" panose="02040503050406030204" pitchFamily="18" charset="0"/>
                      </a:rPr>
                      <m:t>)=</m:t>
                    </m:r>
                    <m:d>
                      <m:dPr>
                        <m:begChr m:val="["/>
                        <m:endChr m:val="]"/>
                        <m:ctrlPr>
                          <a:rPr lang="en-US" altLang="zh-CN" b="1" i="1" smtClean="0">
                            <a:solidFill>
                              <a:prstClr val="black"/>
                            </a:solidFill>
                            <a:latin typeface="Cambria Math" panose="02040503050406030204" pitchFamily="18" charset="0"/>
                          </a:rPr>
                        </m:ctrlPr>
                      </m:dPr>
                      <m:e>
                        <m:m>
                          <m:mPr>
                            <m:mcs>
                              <m:mc>
                                <m:mcPr>
                                  <m:count m:val="1"/>
                                  <m:mcJc m:val="center"/>
                                </m:mcPr>
                              </m:mc>
                            </m:mcs>
                            <m:ctrlPr>
                              <a:rPr lang="en-US" altLang="zh-CN" b="1" i="1" smtClean="0">
                                <a:solidFill>
                                  <a:prstClr val="black"/>
                                </a:solidFill>
                                <a:latin typeface="Cambria Math" panose="02040503050406030204" pitchFamily="18" charset="0"/>
                              </a:rPr>
                            </m:ctrlPr>
                          </m:mPr>
                          <m:mr>
                            <m:e>
                              <m:sSub>
                                <m:sSubPr>
                                  <m:ctrlPr>
                                    <a:rPr lang="en-US" altLang="zh-CN" b="1" i="1" smtClean="0">
                                      <a:solidFill>
                                        <a:prstClr val="black"/>
                                      </a:solidFill>
                                      <a:latin typeface="Cambria Math" panose="02040503050406030204" pitchFamily="18" charset="0"/>
                                    </a:rPr>
                                  </m:ctrlPr>
                                </m:sSubPr>
                                <m:e>
                                  <m:r>
                                    <m:rPr>
                                      <m:brk m:alnAt="7"/>
                                    </m:rPr>
                                    <a:rPr lang="en-US" altLang="zh-CN" b="1" i="1" smtClean="0">
                                      <a:solidFill>
                                        <a:prstClr val="black"/>
                                      </a:solidFill>
                                      <a:latin typeface="Cambria Math" panose="02040503050406030204" pitchFamily="18" charset="0"/>
                                    </a:rPr>
                                    <m:t>𝒙</m:t>
                                  </m:r>
                                </m:e>
                                <m:sub>
                                  <m:r>
                                    <m:rPr>
                                      <m:brk m:alnAt="7"/>
                                    </m:rPr>
                                    <a:rPr lang="en-US" altLang="zh-CN" b="1" i="1" smtClean="0">
                                      <a:solidFill>
                                        <a:prstClr val="black"/>
                                      </a:solidFill>
                                      <a:latin typeface="Cambria Math" panose="02040503050406030204" pitchFamily="18" charset="0"/>
                                    </a:rPr>
                                    <m:t>𝟏</m:t>
                                  </m:r>
                                </m:sub>
                              </m:sSub>
                              <m:sSup>
                                <m:sSupPr>
                                  <m:ctrlPr>
                                    <a:rPr lang="en-US" altLang="zh-CN" b="1" i="1" smtClean="0">
                                      <a:solidFill>
                                        <a:prstClr val="black"/>
                                      </a:solidFill>
                                      <a:latin typeface="Cambria Math" panose="02040503050406030204" pitchFamily="18" charset="0"/>
                                    </a:rPr>
                                  </m:ctrlPr>
                                </m:sSupPr>
                                <m:e>
                                  <m:r>
                                    <m:rPr>
                                      <m:brk m:alnAt="7"/>
                                    </m:rPr>
                                    <a:rPr lang="en-US" altLang="zh-CN" b="1" i="0" smtClean="0">
                                      <a:solidFill>
                                        <a:prstClr val="black"/>
                                      </a:solidFill>
                                      <a:latin typeface="Cambria Math" panose="02040503050406030204" pitchFamily="18" charset="0"/>
                                    </a:rPr>
                                    <m:t>𝐞</m:t>
                                  </m:r>
                                </m:e>
                                <m:sup>
                                  <m:sSub>
                                    <m:sSubPr>
                                      <m:ctrlPr>
                                        <a:rPr lang="en-US" altLang="zh-CN" b="1" i="1" smtClean="0">
                                          <a:solidFill>
                                            <a:prstClr val="black"/>
                                          </a:solidFill>
                                          <a:latin typeface="Cambria Math" panose="02040503050406030204" pitchFamily="18" charset="0"/>
                                        </a:rPr>
                                      </m:ctrlPr>
                                    </m:sSubPr>
                                    <m:e>
                                      <m:r>
                                        <m:rPr>
                                          <m:brk m:alnAt="7"/>
                                        </m:rPr>
                                        <a:rPr lang="en-US" altLang="zh-CN" b="1" i="1" smtClean="0">
                                          <a:solidFill>
                                            <a:prstClr val="black"/>
                                          </a:solidFill>
                                          <a:latin typeface="Cambria Math" panose="02040503050406030204" pitchFamily="18" charset="0"/>
                                        </a:rPr>
                                        <m:t>𝒙</m:t>
                                      </m:r>
                                    </m:e>
                                    <m:sub>
                                      <m:r>
                                        <m:rPr>
                                          <m:brk m:alnAt="7"/>
                                        </m:rPr>
                                        <a:rPr lang="en-US" altLang="zh-CN" b="1" i="1" smtClean="0">
                                          <a:solidFill>
                                            <a:prstClr val="black"/>
                                          </a:solidFill>
                                          <a:latin typeface="Cambria Math" panose="02040503050406030204" pitchFamily="18" charset="0"/>
                                        </a:rPr>
                                        <m:t>𝟐</m:t>
                                      </m:r>
                                    </m:sub>
                                  </m:sSub>
                                </m:sup>
                              </m:sSup>
                            </m:e>
                          </m:mr>
                          <m:mr>
                            <m:e>
                              <m:sSub>
                                <m:sSubPr>
                                  <m:ctrlPr>
                                    <a:rPr lang="en-US" altLang="zh-CN" b="1" i="1" smtClean="0">
                                      <a:solidFill>
                                        <a:prstClr val="black"/>
                                      </a:solidFill>
                                      <a:latin typeface="Cambria Math" panose="02040503050406030204" pitchFamily="18" charset="0"/>
                                    </a:rPr>
                                  </m:ctrlPr>
                                </m:sSubPr>
                                <m:e>
                                  <m:r>
                                    <a:rPr lang="en-US" altLang="zh-CN" b="1" i="1" smtClean="0">
                                      <a:solidFill>
                                        <a:prstClr val="black"/>
                                      </a:solidFill>
                                      <a:latin typeface="Cambria Math" panose="02040503050406030204" pitchFamily="18" charset="0"/>
                                    </a:rPr>
                                    <m:t>𝒙</m:t>
                                  </m:r>
                                </m:e>
                                <m:sub>
                                  <m:r>
                                    <a:rPr lang="en-US" altLang="zh-CN" b="1" i="1" smtClean="0">
                                      <a:solidFill>
                                        <a:prstClr val="black"/>
                                      </a:solidFill>
                                      <a:latin typeface="Cambria Math" panose="02040503050406030204" pitchFamily="18" charset="0"/>
                                    </a:rPr>
                                    <m:t>𝟐</m:t>
                                  </m:r>
                                </m:sub>
                              </m:sSub>
                            </m:e>
                          </m:mr>
                          <m:mr>
                            <m:e>
                              <m:func>
                                <m:funcPr>
                                  <m:ctrlPr>
                                    <a:rPr lang="en-US" altLang="zh-CN" b="1" i="1" smtClean="0">
                                      <a:solidFill>
                                        <a:prstClr val="black"/>
                                      </a:solidFill>
                                      <a:latin typeface="Cambria Math" panose="02040503050406030204" pitchFamily="18" charset="0"/>
                                    </a:rPr>
                                  </m:ctrlPr>
                                </m:funcPr>
                                <m:fName>
                                  <m:r>
                                    <m:rPr>
                                      <m:sty m:val="p"/>
                                    </m:rPr>
                                    <a:rPr lang="en-US" altLang="zh-CN" b="0" i="0" smtClean="0">
                                      <a:solidFill>
                                        <a:prstClr val="black"/>
                                      </a:solidFill>
                                      <a:latin typeface="Cambria Math" panose="02040503050406030204" pitchFamily="18" charset="0"/>
                                    </a:rPr>
                                    <m:t>cos</m:t>
                                  </m:r>
                                </m:fName>
                                <m:e>
                                  <m:sSub>
                                    <m:sSubPr>
                                      <m:ctrlPr>
                                        <a:rPr lang="en-US" altLang="zh-CN" b="1" i="1" smtClean="0">
                                          <a:solidFill>
                                            <a:prstClr val="black"/>
                                          </a:solidFill>
                                          <a:latin typeface="Cambria Math" panose="02040503050406030204" pitchFamily="18" charset="0"/>
                                        </a:rPr>
                                      </m:ctrlPr>
                                    </m:sSubPr>
                                    <m:e>
                                      <m:r>
                                        <a:rPr lang="en-US" altLang="zh-CN" b="1" i="1" smtClean="0">
                                          <a:solidFill>
                                            <a:prstClr val="black"/>
                                          </a:solidFill>
                                          <a:latin typeface="Cambria Math" panose="02040503050406030204" pitchFamily="18" charset="0"/>
                                        </a:rPr>
                                        <m:t>𝒙</m:t>
                                      </m:r>
                                    </m:e>
                                    <m:sub>
                                      <m:r>
                                        <a:rPr lang="en-US" altLang="zh-CN" b="1" i="1" smtClean="0">
                                          <a:solidFill>
                                            <a:prstClr val="black"/>
                                          </a:solidFill>
                                          <a:latin typeface="Cambria Math" panose="02040503050406030204" pitchFamily="18" charset="0"/>
                                        </a:rPr>
                                        <m:t>𝟏</m:t>
                                      </m:r>
                                    </m:sub>
                                  </m:sSub>
                                </m:e>
                              </m:func>
                              <m:func>
                                <m:funcPr>
                                  <m:ctrlPr>
                                    <a:rPr lang="en-US" altLang="zh-CN" b="1" i="1" smtClean="0">
                                      <a:solidFill>
                                        <a:prstClr val="black"/>
                                      </a:solidFill>
                                      <a:latin typeface="Cambria Math" panose="02040503050406030204" pitchFamily="18" charset="0"/>
                                    </a:rPr>
                                  </m:ctrlPr>
                                </m:funcPr>
                                <m:fName>
                                  <m:r>
                                    <m:rPr>
                                      <m:sty m:val="p"/>
                                    </m:rPr>
                                    <a:rPr lang="en-US" altLang="zh-CN" b="0" i="0" smtClean="0">
                                      <a:solidFill>
                                        <a:prstClr val="black"/>
                                      </a:solidFill>
                                      <a:latin typeface="Cambria Math" panose="02040503050406030204" pitchFamily="18" charset="0"/>
                                    </a:rPr>
                                    <m:t>sin</m:t>
                                  </m:r>
                                </m:fName>
                                <m:e>
                                  <m:sSub>
                                    <m:sSubPr>
                                      <m:ctrlPr>
                                        <a:rPr lang="en-US" altLang="zh-CN" b="1" i="1" smtClean="0">
                                          <a:solidFill>
                                            <a:prstClr val="black"/>
                                          </a:solidFill>
                                          <a:latin typeface="Cambria Math" panose="02040503050406030204" pitchFamily="18" charset="0"/>
                                        </a:rPr>
                                      </m:ctrlPr>
                                    </m:sSubPr>
                                    <m:e>
                                      <m:r>
                                        <a:rPr lang="en-US" altLang="zh-CN" b="1" i="1" smtClean="0">
                                          <a:solidFill>
                                            <a:prstClr val="black"/>
                                          </a:solidFill>
                                          <a:latin typeface="Cambria Math" panose="02040503050406030204" pitchFamily="18" charset="0"/>
                                        </a:rPr>
                                        <m:t>𝒙</m:t>
                                      </m:r>
                                    </m:e>
                                    <m:sub>
                                      <m:r>
                                        <a:rPr lang="en-US" altLang="zh-CN" b="1" i="1" smtClean="0">
                                          <a:solidFill>
                                            <a:prstClr val="black"/>
                                          </a:solidFill>
                                          <a:latin typeface="Cambria Math" panose="02040503050406030204" pitchFamily="18" charset="0"/>
                                        </a:rPr>
                                        <m:t>𝟐</m:t>
                                      </m:r>
                                    </m:sub>
                                  </m:sSub>
                                </m:e>
                              </m:func>
                            </m:e>
                          </m:mr>
                        </m:m>
                      </m:e>
                    </m:d>
                  </m:oMath>
                </a14:m>
                <a:r>
                  <a:rPr lang="zh-CN" altLang="en-US" b="1" dirty="0">
                    <a:latin typeface="+mn-ea"/>
                  </a:rPr>
                  <a:t>的</a:t>
                </a:r>
                <a:r>
                  <a:rPr lang="en-US" altLang="zh-CN" b="1" dirty="0">
                    <a:latin typeface="+mn-ea"/>
                  </a:rPr>
                  <a:t>Jacobian</a:t>
                </a:r>
                <a:r>
                  <a:rPr lang="zh-CN" altLang="en-US" b="1" dirty="0">
                    <a:latin typeface="+mn-ea"/>
                  </a:rPr>
                  <a:t>矩阵</a:t>
                </a:r>
                <a14:m>
                  <m:oMath xmlns:m="http://schemas.openxmlformats.org/officeDocument/2006/math">
                    <m:d>
                      <m:dPr>
                        <m:begChr m:val="["/>
                        <m:endChr m:val="]"/>
                        <m:ctrlPr>
                          <a:rPr lang="en-US" altLang="zh-CN" b="1" i="1" smtClean="0">
                            <a:latin typeface="Cambria Math" panose="02040503050406030204" pitchFamily="18" charset="0"/>
                          </a:rPr>
                        </m:ctrlPr>
                      </m:dPr>
                      <m:e>
                        <m:m>
                          <m:mPr>
                            <m:mcs>
                              <m:mc>
                                <m:mcPr>
                                  <m:count m:val="2"/>
                                  <m:mcJc m:val="center"/>
                                </m:mcPr>
                              </m:mc>
                            </m:mcs>
                            <m:ctrlPr>
                              <a:rPr lang="en-US" altLang="zh-CN" b="1" i="1" smtClean="0">
                                <a:latin typeface="Cambria Math" panose="02040503050406030204" pitchFamily="18" charset="0"/>
                              </a:rPr>
                            </m:ctrlPr>
                          </m:mPr>
                          <m:mr>
                            <m:e>
                              <m:f>
                                <m:fPr>
                                  <m:ctrlPr>
                                    <a:rPr lang="en-US" altLang="zh-CN" b="1" i="1" smtClean="0">
                                      <a:latin typeface="Cambria Math" panose="02040503050406030204" pitchFamily="18" charset="0"/>
                                    </a:rPr>
                                  </m:ctrlPr>
                                </m:fPr>
                                <m:num>
                                  <m:r>
                                    <m:rPr>
                                      <m:brk m:alnAt="7"/>
                                    </m:rP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m:rPr>
                                          <m:brk m:alnAt="7"/>
                                        </m:rPr>
                                        <a:rPr lang="en-US" altLang="zh-CN" b="1" i="1" smtClean="0">
                                          <a:latin typeface="Cambria Math" panose="02040503050406030204" pitchFamily="18" charset="0"/>
                                        </a:rPr>
                                        <m:t>𝒇</m:t>
                                      </m:r>
                                    </m:e>
                                    <m:sub>
                                      <m:r>
                                        <m:rPr>
                                          <m:brk m:alnAt="7"/>
                                        </m:rPr>
                                        <a:rPr lang="en-US" altLang="zh-CN" b="1" i="1" smtClean="0">
                                          <a:latin typeface="Cambria Math" panose="02040503050406030204" pitchFamily="18" charset="0"/>
                                        </a:rPr>
                                        <m:t>𝟏</m:t>
                                      </m:r>
                                    </m:sub>
                                  </m:sSub>
                                </m:num>
                                <m:den>
                                  <m:r>
                                    <m:rPr>
                                      <m:brk m:alnAt="7"/>
                                    </m:rP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m:rPr>
                                          <m:brk m:alnAt="7"/>
                                        </m:rPr>
                                        <a:rPr lang="en-US" altLang="zh-CN" b="1" i="1" smtClean="0">
                                          <a:latin typeface="Cambria Math" panose="02040503050406030204" pitchFamily="18" charset="0"/>
                                        </a:rPr>
                                        <m:t>𝒙</m:t>
                                      </m:r>
                                    </m:e>
                                    <m:sub>
                                      <m:r>
                                        <m:rPr>
                                          <m:brk m:alnAt="7"/>
                                        </m:rPr>
                                        <a:rPr lang="en-US" altLang="zh-CN" b="1" i="1" smtClean="0">
                                          <a:latin typeface="Cambria Math" panose="02040503050406030204" pitchFamily="18" charset="0"/>
                                        </a:rPr>
                                        <m:t>𝟏</m:t>
                                      </m:r>
                                    </m:sub>
                                  </m:sSub>
                                </m:den>
                              </m:f>
                            </m:e>
                            <m:e>
                              <m:f>
                                <m:fPr>
                                  <m:ctrlPr>
                                    <a:rPr lang="en-US" altLang="zh-CN" b="1" i="1">
                                      <a:latin typeface="Cambria Math" panose="02040503050406030204" pitchFamily="18" charset="0"/>
                                    </a:rPr>
                                  </m:ctrlPr>
                                </m:fPr>
                                <m:num>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𝒇</m:t>
                                      </m:r>
                                    </m:e>
                                    <m:sub>
                                      <m:r>
                                        <m:rPr>
                                          <m:brk m:alnAt="7"/>
                                        </m:rPr>
                                        <a:rPr lang="en-US" altLang="zh-CN" b="1" i="1">
                                          <a:latin typeface="Cambria Math" panose="02040503050406030204" pitchFamily="18" charset="0"/>
                                        </a:rPr>
                                        <m:t>𝟏</m:t>
                                      </m:r>
                                    </m:sub>
                                  </m:sSub>
                                </m:num>
                                <m:den>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𝒙</m:t>
                                      </m:r>
                                    </m:e>
                                    <m:sub>
                                      <m:r>
                                        <a:rPr lang="en-US" altLang="zh-CN" b="1" i="1" smtClean="0">
                                          <a:latin typeface="Cambria Math" panose="02040503050406030204" pitchFamily="18" charset="0"/>
                                        </a:rPr>
                                        <m:t>𝟐</m:t>
                                      </m:r>
                                    </m:sub>
                                  </m:sSub>
                                </m:den>
                              </m:f>
                            </m:e>
                          </m:mr>
                          <m:mr>
                            <m:e>
                              <m:f>
                                <m:fPr>
                                  <m:ctrlPr>
                                    <a:rPr lang="en-US" altLang="zh-CN" b="1" i="1">
                                      <a:latin typeface="Cambria Math" panose="02040503050406030204" pitchFamily="18" charset="0"/>
                                    </a:rPr>
                                  </m:ctrlPr>
                                </m:fPr>
                                <m:num>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𝒇</m:t>
                                      </m:r>
                                    </m:e>
                                    <m:sub>
                                      <m:r>
                                        <m:rPr>
                                          <m:brk m:alnAt="7"/>
                                        </m:rPr>
                                        <a:rPr lang="en-US" altLang="zh-CN" b="1" i="1" smtClean="0">
                                          <a:latin typeface="Cambria Math" panose="02040503050406030204" pitchFamily="18" charset="0"/>
                                        </a:rPr>
                                        <m:t>𝟐</m:t>
                                      </m:r>
                                    </m:sub>
                                  </m:sSub>
                                </m:num>
                                <m:den>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𝒙</m:t>
                                      </m:r>
                                    </m:e>
                                    <m:sub>
                                      <m:r>
                                        <m:rPr>
                                          <m:brk m:alnAt="7"/>
                                        </m:rPr>
                                        <a:rPr lang="en-US" altLang="zh-CN" b="1" i="1">
                                          <a:latin typeface="Cambria Math" panose="02040503050406030204" pitchFamily="18" charset="0"/>
                                        </a:rPr>
                                        <m:t>𝟏</m:t>
                                      </m:r>
                                    </m:sub>
                                  </m:sSub>
                                </m:den>
                              </m:f>
                            </m:e>
                            <m:e>
                              <m:f>
                                <m:fPr>
                                  <m:ctrlPr>
                                    <a:rPr lang="en-US" altLang="zh-CN" b="1" i="1">
                                      <a:latin typeface="Cambria Math" panose="02040503050406030204" pitchFamily="18" charset="0"/>
                                    </a:rPr>
                                  </m:ctrlPr>
                                </m:fPr>
                                <m:num>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𝒇</m:t>
                                      </m:r>
                                    </m:e>
                                    <m:sub>
                                      <m:r>
                                        <m:rPr>
                                          <m:brk m:alnAt="7"/>
                                        </m:rPr>
                                        <a:rPr lang="en-US" altLang="zh-CN" b="1" i="1" smtClean="0">
                                          <a:latin typeface="Cambria Math" panose="02040503050406030204" pitchFamily="18" charset="0"/>
                                        </a:rPr>
                                        <m:t>𝟐</m:t>
                                      </m:r>
                                    </m:sub>
                                  </m:sSub>
                                </m:num>
                                <m:den>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𝒙</m:t>
                                      </m:r>
                                    </m:e>
                                    <m:sub>
                                      <m:r>
                                        <a:rPr lang="en-US" altLang="zh-CN" b="1" i="1" smtClean="0">
                                          <a:latin typeface="Cambria Math" panose="02040503050406030204" pitchFamily="18" charset="0"/>
                                        </a:rPr>
                                        <m:t>𝟐</m:t>
                                      </m:r>
                                    </m:sub>
                                  </m:sSub>
                                </m:den>
                              </m:f>
                            </m:e>
                          </m:mr>
                          <m:mr>
                            <m:e>
                              <m:f>
                                <m:fPr>
                                  <m:ctrlPr>
                                    <a:rPr lang="en-US" altLang="zh-CN" b="1" i="1">
                                      <a:latin typeface="Cambria Math" panose="02040503050406030204" pitchFamily="18" charset="0"/>
                                    </a:rPr>
                                  </m:ctrlPr>
                                </m:fPr>
                                <m:num>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𝒇</m:t>
                                      </m:r>
                                    </m:e>
                                    <m:sub>
                                      <m:r>
                                        <m:rPr>
                                          <m:brk m:alnAt="7"/>
                                        </m:rPr>
                                        <a:rPr lang="en-US" altLang="zh-CN" b="1" i="1" smtClean="0">
                                          <a:latin typeface="Cambria Math" panose="02040503050406030204" pitchFamily="18" charset="0"/>
                                        </a:rPr>
                                        <m:t>𝟑</m:t>
                                      </m:r>
                                    </m:sub>
                                  </m:sSub>
                                </m:num>
                                <m:den>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𝒙</m:t>
                                      </m:r>
                                    </m:e>
                                    <m:sub>
                                      <m:r>
                                        <m:rPr>
                                          <m:brk m:alnAt="7"/>
                                        </m:rPr>
                                        <a:rPr lang="en-US" altLang="zh-CN" b="1" i="1">
                                          <a:latin typeface="Cambria Math" panose="02040503050406030204" pitchFamily="18" charset="0"/>
                                        </a:rPr>
                                        <m:t>𝟏</m:t>
                                      </m:r>
                                    </m:sub>
                                  </m:sSub>
                                </m:den>
                              </m:f>
                            </m:e>
                            <m:e>
                              <m:f>
                                <m:fPr>
                                  <m:ctrlPr>
                                    <a:rPr lang="en-US" altLang="zh-CN" b="1" i="1">
                                      <a:latin typeface="Cambria Math" panose="02040503050406030204" pitchFamily="18" charset="0"/>
                                    </a:rPr>
                                  </m:ctrlPr>
                                </m:fPr>
                                <m:num>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𝒇</m:t>
                                      </m:r>
                                    </m:e>
                                    <m:sub>
                                      <m:r>
                                        <a:rPr lang="en-US" altLang="zh-CN" b="1" i="1" smtClean="0">
                                          <a:latin typeface="Cambria Math" panose="02040503050406030204" pitchFamily="18" charset="0"/>
                                        </a:rPr>
                                        <m:t>𝟑</m:t>
                                      </m:r>
                                    </m:sub>
                                  </m:sSub>
                                </m:num>
                                <m:den>
                                  <m:r>
                                    <m:rPr>
                                      <m:brk m:alnAt="7"/>
                                    </m:rP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m:rPr>
                                          <m:brk m:alnAt="7"/>
                                        </m:rPr>
                                        <a:rPr lang="en-US" altLang="zh-CN" b="1" i="1">
                                          <a:latin typeface="Cambria Math" panose="02040503050406030204" pitchFamily="18" charset="0"/>
                                        </a:rPr>
                                        <m:t>𝒙</m:t>
                                      </m:r>
                                    </m:e>
                                    <m:sub>
                                      <m:r>
                                        <a:rPr lang="en-US" altLang="zh-CN" b="1" i="1" smtClean="0">
                                          <a:latin typeface="Cambria Math" panose="02040503050406030204" pitchFamily="18" charset="0"/>
                                        </a:rPr>
                                        <m:t>𝟐</m:t>
                                      </m:r>
                                    </m:sub>
                                  </m:sSub>
                                </m:den>
                              </m:f>
                            </m:e>
                          </m:mr>
                        </m:m>
                      </m:e>
                    </m:d>
                    <m:r>
                      <a:rPr lang="en-US" altLang="zh-CN" b="1" i="1" smtClean="0">
                        <a:latin typeface="Cambria Math" panose="02040503050406030204" pitchFamily="18" charset="0"/>
                      </a:rPr>
                      <m:t> </m:t>
                    </m:r>
                  </m:oMath>
                </a14:m>
                <a:endParaRPr lang="zh-CN" altLang="en-US" b="1" dirty="0">
                  <a:latin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467544" y="956008"/>
                <a:ext cx="8208912" cy="1485022"/>
              </a:xfrm>
              <a:prstGeom prst="rect">
                <a:avLst/>
              </a:prstGeom>
              <a:blipFill rotWithShape="1">
                <a:blip r:embed="rId1"/>
                <a:stretch>
                  <a:fillRect l="-2" t="-22" r="5" b="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140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符号函数求导例题</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mc:AlternateContent xmlns:mc="http://schemas.openxmlformats.org/markup-compatibility/2006">
        <mc:Choice xmlns:a14="http://schemas.microsoft.com/office/drawing/2010/main" Requires="a14">
          <p:sp>
            <p:nvSpPr>
              <p:cNvPr id="14" name="矩形 13"/>
              <p:cNvSpPr/>
              <p:nvPr/>
            </p:nvSpPr>
            <p:spPr>
              <a:xfrm>
                <a:off x="179512" y="3558359"/>
                <a:ext cx="8339199" cy="461665"/>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ea typeface="+mj-ea"/>
                  </a:rPr>
                  <a:t>f(x)</a:t>
                </a:r>
                <a:r>
                  <a:rPr lang="zh-CN" altLang="en-US" sz="2400" b="1" dirty="0">
                    <a:solidFill>
                      <a:prstClr val="black"/>
                    </a:solidFill>
                    <a:latin typeface="+mj-ea"/>
                    <a:ea typeface="+mj-ea"/>
                  </a:rPr>
                  <a:t>在</a:t>
                </a:r>
                <a14:m>
                  <m:oMath xmlns:m="http://schemas.openxmlformats.org/officeDocument/2006/math">
                    <m:r>
                      <a:rPr lang="en-US" altLang="zh-CN" sz="2400" b="1" i="1" smtClean="0">
                        <a:solidFill>
                          <a:prstClr val="black"/>
                        </a:solidFill>
                        <a:latin typeface="Cambria Math" panose="02040503050406030204" pitchFamily="18" charset="0"/>
                        <a:ea typeface="+mj-ea"/>
                      </a:rPr>
                      <m:t>𝒙</m:t>
                    </m:r>
                    <m:r>
                      <a:rPr lang="en-US" altLang="zh-CN" sz="2400" b="1" i="1" smtClean="0">
                        <a:solidFill>
                          <a:prstClr val="black"/>
                        </a:solidFill>
                        <a:latin typeface="Cambria Math" panose="02040503050406030204" pitchFamily="18" charset="0"/>
                        <a:ea typeface="+mj-ea"/>
                      </a:rPr>
                      <m:t>=</m:t>
                    </m:r>
                    <m:r>
                      <a:rPr lang="en-US" altLang="zh-CN" sz="2400" b="1" i="1" smtClean="0">
                        <a:solidFill>
                          <a:prstClr val="black"/>
                        </a:solidFill>
                        <a:latin typeface="Cambria Math" panose="02040503050406030204" pitchFamily="18" charset="0"/>
                        <a:ea typeface="+mj-ea"/>
                      </a:rPr>
                      <m:t>𝟎</m:t>
                    </m:r>
                  </m:oMath>
                </a14:m>
                <a:r>
                  <a:rPr lang="zh-CN" altLang="en-US" sz="2400" b="1" dirty="0">
                    <a:solidFill>
                      <a:prstClr val="black"/>
                    </a:solidFill>
                    <a:latin typeface="+mj-ea"/>
                    <a:ea typeface="+mj-ea"/>
                  </a:rPr>
                  <a:t>处有可能不可导，因此需特别处理</a:t>
                </a:r>
                <a:endParaRPr lang="en-US" altLang="zh-CN" sz="2400" b="1" dirty="0">
                  <a:solidFill>
                    <a:srgbClr val="FF0000"/>
                  </a:solidFill>
                  <a:latin typeface="+mj-ea"/>
                  <a:ea typeface="+mj-ea"/>
                </a:endParaRPr>
              </a:p>
            </p:txBody>
          </p:sp>
        </mc:Choice>
        <mc:Fallback>
          <p:sp>
            <p:nvSpPr>
              <p:cNvPr id="14" name="矩形 13"/>
              <p:cNvSpPr>
                <a:spLocks noRot="1" noChangeAspect="1" noMove="1" noResize="1" noEditPoints="1" noAdjustHandles="1" noChangeArrowheads="1" noChangeShapeType="1" noTextEdit="1"/>
              </p:cNvSpPr>
              <p:nvPr/>
            </p:nvSpPr>
            <p:spPr>
              <a:xfrm>
                <a:off x="179512" y="3558359"/>
                <a:ext cx="8339199" cy="461665"/>
              </a:xfrm>
              <a:prstGeom prst="rect">
                <a:avLst/>
              </a:prstGeom>
              <a:blipFill rotWithShape="1">
                <a:blip r:embed="rId1"/>
                <a:stretch>
                  <a:fillRect l="-5" t="-98" r="2" b="1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251520" y="942038"/>
                <a:ext cx="8208912" cy="369332"/>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a:t>
                </a:r>
                <a:r>
                  <a:rPr lang="zh-CN" altLang="en-US" b="1" dirty="0">
                    <a:solidFill>
                      <a:prstClr val="black"/>
                    </a:solidFill>
                    <a:latin typeface="+mn-ea"/>
                  </a:rPr>
                  <a:t>已知</a:t>
                </a:r>
                <a14:m>
                  <m:oMath xmlns:m="http://schemas.openxmlformats.org/officeDocument/2006/math">
                    <m:r>
                      <a:rPr lang="en-US" altLang="zh-CN" b="1" i="1" smtClean="0">
                        <a:solidFill>
                          <a:prstClr val="black"/>
                        </a:solidFill>
                        <a:latin typeface="Cambria Math" panose="02040503050406030204" pitchFamily="18" charset="0"/>
                      </a:rPr>
                      <m:t>𝒇</m:t>
                    </m:r>
                    <m:r>
                      <a:rPr lang="en-US" altLang="zh-CN" b="1" i="1" smtClean="0">
                        <a:solidFill>
                          <a:prstClr val="black"/>
                        </a:solidFill>
                        <a:latin typeface="Cambria Math" panose="02040503050406030204" pitchFamily="18" charset="0"/>
                      </a:rPr>
                      <m:t>(</m:t>
                    </m:r>
                    <m:r>
                      <a:rPr lang="en-US" altLang="zh-CN" b="1" i="1" smtClean="0">
                        <a:solidFill>
                          <a:prstClr val="black"/>
                        </a:solidFill>
                        <a:latin typeface="Cambria Math" panose="02040503050406030204" pitchFamily="18" charset="0"/>
                      </a:rPr>
                      <m:t>𝒙</m:t>
                    </m:r>
                    <m:r>
                      <a:rPr lang="en-US" altLang="zh-CN" b="1" i="1" smtClean="0">
                        <a:solidFill>
                          <a:prstClr val="black"/>
                        </a:solidFill>
                        <a:latin typeface="Cambria Math" panose="02040503050406030204" pitchFamily="18" charset="0"/>
                      </a:rPr>
                      <m:t>)=</m:t>
                    </m:r>
                    <m:func>
                      <m:funcPr>
                        <m:ctrlPr>
                          <a:rPr lang="en-US" altLang="zh-CN" b="1" i="1" smtClean="0">
                            <a:solidFill>
                              <a:prstClr val="black"/>
                            </a:solidFill>
                            <a:latin typeface="Cambria Math" panose="02040503050406030204" pitchFamily="18" charset="0"/>
                          </a:rPr>
                        </m:ctrlPr>
                      </m:funcPr>
                      <m:fName>
                        <m:r>
                          <m:rPr>
                            <m:sty m:val="p"/>
                          </m:rPr>
                          <a:rPr lang="en-US" altLang="zh-CN" b="0" i="0" smtClean="0">
                            <a:solidFill>
                              <a:prstClr val="black"/>
                            </a:solidFill>
                            <a:latin typeface="Cambria Math" panose="02040503050406030204" pitchFamily="18" charset="0"/>
                          </a:rPr>
                          <m:t>sin</m:t>
                        </m:r>
                      </m:fName>
                      <m:e>
                        <m:d>
                          <m:dPr>
                            <m:begChr m:val="|"/>
                            <m:endChr m:val="|"/>
                            <m:ctrlPr>
                              <a:rPr lang="en-US" altLang="zh-CN" b="0" i="1" smtClean="0">
                                <a:solidFill>
                                  <a:prstClr val="black"/>
                                </a:solidFill>
                                <a:latin typeface="Cambria Math" panose="02040503050406030204" pitchFamily="18" charset="0"/>
                              </a:rPr>
                            </m:ctrlPr>
                          </m:dPr>
                          <m:e>
                            <m:r>
                              <a:rPr lang="en-US" altLang="zh-CN" b="1" i="1">
                                <a:solidFill>
                                  <a:prstClr val="black"/>
                                </a:solidFill>
                                <a:latin typeface="Cambria Math" panose="02040503050406030204" pitchFamily="18" charset="0"/>
                              </a:rPr>
                              <m:t>𝒙</m:t>
                            </m:r>
                          </m:e>
                        </m:d>
                      </m:e>
                    </m:func>
                  </m:oMath>
                </a14:m>
                <a:r>
                  <a:rPr lang="zh-CN" altLang="en-US" b="1" dirty="0">
                    <a:latin typeface="+mn-ea"/>
                  </a:rPr>
                  <a:t>，求</a:t>
                </a:r>
                <a14:m>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𝒙</m:t>
                        </m:r>
                      </m:sub>
                      <m:sup>
                        <m:r>
                          <a:rPr lang="en-US" altLang="zh-CN" b="1" i="1" smtClean="0">
                            <a:latin typeface="Cambria Math" panose="02040503050406030204" pitchFamily="18" charset="0"/>
                          </a:rPr>
                          <m:t>′</m:t>
                        </m:r>
                      </m:sup>
                    </m:sSubSup>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1" i="1" smtClean="0">
                        <a:latin typeface="Cambria Math" panose="02040503050406030204" pitchFamily="18" charset="0"/>
                      </a:rPr>
                      <m:t>,</m:t>
                    </m:r>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𝒇</m:t>
                        </m:r>
                      </m:e>
                      <m:sub>
                        <m:r>
                          <a:rPr lang="en-US" altLang="zh-CN" b="1" i="1" smtClean="0">
                            <a:latin typeface="Cambria Math" panose="02040503050406030204" pitchFamily="18" charset="0"/>
                          </a:rPr>
                          <m:t>𝒙</m:t>
                        </m:r>
                      </m:sub>
                      <m:sup>
                        <m:r>
                          <a:rPr lang="en-US" altLang="zh-CN" b="1" i="1" smtClean="0">
                            <a:latin typeface="Cambria Math" panose="02040503050406030204" pitchFamily="18" charset="0"/>
                          </a:rPr>
                          <m:t>′</m:t>
                        </m:r>
                      </m:sup>
                    </m:sSubSup>
                    <m:r>
                      <a:rPr lang="en-US" altLang="zh-CN" b="1" i="1" smtClean="0">
                        <a:latin typeface="Cambria Math" panose="02040503050406030204" pitchFamily="18" charset="0"/>
                      </a:rPr>
                      <m:t>(</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oMath>
                </a14:m>
                <a:endParaRPr lang="zh-CN" altLang="en-US" b="1" dirty="0">
                  <a:latin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251520" y="942038"/>
                <a:ext cx="8208912" cy="369332"/>
              </a:xfrm>
              <a:prstGeom prst="rect">
                <a:avLst/>
              </a:prstGeom>
              <a:blipFill rotWithShape="1">
                <a:blip r:embed="rId2"/>
                <a:stretch>
                  <a:fillRect l="-1" t="-90" r="4"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79512" y="1324203"/>
                <a:ext cx="8712968" cy="2317115"/>
              </a:xfrm>
              <a:prstGeom prst="rect">
                <a:avLst/>
              </a:prstGeom>
            </p:spPr>
            <p:txBody>
              <a:bodyPr wrap="square">
                <a:spAutoFit/>
              </a:bodyPr>
              <a:lstStyle/>
              <a:p>
                <a:pPr algn="just" hangingPunct="0">
                  <a:spcAft>
                    <a:spcPts val="0"/>
                  </a:spcAft>
                  <a:tabLst>
                    <a:tab pos="269875" algn="l"/>
                  </a:tabLst>
                </a:pPr>
                <a:r>
                  <a:rPr lang="en-US" altLang="zh-CN" b="1" dirty="0">
                    <a:solidFill>
                      <a:schemeClr val="accent2"/>
                    </a:solidFill>
                    <a:latin typeface="Courier New" panose="02070309020205020404" pitchFamily="49" charset="0"/>
                    <a:cs typeface="Times New Roman" panose="02020603050405020304" pitchFamily="18" charset="0"/>
                  </a:rPr>
                  <a:t>1.</a:t>
                </a:r>
                <a:r>
                  <a:rPr lang="zh-CN" altLang="en-US" b="1" dirty="0">
                    <a:solidFill>
                      <a:schemeClr val="accent2"/>
                    </a:solidFill>
                    <a:latin typeface="Courier New" panose="02070309020205020404" pitchFamily="49" charset="0"/>
                    <a:cs typeface="Times New Roman" panose="02020603050405020304" pitchFamily="18" charset="0"/>
                  </a:rPr>
                  <a:t>直接用</a:t>
                </a:r>
                <a:r>
                  <a:rPr lang="en-US" altLang="zh-CN" b="1" dirty="0">
                    <a:solidFill>
                      <a:schemeClr val="accent2"/>
                    </a:solidFill>
                    <a:latin typeface="Courier New" panose="02070309020205020404" pitchFamily="49" charset="0"/>
                    <a:cs typeface="Times New Roman" panose="02020603050405020304" pitchFamily="18" charset="0"/>
                  </a:rPr>
                  <a:t>diff</a:t>
                </a:r>
                <a:r>
                  <a:rPr lang="zh-CN" altLang="en-US" b="1" dirty="0">
                    <a:solidFill>
                      <a:schemeClr val="accent2"/>
                    </a:solidFill>
                    <a:latin typeface="Courier New" panose="02070309020205020404" pitchFamily="49" charset="0"/>
                    <a:cs typeface="Times New Roman" panose="02020603050405020304" pitchFamily="18" charset="0"/>
                  </a:rPr>
                  <a:t>计算会得到不准确不严谨的答案：</a:t>
                </a:r>
                <a:endParaRPr lang="en-US" altLang="zh-CN" b="1" dirty="0">
                  <a:solidFill>
                    <a:schemeClr val="accent2"/>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f(x)</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f(x) = sin(abs(x));       %</a:t>
                </a:r>
                <a:r>
                  <a:rPr lang="en-US" altLang="zh-CN" b="1" dirty="0">
                    <a:solidFill>
                      <a:srgbClr val="FF0000"/>
                    </a:solidFill>
                    <a:latin typeface="Courier New" panose="02070309020205020404" pitchFamily="49" charset="0"/>
                    <a:cs typeface="Times New Roman" panose="02020603050405020304" pitchFamily="18" charset="0"/>
                  </a:rPr>
                  <a:t>x&gt;0</a:t>
                </a:r>
                <a:r>
                  <a:rPr lang="zh-CN" altLang="en-US" b="1" dirty="0">
                    <a:solidFill>
                      <a:srgbClr val="FF0000"/>
                    </a:solidFill>
                    <a:latin typeface="Courier New" panose="02070309020205020404" pitchFamily="49" charset="0"/>
                    <a:cs typeface="Times New Roman" panose="02020603050405020304" pitchFamily="18" charset="0"/>
                  </a:rPr>
                  <a:t>时</a:t>
                </a:r>
                <a:r>
                  <a:rPr lang="en-US" altLang="zh-CN" b="1" dirty="0">
                    <a:solidFill>
                      <a:srgbClr val="FF0000"/>
                    </a:solidFill>
                    <a:latin typeface="Courier New" panose="02070309020205020404" pitchFamily="49" charset="0"/>
                    <a:cs typeface="Times New Roman" panose="02020603050405020304" pitchFamily="18" charset="0"/>
                  </a:rPr>
                  <a:t>,sin(x)=</a:t>
                </a:r>
                <a:r>
                  <a:rPr lang="en-US" altLang="zh-CN" b="1" dirty="0" err="1">
                    <a:solidFill>
                      <a:srgbClr val="FF0000"/>
                    </a:solidFill>
                    <a:latin typeface="Courier New" panose="02070309020205020404" pitchFamily="49" charset="0"/>
                    <a:cs typeface="Times New Roman" panose="02020603050405020304" pitchFamily="18" charset="0"/>
                  </a:rPr>
                  <a:t>sin|x</a:t>
                </a:r>
                <a:r>
                  <a:rPr lang="en-US" altLang="zh-CN" b="1" dirty="0">
                    <a:solidFill>
                      <a:srgbClr val="FF0000"/>
                    </a:solidFill>
                    <a:latin typeface="Courier New" panose="02070309020205020404" pitchFamily="49" charset="0"/>
                    <a:cs typeface="Times New Roman" panose="02020603050405020304" pitchFamily="18" charset="0"/>
                  </a:rPr>
                  <a:t>|</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dfdx</a:t>
                </a:r>
                <a:r>
                  <a:rPr lang="en-US" altLang="zh-CN" b="1" dirty="0">
                    <a:solidFill>
                      <a:srgbClr val="008000"/>
                    </a:solidFill>
                    <a:latin typeface="Courier New" panose="02070309020205020404" pitchFamily="49" charset="0"/>
                    <a:cs typeface="Times New Roman" panose="02020603050405020304" pitchFamily="18" charset="0"/>
                  </a:rPr>
                  <a:t>(x)=diff(f(x),x)	%</a:t>
                </a:r>
                <a:r>
                  <a:rPr lang="zh-CN" altLang="en-US" b="1" dirty="0">
                    <a:solidFill>
                      <a:srgbClr val="FF0000"/>
                    </a:solidFill>
                    <a:latin typeface="Courier New" panose="02070309020205020404" pitchFamily="49" charset="0"/>
                    <a:cs typeface="Times New Roman" panose="02020603050405020304" pitchFamily="18" charset="0"/>
                  </a:rPr>
                  <a:t>输出的结果</a:t>
                </a:r>
                <a14:m>
                  <m:oMath xmlns:m="http://schemas.openxmlformats.org/officeDocument/2006/math">
                    <m:func>
                      <m:funcPr>
                        <m:ctrlPr>
                          <a:rPr lang="en-US" altLang="zh-CN" b="1" i="1">
                            <a:solidFill>
                              <a:srgbClr val="FF0000"/>
                            </a:solidFill>
                            <a:latin typeface="Cambria Math" panose="02040503050406030204" pitchFamily="18" charset="0"/>
                            <a:cs typeface="Times New Roman" panose="02020603050405020304" pitchFamily="18" charset="0"/>
                          </a:rPr>
                        </m:ctrlPr>
                      </m:funcPr>
                      <m:fName>
                        <m:r>
                          <m:rPr>
                            <m:sty m:val="p"/>
                          </m:rPr>
                          <a:rPr lang="en-US" altLang="zh-CN">
                            <a:solidFill>
                              <a:srgbClr val="FF0000"/>
                            </a:solidFill>
                            <a:latin typeface="Cambria Math" panose="02040503050406030204" pitchFamily="18" charset="0"/>
                            <a:cs typeface="Times New Roman" panose="02020603050405020304" pitchFamily="18" charset="0"/>
                          </a:rPr>
                          <m:t>cos</m:t>
                        </m:r>
                      </m:fName>
                      <m:e>
                        <m:r>
                          <a:rPr lang="en-US" altLang="zh-CN" b="1" i="1">
                            <a:solidFill>
                              <a:srgbClr val="FF0000"/>
                            </a:solidFill>
                            <a:latin typeface="Cambria Math" panose="02040503050406030204" pitchFamily="18" charset="0"/>
                            <a:cs typeface="Times New Roman" panose="02020603050405020304" pitchFamily="18" charset="0"/>
                          </a:rPr>
                          <m:t>|</m:t>
                        </m:r>
                        <m:r>
                          <a:rPr lang="en-US" altLang="zh-CN" b="1" i="1">
                            <a:solidFill>
                              <a:srgbClr val="FF0000"/>
                            </a:solidFill>
                            <a:latin typeface="Cambria Math" panose="02040503050406030204" pitchFamily="18" charset="0"/>
                            <a:cs typeface="Times New Roman" panose="02020603050405020304" pitchFamily="18" charset="0"/>
                          </a:rPr>
                          <m:t>𝒙</m:t>
                        </m:r>
                        <m:r>
                          <a:rPr lang="en-US" altLang="zh-CN" b="1" i="1">
                            <a:solidFill>
                              <a:srgbClr val="FF0000"/>
                            </a:solidFill>
                            <a:latin typeface="Cambria Math" panose="02040503050406030204" pitchFamily="18" charset="0"/>
                            <a:cs typeface="Times New Roman" panose="02020603050405020304" pitchFamily="18" charset="0"/>
                          </a:rPr>
                          <m:t>|</m:t>
                        </m:r>
                      </m:e>
                    </m:func>
                    <m:r>
                      <a:rPr lang="en-US" altLang="zh-CN" b="1" i="1">
                        <a:solidFill>
                          <a:srgbClr val="FF0000"/>
                        </a:solidFill>
                        <a:latin typeface="Cambria Math" panose="02040503050406030204" pitchFamily="18" charset="0"/>
                        <a:cs typeface="Times New Roman" panose="02020603050405020304" pitchFamily="18" charset="0"/>
                      </a:rPr>
                      <m:t>⋅</m:t>
                    </m:r>
                    <m:r>
                      <a:rPr lang="en-US" altLang="zh-CN" b="1" i="1">
                        <a:solidFill>
                          <a:srgbClr val="FF0000"/>
                        </a:solidFill>
                        <a:latin typeface="Cambria Math" panose="02040503050406030204" pitchFamily="18" charset="0"/>
                        <a:cs typeface="Times New Roman" panose="02020603050405020304" pitchFamily="18" charset="0"/>
                      </a:rPr>
                      <m:t>𝒔𝒊𝒈𝒏</m:t>
                    </m:r>
                    <m:d>
                      <m:dPr>
                        <m:ctrlPr>
                          <a:rPr lang="en-US" altLang="zh-CN" b="1" i="1">
                            <a:solidFill>
                              <a:srgbClr val="FF0000"/>
                            </a:solidFill>
                            <a:latin typeface="Cambria Math" panose="02040503050406030204" pitchFamily="18" charset="0"/>
                            <a:cs typeface="Times New Roman" panose="02020603050405020304" pitchFamily="18" charset="0"/>
                          </a:rPr>
                        </m:ctrlPr>
                      </m:dPr>
                      <m:e>
                        <m:r>
                          <a:rPr lang="en-US" altLang="zh-CN" b="1" i="1">
                            <a:solidFill>
                              <a:srgbClr val="FF0000"/>
                            </a:solidFill>
                            <a:latin typeface="Cambria Math" panose="02040503050406030204" pitchFamily="18" charset="0"/>
                            <a:cs typeface="Times New Roman" panose="02020603050405020304" pitchFamily="18" charset="0"/>
                          </a:rPr>
                          <m:t>𝒙</m:t>
                        </m:r>
                      </m:e>
                    </m:d>
                    <m:r>
                      <a:rPr lang="zh-CN" altLang="en-US" b="1" i="1">
                        <a:solidFill>
                          <a:srgbClr val="FF0000"/>
                        </a:solidFill>
                        <a:latin typeface="Cambria Math" panose="02040503050406030204" pitchFamily="18" charset="0"/>
                        <a:cs typeface="Times New Roman" panose="02020603050405020304" pitchFamily="18" charset="0"/>
                      </a:rPr>
                      <m:t>在</m:t>
                    </m:r>
                    <m:r>
                      <a:rPr lang="en-US" altLang="zh-CN" b="1" i="1">
                        <a:solidFill>
                          <a:srgbClr val="FF0000"/>
                        </a:solidFill>
                        <a:latin typeface="Cambria Math" panose="02040503050406030204" pitchFamily="18" charset="0"/>
                        <a:cs typeface="Times New Roman" panose="02020603050405020304" pitchFamily="18" charset="0"/>
                      </a:rPr>
                      <m:t>𝒙</m:t>
                    </m:r>
                    <m:r>
                      <a:rPr lang="en-US" altLang="zh-CN" b="1" i="1">
                        <a:solidFill>
                          <a:srgbClr val="FF0000"/>
                        </a:solidFill>
                        <a:latin typeface="Cambria Math" panose="02040503050406030204" pitchFamily="18" charset="0"/>
                        <a:cs typeface="Times New Roman" panose="02020603050405020304" pitchFamily="18" charset="0"/>
                      </a:rPr>
                      <m:t>≠</m:t>
                    </m:r>
                    <m:r>
                      <a:rPr lang="en-US" altLang="zh-CN" b="1" i="1">
                        <a:solidFill>
                          <a:srgbClr val="FF0000"/>
                        </a:solidFill>
                        <a:latin typeface="Cambria Math" panose="02040503050406030204" pitchFamily="18" charset="0"/>
                        <a:cs typeface="Times New Roman" panose="02020603050405020304" pitchFamily="18" charset="0"/>
                      </a:rPr>
                      <m:t>𝟎</m:t>
                    </m:r>
                  </m:oMath>
                </a14:m>
                <a:r>
                  <a:rPr lang="zh-CN" altLang="en-US" b="1" dirty="0">
                    <a:solidFill>
                      <a:srgbClr val="FF0000"/>
                    </a:solidFill>
                    <a:latin typeface="Courier New" panose="02070309020205020404" pitchFamily="49" charset="0"/>
                    <a:cs typeface="Times New Roman" panose="02020603050405020304" pitchFamily="18" charset="0"/>
                  </a:rPr>
                  <a:t>均正确</a:t>
                </a:r>
                <a:endParaRPr lang="en-US" altLang="zh-CN" b="1" dirty="0">
                  <a:solidFill>
                    <a:schemeClr val="accent2"/>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dfdx</a:t>
                </a:r>
                <a:r>
                  <a:rPr lang="en-US" altLang="zh-CN" dirty="0">
                    <a:solidFill>
                      <a:srgbClr val="0000FF"/>
                    </a:solidFill>
                    <a:latin typeface="Courier New" panose="02070309020205020404" pitchFamily="49" charset="0"/>
                    <a:cs typeface="Times New Roman" panose="02020603050405020304" pitchFamily="18" charset="0"/>
                  </a:rPr>
                  <a:t>(x) = cos(abs(x))*sign(x)</a:t>
                </a:r>
                <a:endParaRPr lang="zh-CN" altLang="zh-CN" dirty="0">
                  <a:solidFill>
                    <a:srgbClr val="0000FF"/>
                  </a:solidFill>
                  <a:latin typeface="Courier New" panose="02070309020205020404" pitchFamily="49" charset="0"/>
                  <a:cs typeface="Times New Roman" panose="02020603050405020304" pitchFamily="18" charset="0"/>
                </a:endParaRPr>
              </a:p>
              <a:p>
                <a:pPr algn="just" hangingPunct="0">
                  <a:tabLst>
                    <a:tab pos="269875" algn="l"/>
                    <a:tab pos="3175" algn="l"/>
                  </a:tabLst>
                </a:pPr>
                <a:r>
                  <a:rPr lang="en-US" altLang="zh-CN" b="1" dirty="0">
                    <a:solidFill>
                      <a:srgbClr val="008000"/>
                    </a:solidFill>
                    <a:latin typeface="Courier New" panose="02070309020205020404" pitchFamily="49" charset="0"/>
                    <a:cs typeface="Times New Roman" panose="02020603050405020304" pitchFamily="18" charset="0"/>
                  </a:rPr>
                  <a:t>dfdx0=</a:t>
                </a:r>
                <a:r>
                  <a:rPr lang="en-US" altLang="zh-CN" b="1" dirty="0" err="1">
                    <a:solidFill>
                      <a:srgbClr val="008000"/>
                    </a:solidFill>
                    <a:latin typeface="Courier New" panose="02070309020205020404" pitchFamily="49" charset="0"/>
                    <a:cs typeface="Times New Roman" panose="02020603050405020304" pitchFamily="18" charset="0"/>
                  </a:rPr>
                  <a:t>dfdx</a:t>
                </a:r>
                <a:r>
                  <a:rPr lang="en-US" altLang="zh-CN" b="1" dirty="0">
                    <a:solidFill>
                      <a:srgbClr val="008000"/>
                    </a:solidFill>
                    <a:latin typeface="Courier New" panose="02070309020205020404" pitchFamily="49" charset="0"/>
                    <a:cs typeface="Times New Roman" panose="02020603050405020304" pitchFamily="18" charset="0"/>
                  </a:rPr>
                  <a:t>(0)			%</a:t>
                </a:r>
                <a:r>
                  <a:rPr lang="zh-CN" altLang="en-US" b="1" dirty="0">
                    <a:solidFill>
                      <a:srgbClr val="FF0000"/>
                    </a:solidFill>
                    <a:latin typeface="Courier New" panose="02070309020205020404" pitchFamily="49" charset="0"/>
                    <a:cs typeface="Times New Roman" panose="02020603050405020304" pitchFamily="18" charset="0"/>
                  </a:rPr>
                  <a:t>此方法得到的</a:t>
                </a:r>
                <a14:m>
                  <m:oMath xmlns:m="http://schemas.openxmlformats.org/officeDocument/2006/math">
                    <m:sSubSup>
                      <m:sSubSupPr>
                        <m:ctrlPr>
                          <a:rPr lang="en-US" altLang="zh-CN" b="1" i="1" smtClean="0">
                            <a:solidFill>
                              <a:srgbClr val="FF0000"/>
                            </a:solidFill>
                            <a:latin typeface="Cambria Math" panose="02040503050406030204" pitchFamily="18" charset="0"/>
                            <a:cs typeface="Times New Roman" panose="02020603050405020304" pitchFamily="18" charset="0"/>
                          </a:rPr>
                        </m:ctrlPr>
                      </m:sSubSupPr>
                      <m:e>
                        <m:r>
                          <a:rPr lang="en-US" altLang="zh-CN" b="1" i="1" smtClean="0">
                            <a:solidFill>
                              <a:srgbClr val="FF0000"/>
                            </a:solidFill>
                            <a:latin typeface="Cambria Math" panose="02040503050406030204" pitchFamily="18" charset="0"/>
                            <a:cs typeface="Times New Roman" panose="02020603050405020304" pitchFamily="18" charset="0"/>
                          </a:rPr>
                          <m:t>𝒇</m:t>
                        </m:r>
                      </m:e>
                      <m:sub>
                        <m:r>
                          <a:rPr lang="en-US" altLang="zh-CN" b="1" i="1" smtClean="0">
                            <a:solidFill>
                              <a:srgbClr val="FF0000"/>
                            </a:solidFill>
                            <a:latin typeface="Cambria Math" panose="02040503050406030204" pitchFamily="18" charset="0"/>
                            <a:cs typeface="Times New Roman" panose="02020603050405020304" pitchFamily="18" charset="0"/>
                          </a:rPr>
                          <m:t>𝒙</m:t>
                        </m:r>
                      </m:sub>
                      <m:sup>
                        <m:r>
                          <a:rPr lang="en-US" altLang="zh-CN" b="1" i="1" smtClean="0">
                            <a:solidFill>
                              <a:srgbClr val="FF0000"/>
                            </a:solidFill>
                            <a:latin typeface="Cambria Math" panose="02040503050406030204" pitchFamily="18" charset="0"/>
                            <a:cs typeface="Times New Roman" panose="02020603050405020304" pitchFamily="18" charset="0"/>
                          </a:rPr>
                          <m:t>′</m:t>
                        </m:r>
                      </m:sup>
                    </m:sSubSup>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𝟎</m:t>
                    </m:r>
                    <m:r>
                      <a:rPr lang="en-US" altLang="zh-CN" b="1" i="1" smtClean="0">
                        <a:solidFill>
                          <a:srgbClr val="FF0000"/>
                        </a:solidFill>
                        <a:latin typeface="Cambria Math" panose="02040503050406030204" pitchFamily="18" charset="0"/>
                        <a:cs typeface="Times New Roman" panose="02020603050405020304" pitchFamily="18" charset="0"/>
                      </a:rPr>
                      <m:t>)</m:t>
                    </m:r>
                  </m:oMath>
                </a14:m>
                <a:r>
                  <a:rPr lang="zh-CN" altLang="en-US" b="1" dirty="0">
                    <a:solidFill>
                      <a:srgbClr val="FF0000"/>
                    </a:solidFill>
                    <a:latin typeface="Courier New" panose="02070309020205020404" pitchFamily="49" charset="0"/>
                    <a:cs typeface="Times New Roman" panose="02020603050405020304" pitchFamily="18" charset="0"/>
                  </a:rPr>
                  <a:t>是否准确？</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 pos="3175" algn="l"/>
                  </a:tabLst>
                </a:pPr>
                <a:r>
                  <a:rPr lang="en-US" altLang="zh-CN" dirty="0">
                    <a:solidFill>
                      <a:srgbClr val="0000FF"/>
                    </a:solidFill>
                    <a:latin typeface="Courier New" panose="02070309020205020404" pitchFamily="49" charset="0"/>
                    <a:cs typeface="Times New Roman" panose="02020603050405020304" pitchFamily="18" charset="0"/>
                  </a:rPr>
                  <a:t>dfdx0 = 0</a:t>
                </a:r>
                <a:endParaRPr lang="zh-CN" altLang="zh-CN" dirty="0">
                  <a:solidFill>
                    <a:srgbClr val="0000FF"/>
                  </a:solidFill>
                  <a:latin typeface="Courier New" panose="02070309020205020404" pitchFamily="49" charset="0"/>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179512" y="1324203"/>
                <a:ext cx="8712968" cy="2317115"/>
              </a:xfrm>
              <a:prstGeom prst="rect">
                <a:avLst/>
              </a:prstGeom>
              <a:blipFill rotWithShape="1">
                <a:blip r:embed="rId3"/>
                <a:stretch>
                  <a:fillRect l="-5" t="-10" r="7"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179512" y="4020024"/>
                <a:ext cx="8712968" cy="1612814"/>
              </a:xfrm>
              <a:prstGeom prst="rect">
                <a:avLst/>
              </a:prstGeom>
            </p:spPr>
            <p:txBody>
              <a:bodyPr wrap="square">
                <a:spAutoFit/>
              </a:bodyPr>
              <a:lstStyle/>
              <a:p>
                <a:pPr algn="just" hangingPunct="0">
                  <a:spcAft>
                    <a:spcPts val="0"/>
                  </a:spcAft>
                  <a:tabLst>
                    <a:tab pos="269875" algn="l"/>
                  </a:tabLst>
                </a:pPr>
                <a:r>
                  <a:rPr lang="en-US" altLang="zh-CN" b="1" dirty="0">
                    <a:solidFill>
                      <a:schemeClr val="accent2"/>
                    </a:solidFill>
                    <a:latin typeface="Courier New" panose="02070309020205020404" pitchFamily="49" charset="0"/>
                    <a:cs typeface="Times New Roman" panose="02020603050405020304" pitchFamily="18" charset="0"/>
                  </a:rPr>
                  <a:t>2.</a:t>
                </a:r>
                <a:r>
                  <a:rPr lang="zh-CN" altLang="en-US" b="1" dirty="0">
                    <a:solidFill>
                      <a:schemeClr val="accent2"/>
                    </a:solidFill>
                    <a:latin typeface="Courier New" panose="02070309020205020404" pitchFamily="49" charset="0"/>
                    <a:cs typeface="Times New Roman" panose="02020603050405020304" pitchFamily="18" charset="0"/>
                  </a:rPr>
                  <a:t>使用函数</a:t>
                </a:r>
                <a:r>
                  <a:rPr lang="en-US" altLang="zh-CN" b="1" dirty="0">
                    <a:solidFill>
                      <a:schemeClr val="accent2"/>
                    </a:solidFill>
                    <a:latin typeface="Courier New" panose="02070309020205020404" pitchFamily="49" charset="0"/>
                    <a:cs typeface="Times New Roman" panose="02020603050405020304" pitchFamily="18" charset="0"/>
                  </a:rPr>
                  <a:t>limit</a:t>
                </a:r>
                <a:r>
                  <a:rPr lang="zh-CN" altLang="en-US" b="1" dirty="0">
                    <a:solidFill>
                      <a:schemeClr val="accent2"/>
                    </a:solidFill>
                    <a:latin typeface="Courier New" panose="02070309020205020404" pitchFamily="49" charset="0"/>
                    <a:cs typeface="Times New Roman" panose="02020603050405020304" pitchFamily="18" charset="0"/>
                  </a:rPr>
                  <a:t>代入导数定义会得到什么？</a:t>
                </a:r>
                <a:endParaRPr lang="en-US" altLang="zh-CN" b="1" dirty="0">
                  <a:solidFill>
                    <a:schemeClr val="accent2"/>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dx</a:t>
                </a:r>
                <a:endParaRPr lang="zh-CN" altLang="zh-CN" sz="2000" dirty="0">
                  <a:latin typeface="Times New Roman" panose="02020603050405020304" pitchFamily="18" charset="0"/>
                </a:endParaRPr>
              </a:p>
              <a:p>
                <a:pPr algn="just" hangingPunct="0">
                  <a:spcAft>
                    <a:spcPts val="0"/>
                  </a:spcAft>
                  <a:tabLst>
                    <a:tab pos="269875" algn="l"/>
                  </a:tabLst>
                </a:pPr>
                <a:r>
                  <a:rPr lang="fr-FR" altLang="zh-CN" b="1" dirty="0">
                    <a:solidFill>
                      <a:srgbClr val="008000"/>
                    </a:solidFill>
                    <a:latin typeface="Courier New" panose="02070309020205020404" pitchFamily="49" charset="0"/>
                    <a:cs typeface="Times New Roman" panose="02020603050405020304" pitchFamily="18" charset="0"/>
                  </a:rPr>
                  <a:t>dfdx2(x) = limit((f(x+dx)-f(x))/dx,dx,0)</a:t>
                </a:r>
                <a:endParaRPr lang="fr-FR"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代入导数定义</a:t>
                </a:r>
                <a14:m>
                  <m:oMath xmlns:m="http://schemas.openxmlformats.org/officeDocument/2006/math">
                    <m:sSubSup>
                      <m:sSubSupPr>
                        <m:ctrlPr>
                          <a:rPr lang="en-US" altLang="zh-CN" b="1" i="1" smtClean="0">
                            <a:solidFill>
                              <a:srgbClr val="FF0000"/>
                            </a:solidFill>
                            <a:latin typeface="Cambria Math" panose="02040503050406030204" pitchFamily="18" charset="0"/>
                            <a:cs typeface="Times New Roman" panose="02020603050405020304" pitchFamily="18" charset="0"/>
                          </a:rPr>
                        </m:ctrlPr>
                      </m:sSubSupPr>
                      <m:e>
                        <m:r>
                          <a:rPr lang="en-US" altLang="zh-CN" b="1" i="1" smtClean="0">
                            <a:solidFill>
                              <a:srgbClr val="FF0000"/>
                            </a:solidFill>
                            <a:latin typeface="Cambria Math" panose="02040503050406030204" pitchFamily="18" charset="0"/>
                            <a:cs typeface="Times New Roman" panose="02020603050405020304" pitchFamily="18" charset="0"/>
                          </a:rPr>
                          <m:t>𝒇</m:t>
                        </m:r>
                      </m:e>
                      <m:sub>
                        <m:r>
                          <a:rPr lang="en-US" altLang="zh-CN" b="1" i="1" smtClean="0">
                            <a:solidFill>
                              <a:srgbClr val="FF0000"/>
                            </a:solidFill>
                            <a:latin typeface="Cambria Math" panose="02040503050406030204" pitchFamily="18" charset="0"/>
                            <a:cs typeface="Times New Roman" panose="02020603050405020304" pitchFamily="18" charset="0"/>
                          </a:rPr>
                          <m:t>𝒙</m:t>
                        </m:r>
                      </m:sub>
                      <m:sup>
                        <m:r>
                          <a:rPr lang="en-US" altLang="zh-CN" b="1" i="1" smtClean="0">
                            <a:solidFill>
                              <a:srgbClr val="FF0000"/>
                            </a:solidFill>
                            <a:latin typeface="Cambria Math" panose="02040503050406030204" pitchFamily="18" charset="0"/>
                            <a:cs typeface="Times New Roman" panose="02020603050405020304" pitchFamily="18" charset="0"/>
                          </a:rPr>
                          <m:t>′</m:t>
                        </m:r>
                      </m:sup>
                    </m:sSubSup>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𝒙</m:t>
                        </m:r>
                      </m:e>
                    </m:d>
                    <m:r>
                      <a:rPr lang="en-US" altLang="zh-CN" b="1" i="1" smtClean="0">
                        <a:solidFill>
                          <a:srgbClr val="FF0000"/>
                        </a:solidFill>
                        <a:latin typeface="Cambria Math" panose="02040503050406030204" pitchFamily="18" charset="0"/>
                        <a:cs typeface="Times New Roman" panose="02020603050405020304" pitchFamily="18" charset="0"/>
                      </a:rPr>
                      <m:t>=</m:t>
                    </m:r>
                    <m:func>
                      <m:funcPr>
                        <m:ctrlPr>
                          <a:rPr lang="en-US" altLang="zh-CN" b="1" i="1" smtClean="0">
                            <a:solidFill>
                              <a:srgbClr val="FF0000"/>
                            </a:solidFill>
                            <a:latin typeface="Cambria Math" panose="02040503050406030204" pitchFamily="18" charset="0"/>
                            <a:cs typeface="Times New Roman" panose="02020603050405020304" pitchFamily="18" charset="0"/>
                          </a:rPr>
                        </m:ctrlPr>
                      </m:funcPr>
                      <m:fName>
                        <m:limLow>
                          <m:limLowPr>
                            <m:ctrlPr>
                              <a:rPr lang="en-US" altLang="zh-CN" b="1" i="1" smtClean="0">
                                <a:solidFill>
                                  <a:srgbClr val="FF0000"/>
                                </a:solidFill>
                                <a:latin typeface="Cambria Math" panose="02040503050406030204" pitchFamily="18" charset="0"/>
                                <a:cs typeface="Times New Roman" panose="02020603050405020304" pitchFamily="18" charset="0"/>
                              </a:rPr>
                            </m:ctrlPr>
                          </m:limLowPr>
                          <m:e>
                            <m:r>
                              <m:rPr>
                                <m:sty m:val="p"/>
                              </m:rPr>
                              <a:rPr lang="en-US" altLang="zh-CN" b="0" i="0" smtClean="0">
                                <a:solidFill>
                                  <a:srgbClr val="FF0000"/>
                                </a:solidFill>
                                <a:latin typeface="Cambria Math" panose="02040503050406030204" pitchFamily="18" charset="0"/>
                                <a:cs typeface="Times New Roman" panose="02020603050405020304" pitchFamily="18" charset="0"/>
                              </a:rPr>
                              <m:t>lim</m:t>
                            </m:r>
                          </m:e>
                          <m:lim>
                            <m:r>
                              <a:rPr lang="en-US" altLang="zh-CN" b="1" i="1" smtClean="0">
                                <a:solidFill>
                                  <a:srgbClr val="FF0000"/>
                                </a:solidFill>
                                <a:latin typeface="Cambria Math" panose="02040503050406030204" pitchFamily="18" charset="0"/>
                                <a:cs typeface="Times New Roman" panose="02020603050405020304" pitchFamily="18" charset="0"/>
                              </a:rPr>
                              <m:t>𝜟</m:t>
                            </m:r>
                            <m:r>
                              <a:rPr lang="en-US" altLang="zh-CN" b="1" i="1" smtClean="0">
                                <a:solidFill>
                                  <a:srgbClr val="FF0000"/>
                                </a:solidFill>
                                <a:latin typeface="Cambria Math" panose="02040503050406030204" pitchFamily="18" charset="0"/>
                                <a:cs typeface="Times New Roman" panose="02020603050405020304" pitchFamily="18" charset="0"/>
                              </a:rPr>
                              <m:t>𝒙</m:t>
                            </m:r>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𝟎</m:t>
                            </m:r>
                          </m:lim>
                        </m:limLow>
                      </m:fName>
                      <m:e>
                        <m:f>
                          <m:fPr>
                            <m:ctrlPr>
                              <a:rPr lang="en-US" altLang="zh-CN" b="1" i="1" smtClean="0">
                                <a:solidFill>
                                  <a:srgbClr val="FF0000"/>
                                </a:solidFill>
                                <a:latin typeface="Cambria Math" panose="02040503050406030204" pitchFamily="18" charset="0"/>
                                <a:cs typeface="Times New Roman" panose="02020603050405020304" pitchFamily="18" charset="0"/>
                              </a:rPr>
                            </m:ctrlPr>
                          </m:fPr>
                          <m:num>
                            <m:r>
                              <a:rPr lang="en-US" altLang="zh-CN" b="1" i="1" smtClean="0">
                                <a:solidFill>
                                  <a:srgbClr val="FF0000"/>
                                </a:solidFill>
                                <a:latin typeface="Cambria Math" panose="02040503050406030204" pitchFamily="18" charset="0"/>
                                <a:cs typeface="Times New Roman" panose="02020603050405020304" pitchFamily="18" charset="0"/>
                              </a:rPr>
                              <m:t>𝒇</m:t>
                            </m:r>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𝒙</m:t>
                                </m:r>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𝜟</m:t>
                                </m:r>
                                <m:r>
                                  <a:rPr lang="en-US" altLang="zh-CN" b="1" i="1" smtClean="0">
                                    <a:solidFill>
                                      <a:srgbClr val="FF0000"/>
                                    </a:solidFill>
                                    <a:latin typeface="Cambria Math" panose="02040503050406030204" pitchFamily="18" charset="0"/>
                                    <a:cs typeface="Times New Roman" panose="02020603050405020304" pitchFamily="18" charset="0"/>
                                  </a:rPr>
                                  <m:t>𝒙</m:t>
                                </m:r>
                              </m:e>
                            </m:d>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𝒇</m:t>
                            </m:r>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𝒙</m:t>
                                </m:r>
                              </m:e>
                            </m:d>
                          </m:num>
                          <m:den>
                            <m:r>
                              <a:rPr lang="en-US" altLang="zh-CN" b="1" i="1" smtClean="0">
                                <a:solidFill>
                                  <a:srgbClr val="FF0000"/>
                                </a:solidFill>
                                <a:latin typeface="Cambria Math" panose="02040503050406030204" pitchFamily="18" charset="0"/>
                                <a:cs typeface="Times New Roman" panose="02020603050405020304" pitchFamily="18" charset="0"/>
                              </a:rPr>
                              <m:t>𝜟</m:t>
                            </m:r>
                            <m:r>
                              <a:rPr lang="en-US" altLang="zh-CN" b="1" i="1" smtClean="0">
                                <a:solidFill>
                                  <a:srgbClr val="FF0000"/>
                                </a:solidFill>
                                <a:latin typeface="Cambria Math" panose="02040503050406030204" pitchFamily="18" charset="0"/>
                                <a:cs typeface="Times New Roman" panose="02020603050405020304" pitchFamily="18" charset="0"/>
                              </a:rPr>
                              <m:t>𝒙</m:t>
                            </m:r>
                          </m:den>
                        </m:f>
                      </m:e>
                    </m:func>
                  </m:oMath>
                </a14:m>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dfdx2(x) = (x*real(1/x)*cos(x/sign(x)))/sign(x)</a:t>
                </a:r>
                <a:endParaRPr lang="en-US" altLang="zh-CN" dirty="0">
                  <a:solidFill>
                    <a:srgbClr val="0000FF"/>
                  </a:solidFill>
                  <a:latin typeface="Courier New" panose="02070309020205020404" pitchFamily="49" charset="0"/>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179512" y="4020024"/>
                <a:ext cx="8712968" cy="1612814"/>
              </a:xfrm>
              <a:prstGeom prst="rect">
                <a:avLst/>
              </a:prstGeom>
              <a:blipFill rotWithShape="1">
                <a:blip r:embed="rId4"/>
                <a:stretch>
                  <a:fillRect l="-5" t="-29" r="7"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179511" y="5632838"/>
                <a:ext cx="8568953" cy="1043363"/>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代入</a:t>
                </a:r>
                <a:r>
                  <a:rPr lang="en-US" altLang="zh-CN" sz="2400" b="1" dirty="0">
                    <a:solidFill>
                      <a:prstClr val="black"/>
                    </a:solidFill>
                    <a:latin typeface="+mj-ea"/>
                    <a:ea typeface="+mj-ea"/>
                  </a:rPr>
                  <a:t>dfdx2(0)</a:t>
                </a:r>
                <a:r>
                  <a:rPr lang="zh-CN" altLang="en-US" sz="2400" b="1" dirty="0">
                    <a:solidFill>
                      <a:prstClr val="black"/>
                    </a:solidFill>
                    <a:latin typeface="+mj-ea"/>
                    <a:ea typeface="+mj-ea"/>
                  </a:rPr>
                  <a:t>将出现错误，上述表达式同样对</a:t>
                </a:r>
                <a14:m>
                  <m:oMath xmlns:m="http://schemas.openxmlformats.org/officeDocument/2006/math">
                    <m:r>
                      <a:rPr lang="en-US" altLang="zh-CN" sz="2400" b="1" i="1" smtClean="0">
                        <a:solidFill>
                          <a:prstClr val="black"/>
                        </a:solidFill>
                        <a:latin typeface="Cambria Math" panose="02040503050406030204" pitchFamily="18" charset="0"/>
                        <a:ea typeface="+mj-ea"/>
                      </a:rPr>
                      <m:t>𝒙</m:t>
                    </m:r>
                    <m:r>
                      <a:rPr lang="en-US" altLang="zh-CN" sz="2400" b="1" i="1" smtClean="0">
                        <a:solidFill>
                          <a:prstClr val="black"/>
                        </a:solidFill>
                        <a:latin typeface="Cambria Math" panose="02040503050406030204" pitchFamily="18" charset="0"/>
                        <a:ea typeface="+mj-ea"/>
                      </a:rPr>
                      <m:t>=</m:t>
                    </m:r>
                    <m:r>
                      <a:rPr lang="en-US" altLang="zh-CN" sz="2400" b="1" i="1" smtClean="0">
                        <a:solidFill>
                          <a:prstClr val="black"/>
                        </a:solidFill>
                        <a:latin typeface="Cambria Math" panose="02040503050406030204" pitchFamily="18" charset="0"/>
                        <a:ea typeface="+mj-ea"/>
                      </a:rPr>
                      <m:t>𝟎</m:t>
                    </m:r>
                  </m:oMath>
                </a14:m>
                <a:r>
                  <a:rPr lang="zh-CN" altLang="en-US" sz="2400" b="1" dirty="0">
                    <a:latin typeface="+mj-ea"/>
                    <a:ea typeface="+mj-ea"/>
                  </a:rPr>
                  <a:t>无意义。利用符号运算</a:t>
                </a:r>
                <a14:m>
                  <m:oMath xmlns:m="http://schemas.openxmlformats.org/officeDocument/2006/math">
                    <m:limLow>
                      <m:limLowPr>
                        <m:ctrlPr>
                          <a:rPr lang="en-US" altLang="zh-CN" sz="2400" b="1" i="1">
                            <a:solidFill>
                              <a:srgbClr val="FF0000"/>
                            </a:solidFill>
                            <a:latin typeface="Cambria Math" panose="02040503050406030204" pitchFamily="18" charset="0"/>
                            <a:cs typeface="Times New Roman" panose="02020603050405020304" pitchFamily="18" charset="0"/>
                          </a:rPr>
                        </m:ctrlPr>
                      </m:limLowPr>
                      <m:e>
                        <m:r>
                          <m:rPr>
                            <m:sty m:val="p"/>
                          </m:rPr>
                          <a:rPr lang="en-US" altLang="zh-CN" sz="2400">
                            <a:solidFill>
                              <a:srgbClr val="FF0000"/>
                            </a:solidFill>
                            <a:latin typeface="Cambria Math" panose="02040503050406030204" pitchFamily="18" charset="0"/>
                            <a:cs typeface="Times New Roman" panose="02020603050405020304" pitchFamily="18" charset="0"/>
                          </a:rPr>
                          <m:t>lim</m:t>
                        </m:r>
                      </m:e>
                      <m:lim>
                        <m:r>
                          <a:rPr lang="en-US" altLang="zh-CN" sz="2400" b="1" i="1">
                            <a:solidFill>
                              <a:srgbClr val="FF0000"/>
                            </a:solidFill>
                            <a:latin typeface="Cambria Math" panose="02040503050406030204" pitchFamily="18" charset="0"/>
                            <a:cs typeface="Times New Roman" panose="02020603050405020304" pitchFamily="18" charset="0"/>
                          </a:rPr>
                          <m:t>𝜟</m:t>
                        </m:r>
                        <m:r>
                          <a:rPr lang="en-US" altLang="zh-CN" sz="2400" b="1" i="1">
                            <a:solidFill>
                              <a:srgbClr val="FF0000"/>
                            </a:solidFill>
                            <a:latin typeface="Cambria Math" panose="02040503050406030204" pitchFamily="18" charset="0"/>
                            <a:cs typeface="Times New Roman" panose="02020603050405020304" pitchFamily="18" charset="0"/>
                          </a:rPr>
                          <m:t>𝒙</m:t>
                        </m:r>
                        <m:r>
                          <a:rPr lang="en-US" altLang="zh-CN" sz="2400" b="1" i="1">
                            <a:solidFill>
                              <a:srgbClr val="FF0000"/>
                            </a:solidFill>
                            <a:latin typeface="Cambria Math" panose="02040503050406030204" pitchFamily="18" charset="0"/>
                            <a:cs typeface="Times New Roman" panose="02020603050405020304" pitchFamily="18" charset="0"/>
                          </a:rPr>
                          <m:t>→</m:t>
                        </m:r>
                        <m:r>
                          <a:rPr lang="en-US" altLang="zh-CN" sz="2400" b="1" i="1">
                            <a:solidFill>
                              <a:srgbClr val="FF0000"/>
                            </a:solidFill>
                            <a:latin typeface="Cambria Math" panose="02040503050406030204" pitchFamily="18" charset="0"/>
                            <a:cs typeface="Times New Roman" panose="02020603050405020304" pitchFamily="18" charset="0"/>
                          </a:rPr>
                          <m:t>𝟎</m:t>
                        </m:r>
                      </m:lim>
                    </m:limLow>
                    <m:f>
                      <m:fPr>
                        <m:ctrlPr>
                          <a:rPr lang="en-US" altLang="zh-CN" sz="2400" b="1" i="1">
                            <a:solidFill>
                              <a:srgbClr val="FF0000"/>
                            </a:solidFill>
                            <a:latin typeface="Cambria Math" panose="02040503050406030204" pitchFamily="18" charset="0"/>
                            <a:cs typeface="Times New Roman" panose="02020603050405020304" pitchFamily="18" charset="0"/>
                          </a:rPr>
                        </m:ctrlPr>
                      </m:fPr>
                      <m:num>
                        <m:r>
                          <a:rPr lang="en-US" altLang="zh-CN" sz="2400" b="1" i="1">
                            <a:solidFill>
                              <a:srgbClr val="FF0000"/>
                            </a:solidFill>
                            <a:latin typeface="Cambria Math" panose="02040503050406030204" pitchFamily="18" charset="0"/>
                            <a:cs typeface="Times New Roman" panose="02020603050405020304" pitchFamily="18" charset="0"/>
                          </a:rPr>
                          <m:t>𝒇</m:t>
                        </m:r>
                        <m:d>
                          <m:dPr>
                            <m:ctrlPr>
                              <a:rPr lang="en-US" altLang="zh-CN" sz="2400" b="1" i="1">
                                <a:solidFill>
                                  <a:srgbClr val="FF0000"/>
                                </a:solidFill>
                                <a:latin typeface="Cambria Math" panose="02040503050406030204" pitchFamily="18" charset="0"/>
                                <a:cs typeface="Times New Roman" panose="02020603050405020304" pitchFamily="18" charset="0"/>
                              </a:rPr>
                            </m:ctrlPr>
                          </m:dPr>
                          <m:e>
                            <m:r>
                              <a:rPr lang="en-US" altLang="zh-CN" sz="2400" b="1" i="1">
                                <a:solidFill>
                                  <a:srgbClr val="FF0000"/>
                                </a:solidFill>
                                <a:latin typeface="Cambria Math" panose="02040503050406030204" pitchFamily="18" charset="0"/>
                                <a:cs typeface="Times New Roman" panose="02020603050405020304" pitchFamily="18" charset="0"/>
                              </a:rPr>
                              <m:t>𝜟</m:t>
                            </m:r>
                            <m:r>
                              <a:rPr lang="en-US" altLang="zh-CN" sz="2400" b="1" i="1">
                                <a:solidFill>
                                  <a:srgbClr val="FF0000"/>
                                </a:solidFill>
                                <a:latin typeface="Cambria Math" panose="02040503050406030204" pitchFamily="18" charset="0"/>
                                <a:cs typeface="Times New Roman" panose="02020603050405020304" pitchFamily="18" charset="0"/>
                              </a:rPr>
                              <m:t>𝒙</m:t>
                            </m:r>
                          </m:e>
                        </m:d>
                        <m:r>
                          <a:rPr lang="en-US" altLang="zh-CN" sz="2400" b="1" i="1">
                            <a:solidFill>
                              <a:srgbClr val="FF0000"/>
                            </a:solidFill>
                            <a:latin typeface="Cambria Math" panose="02040503050406030204" pitchFamily="18" charset="0"/>
                            <a:cs typeface="Times New Roman" panose="02020603050405020304" pitchFamily="18" charset="0"/>
                          </a:rPr>
                          <m:t>−</m:t>
                        </m:r>
                        <m:r>
                          <a:rPr lang="en-US" altLang="zh-CN" sz="2400" b="1" i="1">
                            <a:solidFill>
                              <a:srgbClr val="FF0000"/>
                            </a:solidFill>
                            <a:latin typeface="Cambria Math" panose="02040503050406030204" pitchFamily="18" charset="0"/>
                            <a:cs typeface="Times New Roman" panose="02020603050405020304" pitchFamily="18" charset="0"/>
                          </a:rPr>
                          <m:t>𝒇</m:t>
                        </m:r>
                        <m:d>
                          <m:dPr>
                            <m:ctrlPr>
                              <a:rPr lang="en-US" altLang="zh-CN" sz="2400" b="1" i="1">
                                <a:solidFill>
                                  <a:srgbClr val="FF0000"/>
                                </a:solidFill>
                                <a:latin typeface="Cambria Math" panose="02040503050406030204" pitchFamily="18" charset="0"/>
                                <a:cs typeface="Times New Roman" panose="02020603050405020304" pitchFamily="18" charset="0"/>
                              </a:rPr>
                            </m:ctrlPr>
                          </m:dPr>
                          <m:e>
                            <m:r>
                              <a:rPr lang="en-US" altLang="zh-CN" sz="2400" b="1" i="1" smtClean="0">
                                <a:solidFill>
                                  <a:srgbClr val="FF0000"/>
                                </a:solidFill>
                                <a:latin typeface="Cambria Math" panose="02040503050406030204" pitchFamily="18" charset="0"/>
                                <a:cs typeface="Times New Roman" panose="02020603050405020304" pitchFamily="18" charset="0"/>
                              </a:rPr>
                              <m:t>𝟎</m:t>
                            </m:r>
                          </m:e>
                        </m:d>
                      </m:num>
                      <m:den>
                        <m:r>
                          <a:rPr lang="en-US" altLang="zh-CN" sz="2400" b="1" i="1">
                            <a:solidFill>
                              <a:srgbClr val="FF0000"/>
                            </a:solidFill>
                            <a:latin typeface="Cambria Math" panose="02040503050406030204" pitchFamily="18" charset="0"/>
                            <a:cs typeface="Times New Roman" panose="02020603050405020304" pitchFamily="18" charset="0"/>
                          </a:rPr>
                          <m:t>𝜟</m:t>
                        </m:r>
                        <m:r>
                          <a:rPr lang="en-US" altLang="zh-CN" sz="2400" b="1" i="1">
                            <a:solidFill>
                              <a:srgbClr val="FF0000"/>
                            </a:solidFill>
                            <a:latin typeface="Cambria Math" panose="02040503050406030204" pitchFamily="18" charset="0"/>
                            <a:cs typeface="Times New Roman" panose="02020603050405020304" pitchFamily="18" charset="0"/>
                          </a:rPr>
                          <m:t>𝒙</m:t>
                        </m:r>
                      </m:den>
                    </m:f>
                  </m:oMath>
                </a14:m>
                <a:r>
                  <a:rPr lang="zh-CN" altLang="en-US" sz="2400" b="1" dirty="0">
                    <a:latin typeface="+mj-ea"/>
                    <a:ea typeface="+mj-ea"/>
                  </a:rPr>
                  <a:t>可以验证出</a:t>
                </a:r>
                <a14:m>
                  <m:oMath xmlns:m="http://schemas.openxmlformats.org/officeDocument/2006/math">
                    <m:sSubSup>
                      <m:sSubSupPr>
                        <m:ctrlPr>
                          <a:rPr lang="en-US" altLang="zh-CN" sz="2400" b="1" i="1" smtClean="0">
                            <a:latin typeface="Cambria Math" panose="02040503050406030204" pitchFamily="18" charset="0"/>
                            <a:ea typeface="+mj-ea"/>
                          </a:rPr>
                        </m:ctrlPr>
                      </m:sSubSupPr>
                      <m:e>
                        <m:r>
                          <a:rPr lang="en-US" altLang="zh-CN" sz="2400" b="1" i="1" smtClean="0">
                            <a:latin typeface="Cambria Math" panose="02040503050406030204" pitchFamily="18" charset="0"/>
                            <a:ea typeface="+mj-ea"/>
                          </a:rPr>
                          <m:t>𝒇</m:t>
                        </m:r>
                      </m:e>
                      <m:sub>
                        <m:r>
                          <a:rPr lang="en-US" altLang="zh-CN" sz="2400" b="1" i="1" smtClean="0">
                            <a:latin typeface="Cambria Math" panose="02040503050406030204" pitchFamily="18" charset="0"/>
                            <a:ea typeface="+mj-ea"/>
                          </a:rPr>
                          <m:t>𝒙</m:t>
                        </m:r>
                      </m:sub>
                      <m:sup>
                        <m:r>
                          <a:rPr lang="en-US" altLang="zh-CN" sz="2400" b="1" i="1" smtClean="0">
                            <a:latin typeface="Cambria Math" panose="02040503050406030204" pitchFamily="18" charset="0"/>
                            <a:ea typeface="+mj-ea"/>
                          </a:rPr>
                          <m:t>′</m:t>
                        </m:r>
                      </m:sup>
                    </m:sSubSup>
                    <m:r>
                      <a:rPr lang="en-US" altLang="zh-CN" sz="2400" b="1" i="1" smtClean="0">
                        <a:latin typeface="Cambria Math" panose="02040503050406030204" pitchFamily="18" charset="0"/>
                        <a:ea typeface="+mj-ea"/>
                      </a:rPr>
                      <m:t>(</m:t>
                    </m:r>
                    <m:r>
                      <a:rPr lang="en-US" altLang="zh-CN" sz="2400" b="1" i="1" smtClean="0">
                        <a:latin typeface="Cambria Math" panose="02040503050406030204" pitchFamily="18" charset="0"/>
                        <a:ea typeface="+mj-ea"/>
                      </a:rPr>
                      <m:t>𝟎</m:t>
                    </m:r>
                    <m:r>
                      <a:rPr lang="en-US" altLang="zh-CN" sz="2400" b="1" i="1" smtClean="0">
                        <a:latin typeface="Cambria Math" panose="02040503050406030204" pitchFamily="18" charset="0"/>
                        <a:ea typeface="+mj-ea"/>
                      </a:rPr>
                      <m:t>)</m:t>
                    </m:r>
                  </m:oMath>
                </a14:m>
                <a:r>
                  <a:rPr lang="zh-CN" altLang="en-US" sz="2400" b="1" dirty="0">
                    <a:latin typeface="+mj-ea"/>
                    <a:ea typeface="+mj-ea"/>
                  </a:rPr>
                  <a:t>不存在。（练习）</a:t>
                </a:r>
                <a:endParaRPr lang="en-US" altLang="zh-CN" sz="2400" b="1" dirty="0">
                  <a:latin typeface="+mj-ea"/>
                  <a:ea typeface="+mj-ea"/>
                </a:endParaRPr>
              </a:p>
            </p:txBody>
          </p:sp>
        </mc:Choice>
        <mc:Fallback>
          <p:sp>
            <p:nvSpPr>
              <p:cNvPr id="5" name="矩形 4"/>
              <p:cNvSpPr>
                <a:spLocks noRot="1" noChangeAspect="1" noMove="1" noResize="1" noEditPoints="1" noAdjustHandles="1" noChangeArrowheads="1" noChangeShapeType="1" noTextEdit="1"/>
              </p:cNvSpPr>
              <p:nvPr/>
            </p:nvSpPr>
            <p:spPr>
              <a:xfrm>
                <a:off x="179511" y="5632838"/>
                <a:ext cx="8568953" cy="1043363"/>
              </a:xfrm>
              <a:prstGeom prst="rect">
                <a:avLst/>
              </a:prstGeom>
              <a:blipFill rotWithShape="1">
                <a:blip r:embed="rId5"/>
                <a:stretch>
                  <a:fillRect l="-5" t="-37" r="-2363" b="4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524" y="-171400"/>
            <a:ext cx="8364956"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hlinkClick r:id="rId1" action="ppaction://hlinkfile"/>
              </a:rPr>
              <a:t>泰勒展开</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8" name="矩形 7"/>
          <p:cNvSpPr/>
          <p:nvPr/>
        </p:nvSpPr>
        <p:spPr>
          <a:xfrm>
            <a:off x="323528" y="992054"/>
            <a:ext cx="8339199" cy="461665"/>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en-US" altLang="zh-CN" sz="2400" b="1" dirty="0">
                <a:solidFill>
                  <a:schemeClr val="accent2"/>
                </a:solidFill>
                <a:latin typeface="Courier New" panose="02070309020205020404" pitchFamily="49" charset="0"/>
                <a:ea typeface="+mj-ea"/>
                <a:cs typeface="Courier New" panose="02070309020205020404" pitchFamily="49" charset="0"/>
              </a:rPr>
              <a:t>r=</a:t>
            </a:r>
            <a:r>
              <a:rPr lang="en-US" altLang="zh-CN" sz="2400" b="1" dirty="0" err="1">
                <a:solidFill>
                  <a:schemeClr val="accent2"/>
                </a:solidFill>
                <a:latin typeface="Courier New" panose="02070309020205020404" pitchFamily="49" charset="0"/>
                <a:ea typeface="+mj-ea"/>
                <a:cs typeface="Courier New" panose="02070309020205020404" pitchFamily="49" charset="0"/>
              </a:rPr>
              <a:t>taylor</a:t>
            </a:r>
            <a:r>
              <a:rPr lang="en-US" altLang="zh-CN" sz="2400" b="1" dirty="0">
                <a:solidFill>
                  <a:schemeClr val="accent2"/>
                </a:solidFill>
                <a:latin typeface="Courier New" panose="02070309020205020404" pitchFamily="49" charset="0"/>
                <a:ea typeface="+mj-ea"/>
                <a:cs typeface="Courier New" panose="02070309020205020404" pitchFamily="49" charset="0"/>
              </a:rPr>
              <a:t>(g)</a:t>
            </a:r>
            <a:r>
              <a:rPr lang="zh-CN" altLang="en-US" sz="2400" b="1" dirty="0">
                <a:latin typeface="Courier New" panose="02070309020205020404" pitchFamily="49" charset="0"/>
                <a:ea typeface="+mj-ea"/>
                <a:cs typeface="Courier New" panose="02070309020205020404" pitchFamily="49" charset="0"/>
              </a:rPr>
              <a:t>可获得函数</a:t>
            </a:r>
            <a:r>
              <a:rPr lang="en-US" altLang="zh-CN" sz="2400" b="1" dirty="0">
                <a:latin typeface="Courier New" panose="02070309020205020404" pitchFamily="49" charset="0"/>
                <a:ea typeface="+mj-ea"/>
                <a:cs typeface="Courier New" panose="02070309020205020404" pitchFamily="49" charset="0"/>
              </a:rPr>
              <a:t>g</a:t>
            </a:r>
            <a:r>
              <a:rPr lang="zh-CN" altLang="en-US" sz="2400" b="1" dirty="0">
                <a:latin typeface="Courier New" panose="02070309020205020404" pitchFamily="49" charset="0"/>
                <a:ea typeface="+mj-ea"/>
                <a:cs typeface="Courier New" panose="02070309020205020404" pitchFamily="49" charset="0"/>
              </a:rPr>
              <a:t>在</a:t>
            </a:r>
            <a:r>
              <a:rPr lang="en-US" altLang="zh-CN" sz="2400" b="1" dirty="0">
                <a:latin typeface="Courier New" panose="02070309020205020404" pitchFamily="49" charset="0"/>
                <a:ea typeface="+mj-ea"/>
                <a:cs typeface="Courier New" panose="02070309020205020404" pitchFamily="49" charset="0"/>
              </a:rPr>
              <a:t>0</a:t>
            </a:r>
            <a:r>
              <a:rPr lang="zh-CN" altLang="en-US" sz="2400" b="1" dirty="0">
                <a:latin typeface="Courier New" panose="02070309020205020404" pitchFamily="49" charset="0"/>
                <a:ea typeface="+mj-ea"/>
                <a:cs typeface="Courier New" panose="02070309020205020404" pitchFamily="49" charset="0"/>
              </a:rPr>
              <a:t>点的</a:t>
            </a:r>
            <a:r>
              <a:rPr lang="en-US" altLang="zh-CN" sz="2400" b="1" dirty="0">
                <a:latin typeface="Courier New" panose="02070309020205020404" pitchFamily="49" charset="0"/>
                <a:ea typeface="+mj-ea"/>
                <a:cs typeface="Courier New" panose="02070309020205020404" pitchFamily="49" charset="0"/>
              </a:rPr>
              <a:t>5</a:t>
            </a:r>
            <a:r>
              <a:rPr lang="zh-CN" altLang="en-US" sz="2400" b="1" dirty="0">
                <a:latin typeface="Courier New" panose="02070309020205020404" pitchFamily="49" charset="0"/>
                <a:ea typeface="+mj-ea"/>
                <a:cs typeface="Courier New" panose="02070309020205020404" pitchFamily="49" charset="0"/>
              </a:rPr>
              <a:t>阶麦克劳林展开</a:t>
            </a:r>
            <a:endParaRPr lang="en-US" altLang="zh-CN" sz="2400" b="1" dirty="0">
              <a:latin typeface="+mj-ea"/>
              <a:ea typeface="+mj-ea"/>
            </a:endParaRPr>
          </a:p>
        </p:txBody>
      </p:sp>
      <p:sp>
        <p:nvSpPr>
          <p:cNvPr id="9" name="矩形 8"/>
          <p:cNvSpPr/>
          <p:nvPr/>
        </p:nvSpPr>
        <p:spPr>
          <a:xfrm>
            <a:off x="323528" y="1508650"/>
            <a:ext cx="8339199" cy="830997"/>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en-US" altLang="zh-CN" sz="2400" b="1" dirty="0">
                <a:solidFill>
                  <a:schemeClr val="accent2"/>
                </a:solidFill>
                <a:latin typeface="Courier New" panose="02070309020205020404" pitchFamily="49" charset="0"/>
                <a:ea typeface="+mj-ea"/>
                <a:cs typeface="Courier New" panose="02070309020205020404" pitchFamily="49" charset="0"/>
              </a:rPr>
              <a:t>r=</a:t>
            </a:r>
            <a:r>
              <a:rPr lang="en-US" altLang="zh-CN" sz="2400" b="1" dirty="0" err="1">
                <a:solidFill>
                  <a:schemeClr val="accent2"/>
                </a:solidFill>
                <a:latin typeface="Courier New" panose="02070309020205020404" pitchFamily="49" charset="0"/>
                <a:ea typeface="+mj-ea"/>
                <a:cs typeface="Courier New" panose="02070309020205020404" pitchFamily="49" charset="0"/>
              </a:rPr>
              <a:t>taylor</a:t>
            </a:r>
            <a:r>
              <a:rPr lang="en-US" altLang="zh-CN" sz="2400" b="1" dirty="0">
                <a:solidFill>
                  <a:schemeClr val="accent2"/>
                </a:solidFill>
                <a:latin typeface="Courier New" panose="02070309020205020404" pitchFamily="49" charset="0"/>
                <a:ea typeface="+mj-ea"/>
                <a:cs typeface="Courier New" panose="02070309020205020404" pitchFamily="49" charset="0"/>
              </a:rPr>
              <a:t>(g,x,a,'Order',10)</a:t>
            </a:r>
            <a:r>
              <a:rPr lang="zh-CN" altLang="en-US" sz="2400" b="1" dirty="0">
                <a:latin typeface="Courier New" panose="02070309020205020404" pitchFamily="49" charset="0"/>
                <a:ea typeface="+mj-ea"/>
                <a:cs typeface="Courier New" panose="02070309020205020404" pitchFamily="49" charset="0"/>
              </a:rPr>
              <a:t>可获得函数</a:t>
            </a:r>
            <a:r>
              <a:rPr lang="en-US" altLang="zh-CN" sz="2400" b="1" dirty="0">
                <a:latin typeface="Courier New" panose="02070309020205020404" pitchFamily="49" charset="0"/>
                <a:ea typeface="+mj-ea"/>
                <a:cs typeface="Courier New" panose="02070309020205020404" pitchFamily="49" charset="0"/>
              </a:rPr>
              <a:t>g</a:t>
            </a:r>
            <a:r>
              <a:rPr lang="zh-CN" altLang="en-US" sz="2400" b="1" dirty="0">
                <a:latin typeface="Courier New" panose="02070309020205020404" pitchFamily="49" charset="0"/>
                <a:ea typeface="+mj-ea"/>
                <a:cs typeface="Courier New" panose="02070309020205020404" pitchFamily="49" charset="0"/>
              </a:rPr>
              <a:t>在</a:t>
            </a:r>
            <a:r>
              <a:rPr lang="en-US" altLang="zh-CN" sz="2400" b="1" dirty="0">
                <a:latin typeface="Courier New" panose="02070309020205020404" pitchFamily="49" charset="0"/>
                <a:ea typeface="+mj-ea"/>
                <a:cs typeface="Courier New" panose="02070309020205020404" pitchFamily="49" charset="0"/>
              </a:rPr>
              <a:t>x=a</a:t>
            </a:r>
            <a:r>
              <a:rPr lang="zh-CN" altLang="en-US" sz="2400" b="1" dirty="0">
                <a:latin typeface="Courier New" panose="02070309020205020404" pitchFamily="49" charset="0"/>
                <a:ea typeface="+mj-ea"/>
                <a:cs typeface="Courier New" panose="02070309020205020404" pitchFamily="49" charset="0"/>
              </a:rPr>
              <a:t>点的</a:t>
            </a:r>
            <a:r>
              <a:rPr lang="en-US" altLang="zh-CN" sz="2400" b="1" dirty="0">
                <a:latin typeface="Courier New" panose="02070309020205020404" pitchFamily="49" charset="0"/>
                <a:ea typeface="+mj-ea"/>
                <a:cs typeface="Courier New" panose="02070309020205020404" pitchFamily="49" charset="0"/>
              </a:rPr>
              <a:t>9</a:t>
            </a:r>
            <a:r>
              <a:rPr lang="zh-CN" altLang="en-US" sz="2400" b="1" dirty="0">
                <a:latin typeface="Courier New" panose="02070309020205020404" pitchFamily="49" charset="0"/>
                <a:ea typeface="+mj-ea"/>
                <a:cs typeface="Courier New" panose="02070309020205020404" pitchFamily="49" charset="0"/>
              </a:rPr>
              <a:t>阶泰勒展开表达式</a:t>
            </a:r>
            <a:endParaRPr lang="en-US" altLang="zh-CN" sz="2400" b="1" dirty="0">
              <a:latin typeface="+mj-ea"/>
              <a:ea typeface="+mj-ea"/>
            </a:endParaRPr>
          </a:p>
        </p:txBody>
      </p:sp>
      <mc:AlternateContent xmlns:mc="http://schemas.openxmlformats.org/markup-compatibility/2006">
        <mc:Choice xmlns:a14="http://schemas.microsoft.com/office/drawing/2010/main" Requires="a14">
          <p:sp>
            <p:nvSpPr>
              <p:cNvPr id="5" name="矩形 4"/>
              <p:cNvSpPr/>
              <p:nvPr/>
            </p:nvSpPr>
            <p:spPr>
              <a:xfrm>
                <a:off x="107504" y="2795229"/>
                <a:ext cx="9433048" cy="3711914"/>
              </a:xfrm>
              <a:prstGeom prst="rect">
                <a:avLst/>
              </a:prstGeom>
            </p:spPr>
            <p:txBody>
              <a:bodyPr wrap="square">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clear,syms x k</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f=sin(x)/x; 				%</a:t>
                </a:r>
                <a:r>
                  <a:rPr lang="zh-CN" altLang="en-US" b="1" dirty="0">
                    <a:solidFill>
                      <a:srgbClr val="FF0000"/>
                    </a:solidFill>
                    <a:latin typeface="Courier New" panose="02070309020205020404" pitchFamily="49" charset="0"/>
                    <a:cs typeface="Times New Roman" panose="02020603050405020304" pitchFamily="18" charset="0"/>
                  </a:rPr>
                  <a:t>定义函数</a:t>
                </a:r>
                <a:r>
                  <a:rPr lang="en-US" altLang="zh-CN" b="1" dirty="0">
                    <a:solidFill>
                      <a:srgbClr val="FF0000"/>
                    </a:solidFill>
                    <a:latin typeface="Courier New" panose="02070309020205020404" pitchFamily="49" charset="0"/>
                    <a:cs typeface="Times New Roman" panose="02020603050405020304" pitchFamily="18" charset="0"/>
                  </a:rPr>
                  <a:t>f</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F(5)=f;				%</a:t>
                </a:r>
                <a:r>
                  <a:rPr lang="zh-CN" altLang="en-US" b="1" dirty="0">
                    <a:solidFill>
                      <a:srgbClr val="FF0000"/>
                    </a:solidFill>
                    <a:latin typeface="Courier New" panose="02070309020205020404" pitchFamily="49" charset="0"/>
                    <a:cs typeface="Times New Roman" panose="02020603050405020304" pitchFamily="18" charset="0"/>
                  </a:rPr>
                  <a:t>定义</a:t>
                </a:r>
                <a:r>
                  <a:rPr lang="en-US" altLang="zh-CN" b="1" dirty="0">
                    <a:solidFill>
                      <a:srgbClr val="FF0000"/>
                    </a:solidFill>
                    <a:latin typeface="Courier New" panose="02070309020205020404" pitchFamily="49" charset="0"/>
                    <a:cs typeface="Times New Roman" panose="02020603050405020304" pitchFamily="18" charset="0"/>
                  </a:rPr>
                  <a:t>F</a:t>
                </a:r>
                <a:r>
                  <a:rPr lang="zh-CN" altLang="en-US" b="1" dirty="0">
                    <a:solidFill>
                      <a:srgbClr val="FF0000"/>
                    </a:solidFill>
                    <a:latin typeface="Courier New" panose="02070309020205020404" pitchFamily="49" charset="0"/>
                    <a:cs typeface="Times New Roman" panose="02020603050405020304" pitchFamily="18" charset="0"/>
                  </a:rPr>
                  <a:t>为一个长度为</a:t>
                </a:r>
                <a:r>
                  <a:rPr lang="en-US" altLang="zh-CN" b="1" dirty="0">
                    <a:solidFill>
                      <a:srgbClr val="FF0000"/>
                    </a:solidFill>
                    <a:latin typeface="Courier New" panose="02070309020205020404" pitchFamily="49" charset="0"/>
                    <a:cs typeface="Times New Roman" panose="02020603050405020304" pitchFamily="18" charset="0"/>
                  </a:rPr>
                  <a:t>5</a:t>
                </a:r>
                <a:r>
                  <a:rPr lang="zh-CN" altLang="en-US" b="1" dirty="0">
                    <a:solidFill>
                      <a:srgbClr val="FF0000"/>
                    </a:solidFill>
                    <a:latin typeface="Courier New" panose="02070309020205020404" pitchFamily="49" charset="0"/>
                    <a:cs typeface="Times New Roman" panose="02020603050405020304" pitchFamily="18" charset="0"/>
                  </a:rPr>
                  <a:t>的函数向量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for ii=4:-1:1</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	F(ii)=diff(F(ii+1));</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end					%</a:t>
                </a:r>
                <a:r>
                  <a:rPr lang="zh-CN" altLang="en-US" b="1" dirty="0">
                    <a:solidFill>
                      <a:srgbClr val="FF0000"/>
                    </a:solidFill>
                    <a:latin typeface="Courier New" panose="02070309020205020404" pitchFamily="49" charset="0"/>
                    <a:cs typeface="Times New Roman" panose="02020603050405020304" pitchFamily="18" charset="0"/>
                  </a:rPr>
                  <a:t>计算</a:t>
                </a:r>
                <a:r>
                  <a:rPr lang="en-US" altLang="zh-CN" b="1" dirty="0">
                    <a:solidFill>
                      <a:srgbClr val="FF0000"/>
                    </a:solidFill>
                    <a:latin typeface="Courier New" panose="02070309020205020404" pitchFamily="49" charset="0"/>
                    <a:cs typeface="Times New Roman" panose="02020603050405020304" pitchFamily="18" charset="0"/>
                  </a:rPr>
                  <a:t>f</a:t>
                </a:r>
                <a:r>
                  <a:rPr lang="zh-CN" altLang="en-US" b="1" dirty="0">
                    <a:solidFill>
                      <a:srgbClr val="FF0000"/>
                    </a:solidFill>
                    <a:latin typeface="Courier New" panose="02070309020205020404" pitchFamily="49" charset="0"/>
                    <a:cs typeface="Times New Roman" panose="02020603050405020304" pitchFamily="18" charset="0"/>
                  </a:rPr>
                  <a:t>的一阶导函数到四阶导函数</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fd</a:t>
                </a:r>
                <a:r>
                  <a:rPr lang="en-US" altLang="zh-CN" b="1" dirty="0">
                    <a:solidFill>
                      <a:srgbClr val="008000"/>
                    </a:solidFill>
                    <a:latin typeface="Courier New" panose="02070309020205020404" pitchFamily="49" charset="0"/>
                    <a:cs typeface="Times New Roman" panose="02020603050405020304" pitchFamily="18" charset="0"/>
                  </a:rPr>
                  <a:t>=limit(F,x,0)			%</a:t>
                </a:r>
                <a:r>
                  <a:rPr lang="zh-CN" altLang="en-US" b="1" dirty="0">
                    <a:solidFill>
                      <a:srgbClr val="FF0000"/>
                    </a:solidFill>
                    <a:latin typeface="Courier New" panose="02070309020205020404" pitchFamily="49" charset="0"/>
                    <a:cs typeface="Times New Roman" panose="02020603050405020304" pitchFamily="18" charset="0"/>
                  </a:rPr>
                  <a:t>计算</a:t>
                </a:r>
                <a14:m>
                  <m:oMath xmlns:m="http://schemas.openxmlformats.org/officeDocument/2006/math">
                    <m:sSup>
                      <m:sSupPr>
                        <m:ctrlPr>
                          <a:rPr lang="en-US" altLang="zh-CN" b="1" i="1" smtClean="0">
                            <a:solidFill>
                              <a:srgbClr val="FF0000"/>
                            </a:solidFill>
                            <a:latin typeface="Cambria Math" panose="02040503050406030204" pitchFamily="18" charset="0"/>
                            <a:cs typeface="Times New Roman" panose="02020603050405020304" pitchFamily="18" charset="0"/>
                          </a:rPr>
                        </m:ctrlPr>
                      </m:sSupPr>
                      <m:e>
                        <m:r>
                          <a:rPr lang="en-US" altLang="zh-CN" b="1" i="1" smtClean="0">
                            <a:solidFill>
                              <a:srgbClr val="FF0000"/>
                            </a:solidFill>
                            <a:latin typeface="Cambria Math" panose="02040503050406030204" pitchFamily="18" charset="0"/>
                            <a:cs typeface="Times New Roman" panose="02020603050405020304" pitchFamily="18" charset="0"/>
                          </a:rPr>
                          <m:t>𝒇</m:t>
                        </m:r>
                      </m:e>
                      <m:sup>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𝟒</m:t>
                            </m:r>
                          </m:e>
                        </m:d>
                      </m:sup>
                    </m:sSup>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𝟎</m:t>
                        </m:r>
                      </m:e>
                    </m:d>
                    <m:r>
                      <a:rPr lang="en-US" altLang="zh-CN" b="1" i="1" smtClean="0">
                        <a:solidFill>
                          <a:srgbClr val="FF0000"/>
                        </a:solidFill>
                        <a:latin typeface="Cambria Math" panose="02040503050406030204" pitchFamily="18" charset="0"/>
                        <a:cs typeface="Times New Roman" panose="02020603050405020304" pitchFamily="18" charset="0"/>
                      </a:rPr>
                      <m:t>,</m:t>
                    </m:r>
                    <m:sSup>
                      <m:sSupPr>
                        <m:ctrlPr>
                          <a:rPr lang="en-US" altLang="zh-CN" b="1" i="1" smtClean="0">
                            <a:solidFill>
                              <a:srgbClr val="FF0000"/>
                            </a:solidFill>
                            <a:latin typeface="Cambria Math" panose="02040503050406030204" pitchFamily="18" charset="0"/>
                            <a:cs typeface="Times New Roman" panose="02020603050405020304" pitchFamily="18" charset="0"/>
                          </a:rPr>
                        </m:ctrlPr>
                      </m:sSupPr>
                      <m:e>
                        <m:r>
                          <a:rPr lang="en-US" altLang="zh-CN" b="1" i="1" smtClean="0">
                            <a:solidFill>
                              <a:srgbClr val="FF0000"/>
                            </a:solidFill>
                            <a:latin typeface="Cambria Math" panose="02040503050406030204" pitchFamily="18" charset="0"/>
                            <a:cs typeface="Times New Roman" panose="02020603050405020304" pitchFamily="18" charset="0"/>
                          </a:rPr>
                          <m:t>𝒇</m:t>
                        </m:r>
                      </m:e>
                      <m:sup>
                        <m:r>
                          <a:rPr lang="en-US" altLang="zh-CN" b="1" i="1" smtClean="0">
                            <a:solidFill>
                              <a:srgbClr val="FF0000"/>
                            </a:solidFill>
                            <a:latin typeface="Cambria Math" panose="02040503050406030204" pitchFamily="18" charset="0"/>
                            <a:cs typeface="Times New Roman" panose="02020603050405020304" pitchFamily="18" charset="0"/>
                          </a:rPr>
                          <m:t>′′′</m:t>
                        </m:r>
                      </m:sup>
                    </m:sSup>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𝟎</m:t>
                        </m:r>
                      </m:e>
                    </m:d>
                    <m:r>
                      <a:rPr lang="en-US" altLang="zh-CN" b="1" i="1" smtClean="0">
                        <a:solidFill>
                          <a:srgbClr val="FF0000"/>
                        </a:solidFill>
                        <a:latin typeface="Cambria Math" panose="02040503050406030204" pitchFamily="18" charset="0"/>
                        <a:cs typeface="Times New Roman" panose="02020603050405020304" pitchFamily="18" charset="0"/>
                      </a:rPr>
                      <m:t>,</m:t>
                    </m:r>
                    <m:sSup>
                      <m:sSupPr>
                        <m:ctrlPr>
                          <a:rPr lang="en-US" altLang="zh-CN" b="1" i="1" smtClean="0">
                            <a:solidFill>
                              <a:srgbClr val="FF0000"/>
                            </a:solidFill>
                            <a:latin typeface="Cambria Math" panose="02040503050406030204" pitchFamily="18" charset="0"/>
                            <a:cs typeface="Times New Roman" panose="02020603050405020304" pitchFamily="18" charset="0"/>
                          </a:rPr>
                        </m:ctrlPr>
                      </m:sSupPr>
                      <m:e>
                        <m:r>
                          <a:rPr lang="en-US" altLang="zh-CN" b="1" i="1" smtClean="0">
                            <a:solidFill>
                              <a:srgbClr val="FF0000"/>
                            </a:solidFill>
                            <a:latin typeface="Cambria Math" panose="02040503050406030204" pitchFamily="18" charset="0"/>
                            <a:cs typeface="Times New Roman" panose="02020603050405020304" pitchFamily="18" charset="0"/>
                          </a:rPr>
                          <m:t>𝒇</m:t>
                        </m:r>
                      </m:e>
                      <m:sup>
                        <m:r>
                          <a:rPr lang="en-US" altLang="zh-CN" b="1" i="1" smtClean="0">
                            <a:solidFill>
                              <a:srgbClr val="FF0000"/>
                            </a:solidFill>
                            <a:latin typeface="Cambria Math" panose="02040503050406030204" pitchFamily="18" charset="0"/>
                            <a:cs typeface="Times New Roman" panose="02020603050405020304" pitchFamily="18" charset="0"/>
                          </a:rPr>
                          <m:t>′′</m:t>
                        </m:r>
                      </m:sup>
                    </m:sSup>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𝟎</m:t>
                        </m:r>
                      </m:e>
                    </m:d>
                    <m:r>
                      <a:rPr lang="en-US" altLang="zh-CN" b="1" i="1" smtClean="0">
                        <a:solidFill>
                          <a:srgbClr val="FF0000"/>
                        </a:solidFill>
                        <a:latin typeface="Cambria Math" panose="02040503050406030204" pitchFamily="18" charset="0"/>
                        <a:cs typeface="Times New Roman" panose="02020603050405020304" pitchFamily="18" charset="0"/>
                      </a:rPr>
                      <m:t>,</m:t>
                    </m:r>
                    <m:sSup>
                      <m:sSupPr>
                        <m:ctrlPr>
                          <a:rPr lang="en-US" altLang="zh-CN" b="1" i="1" smtClean="0">
                            <a:solidFill>
                              <a:srgbClr val="FF0000"/>
                            </a:solidFill>
                            <a:latin typeface="Cambria Math" panose="02040503050406030204" pitchFamily="18" charset="0"/>
                            <a:cs typeface="Times New Roman" panose="02020603050405020304" pitchFamily="18" charset="0"/>
                          </a:rPr>
                        </m:ctrlPr>
                      </m:sSupPr>
                      <m:e>
                        <m:r>
                          <a:rPr lang="en-US" altLang="zh-CN" b="1" i="1" smtClean="0">
                            <a:solidFill>
                              <a:srgbClr val="FF0000"/>
                            </a:solidFill>
                            <a:latin typeface="Cambria Math" panose="02040503050406030204" pitchFamily="18" charset="0"/>
                            <a:cs typeface="Times New Roman" panose="02020603050405020304" pitchFamily="18" charset="0"/>
                          </a:rPr>
                          <m:t>𝒇</m:t>
                        </m:r>
                      </m:e>
                      <m:sup>
                        <m:r>
                          <a:rPr lang="en-US" altLang="zh-CN" b="1" i="1" smtClean="0">
                            <a:solidFill>
                              <a:srgbClr val="FF0000"/>
                            </a:solidFill>
                            <a:latin typeface="Cambria Math" panose="02040503050406030204" pitchFamily="18" charset="0"/>
                            <a:cs typeface="Times New Roman" panose="02020603050405020304" pitchFamily="18" charset="0"/>
                          </a:rPr>
                          <m:t>′</m:t>
                        </m:r>
                      </m:sup>
                    </m:sSup>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𝟎</m:t>
                        </m:r>
                      </m:e>
                    </m:d>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𝒇</m:t>
                    </m:r>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𝟎</m:t>
                    </m:r>
                    <m:r>
                      <a:rPr lang="en-US" altLang="zh-CN" b="1" i="1" smtClean="0">
                        <a:solidFill>
                          <a:srgbClr val="FF0000"/>
                        </a:solidFill>
                        <a:latin typeface="Cambria Math" panose="02040503050406030204" pitchFamily="18" charset="0"/>
                        <a:cs typeface="Times New Roman" panose="02020603050405020304" pitchFamily="18" charset="0"/>
                      </a:rPr>
                      <m:t>)</m:t>
                    </m:r>
                  </m:oMath>
                </a14:m>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nl-NL" altLang="zh-CN" dirty="0">
                    <a:solidFill>
                      <a:srgbClr val="0000FF"/>
                    </a:solidFill>
                    <a:latin typeface="Courier New" panose="02070309020205020404" pitchFamily="49" charset="0"/>
                    <a:cs typeface="Times New Roman" panose="02020603050405020304" pitchFamily="18" charset="0"/>
                  </a:rPr>
                  <a:t>fd = [ 1/5, 0, -1/3, 0, 1]</a:t>
                </a:r>
                <a:endParaRPr lang="nl-NL"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ctaylor</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fd</a:t>
                </a:r>
                <a:r>
                  <a:rPr lang="en-US" altLang="zh-CN" b="1" dirty="0">
                    <a:solidFill>
                      <a:srgbClr val="008000"/>
                    </a:solidFill>
                    <a:latin typeface="Courier New" panose="02070309020205020404" pitchFamily="49" charset="0"/>
                    <a:cs typeface="Times New Roman" panose="02020603050405020304" pitchFamily="18" charset="0"/>
                  </a:rPr>
                  <a:t>./subs(factorial(k),[4:-1:0])	%</a:t>
                </a:r>
                <a:r>
                  <a:rPr lang="zh-CN" altLang="en-US" b="1" dirty="0">
                    <a:solidFill>
                      <a:srgbClr val="FF0000"/>
                    </a:solidFill>
                    <a:latin typeface="Cambria Math" panose="02040503050406030204" pitchFamily="18" charset="0"/>
                    <a:cs typeface="Times New Roman" panose="02020603050405020304" pitchFamily="18" charset="0"/>
                  </a:rPr>
                  <a:t>泰勒展开的多项式系数（除以</a:t>
                </a:r>
                <a14:m>
                  <m:oMath xmlns:m="http://schemas.openxmlformats.org/officeDocument/2006/math">
                    <m:r>
                      <a:rPr lang="en-US" altLang="zh-CN" b="1" i="1">
                        <a:solidFill>
                          <a:srgbClr val="FF0000"/>
                        </a:solidFill>
                        <a:latin typeface="Cambria Math" panose="02040503050406030204" pitchFamily="18" charset="0"/>
                        <a:cs typeface="Times New Roman" panose="02020603050405020304" pitchFamily="18" charset="0"/>
                      </a:rPr>
                      <m:t>𝒌</m:t>
                    </m:r>
                    <m:r>
                      <a:rPr lang="en-US" altLang="zh-CN" b="1" i="0">
                        <a:solidFill>
                          <a:srgbClr val="FF0000"/>
                        </a:solidFill>
                        <a:latin typeface="Cambria Math" panose="02040503050406030204" pitchFamily="18" charset="0"/>
                        <a:cs typeface="Times New Roman" panose="02020603050405020304" pitchFamily="18" charset="0"/>
                      </a:rPr>
                      <m:t>!</m:t>
                    </m:r>
                  </m:oMath>
                </a14:m>
                <a:r>
                  <a:rPr lang="zh-CN" altLang="en-US" b="1" dirty="0">
                    <a:solidFill>
                      <a:srgbClr val="FF0000"/>
                    </a:solidFill>
                    <a:latin typeface="Cambria Math" panose="02040503050406030204" pitchFamily="18" charset="0"/>
                    <a:cs typeface="Times New Roman" panose="02020603050405020304" pitchFamily="18" charset="0"/>
                  </a:rPr>
                  <a:t>）</a:t>
                </a:r>
                <a:endParaRPr lang="en-US" altLang="zh-CN" b="1" dirty="0">
                  <a:solidFill>
                    <a:srgbClr val="FF0000"/>
                  </a:solidFill>
                  <a:latin typeface="Cambria Math" panose="02040503050406030204" pitchFamily="18" charset="0"/>
                  <a:cs typeface="Times New Roman" panose="02020603050405020304" pitchFamily="18" charset="0"/>
                </a:endParaRPr>
              </a:p>
              <a:p>
                <a:pPr algn="just" hangingPunct="0">
                  <a:spcAft>
                    <a:spcPts val="0"/>
                  </a:spcAft>
                  <a:tabLst>
                    <a:tab pos="269875" algn="l"/>
                  </a:tabLst>
                </a:pPr>
                <a:r>
                  <a:rPr lang="en-US" altLang="zh-CN" dirty="0" err="1">
                    <a:solidFill>
                      <a:srgbClr val="0000FF"/>
                    </a:solidFill>
                    <a:latin typeface="Courier New" panose="02070309020205020404" pitchFamily="49" charset="0"/>
                    <a:cs typeface="Times New Roman" panose="02020603050405020304" pitchFamily="18" charset="0"/>
                  </a:rPr>
                  <a:t>ctaylor</a:t>
                </a:r>
                <a:r>
                  <a:rPr lang="en-US" altLang="zh-CN" dirty="0">
                    <a:solidFill>
                      <a:srgbClr val="0000FF"/>
                    </a:solidFill>
                    <a:latin typeface="Courier New" panose="02070309020205020404" pitchFamily="49" charset="0"/>
                    <a:cs typeface="Times New Roman" panose="02020603050405020304" pitchFamily="18" charset="0"/>
                  </a:rPr>
                  <a:t> = [ 1/120, 0, -1/6, 0, 1]</a:t>
                </a:r>
                <a:endParaRPr lang="en-US" altLang="zh-CN" b="1" dirty="0">
                  <a:solidFill>
                    <a:srgbClr val="008000"/>
                  </a:solidFill>
                  <a:latin typeface="Courier New" panose="02070309020205020404" pitchFamily="49" charset="0"/>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107504" y="2795229"/>
                <a:ext cx="9433048" cy="3711914"/>
              </a:xfrm>
              <a:prstGeom prst="rect">
                <a:avLst/>
              </a:prstGeom>
              <a:blipFill rotWithShape="1">
                <a:blip r:embed="rId2"/>
                <a:stretch>
                  <a:fillRect l="-2" t="-16" r="3"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0" y="2339647"/>
                <a:ext cx="8208912" cy="495136"/>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2.7-5】</a:t>
                </a:r>
                <a:r>
                  <a:rPr lang="en-US" altLang="zh-CN" b="1" dirty="0">
                    <a:solidFill>
                      <a:prstClr val="black"/>
                    </a:solidFill>
                  </a:rPr>
                  <a:t> </a:t>
                </a:r>
                <a14:m>
                  <m:oMath xmlns:m="http://schemas.openxmlformats.org/officeDocument/2006/math">
                    <m:r>
                      <a:rPr lang="en-US" altLang="zh-CN" b="1" i="1">
                        <a:solidFill>
                          <a:prstClr val="black"/>
                        </a:solidFill>
                        <a:latin typeface="Cambria Math" panose="02040503050406030204" pitchFamily="18" charset="0"/>
                      </a:rPr>
                      <m:t>𝒇</m:t>
                    </m:r>
                    <m:r>
                      <a:rPr lang="en-US" altLang="zh-CN" b="1" i="1">
                        <a:solidFill>
                          <a:prstClr val="black"/>
                        </a:solidFill>
                        <a:latin typeface="Cambria Math" panose="02040503050406030204" pitchFamily="18" charset="0"/>
                      </a:rPr>
                      <m:t>(</m:t>
                    </m:r>
                    <m:r>
                      <a:rPr lang="en-US" altLang="zh-CN" b="1" i="1">
                        <a:solidFill>
                          <a:prstClr val="black"/>
                        </a:solidFill>
                        <a:latin typeface="Cambria Math" panose="02040503050406030204" pitchFamily="18" charset="0"/>
                      </a:rPr>
                      <m:t>𝒙</m:t>
                    </m:r>
                    <m:r>
                      <a:rPr lang="en-US" altLang="zh-CN" b="1" i="1">
                        <a:solidFill>
                          <a:prstClr val="black"/>
                        </a:solidFill>
                        <a:latin typeface="Cambria Math" panose="02040503050406030204" pitchFamily="18" charset="0"/>
                      </a:rPr>
                      <m:t>)=</m:t>
                    </m:r>
                    <m:f>
                      <m:fPr>
                        <m:ctrlPr>
                          <a:rPr lang="en-US" altLang="zh-CN" b="1" i="1">
                            <a:solidFill>
                              <a:prstClr val="black"/>
                            </a:solidFill>
                            <a:latin typeface="Cambria Math" panose="02040503050406030204" pitchFamily="18" charset="0"/>
                          </a:rPr>
                        </m:ctrlPr>
                      </m:fPr>
                      <m:num>
                        <m:func>
                          <m:funcPr>
                            <m:ctrlPr>
                              <a:rPr lang="en-US" altLang="zh-CN" b="1" i="1">
                                <a:solidFill>
                                  <a:prstClr val="black"/>
                                </a:solidFill>
                                <a:latin typeface="Cambria Math" panose="02040503050406030204" pitchFamily="18" charset="0"/>
                              </a:rPr>
                            </m:ctrlPr>
                          </m:funcPr>
                          <m:fName>
                            <m:r>
                              <m:rPr>
                                <m:sty m:val="p"/>
                              </m:rPr>
                              <a:rPr lang="en-US" altLang="zh-CN">
                                <a:solidFill>
                                  <a:prstClr val="black"/>
                                </a:solidFill>
                                <a:latin typeface="Cambria Math" panose="02040503050406030204" pitchFamily="18" charset="0"/>
                              </a:rPr>
                              <m:t>sin</m:t>
                            </m:r>
                          </m:fName>
                          <m:e>
                            <m:r>
                              <a:rPr lang="en-US" altLang="zh-CN" b="1" i="1">
                                <a:solidFill>
                                  <a:prstClr val="black"/>
                                </a:solidFill>
                                <a:latin typeface="Cambria Math" panose="02040503050406030204" pitchFamily="18" charset="0"/>
                              </a:rPr>
                              <m:t>𝒙</m:t>
                            </m:r>
                          </m:e>
                        </m:func>
                      </m:num>
                      <m:den>
                        <m:r>
                          <a:rPr lang="en-US" altLang="zh-CN" b="1" i="1">
                            <a:solidFill>
                              <a:prstClr val="black"/>
                            </a:solidFill>
                            <a:latin typeface="Cambria Math" panose="02040503050406030204" pitchFamily="18" charset="0"/>
                          </a:rPr>
                          <m:t>𝒙</m:t>
                        </m:r>
                      </m:den>
                    </m:f>
                  </m:oMath>
                </a14:m>
                <a:r>
                  <a:rPr lang="zh-CN" altLang="en-US" b="1" dirty="0">
                    <a:latin typeface="+mn-ea"/>
                  </a:rPr>
                  <a:t>的泰勒展开与逼近</a:t>
                </a:r>
                <a:endParaRPr lang="zh-CN" altLang="en-US" b="1" dirty="0">
                  <a:latin typeface="+mn-ea"/>
                </a:endParaRPr>
              </a:p>
            </p:txBody>
          </p:sp>
        </mc:Choice>
        <mc:Fallback>
          <p:sp>
            <p:nvSpPr>
              <p:cNvPr id="11" name="文本框 10"/>
              <p:cNvSpPr txBox="1">
                <a:spLocks noRot="1" noChangeAspect="1" noMove="1" noResize="1" noEditPoints="1" noAdjustHandles="1" noChangeArrowheads="1" noChangeShapeType="1" noTextEdit="1"/>
              </p:cNvSpPr>
              <p:nvPr/>
            </p:nvSpPr>
            <p:spPr>
              <a:xfrm>
                <a:off x="0" y="2339647"/>
                <a:ext cx="8208912" cy="495136"/>
              </a:xfrm>
              <a:prstGeom prst="rect">
                <a:avLst/>
              </a:prstGeom>
              <a:blipFill rotWithShape="1">
                <a:blip r:embed="rId3"/>
                <a:stretch>
                  <a:fillRect t="-62" r="3" b="2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524" y="-171400"/>
            <a:ext cx="8364956"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泰勒展开</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mc:AlternateContent xmlns:mc="http://schemas.openxmlformats.org/markup-compatibility/2006">
        <mc:Choice xmlns:a14="http://schemas.microsoft.com/office/drawing/2010/main" Requires="a14">
          <p:sp>
            <p:nvSpPr>
              <p:cNvPr id="5" name="矩形 4"/>
              <p:cNvSpPr/>
              <p:nvPr/>
            </p:nvSpPr>
            <p:spPr>
              <a:xfrm>
                <a:off x="107504" y="1340768"/>
                <a:ext cx="9433048" cy="5355312"/>
              </a:xfrm>
              <a:prstGeom prst="rect">
                <a:avLst/>
              </a:prstGeom>
            </p:spPr>
            <p:txBody>
              <a:bodyPr wrap="square">
                <a:spAutoFit/>
              </a:bodyPr>
              <a:lstStyle/>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S2=</a:t>
                </a:r>
                <a:r>
                  <a:rPr lang="en-US" altLang="zh-CN" b="1" dirty="0" err="1">
                    <a:solidFill>
                      <a:srgbClr val="008000"/>
                    </a:solidFill>
                    <a:latin typeface="Courier New" panose="02070309020205020404" pitchFamily="49" charset="0"/>
                    <a:cs typeface="Times New Roman" panose="02020603050405020304" pitchFamily="18" charset="0"/>
                  </a:rPr>
                  <a:t>taylor</a:t>
                </a:r>
                <a:r>
                  <a:rPr lang="en-US" altLang="zh-CN" b="1" dirty="0">
                    <a:solidFill>
                      <a:srgbClr val="008000"/>
                    </a:solidFill>
                    <a:latin typeface="Courier New" panose="02070309020205020404" pitchFamily="49" charset="0"/>
                    <a:cs typeface="Times New Roman" panose="02020603050405020304" pitchFamily="18" charset="0"/>
                  </a:rPr>
                  <a:t>(f)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可以获得五阶泰勒展开式</a:t>
                </a:r>
                <a:r>
                  <a:rPr lang="en-US" altLang="zh-CN" b="1" dirty="0">
                    <a:solidFill>
                      <a:srgbClr val="FF0000"/>
                    </a:solidFill>
                    <a:latin typeface="Courier New" panose="02070309020205020404" pitchFamily="49" charset="0"/>
                    <a:cs typeface="Times New Roman" panose="02020603050405020304" pitchFamily="18" charset="0"/>
                  </a:rPr>
                  <a:t>(5</a:t>
                </a:r>
                <a:r>
                  <a:rPr lang="zh-CN" altLang="en-US" b="1" dirty="0">
                    <a:solidFill>
                      <a:srgbClr val="FF0000"/>
                    </a:solidFill>
                    <a:latin typeface="Courier New" panose="02070309020205020404" pitchFamily="49" charset="0"/>
                    <a:cs typeface="Times New Roman" panose="02020603050405020304" pitchFamily="18" charset="0"/>
                  </a:rPr>
                  <a:t>次项系数为</a:t>
                </a:r>
                <a:r>
                  <a:rPr lang="en-US" altLang="zh-CN" b="1" dirty="0">
                    <a:solidFill>
                      <a:srgbClr val="FF0000"/>
                    </a:solidFill>
                    <a:latin typeface="Courier New" panose="02070309020205020404" pitchFamily="49" charset="0"/>
                    <a:cs typeface="Times New Roman" panose="02020603050405020304" pitchFamily="18" charset="0"/>
                  </a:rPr>
                  <a:t>0)</a:t>
                </a:r>
                <a:r>
                  <a:rPr lang="zh-CN" altLang="en-US" b="1" dirty="0">
                    <a:solidFill>
                      <a:srgbClr val="FF0000"/>
                    </a:solidFill>
                    <a:latin typeface="Courier New" panose="02070309020205020404" pitchFamily="49" charset="0"/>
                    <a:cs typeface="Times New Roman" panose="02020603050405020304" pitchFamily="18" charset="0"/>
                  </a:rPr>
                  <a:t>，系数与前面计算结果相同</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S2 = x^4/120 - x^2/6 + 1</a:t>
                </a:r>
                <a:r>
                  <a:rPr lang="en-US" altLang="zh-CN" b="1" dirty="0">
                    <a:solidFill>
                      <a:srgbClr val="008000"/>
                    </a:solidFill>
                    <a:latin typeface="Courier New" panose="02070309020205020404" pitchFamily="49" charset="0"/>
                    <a:cs typeface="Times New Roman" panose="02020603050405020304" pitchFamily="18" charset="0"/>
                  </a:rPr>
                  <a:t>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S3=</a:t>
                </a:r>
                <a:r>
                  <a:rPr lang="en-US" altLang="zh-CN" b="1" dirty="0" err="1">
                    <a:solidFill>
                      <a:srgbClr val="008000"/>
                    </a:solidFill>
                    <a:latin typeface="Courier New" panose="02070309020205020404" pitchFamily="49" charset="0"/>
                    <a:cs typeface="Times New Roman" panose="02020603050405020304" pitchFamily="18" charset="0"/>
                  </a:rPr>
                  <a:t>taylor</a:t>
                </a:r>
                <a:r>
                  <a:rPr lang="en-US" altLang="zh-CN" b="1" dirty="0">
                    <a:solidFill>
                      <a:srgbClr val="008000"/>
                    </a:solidFill>
                    <a:latin typeface="Courier New" panose="02070309020205020404" pitchFamily="49" charset="0"/>
                    <a:cs typeface="Times New Roman" panose="02020603050405020304" pitchFamily="18" charset="0"/>
                  </a:rPr>
                  <a:t>(f,x,0,'Order',8)			%</a:t>
                </a:r>
                <a:r>
                  <a:rPr lang="zh-CN" altLang="en-US" b="1" dirty="0">
                    <a:solidFill>
                      <a:srgbClr val="FF0000"/>
                    </a:solidFill>
                    <a:latin typeface="Courier New" panose="02070309020205020404" pitchFamily="49" charset="0"/>
                    <a:cs typeface="Times New Roman" panose="02020603050405020304" pitchFamily="18" charset="0"/>
                  </a:rPr>
                  <a:t>截断</a:t>
                </a:r>
                <a:r>
                  <a:rPr lang="en-US" altLang="zh-CN" b="1" dirty="0">
                    <a:solidFill>
                      <a:srgbClr val="FF0000"/>
                    </a:solidFill>
                    <a:latin typeface="Courier New" panose="02070309020205020404" pitchFamily="49" charset="0"/>
                    <a:cs typeface="Times New Roman" panose="02020603050405020304" pitchFamily="18" charset="0"/>
                  </a:rPr>
                  <a:t>8</a:t>
                </a:r>
                <a:r>
                  <a:rPr lang="zh-CN" altLang="en-US" b="1" dirty="0">
                    <a:solidFill>
                      <a:srgbClr val="FF0000"/>
                    </a:solidFill>
                    <a:latin typeface="Courier New" panose="02070309020205020404" pitchFamily="49" charset="0"/>
                    <a:cs typeface="Times New Roman" panose="02020603050405020304" pitchFamily="18" charset="0"/>
                  </a:rPr>
                  <a:t>以及更高阶</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S3 = - x^6/5040 + x^4/120 - x^2/6 + 1</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fplot</a:t>
                </a:r>
                <a:r>
                  <a:rPr lang="en-US" altLang="zh-CN" b="1" dirty="0">
                    <a:solidFill>
                      <a:srgbClr val="008000"/>
                    </a:solidFill>
                    <a:latin typeface="Courier New" panose="02070309020205020404" pitchFamily="49" charset="0"/>
                    <a:cs typeface="Times New Roman" panose="02020603050405020304" pitchFamily="18" charset="0"/>
                  </a:rPr>
                  <a:t>(f,[-4,4],'LineWidth',3,'Color','r');hold on,</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a:solidFill>
                      <a:srgbClr val="FF0000"/>
                    </a:solidFill>
                    <a:latin typeface="Courier New" panose="02070309020205020404" pitchFamily="49" charset="0"/>
                    <a:cs typeface="Times New Roman" panose="02020603050405020304" pitchFamily="18" charset="0"/>
                  </a:rPr>
                  <a:t>fplot</a:t>
                </a:r>
                <a:r>
                  <a:rPr lang="zh-CN" altLang="en-US" b="1" dirty="0">
                    <a:solidFill>
                      <a:srgbClr val="FF0000"/>
                    </a:solidFill>
                    <a:latin typeface="Courier New" panose="02070309020205020404" pitchFamily="49" charset="0"/>
                    <a:cs typeface="Times New Roman" panose="02020603050405020304" pitchFamily="18" charset="0"/>
                  </a:rPr>
                  <a:t>为符号函数自动描线绘图，本句绘制</a:t>
                </a:r>
                <a14:m>
                  <m:oMath xmlns:m="http://schemas.openxmlformats.org/officeDocument/2006/math">
                    <m:r>
                      <a:rPr lang="en-US" altLang="zh-CN" b="1" i="1" smtClean="0">
                        <a:solidFill>
                          <a:srgbClr val="FF0000"/>
                        </a:solidFill>
                        <a:latin typeface="Cambria Math" panose="02040503050406030204" pitchFamily="18" charset="0"/>
                        <a:cs typeface="Times New Roman" panose="02020603050405020304" pitchFamily="18" charset="0"/>
                      </a:rPr>
                      <m:t>𝒇</m:t>
                    </m:r>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𝒙</m:t>
                        </m:r>
                      </m:e>
                    </m:d>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𝒙</m:t>
                    </m:r>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𝟒</m:t>
                    </m:r>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𝟒</m:t>
                    </m:r>
                    <m:r>
                      <a:rPr lang="en-US" altLang="zh-CN" b="1" i="1" smtClean="0">
                        <a:solidFill>
                          <a:srgbClr val="FF0000"/>
                        </a:solidFill>
                        <a:latin typeface="Cambria Math" panose="02040503050406030204" pitchFamily="18" charset="0"/>
                        <a:cs typeface="Times New Roman" panose="02020603050405020304" pitchFamily="18" charset="0"/>
                      </a:rPr>
                      <m:t>]</m:t>
                    </m:r>
                  </m:oMath>
                </a14:m>
                <a:r>
                  <a:rPr lang="zh-CN" altLang="en-US" b="1" dirty="0">
                    <a:solidFill>
                      <a:srgbClr val="FF0000"/>
                    </a:solidFill>
                    <a:latin typeface="Courier New" panose="02070309020205020404" pitchFamily="49" charset="0"/>
                    <a:cs typeface="Times New Roman" panose="02020603050405020304" pitchFamily="18" charset="0"/>
                  </a:rPr>
                  <a:t>的图像</a:t>
                </a:r>
                <a:r>
                  <a:rPr lang="en-US" altLang="zh-CN" b="1" dirty="0">
                    <a:solidFill>
                      <a:srgbClr val="008000"/>
                    </a:solidFill>
                    <a:latin typeface="Courier New" panose="02070309020205020404" pitchFamily="49" charset="0"/>
                    <a:cs typeface="Times New Roman" panose="02020603050405020304" pitchFamily="18" charset="0"/>
                  </a:rPr>
                  <a:t>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fplot</a:t>
                </a:r>
                <a:r>
                  <a:rPr lang="en-US" altLang="zh-CN" b="1" dirty="0">
                    <a:solidFill>
                      <a:srgbClr val="008000"/>
                    </a:solidFill>
                    <a:latin typeface="Courier New" panose="02070309020205020404" pitchFamily="49" charset="0"/>
                    <a:cs typeface="Times New Roman" panose="02020603050405020304" pitchFamily="18" charset="0"/>
                  </a:rPr>
                  <a:t>(S2,[-4,4],'</a:t>
                </a:r>
                <a:r>
                  <a:rPr lang="en-US" altLang="zh-CN" b="1" dirty="0" err="1">
                    <a:solidFill>
                      <a:srgbClr val="008000"/>
                    </a:solidFill>
                    <a:latin typeface="Courier New" panose="02070309020205020404" pitchFamily="49" charset="0"/>
                    <a:cs typeface="Times New Roman" panose="02020603050405020304" pitchFamily="18" charset="0"/>
                  </a:rPr>
                  <a:t>LineStyle</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Color','b</a:t>
                </a: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绘制</a:t>
                </a:r>
                <a:r>
                  <a:rPr lang="en-US" altLang="zh-CN" b="1" dirty="0">
                    <a:solidFill>
                      <a:srgbClr val="FF0000"/>
                    </a:solidFill>
                    <a:latin typeface="Courier New" panose="02070309020205020404" pitchFamily="49" charset="0"/>
                    <a:cs typeface="Times New Roman" panose="02020603050405020304" pitchFamily="18" charset="0"/>
                  </a:rPr>
                  <a:t>5</a:t>
                </a:r>
                <a:r>
                  <a:rPr lang="zh-CN" altLang="en-US" b="1" dirty="0">
                    <a:solidFill>
                      <a:srgbClr val="FF0000"/>
                    </a:solidFill>
                    <a:latin typeface="Courier New" panose="02070309020205020404" pitchFamily="49" charset="0"/>
                    <a:cs typeface="Times New Roman" panose="02020603050405020304" pitchFamily="18" charset="0"/>
                  </a:rPr>
                  <a:t>阶泰勒级数图像</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HS=</a:t>
                </a:r>
                <a:r>
                  <a:rPr lang="en-US" altLang="zh-CN" b="1" dirty="0" err="1">
                    <a:solidFill>
                      <a:srgbClr val="008000"/>
                    </a:solidFill>
                    <a:latin typeface="Courier New" panose="02070309020205020404" pitchFamily="49" charset="0"/>
                    <a:cs typeface="Times New Roman" panose="02020603050405020304" pitchFamily="18" charset="0"/>
                  </a:rPr>
                  <a:t>fplot</a:t>
                </a:r>
                <a:r>
                  <a:rPr lang="en-US" altLang="zh-CN" b="1" dirty="0">
                    <a:solidFill>
                      <a:srgbClr val="008000"/>
                    </a:solidFill>
                    <a:latin typeface="Courier New" panose="02070309020205020404" pitchFamily="49" charset="0"/>
                    <a:cs typeface="Times New Roman" panose="02020603050405020304" pitchFamily="18" charset="0"/>
                  </a:rPr>
                  <a:t>(S3,[-4,4]);			%</a:t>
                </a:r>
                <a:r>
                  <a:rPr lang="zh-CN" altLang="en-US" b="1" dirty="0">
                    <a:solidFill>
                      <a:srgbClr val="FF0000"/>
                    </a:solidFill>
                    <a:latin typeface="Courier New" panose="02070309020205020404" pitchFamily="49" charset="0"/>
                    <a:cs typeface="Times New Roman" panose="02020603050405020304" pitchFamily="18" charset="0"/>
                  </a:rPr>
                  <a:t>绘制</a:t>
                </a:r>
                <a:r>
                  <a:rPr lang="en-US" altLang="zh-CN" b="1" dirty="0">
                    <a:solidFill>
                      <a:srgbClr val="FF0000"/>
                    </a:solidFill>
                    <a:latin typeface="Courier New" panose="02070309020205020404" pitchFamily="49" charset="0"/>
                    <a:cs typeface="Times New Roman" panose="02020603050405020304" pitchFamily="18" charset="0"/>
                  </a:rPr>
                  <a:t>7</a:t>
                </a:r>
                <a:r>
                  <a:rPr lang="zh-CN" altLang="en-US" b="1" dirty="0">
                    <a:solidFill>
                      <a:srgbClr val="FF0000"/>
                    </a:solidFill>
                    <a:latin typeface="Courier New" panose="02070309020205020404" pitchFamily="49" charset="0"/>
                    <a:cs typeface="Times New Roman" panose="02020603050405020304" pitchFamily="18" charset="0"/>
                  </a:rPr>
                  <a:t>阶泰勒级数图像，</a:t>
                </a:r>
                <a:r>
                  <a:rPr lang="en-US" altLang="zh-CN" b="1" dirty="0">
                    <a:solidFill>
                      <a:srgbClr val="FF0000"/>
                    </a:solidFill>
                    <a:latin typeface="Courier New" panose="02070309020205020404" pitchFamily="49" charset="0"/>
                    <a:cs typeface="Times New Roman" panose="02020603050405020304" pitchFamily="18" charset="0"/>
                  </a:rPr>
                  <a:t>HS</a:t>
                </a:r>
                <a:r>
                  <a:rPr lang="zh-CN" altLang="en-US" b="1" dirty="0">
                    <a:solidFill>
                      <a:srgbClr val="FF0000"/>
                    </a:solidFill>
                    <a:latin typeface="Courier New" panose="02070309020205020404" pitchFamily="49" charset="0"/>
                    <a:cs typeface="Times New Roman" panose="02020603050405020304" pitchFamily="18" charset="0"/>
                  </a:rPr>
                  <a:t>为图像句柄</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HS.LineStyle</a:t>
                </a: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利用句柄对象修改其线型、线宽、线色</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HS.LineWidth</a:t>
                </a:r>
                <a:r>
                  <a:rPr lang="en-US" altLang="zh-CN" b="1" dirty="0">
                    <a:solidFill>
                      <a:srgbClr val="008000"/>
                    </a:solidFill>
                    <a:latin typeface="Courier New" panose="02070309020205020404" pitchFamily="49" charset="0"/>
                    <a:cs typeface="Times New Roman" panose="02020603050405020304" pitchFamily="18" charset="0"/>
                  </a:rPr>
                  <a:t>=2;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HS.Color</a:t>
                </a:r>
                <a:r>
                  <a:rPr lang="en-US" altLang="zh-CN" b="1" dirty="0">
                    <a:solidFill>
                      <a:srgbClr val="008000"/>
                    </a:solidFill>
                    <a:latin typeface="Courier New" panose="02070309020205020404" pitchFamily="49" charset="0"/>
                    <a:cs typeface="Times New Roman" panose="02020603050405020304" pitchFamily="18" charset="0"/>
                  </a:rPr>
                  <a:t>='g';	hold off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grid on					%</a:t>
                </a:r>
                <a:r>
                  <a:rPr lang="zh-CN" altLang="en-US" b="1" dirty="0">
                    <a:solidFill>
                      <a:srgbClr val="FF0000"/>
                    </a:solidFill>
                    <a:latin typeface="Courier New" panose="02070309020205020404" pitchFamily="49" charset="0"/>
                    <a:cs typeface="Times New Roman" panose="02020603050405020304" pitchFamily="18" charset="0"/>
                  </a:rPr>
                  <a:t>增加坐标网格虚线</a:t>
                </a:r>
                <a:r>
                  <a:rPr lang="en-US" altLang="zh-CN" b="1" dirty="0">
                    <a:solidFill>
                      <a:srgbClr val="008000"/>
                    </a:solidFill>
                    <a:latin typeface="Courier New" panose="02070309020205020404" pitchFamily="49" charset="0"/>
                    <a:cs typeface="Times New Roman" panose="02020603050405020304" pitchFamily="18" charset="0"/>
                  </a:rPr>
                  <a:t> </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legend('sin(x)/x','5</a:t>
                </a:r>
                <a:r>
                  <a:rPr lang="zh-CN" altLang="en-US" b="1" dirty="0">
                    <a:solidFill>
                      <a:srgbClr val="008000"/>
                    </a:solidFill>
                    <a:latin typeface="Courier New" panose="02070309020205020404" pitchFamily="49" charset="0"/>
                    <a:cs typeface="Times New Roman" panose="02020603050405020304" pitchFamily="18" charset="0"/>
                  </a:rPr>
                  <a:t>阶近似</a:t>
                </a:r>
                <a:r>
                  <a:rPr lang="en-US" altLang="zh-CN" b="1" dirty="0">
                    <a:solidFill>
                      <a:srgbClr val="008000"/>
                    </a:solidFill>
                    <a:latin typeface="Courier New" panose="02070309020205020404" pitchFamily="49" charset="0"/>
                    <a:cs typeface="Times New Roman" panose="02020603050405020304" pitchFamily="18" charset="0"/>
                  </a:rPr>
                  <a:t>','7</a:t>
                </a:r>
                <a:r>
                  <a:rPr lang="zh-CN" altLang="en-US" b="1" dirty="0">
                    <a:solidFill>
                      <a:srgbClr val="008000"/>
                    </a:solidFill>
                    <a:latin typeface="Courier New" panose="02070309020205020404" pitchFamily="49" charset="0"/>
                    <a:cs typeface="Times New Roman" panose="02020603050405020304" pitchFamily="18" charset="0"/>
                  </a:rPr>
                  <a:t>阶近似</a:t>
                </a: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增加绘图图例</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xlabel</a:t>
                </a:r>
                <a:r>
                  <a:rPr lang="en-US" altLang="zh-CN" b="1" dirty="0">
                    <a:solidFill>
                      <a:srgbClr val="008000"/>
                    </a:solidFill>
                    <a:latin typeface="Courier New" panose="02070309020205020404" pitchFamily="49" charset="0"/>
                    <a:cs typeface="Times New Roman" panose="02020603050405020304" pitchFamily="18" charset="0"/>
                  </a:rPr>
                  <a:t>('x')					%</a:t>
                </a:r>
                <a:r>
                  <a:rPr lang="zh-CN" altLang="en-US" b="1" dirty="0">
                    <a:solidFill>
                      <a:srgbClr val="FF0000"/>
                    </a:solidFill>
                    <a:latin typeface="Courier New" panose="02070309020205020404" pitchFamily="49" charset="0"/>
                    <a:cs typeface="Times New Roman" panose="02020603050405020304" pitchFamily="18" charset="0"/>
                  </a:rPr>
                  <a:t>增加横轴标签</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title('sin(x)/x</a:t>
                </a:r>
                <a:r>
                  <a:rPr lang="zh-CN" altLang="en-US" b="1" dirty="0">
                    <a:solidFill>
                      <a:srgbClr val="008000"/>
                    </a:solidFill>
                    <a:latin typeface="Courier New" panose="02070309020205020404" pitchFamily="49" charset="0"/>
                    <a:cs typeface="Times New Roman" panose="02020603050405020304" pitchFamily="18" charset="0"/>
                  </a:rPr>
                  <a:t>及其</a:t>
                </a:r>
                <a:r>
                  <a:rPr lang="en-US" altLang="zh-CN" b="1" dirty="0">
                    <a:solidFill>
                      <a:srgbClr val="008000"/>
                    </a:solidFill>
                    <a:latin typeface="Courier New" panose="02070309020205020404" pitchFamily="49" charset="0"/>
                    <a:cs typeface="Times New Roman" panose="02020603050405020304" pitchFamily="18" charset="0"/>
                  </a:rPr>
                  <a:t>5</a:t>
                </a:r>
                <a:r>
                  <a:rPr lang="zh-CN" altLang="en-US" b="1" dirty="0">
                    <a:solidFill>
                      <a:srgbClr val="008000"/>
                    </a:solidFill>
                    <a:latin typeface="Courier New" panose="02070309020205020404" pitchFamily="49" charset="0"/>
                    <a:cs typeface="Times New Roman" panose="02020603050405020304" pitchFamily="18" charset="0"/>
                  </a:rPr>
                  <a:t>阶、</a:t>
                </a:r>
                <a:r>
                  <a:rPr lang="en-US" altLang="zh-CN" b="1" dirty="0">
                    <a:solidFill>
                      <a:srgbClr val="008000"/>
                    </a:solidFill>
                    <a:latin typeface="Courier New" panose="02070309020205020404" pitchFamily="49" charset="0"/>
                    <a:cs typeface="Times New Roman" panose="02020603050405020304" pitchFamily="18" charset="0"/>
                  </a:rPr>
                  <a:t>7</a:t>
                </a:r>
                <a:r>
                  <a:rPr lang="zh-CN" altLang="en-US" b="1" dirty="0">
                    <a:solidFill>
                      <a:srgbClr val="008000"/>
                    </a:solidFill>
                    <a:latin typeface="Courier New" panose="02070309020205020404" pitchFamily="49" charset="0"/>
                    <a:cs typeface="Times New Roman" panose="02020603050405020304" pitchFamily="18" charset="0"/>
                  </a:rPr>
                  <a:t>阶泰勒近似</a:t>
                </a: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增加绘图标题</a:t>
                </a:r>
                <a:endParaRPr lang="zh-CN" altLang="zh-CN" b="1" dirty="0">
                  <a:solidFill>
                    <a:srgbClr val="FF0000"/>
                  </a:solidFill>
                  <a:latin typeface="Courier New" panose="02070309020205020404" pitchFamily="49" charset="0"/>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107504" y="1340768"/>
                <a:ext cx="9433048" cy="5355312"/>
              </a:xfrm>
              <a:prstGeom prst="rect">
                <a:avLst/>
              </a:prstGeom>
              <a:blipFill rotWithShape="1">
                <a:blip r:embed="rId1"/>
                <a:stretch>
                  <a:fillRect l="-2" t="-5" r="3" b="-329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9080" y="908616"/>
                <a:ext cx="8208912" cy="495136"/>
              </a:xfrm>
              <a:prstGeom prst="rect">
                <a:avLst/>
              </a:prstGeom>
              <a:noFill/>
            </p:spPr>
            <p:txBody>
              <a:bodyPr wrap="square">
                <a:spAutoFit/>
              </a:bodyPr>
              <a:lstStyle/>
              <a:p>
                <a:r>
                  <a:rPr lang="en-US" altLang="zh-CN" b="1" dirty="0">
                    <a:solidFill>
                      <a:prstClr val="black"/>
                    </a:solidFill>
                    <a:latin typeface="+mn-ea"/>
                  </a:rPr>
                  <a:t>【</a:t>
                </a:r>
                <a:r>
                  <a:rPr lang="zh-CN" altLang="en-US" b="1" dirty="0">
                    <a:solidFill>
                      <a:prstClr val="black"/>
                    </a:solidFill>
                    <a:latin typeface="+mn-ea"/>
                  </a:rPr>
                  <a:t>例</a:t>
                </a:r>
                <a:r>
                  <a:rPr lang="en-US" altLang="zh-CN" b="1" dirty="0">
                    <a:solidFill>
                      <a:prstClr val="black"/>
                    </a:solidFill>
                    <a:latin typeface="+mn-ea"/>
                  </a:rPr>
                  <a:t>2.7-5】</a:t>
                </a:r>
                <a14:m>
                  <m:oMath xmlns:m="http://schemas.openxmlformats.org/officeDocument/2006/math">
                    <m:r>
                      <a:rPr lang="en-US" altLang="zh-CN" b="1" i="1" smtClean="0">
                        <a:solidFill>
                          <a:prstClr val="black"/>
                        </a:solidFill>
                        <a:latin typeface="Cambria Math" panose="02040503050406030204" pitchFamily="18" charset="0"/>
                      </a:rPr>
                      <m:t>𝒇</m:t>
                    </m:r>
                    <m:r>
                      <a:rPr lang="en-US" altLang="zh-CN" b="1" i="1" smtClean="0">
                        <a:solidFill>
                          <a:prstClr val="black"/>
                        </a:solidFill>
                        <a:latin typeface="Cambria Math" panose="02040503050406030204" pitchFamily="18" charset="0"/>
                      </a:rPr>
                      <m:t>(</m:t>
                    </m:r>
                    <m:r>
                      <a:rPr lang="en-US" altLang="zh-CN" b="1" i="1" smtClean="0">
                        <a:solidFill>
                          <a:prstClr val="black"/>
                        </a:solidFill>
                        <a:latin typeface="Cambria Math" panose="02040503050406030204" pitchFamily="18" charset="0"/>
                      </a:rPr>
                      <m:t>𝒙</m:t>
                    </m:r>
                    <m:r>
                      <a:rPr lang="en-US" altLang="zh-CN" b="1" i="1" smtClean="0">
                        <a:solidFill>
                          <a:prstClr val="black"/>
                        </a:solidFill>
                        <a:latin typeface="Cambria Math" panose="02040503050406030204" pitchFamily="18" charset="0"/>
                      </a:rPr>
                      <m:t>)=</m:t>
                    </m:r>
                    <m:f>
                      <m:fPr>
                        <m:ctrlPr>
                          <a:rPr lang="en-US" altLang="zh-CN" b="1" i="1" smtClean="0">
                            <a:solidFill>
                              <a:prstClr val="black"/>
                            </a:solidFill>
                            <a:latin typeface="Cambria Math" panose="02040503050406030204" pitchFamily="18" charset="0"/>
                          </a:rPr>
                        </m:ctrlPr>
                      </m:fPr>
                      <m:num>
                        <m:func>
                          <m:funcPr>
                            <m:ctrlPr>
                              <a:rPr lang="en-US" altLang="zh-CN" b="1" i="1" smtClean="0">
                                <a:solidFill>
                                  <a:prstClr val="black"/>
                                </a:solidFill>
                                <a:latin typeface="Cambria Math" panose="02040503050406030204" pitchFamily="18" charset="0"/>
                              </a:rPr>
                            </m:ctrlPr>
                          </m:funcPr>
                          <m:fName>
                            <m:r>
                              <m:rPr>
                                <m:sty m:val="p"/>
                              </m:rPr>
                              <a:rPr lang="en-US" altLang="zh-CN" b="0" i="0" smtClean="0">
                                <a:solidFill>
                                  <a:prstClr val="black"/>
                                </a:solidFill>
                                <a:latin typeface="Cambria Math" panose="02040503050406030204" pitchFamily="18" charset="0"/>
                              </a:rPr>
                              <m:t>sin</m:t>
                            </m:r>
                          </m:fName>
                          <m:e>
                            <m:r>
                              <a:rPr lang="en-US" altLang="zh-CN" b="1" i="1" smtClean="0">
                                <a:solidFill>
                                  <a:prstClr val="black"/>
                                </a:solidFill>
                                <a:latin typeface="Cambria Math" panose="02040503050406030204" pitchFamily="18" charset="0"/>
                              </a:rPr>
                              <m:t>𝒙</m:t>
                            </m:r>
                          </m:e>
                        </m:func>
                      </m:num>
                      <m:den>
                        <m:r>
                          <a:rPr lang="en-US" altLang="zh-CN" b="1" i="1" smtClean="0">
                            <a:solidFill>
                              <a:prstClr val="black"/>
                            </a:solidFill>
                            <a:latin typeface="Cambria Math" panose="02040503050406030204" pitchFamily="18" charset="0"/>
                          </a:rPr>
                          <m:t>𝒙</m:t>
                        </m:r>
                      </m:den>
                    </m:f>
                  </m:oMath>
                </a14:m>
                <a:r>
                  <a:rPr lang="zh-CN" altLang="en-US" b="1" dirty="0">
                    <a:latin typeface="+mn-ea"/>
                  </a:rPr>
                  <a:t>的泰勒展开与逼近</a:t>
                </a:r>
                <a:endParaRPr lang="zh-CN" altLang="en-US" b="1" dirty="0">
                  <a:latin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19080" y="908616"/>
                <a:ext cx="8208912" cy="495136"/>
              </a:xfrm>
              <a:prstGeom prst="rect">
                <a:avLst/>
              </a:prstGeom>
              <a:blipFill rotWithShape="1">
                <a:blip r:embed="rId2"/>
                <a:stretch>
                  <a:fillRect t="-114" r="3" b="81"/>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524" y="-171400"/>
            <a:ext cx="8364956"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泰勒展开</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pic>
        <p:nvPicPr>
          <p:cNvPr id="6" name="图片 5"/>
          <p:cNvPicPr>
            <a:picLocks noChangeAspect="1"/>
          </p:cNvPicPr>
          <p:nvPr/>
        </p:nvPicPr>
        <p:blipFill>
          <a:blip r:embed="rId1"/>
          <a:stretch>
            <a:fillRect/>
          </a:stretch>
        </p:blipFill>
        <p:spPr>
          <a:xfrm>
            <a:off x="865136" y="971600"/>
            <a:ext cx="7413728" cy="566932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02993"/>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符号积分</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pic>
        <p:nvPicPr>
          <p:cNvPr id="4" name="图片 3"/>
          <p:cNvPicPr>
            <a:picLocks noChangeAspect="1"/>
          </p:cNvPicPr>
          <p:nvPr/>
        </p:nvPicPr>
        <p:blipFill>
          <a:blip r:embed="rId1"/>
          <a:stretch>
            <a:fillRect/>
          </a:stretch>
        </p:blipFill>
        <p:spPr>
          <a:xfrm>
            <a:off x="467544" y="940007"/>
            <a:ext cx="8359472" cy="2736304"/>
          </a:xfrm>
          <a:prstGeom prst="rect">
            <a:avLst/>
          </a:prstGeom>
        </p:spPr>
      </p:pic>
      <p:sp>
        <p:nvSpPr>
          <p:cNvPr id="7" name="矩形 6"/>
          <p:cNvSpPr/>
          <p:nvPr/>
        </p:nvSpPr>
        <p:spPr>
          <a:xfrm>
            <a:off x="611560" y="4236771"/>
            <a:ext cx="7200800" cy="1231106"/>
          </a:xfrm>
          <a:prstGeom prst="rect">
            <a:avLst/>
          </a:prstGeom>
        </p:spPr>
        <p:txBody>
          <a:bodyPr wrap="square">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a b x</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f=x*log(x) </a:t>
            </a:r>
            <a:r>
              <a:rPr lang="en-US" altLang="zh-CN" dirty="0">
                <a:solidFill>
                  <a:srgbClr val="0000FF"/>
                </a:solidFill>
                <a:latin typeface="Courier New" panose="02070309020205020404" pitchFamily="49" charset="0"/>
                <a:cs typeface="Times New Roman" panose="02020603050405020304" pitchFamily="18" charset="0"/>
              </a:rPr>
              <a:t>f =</a:t>
            </a:r>
            <a:r>
              <a:rPr lang="en-US" altLang="zh-CN" dirty="0">
                <a:latin typeface="Courier New" panose="02070309020205020404" pitchFamily="49" charset="0"/>
                <a:cs typeface="Times New Roman" panose="02020603050405020304" pitchFamily="18" charset="0"/>
              </a:rPr>
              <a:t> </a:t>
            </a:r>
            <a:r>
              <a:rPr lang="en-US" altLang="zh-CN" dirty="0">
                <a:solidFill>
                  <a:srgbClr val="0000FF"/>
                </a:solidFill>
                <a:latin typeface="Courier New" panose="02070309020205020404" pitchFamily="49" charset="0"/>
                <a:cs typeface="Times New Roman" panose="02020603050405020304" pitchFamily="18" charset="0"/>
              </a:rPr>
              <a:t>x*log(x)</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s=</a:t>
            </a:r>
            <a:r>
              <a:rPr lang="en-US" altLang="zh-CN" b="1" dirty="0" err="1">
                <a:solidFill>
                  <a:srgbClr val="008000"/>
                </a:solidFill>
                <a:latin typeface="Courier New" panose="02070309020205020404" pitchFamily="49" charset="0"/>
                <a:cs typeface="Times New Roman" panose="02020603050405020304" pitchFamily="18" charset="0"/>
              </a:rPr>
              <a:t>int</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f,x</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sz="2000" b="1" dirty="0">
                <a:latin typeface="Times New Roman" panose="02020603050405020304" pitchFamily="18" charset="0"/>
              </a:rPr>
              <a:t>   </a:t>
            </a:r>
            <a:r>
              <a:rPr lang="en-US" altLang="zh-CN" dirty="0">
                <a:solidFill>
                  <a:srgbClr val="0000FF"/>
                </a:solidFill>
                <a:latin typeface="Courier New" panose="02070309020205020404" pitchFamily="49" charset="0"/>
                <a:cs typeface="Times New Roman" panose="02020603050405020304" pitchFamily="18" charset="0"/>
              </a:rPr>
              <a:t>s =</a:t>
            </a:r>
            <a:r>
              <a:rPr lang="en-US" altLang="zh-CN" dirty="0">
                <a:latin typeface="Courier New" panose="02070309020205020404" pitchFamily="49" charset="0"/>
                <a:cs typeface="Times New Roman" panose="02020603050405020304" pitchFamily="18" charset="0"/>
              </a:rPr>
              <a:t> </a:t>
            </a:r>
            <a:r>
              <a:rPr lang="en-US" altLang="zh-CN" dirty="0">
                <a:solidFill>
                  <a:srgbClr val="0000FF"/>
                </a:solidFill>
                <a:latin typeface="Courier New" panose="02070309020205020404" pitchFamily="49" charset="0"/>
                <a:cs typeface="Times New Roman" panose="02020603050405020304" pitchFamily="18" charset="0"/>
              </a:rPr>
              <a:t>(x^2*(log(x) - 1/2))/2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p:sp>
        <p:nvSpPr>
          <p:cNvPr id="11" name="矩形 10"/>
          <p:cNvSpPr/>
          <p:nvPr/>
        </p:nvSpPr>
        <p:spPr>
          <a:xfrm>
            <a:off x="251520" y="5514926"/>
            <a:ext cx="8154285" cy="830997"/>
          </a:xfrm>
          <a:prstGeom prst="rect">
            <a:avLst/>
          </a:prstGeom>
        </p:spPr>
        <p:txBody>
          <a:bodyPr wrap="square">
            <a:spAutoFit/>
          </a:bodyPr>
          <a:lstStyle/>
          <a:p>
            <a:pPr marL="274320" lvl="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符号积分并不是</a:t>
            </a:r>
            <a:r>
              <a:rPr lang="en-US" altLang="zh-CN" sz="2400" b="1" dirty="0">
                <a:solidFill>
                  <a:prstClr val="black"/>
                </a:solidFill>
                <a:latin typeface="+mj-ea"/>
                <a:ea typeface="+mj-ea"/>
              </a:rPr>
              <a:t>MATLAB</a:t>
            </a:r>
            <a:r>
              <a:rPr lang="zh-CN" altLang="en-US" sz="2400" b="1" dirty="0">
                <a:solidFill>
                  <a:prstClr val="black"/>
                </a:solidFill>
                <a:latin typeface="+mj-ea"/>
                <a:ea typeface="+mj-ea"/>
              </a:rPr>
              <a:t>的“强项”，</a:t>
            </a:r>
            <a:r>
              <a:rPr lang="en-US" altLang="zh-CN" sz="2400" b="1" dirty="0">
                <a:solidFill>
                  <a:srgbClr val="FF0000"/>
                </a:solidFill>
                <a:latin typeface="+mj-ea"/>
                <a:ea typeface="+mj-ea"/>
              </a:rPr>
              <a:t>MATLAB</a:t>
            </a:r>
            <a:r>
              <a:rPr lang="zh-CN" altLang="en-US" sz="2400" b="1" dirty="0">
                <a:solidFill>
                  <a:srgbClr val="FF0000"/>
                </a:solidFill>
                <a:latin typeface="+mj-ea"/>
                <a:ea typeface="+mj-ea"/>
              </a:rPr>
              <a:t>无法显示积分的具体运算过程</a:t>
            </a:r>
            <a:r>
              <a:rPr lang="zh-CN" altLang="en-US" sz="2400" b="1" dirty="0">
                <a:solidFill>
                  <a:prstClr val="black"/>
                </a:solidFill>
                <a:latin typeface="+mj-ea"/>
                <a:ea typeface="+mj-ea"/>
              </a:rPr>
              <a:t>，但</a:t>
            </a:r>
            <a:r>
              <a:rPr lang="en-US" altLang="zh-CN" sz="2400" b="1" dirty="0">
                <a:solidFill>
                  <a:prstClr val="black"/>
                </a:solidFill>
                <a:latin typeface="+mj-ea"/>
                <a:ea typeface="+mj-ea"/>
              </a:rPr>
              <a:t>Mathematica</a:t>
            </a:r>
            <a:r>
              <a:rPr lang="zh-CN" altLang="en-US" sz="2400" b="1" dirty="0">
                <a:solidFill>
                  <a:prstClr val="black"/>
                </a:solidFill>
                <a:latin typeface="+mj-ea"/>
                <a:ea typeface="+mj-ea"/>
              </a:rPr>
              <a:t>和</a:t>
            </a:r>
            <a:r>
              <a:rPr lang="en-US" altLang="zh-CN" sz="2400" b="1" dirty="0">
                <a:solidFill>
                  <a:prstClr val="black"/>
                </a:solidFill>
                <a:latin typeface="+mj-ea"/>
                <a:ea typeface="+mj-ea"/>
              </a:rPr>
              <a:t>Maple</a:t>
            </a:r>
            <a:r>
              <a:rPr lang="zh-CN" altLang="en-US" sz="2400" b="1" dirty="0">
                <a:solidFill>
                  <a:prstClr val="black"/>
                </a:solidFill>
                <a:latin typeface="+mj-ea"/>
                <a:ea typeface="+mj-ea"/>
              </a:rPr>
              <a:t>都可以。</a:t>
            </a:r>
            <a:endParaRPr lang="en-US" altLang="zh-CN" sz="2400" b="1" dirty="0">
              <a:solidFill>
                <a:prstClr val="black"/>
              </a:solidFill>
              <a:latin typeface="+mj-ea"/>
              <a:ea typeface="+mj-ea"/>
            </a:endParaRPr>
          </a:p>
        </p:txBody>
      </p:sp>
      <mc:AlternateContent xmlns:mc="http://schemas.openxmlformats.org/markup-compatibility/2006">
        <mc:Choice xmlns:a14="http://schemas.microsoft.com/office/drawing/2010/main" Requires="a14">
          <p:sp>
            <p:nvSpPr>
              <p:cNvPr id="3" name="矩形 2"/>
              <p:cNvSpPr/>
              <p:nvPr/>
            </p:nvSpPr>
            <p:spPr>
              <a:xfrm>
                <a:off x="251520" y="3809874"/>
                <a:ext cx="6408712" cy="379848"/>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zh-CN" altLang="en-US" dirty="0">
                    <a:latin typeface="Times New Roman" panose="02020603050405020304" pitchFamily="18" charset="0"/>
                  </a:rPr>
                  <a:t>计算不定积分</a:t>
                </a:r>
                <a14:m>
                  <m:oMath xmlns:m="http://schemas.openxmlformats.org/officeDocument/2006/math">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ln</m:t>
                            </m:r>
                          </m:fName>
                          <m:e>
                            <m:r>
                              <a:rPr lang="en-US" altLang="zh-CN" b="0" i="1" smtClean="0">
                                <a:latin typeface="Cambria Math" panose="02040503050406030204" pitchFamily="18" charset="0"/>
                              </a:rPr>
                              <m:t>𝑥</m:t>
                            </m:r>
                          </m:e>
                        </m:func>
                      </m:e>
                    </m:d>
                    <m:r>
                      <m:rPr>
                        <m:sty m:val="p"/>
                      </m:rPr>
                      <a:rPr lang="en-US" altLang="zh-CN" b="0" i="0" smtClean="0">
                        <a:latin typeface="Cambria Math" panose="02040503050406030204" pitchFamily="18" charset="0"/>
                      </a:rPr>
                      <m:t>d</m:t>
                    </m:r>
                    <m:r>
                      <a:rPr lang="en-US" altLang="zh-CN" b="0" i="1" smtClean="0">
                        <a:latin typeface="Cambria Math" panose="02040503050406030204" pitchFamily="18" charset="0"/>
                      </a:rPr>
                      <m:t>𝑥</m:t>
                    </m:r>
                  </m:oMath>
                </a14:m>
                <a:endParaRPr lang="zh-CN" altLang="zh-CN" dirty="0">
                  <a:latin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251520" y="3809874"/>
                <a:ext cx="6408712" cy="379848"/>
              </a:xfrm>
              <a:prstGeom prst="rect">
                <a:avLst/>
              </a:prstGeom>
              <a:blipFill rotWithShape="1">
                <a:blip r:embed="rId2"/>
                <a:stretch>
                  <a:fillRect l="-1" t="-134" r="5" b="16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56225"/>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符号积分</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5" name="矩形 4"/>
          <p:cNvSpPr/>
          <p:nvPr/>
        </p:nvSpPr>
        <p:spPr>
          <a:xfrm>
            <a:off x="476672" y="1412776"/>
            <a:ext cx="8190656" cy="5355312"/>
          </a:xfrm>
          <a:prstGeom prst="rect">
            <a:avLst/>
          </a:prstGeom>
        </p:spPr>
        <p:txBody>
          <a:bodyPr wrap="square">
            <a:spAutoFit/>
          </a:bodyPr>
          <a:lstStyle/>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a b x				%</a:t>
            </a: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f2=[a*</a:t>
            </a:r>
            <a:r>
              <a:rPr lang="en-US" altLang="zh-CN" b="1" dirty="0" err="1">
                <a:solidFill>
                  <a:srgbClr val="008000"/>
                </a:solidFill>
                <a:latin typeface="Courier New" panose="02070309020205020404" pitchFamily="49" charset="0"/>
                <a:cs typeface="Times New Roman" panose="02020603050405020304" pitchFamily="18" charset="0"/>
              </a:rPr>
              <a:t>x,b</a:t>
            </a:r>
            <a:r>
              <a:rPr lang="en-US" altLang="zh-CN" b="1" dirty="0">
                <a:solidFill>
                  <a:srgbClr val="008000"/>
                </a:solidFill>
                <a:latin typeface="Courier New" panose="02070309020205020404" pitchFamily="49" charset="0"/>
                <a:cs typeface="Times New Roman" panose="02020603050405020304" pitchFamily="18" charset="0"/>
              </a:rPr>
              <a:t>*x^2;1/</a:t>
            </a:r>
            <a:r>
              <a:rPr lang="en-US" altLang="zh-CN" b="1" dirty="0" err="1">
                <a:solidFill>
                  <a:srgbClr val="008000"/>
                </a:solidFill>
                <a:latin typeface="Courier New" panose="02070309020205020404" pitchFamily="49" charset="0"/>
                <a:cs typeface="Times New Roman" panose="02020603050405020304" pitchFamily="18" charset="0"/>
              </a:rPr>
              <a:t>x,sin</a:t>
            </a:r>
            <a:r>
              <a:rPr lang="en-US" altLang="zh-CN" b="1" dirty="0">
                <a:solidFill>
                  <a:srgbClr val="008000"/>
                </a:solidFill>
                <a:latin typeface="Courier New" panose="02070309020205020404" pitchFamily="49" charset="0"/>
                <a:cs typeface="Times New Roman" panose="02020603050405020304" pitchFamily="18" charset="0"/>
              </a:rPr>
              <a:t>(x)]		%</a:t>
            </a:r>
            <a:r>
              <a:rPr lang="zh-CN" altLang="en-US" b="1" dirty="0">
                <a:solidFill>
                  <a:srgbClr val="FF0000"/>
                </a:solidFill>
                <a:latin typeface="Courier New" panose="02070309020205020404" pitchFamily="49" charset="0"/>
                <a:cs typeface="Times New Roman" panose="02020603050405020304" pitchFamily="18" charset="0"/>
              </a:rPr>
              <a:t>由符号表达式构成的矩阵</a:t>
            </a:r>
            <a:endParaRPr lang="zh-CN" altLang="zh-CN" sz="2000" dirty="0">
              <a:solidFill>
                <a:srgbClr val="FF0000"/>
              </a:solidFill>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INTf2=</a:t>
            </a:r>
            <a:r>
              <a:rPr lang="en-US" altLang="zh-CN" b="1" dirty="0" err="1">
                <a:solidFill>
                  <a:srgbClr val="008000"/>
                </a:solidFill>
                <a:latin typeface="Courier New" panose="02070309020205020404" pitchFamily="49" charset="0"/>
                <a:cs typeface="Times New Roman" panose="02020603050405020304" pitchFamily="18" charset="0"/>
              </a:rPr>
              <a:t>int</a:t>
            </a:r>
            <a:r>
              <a:rPr lang="en-US" altLang="zh-CN" b="1" dirty="0">
                <a:solidFill>
                  <a:srgbClr val="008000"/>
                </a:solidFill>
                <a:latin typeface="Courier New" panose="02070309020205020404" pitchFamily="49" charset="0"/>
                <a:cs typeface="Times New Roman" panose="02020603050405020304" pitchFamily="18" charset="0"/>
              </a:rPr>
              <a:t>(f2)				%</a:t>
            </a:r>
            <a:r>
              <a:rPr lang="zh-CN" altLang="en-US" b="1" dirty="0">
                <a:solidFill>
                  <a:srgbClr val="FF0000"/>
                </a:solidFill>
                <a:latin typeface="Courier New" panose="02070309020205020404" pitchFamily="49" charset="0"/>
                <a:cs typeface="Times New Roman" panose="02020603050405020304" pitchFamily="18" charset="0"/>
              </a:rPr>
              <a:t>默认都关于</a:t>
            </a:r>
            <a:r>
              <a:rPr lang="en-US" altLang="zh-CN" b="1" dirty="0">
                <a:solidFill>
                  <a:srgbClr val="FF0000"/>
                </a:solidFill>
                <a:latin typeface="Courier New" panose="02070309020205020404" pitchFamily="49" charset="0"/>
                <a:cs typeface="Times New Roman" panose="02020603050405020304" pitchFamily="18" charset="0"/>
              </a:rPr>
              <a:t>x</a:t>
            </a:r>
            <a:r>
              <a:rPr lang="zh-CN" altLang="en-US" b="1" dirty="0">
                <a:solidFill>
                  <a:srgbClr val="FF0000"/>
                </a:solidFill>
                <a:latin typeface="Courier New" panose="02070309020205020404" pitchFamily="49" charset="0"/>
                <a:cs typeface="Times New Roman" panose="02020603050405020304" pitchFamily="18" charset="0"/>
              </a:rPr>
              <a:t>积分</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pretty(INTf2)				%</a:t>
            </a:r>
            <a:r>
              <a:rPr lang="zh-CN" altLang="en-US" b="1" dirty="0">
                <a:solidFill>
                  <a:srgbClr val="FF0000"/>
                </a:solidFill>
                <a:latin typeface="Courier New" panose="02070309020205020404" pitchFamily="49" charset="0"/>
                <a:cs typeface="Times New Roman" panose="02020603050405020304" pitchFamily="18" charset="0"/>
              </a:rPr>
              <a:t>书写习惯的“手写美化”显示</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f2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a*x,  b*x^2]</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[ 1/x, sin(x)]</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INTf2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(a*x^2)/2, (b*x^3)/3]</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log(x),   -cos(x)]</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2        3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a x      b x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    ----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2        3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 log(x), -cos(x) / </a:t>
            </a:r>
            <a:r>
              <a:rPr lang="en-US" altLang="zh-CN" dirty="0">
                <a:latin typeface="Courier New" panose="02070309020205020404" pitchFamily="49" charset="0"/>
                <a:cs typeface="Times New Roman" panose="02020603050405020304" pitchFamily="18" charset="0"/>
              </a:rPr>
              <a:t> </a:t>
            </a:r>
            <a:endParaRPr lang="zh-CN" altLang="zh-CN" dirty="0">
              <a:latin typeface="Courier New" panose="02070309020205020404" pitchFamily="49"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6" name="矩形 5"/>
              <p:cNvSpPr/>
              <p:nvPr/>
            </p:nvSpPr>
            <p:spPr>
              <a:xfrm>
                <a:off x="433809" y="694408"/>
                <a:ext cx="6408712" cy="810735"/>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en-US" altLang="zh-CN" dirty="0">
                    <a:latin typeface="Times New Roman" panose="02020603050405020304" pitchFamily="18" charset="0"/>
                  </a:rPr>
                  <a:t>2.7-7(</a:t>
                </a:r>
                <a:r>
                  <a:rPr lang="zh-CN" altLang="en-US" dirty="0">
                    <a:latin typeface="Times New Roman" panose="02020603050405020304" pitchFamily="18" charset="0"/>
                  </a:rPr>
                  <a:t>部分</a:t>
                </a:r>
                <a:r>
                  <a:rPr lang="en-US" altLang="zh-CN" dirty="0">
                    <a:latin typeface="Times New Roman" panose="02020603050405020304" pitchFamily="18" charset="0"/>
                  </a:rPr>
                  <a:t>)</a:t>
                </a:r>
                <a:r>
                  <a:rPr lang="zh-CN" altLang="zh-CN" dirty="0">
                    <a:latin typeface="Times New Roman" panose="02020603050405020304" pitchFamily="18" charset="0"/>
                  </a:rPr>
                  <a:t>】</a:t>
                </a:r>
                <a:r>
                  <a:rPr lang="zh-CN" altLang="en-US" dirty="0">
                    <a:latin typeface="Times New Roman" panose="02020603050405020304" pitchFamily="18" charset="0"/>
                  </a:rPr>
                  <a:t>计算数组不定积分</a:t>
                </a:r>
                <a14:m>
                  <m:oMath xmlns:m="http://schemas.openxmlformats.org/officeDocument/2006/math">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𝑎</m:t>
                              </m:r>
                              <m:r>
                                <a:rPr lang="en-US" altLang="zh-CN" b="0" i="1" smtClean="0">
                                  <a:latin typeface="Cambria Math" panose="02040503050406030204" pitchFamily="18" charset="0"/>
                                </a:rPr>
                                <m:t>𝑥</m:t>
                              </m:r>
                            </m:e>
                            <m:e>
                              <m:r>
                                <a:rPr lang="en-US" altLang="zh-CN" b="0" i="1" smtClean="0">
                                  <a:latin typeface="Cambria Math" panose="02040503050406030204" pitchFamily="18" charset="0"/>
                                </a:rPr>
                                <m:t>𝑏</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e>
                          </m:mr>
                          <m:m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𝑥</m:t>
                                  </m:r>
                                </m:den>
                              </m:f>
                            </m:e>
                            <m:e>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sin</m:t>
                                  </m:r>
                                </m:fName>
                                <m:e>
                                  <m:r>
                                    <a:rPr lang="en-US" altLang="zh-CN" b="0" i="1" smtClean="0">
                                      <a:latin typeface="Cambria Math" panose="02040503050406030204" pitchFamily="18" charset="0"/>
                                    </a:rPr>
                                    <m:t>𝑥</m:t>
                                  </m:r>
                                </m:e>
                              </m:func>
                            </m:e>
                          </m:mr>
                        </m:m>
                      </m:e>
                    </m:d>
                    <m:r>
                      <m:rPr>
                        <m:sty m:val="p"/>
                      </m:rPr>
                      <a:rPr lang="en-US" altLang="zh-CN" b="0" i="0" smtClean="0">
                        <a:latin typeface="Cambria Math" panose="02040503050406030204" pitchFamily="18" charset="0"/>
                      </a:rPr>
                      <m:t>d</m:t>
                    </m:r>
                    <m:r>
                      <a:rPr lang="en-US" altLang="zh-CN" b="0" i="1" smtClean="0">
                        <a:latin typeface="Cambria Math" panose="02040503050406030204" pitchFamily="18" charset="0"/>
                      </a:rPr>
                      <m:t>𝑥</m:t>
                    </m:r>
                  </m:oMath>
                </a14:m>
                <a:endParaRPr lang="zh-CN" altLang="zh-CN" dirty="0">
                  <a:latin typeface="Times New Roman" panose="02020603050405020304" pitchFamily="18" charset="0"/>
                </a:endParaRPr>
              </a:p>
            </p:txBody>
          </p:sp>
        </mc:Choice>
        <mc:Fallback>
          <p:sp>
            <p:nvSpPr>
              <p:cNvPr id="6" name="矩形 5"/>
              <p:cNvSpPr>
                <a:spLocks noRot="1" noChangeAspect="1" noMove="1" noResize="1" noEditPoints="1" noAdjustHandles="1" noChangeArrowheads="1" noChangeShapeType="1" noTextEdit="1"/>
              </p:cNvSpPr>
              <p:nvPr/>
            </p:nvSpPr>
            <p:spPr>
              <a:xfrm>
                <a:off x="433809" y="694408"/>
                <a:ext cx="6408712" cy="810735"/>
              </a:xfrm>
              <a:prstGeom prst="rect">
                <a:avLst/>
              </a:prstGeom>
              <a:blipFill rotWithShape="1">
                <a:blip r:embed="rId1"/>
                <a:stretch>
                  <a:fillRect l="-2" t="-44" r="6" b="24"/>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6" end="1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7" end="1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356225"/>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符号积分</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6" name="矩形 5"/>
          <p:cNvSpPr/>
          <p:nvPr/>
        </p:nvSpPr>
        <p:spPr>
          <a:xfrm>
            <a:off x="433808" y="786775"/>
            <a:ext cx="8386663" cy="369332"/>
          </a:xfrm>
          <a:prstGeom prst="rect">
            <a:avLst/>
          </a:prstGeom>
        </p:spPr>
        <p:txBody>
          <a:bodyPr wrap="square">
            <a:spAutoFit/>
          </a:bodyPr>
          <a:lstStyle/>
          <a:p>
            <a:pPr algn="just" hangingPunct="0">
              <a:spcAft>
                <a:spcPts val="0"/>
              </a:spcAft>
              <a:tabLst>
                <a:tab pos="269875" algn="l"/>
              </a:tabLst>
            </a:pPr>
            <a:r>
              <a:rPr lang="zh-CN" altLang="zh-CN" dirty="0">
                <a:latin typeface="Times New Roman" panose="02020603050405020304" pitchFamily="18" charset="0"/>
              </a:rPr>
              <a:t>【例</a:t>
            </a:r>
            <a:r>
              <a:rPr lang="en-US" altLang="zh-CN" dirty="0">
                <a:latin typeface="Times New Roman" panose="02020603050405020304" pitchFamily="18" charset="0"/>
              </a:rPr>
              <a:t>2.7-8(</a:t>
            </a:r>
            <a:r>
              <a:rPr lang="zh-CN" altLang="en-US" dirty="0">
                <a:latin typeface="Times New Roman" panose="02020603050405020304" pitchFamily="18" charset="0"/>
              </a:rPr>
              <a:t>部分</a:t>
            </a:r>
            <a:r>
              <a:rPr lang="en-US" altLang="zh-CN" dirty="0">
                <a:latin typeface="Times New Roman" panose="02020603050405020304" pitchFamily="18" charset="0"/>
              </a:rPr>
              <a:t>)</a:t>
            </a:r>
            <a:r>
              <a:rPr lang="zh-CN" altLang="zh-CN" dirty="0">
                <a:latin typeface="Times New Roman" panose="02020603050405020304" pitchFamily="18" charset="0"/>
              </a:rPr>
              <a:t>】</a:t>
            </a:r>
            <a:r>
              <a:rPr lang="zh-CN" altLang="en-US" dirty="0">
                <a:latin typeface="Times New Roman" panose="02020603050405020304" pitchFamily="18" charset="0"/>
              </a:rPr>
              <a:t>符号定积分与广义积分</a:t>
            </a:r>
            <a:endParaRPr lang="zh-CN" altLang="zh-CN"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矩形 6"/>
              <p:cNvSpPr/>
              <p:nvPr/>
            </p:nvSpPr>
            <p:spPr>
              <a:xfrm>
                <a:off x="247198" y="1268760"/>
                <a:ext cx="8550696" cy="5238357"/>
              </a:xfrm>
              <a:prstGeom prst="rect">
                <a:avLst/>
              </a:prstGeom>
            </p:spPr>
            <p:txBody>
              <a:bodyPr wrap="square">
                <a:spAutoFit/>
              </a:bodyPr>
              <a:lstStyle/>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clear all, </a:t>
                </a: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x, f1 = log(1 + sqrt(x));</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F1 = int(f1,x,[0,1])			%</a:t>
                </a:r>
                <a:r>
                  <a:rPr lang="zh-CN" altLang="en-US" b="1" dirty="0">
                    <a:solidFill>
                      <a:srgbClr val="FF0000"/>
                    </a:solidFill>
                    <a:latin typeface="Courier New" panose="02070309020205020404" pitchFamily="49" charset="0"/>
                    <a:cs typeface="Times New Roman" panose="02020603050405020304" pitchFamily="18" charset="0"/>
                  </a:rPr>
                  <a:t>计算</a:t>
                </a:r>
                <a14:m>
                  <m:oMath xmlns:m="http://schemas.openxmlformats.org/officeDocument/2006/math">
                    <m:nary>
                      <m:naryPr>
                        <m:ctrlPr>
                          <a:rPr lang="en-US" altLang="zh-CN" b="1" i="1" smtClean="0">
                            <a:solidFill>
                              <a:srgbClr val="FF0000"/>
                            </a:solidFill>
                            <a:latin typeface="Cambria Math" panose="02040503050406030204" pitchFamily="18" charset="0"/>
                            <a:cs typeface="Times New Roman" panose="02020603050405020304" pitchFamily="18" charset="0"/>
                          </a:rPr>
                        </m:ctrlPr>
                      </m:naryPr>
                      <m:sub>
                        <m:r>
                          <a:rPr lang="en-US" altLang="zh-CN" b="1" i="1" smtClean="0">
                            <a:solidFill>
                              <a:srgbClr val="FF0000"/>
                            </a:solidFill>
                            <a:latin typeface="Cambria Math" panose="02040503050406030204" pitchFamily="18" charset="0"/>
                            <a:cs typeface="Times New Roman" panose="02020603050405020304" pitchFamily="18" charset="0"/>
                          </a:rPr>
                          <m:t>𝟎</m:t>
                        </m:r>
                      </m:sub>
                      <m:sup>
                        <m:r>
                          <a:rPr lang="en-US" altLang="zh-CN" b="1" i="1" smtClean="0">
                            <a:solidFill>
                              <a:srgbClr val="FF0000"/>
                            </a:solidFill>
                            <a:latin typeface="Cambria Math" panose="02040503050406030204" pitchFamily="18" charset="0"/>
                            <a:cs typeface="Times New Roman" panose="02020603050405020304" pitchFamily="18" charset="0"/>
                          </a:rPr>
                          <m:t>𝟏</m:t>
                        </m:r>
                      </m:sup>
                      <m:e>
                        <m:func>
                          <m:funcPr>
                            <m:ctrlPr>
                              <a:rPr lang="en-US" altLang="zh-CN" b="1" i="1" smtClean="0">
                                <a:solidFill>
                                  <a:srgbClr val="FF0000"/>
                                </a:solidFill>
                                <a:latin typeface="Cambria Math" panose="02040503050406030204" pitchFamily="18" charset="0"/>
                                <a:cs typeface="Times New Roman" panose="02020603050405020304" pitchFamily="18" charset="0"/>
                              </a:rPr>
                            </m:ctrlPr>
                          </m:funcPr>
                          <m:fName>
                            <m:r>
                              <m:rPr>
                                <m:sty m:val="p"/>
                              </m:rPr>
                              <a:rPr lang="en-US" altLang="zh-CN" b="0" i="0" smtClean="0">
                                <a:solidFill>
                                  <a:srgbClr val="FF0000"/>
                                </a:solidFill>
                                <a:latin typeface="Cambria Math" panose="02040503050406030204" pitchFamily="18" charset="0"/>
                                <a:cs typeface="Times New Roman" panose="02020603050405020304" pitchFamily="18" charset="0"/>
                              </a:rPr>
                              <m:t>ln</m:t>
                            </m:r>
                          </m:fName>
                          <m:e>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𝟏</m:t>
                            </m:r>
                            <m:r>
                              <a:rPr lang="en-US" altLang="zh-CN" b="1" i="1" smtClean="0">
                                <a:solidFill>
                                  <a:srgbClr val="FF0000"/>
                                </a:solidFill>
                                <a:latin typeface="Cambria Math" panose="02040503050406030204" pitchFamily="18" charset="0"/>
                                <a:cs typeface="Times New Roman" panose="02020603050405020304" pitchFamily="18" charset="0"/>
                              </a:rPr>
                              <m:t>+</m:t>
                            </m:r>
                            <m:rad>
                              <m:radPr>
                                <m:degHide m:val="on"/>
                                <m:ctrlPr>
                                  <a:rPr lang="en-US" altLang="zh-CN" b="1" i="1" smtClean="0">
                                    <a:solidFill>
                                      <a:srgbClr val="FF0000"/>
                                    </a:solidFill>
                                    <a:latin typeface="Cambria Math" panose="02040503050406030204" pitchFamily="18" charset="0"/>
                                    <a:cs typeface="Times New Roman" panose="02020603050405020304" pitchFamily="18" charset="0"/>
                                  </a:rPr>
                                </m:ctrlPr>
                              </m:radPr>
                              <m:deg/>
                              <m:e>
                                <m:r>
                                  <a:rPr lang="en-US" altLang="zh-CN" b="1" i="1" smtClean="0">
                                    <a:solidFill>
                                      <a:srgbClr val="FF0000"/>
                                    </a:solidFill>
                                    <a:latin typeface="Cambria Math" panose="02040503050406030204" pitchFamily="18" charset="0"/>
                                    <a:cs typeface="Times New Roman" panose="02020603050405020304" pitchFamily="18" charset="0"/>
                                  </a:rPr>
                                  <m:t>𝒙</m:t>
                                </m:r>
                              </m:e>
                            </m:rad>
                            <m:r>
                              <a:rPr lang="en-US" altLang="zh-CN" b="1" i="1" smtClean="0">
                                <a:solidFill>
                                  <a:srgbClr val="FF0000"/>
                                </a:solidFill>
                                <a:latin typeface="Cambria Math" panose="02040503050406030204" pitchFamily="18" charset="0"/>
                                <a:cs typeface="Times New Roman" panose="02020603050405020304" pitchFamily="18" charset="0"/>
                              </a:rPr>
                              <m:t>)</m:t>
                            </m:r>
                          </m:e>
                        </m:func>
                        <m:r>
                          <a:rPr lang="en-US" altLang="zh-CN" b="1" i="0" smtClean="0">
                            <a:solidFill>
                              <a:srgbClr val="FF0000"/>
                            </a:solidFill>
                            <a:latin typeface="Cambria Math" panose="02040503050406030204" pitchFamily="18" charset="0"/>
                            <a:cs typeface="Times New Roman" panose="02020603050405020304" pitchFamily="18" charset="0"/>
                          </a:rPr>
                          <m:t>𝐝</m:t>
                        </m:r>
                        <m:r>
                          <a:rPr lang="en-US" altLang="zh-CN" b="1" i="1" smtClean="0">
                            <a:solidFill>
                              <a:srgbClr val="FF0000"/>
                            </a:solidFill>
                            <a:latin typeface="Cambria Math" panose="02040503050406030204" pitchFamily="18" charset="0"/>
                            <a:cs typeface="Times New Roman" panose="02020603050405020304" pitchFamily="18" charset="0"/>
                          </a:rPr>
                          <m:t>𝒙</m:t>
                        </m:r>
                      </m:e>
                    </m:nary>
                  </m:oMath>
                </a14:m>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F1 = 1/2</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F2 = int(exp(-x^2),x,[-</a:t>
                </a:r>
                <a:r>
                  <a:rPr lang="en-US" altLang="zh-CN" b="1" dirty="0" err="1">
                    <a:solidFill>
                      <a:srgbClr val="008000"/>
                    </a:solidFill>
                    <a:latin typeface="Courier New" panose="02070309020205020404" pitchFamily="49" charset="0"/>
                    <a:cs typeface="Times New Roman" panose="02020603050405020304" pitchFamily="18" charset="0"/>
                  </a:rPr>
                  <a:t>inf,inf</a:t>
                </a:r>
                <a:r>
                  <a:rPr lang="en-US" altLang="zh-CN" b="1" dirty="0">
                    <a:solidFill>
                      <a:srgbClr val="008000"/>
                    </a:solidFill>
                    <a:latin typeface="Courier New" panose="02070309020205020404" pitchFamily="49" charset="0"/>
                    <a:cs typeface="Times New Roman" panose="02020603050405020304" pitchFamily="18" charset="0"/>
                  </a:rPr>
                  <a:t>])	%</a:t>
                </a:r>
                <a:r>
                  <a:rPr lang="zh-CN" altLang="en-US" b="1" dirty="0">
                    <a:solidFill>
                      <a:srgbClr val="FF0000"/>
                    </a:solidFill>
                    <a:latin typeface="Courier New" panose="02070309020205020404" pitchFamily="49" charset="0"/>
                    <a:cs typeface="Times New Roman" panose="02020603050405020304" pitchFamily="18" charset="0"/>
                  </a:rPr>
                  <a:t>计算</a:t>
                </a:r>
                <a14:m>
                  <m:oMath xmlns:m="http://schemas.openxmlformats.org/officeDocument/2006/math">
                    <m:nary>
                      <m:naryPr>
                        <m:ctrlPr>
                          <a:rPr lang="en-US" altLang="zh-CN" b="1" i="1" smtClean="0">
                            <a:solidFill>
                              <a:srgbClr val="FF0000"/>
                            </a:solidFill>
                            <a:latin typeface="Cambria Math" panose="02040503050406030204" pitchFamily="18" charset="0"/>
                            <a:cs typeface="Times New Roman" panose="02020603050405020304" pitchFamily="18" charset="0"/>
                          </a:rPr>
                        </m:ctrlPr>
                      </m:naryPr>
                      <m:sub>
                        <m:r>
                          <a:rPr lang="en-US" altLang="zh-CN" b="1" i="1" smtClean="0">
                            <a:solidFill>
                              <a:srgbClr val="FF0000"/>
                            </a:solidFill>
                            <a:latin typeface="Cambria Math" panose="02040503050406030204" pitchFamily="18" charset="0"/>
                            <a:cs typeface="Times New Roman" panose="02020603050405020304" pitchFamily="18" charset="0"/>
                          </a:rPr>
                          <m:t>−∞</m:t>
                        </m:r>
                      </m:sub>
                      <m:sup>
                        <m:r>
                          <a:rPr lang="en-US" altLang="zh-CN" b="1" i="1" smtClean="0">
                            <a:solidFill>
                              <a:srgbClr val="FF0000"/>
                            </a:solidFill>
                            <a:latin typeface="Cambria Math" panose="02040503050406030204" pitchFamily="18" charset="0"/>
                            <a:cs typeface="Times New Roman" panose="02020603050405020304" pitchFamily="18" charset="0"/>
                          </a:rPr>
                          <m:t>+∞</m:t>
                        </m:r>
                      </m:sup>
                      <m:e>
                        <m:sSup>
                          <m:sSupPr>
                            <m:ctrlPr>
                              <a:rPr lang="en-US" altLang="zh-CN" b="1" i="1" smtClean="0">
                                <a:solidFill>
                                  <a:srgbClr val="FF0000"/>
                                </a:solidFill>
                                <a:latin typeface="Cambria Math" panose="02040503050406030204" pitchFamily="18" charset="0"/>
                                <a:cs typeface="Times New Roman" panose="02020603050405020304" pitchFamily="18" charset="0"/>
                              </a:rPr>
                            </m:ctrlPr>
                          </m:sSupPr>
                          <m:e>
                            <m:r>
                              <a:rPr lang="en-US" altLang="zh-CN" b="1" i="1" smtClean="0">
                                <a:solidFill>
                                  <a:srgbClr val="FF0000"/>
                                </a:solidFill>
                                <a:latin typeface="Cambria Math" panose="02040503050406030204" pitchFamily="18" charset="0"/>
                                <a:cs typeface="Times New Roman" panose="02020603050405020304" pitchFamily="18" charset="0"/>
                              </a:rPr>
                              <m:t>𝒆</m:t>
                            </m:r>
                          </m:e>
                          <m:sup>
                            <m:r>
                              <a:rPr lang="en-US" altLang="zh-CN" b="1" i="1" smtClean="0">
                                <a:solidFill>
                                  <a:srgbClr val="FF0000"/>
                                </a:solidFill>
                                <a:latin typeface="Cambria Math" panose="02040503050406030204" pitchFamily="18" charset="0"/>
                                <a:cs typeface="Times New Roman" panose="02020603050405020304" pitchFamily="18" charset="0"/>
                              </a:rPr>
                              <m:t>−</m:t>
                            </m:r>
                            <m:sSup>
                              <m:sSupPr>
                                <m:ctrlPr>
                                  <a:rPr lang="en-US" altLang="zh-CN" b="1" i="1" smtClean="0">
                                    <a:solidFill>
                                      <a:srgbClr val="FF0000"/>
                                    </a:solidFill>
                                    <a:latin typeface="Cambria Math" panose="02040503050406030204" pitchFamily="18" charset="0"/>
                                    <a:cs typeface="Times New Roman" panose="02020603050405020304" pitchFamily="18" charset="0"/>
                                  </a:rPr>
                                </m:ctrlPr>
                              </m:sSupPr>
                              <m:e>
                                <m:r>
                                  <a:rPr lang="en-US" altLang="zh-CN" b="1" i="1" smtClean="0">
                                    <a:solidFill>
                                      <a:srgbClr val="FF0000"/>
                                    </a:solidFill>
                                    <a:latin typeface="Cambria Math" panose="02040503050406030204" pitchFamily="18" charset="0"/>
                                    <a:cs typeface="Times New Roman" panose="02020603050405020304" pitchFamily="18" charset="0"/>
                                  </a:rPr>
                                  <m:t>𝒙</m:t>
                                </m:r>
                              </m:e>
                              <m:sup>
                                <m:r>
                                  <a:rPr lang="en-US" altLang="zh-CN" b="1" i="1" smtClean="0">
                                    <a:solidFill>
                                      <a:srgbClr val="FF0000"/>
                                    </a:solidFill>
                                    <a:latin typeface="Cambria Math" panose="02040503050406030204" pitchFamily="18" charset="0"/>
                                    <a:cs typeface="Times New Roman" panose="02020603050405020304" pitchFamily="18" charset="0"/>
                                  </a:rPr>
                                  <m:t>𝟐</m:t>
                                </m:r>
                              </m:sup>
                            </m:sSup>
                          </m:sup>
                        </m:sSup>
                      </m:e>
                    </m:nary>
                    <m:r>
                      <a:rPr lang="en-US" altLang="zh-CN" b="1" i="0" smtClean="0">
                        <a:solidFill>
                          <a:srgbClr val="FF0000"/>
                        </a:solidFill>
                        <a:latin typeface="Cambria Math" panose="02040503050406030204" pitchFamily="18" charset="0"/>
                        <a:cs typeface="Times New Roman" panose="02020603050405020304" pitchFamily="18" charset="0"/>
                      </a:rPr>
                      <m:t>𝐝</m:t>
                    </m:r>
                    <m:r>
                      <a:rPr lang="en-US" altLang="zh-CN" b="1" i="1" smtClean="0">
                        <a:solidFill>
                          <a:srgbClr val="FF0000"/>
                        </a:solidFill>
                        <a:latin typeface="Cambria Math" panose="02040503050406030204" pitchFamily="18" charset="0"/>
                        <a:cs typeface="Times New Roman" panose="02020603050405020304" pitchFamily="18" charset="0"/>
                      </a:rPr>
                      <m:t>𝒙</m:t>
                    </m:r>
                  </m:oMath>
                </a14:m>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F2 = pi^(1/2)</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F3 = int(1/sqrt(abs(x)),x,[-1,2])%</a:t>
                </a:r>
                <a:r>
                  <a:rPr lang="zh-CN" altLang="en-US" b="1" dirty="0">
                    <a:solidFill>
                      <a:srgbClr val="FF0000"/>
                    </a:solidFill>
                    <a:latin typeface="Courier New" panose="02070309020205020404" pitchFamily="49" charset="0"/>
                    <a:cs typeface="Times New Roman" panose="02020603050405020304" pitchFamily="18" charset="0"/>
                  </a:rPr>
                  <a:t>计算瑕积分</a:t>
                </a:r>
                <a14:m>
                  <m:oMath xmlns:m="http://schemas.openxmlformats.org/officeDocument/2006/math">
                    <m:nary>
                      <m:naryPr>
                        <m:ctrlPr>
                          <a:rPr lang="en-US" altLang="zh-CN" b="1" i="1" smtClean="0">
                            <a:solidFill>
                              <a:srgbClr val="FF0000"/>
                            </a:solidFill>
                            <a:latin typeface="Cambria Math" panose="02040503050406030204" pitchFamily="18" charset="0"/>
                            <a:cs typeface="Times New Roman" panose="02020603050405020304" pitchFamily="18" charset="0"/>
                          </a:rPr>
                        </m:ctrlPr>
                      </m:naryPr>
                      <m:sub>
                        <m:d>
                          <m:dPr>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m:t>
                            </m:r>
                            <m:r>
                              <a:rPr lang="en-US" altLang="zh-CN" b="1" i="1" smtClean="0">
                                <a:solidFill>
                                  <a:srgbClr val="FF0000"/>
                                </a:solidFill>
                                <a:latin typeface="Cambria Math" panose="02040503050406030204" pitchFamily="18" charset="0"/>
                                <a:cs typeface="Times New Roman" panose="02020603050405020304" pitchFamily="18" charset="0"/>
                              </a:rPr>
                              <m:t>𝟏</m:t>
                            </m:r>
                          </m:e>
                        </m:d>
                      </m:sub>
                      <m:sup>
                        <m:r>
                          <a:rPr lang="en-US" altLang="zh-CN" b="1" i="1" smtClean="0">
                            <a:solidFill>
                              <a:srgbClr val="FF0000"/>
                            </a:solidFill>
                            <a:latin typeface="Cambria Math" panose="02040503050406030204" pitchFamily="18" charset="0"/>
                            <a:cs typeface="Times New Roman" panose="02020603050405020304" pitchFamily="18" charset="0"/>
                          </a:rPr>
                          <m:t>𝟐</m:t>
                        </m:r>
                      </m:sup>
                      <m:e>
                        <m:f>
                          <m:fPr>
                            <m:ctrlPr>
                              <a:rPr lang="en-US" altLang="zh-CN" b="1" i="1" smtClean="0">
                                <a:solidFill>
                                  <a:srgbClr val="FF0000"/>
                                </a:solidFill>
                                <a:latin typeface="Cambria Math" panose="02040503050406030204" pitchFamily="18" charset="0"/>
                                <a:cs typeface="Times New Roman" panose="02020603050405020304" pitchFamily="18" charset="0"/>
                              </a:rPr>
                            </m:ctrlPr>
                          </m:fPr>
                          <m:num>
                            <m:r>
                              <a:rPr lang="en-US" altLang="zh-CN" b="1" i="1" smtClean="0">
                                <a:solidFill>
                                  <a:srgbClr val="FF0000"/>
                                </a:solidFill>
                                <a:latin typeface="Cambria Math" panose="02040503050406030204" pitchFamily="18" charset="0"/>
                                <a:cs typeface="Times New Roman" panose="02020603050405020304" pitchFamily="18" charset="0"/>
                              </a:rPr>
                              <m:t>𝟏</m:t>
                            </m:r>
                          </m:num>
                          <m:den>
                            <m:rad>
                              <m:radPr>
                                <m:degHide m:val="on"/>
                                <m:ctrlPr>
                                  <a:rPr lang="en-US" altLang="zh-CN" b="1" i="1" smtClean="0">
                                    <a:solidFill>
                                      <a:srgbClr val="FF0000"/>
                                    </a:solidFill>
                                    <a:latin typeface="Cambria Math" panose="02040503050406030204" pitchFamily="18" charset="0"/>
                                    <a:cs typeface="Times New Roman" panose="02020603050405020304" pitchFamily="18" charset="0"/>
                                  </a:rPr>
                                </m:ctrlPr>
                              </m:radPr>
                              <m:deg/>
                              <m:e>
                                <m:d>
                                  <m:dPr>
                                    <m:begChr m:val="|"/>
                                    <m:endChr m:val="|"/>
                                    <m:ctrlPr>
                                      <a:rPr lang="en-US" altLang="zh-CN" b="1" i="1" smtClean="0">
                                        <a:solidFill>
                                          <a:srgbClr val="FF0000"/>
                                        </a:solidFill>
                                        <a:latin typeface="Cambria Math" panose="02040503050406030204" pitchFamily="18" charset="0"/>
                                        <a:cs typeface="Times New Roman" panose="02020603050405020304" pitchFamily="18" charset="0"/>
                                      </a:rPr>
                                    </m:ctrlPr>
                                  </m:dPr>
                                  <m:e>
                                    <m:r>
                                      <a:rPr lang="en-US" altLang="zh-CN" b="1" i="1" smtClean="0">
                                        <a:solidFill>
                                          <a:srgbClr val="FF0000"/>
                                        </a:solidFill>
                                        <a:latin typeface="Cambria Math" panose="02040503050406030204" pitchFamily="18" charset="0"/>
                                        <a:cs typeface="Times New Roman" panose="02020603050405020304" pitchFamily="18" charset="0"/>
                                      </a:rPr>
                                      <m:t>𝒙</m:t>
                                    </m:r>
                                  </m:e>
                                </m:d>
                              </m:e>
                            </m:rad>
                          </m:den>
                        </m:f>
                      </m:e>
                    </m:nary>
                    <m:r>
                      <a:rPr lang="en-US" altLang="zh-CN" b="1" i="0" smtClean="0">
                        <a:solidFill>
                          <a:srgbClr val="FF0000"/>
                        </a:solidFill>
                        <a:latin typeface="Cambria Math" panose="02040503050406030204" pitchFamily="18" charset="0"/>
                        <a:cs typeface="Times New Roman" panose="02020603050405020304" pitchFamily="18" charset="0"/>
                      </a:rPr>
                      <m:t>𝐝</m:t>
                    </m:r>
                    <m:r>
                      <a:rPr lang="en-US" altLang="zh-CN" b="1" i="1" smtClean="0">
                        <a:solidFill>
                          <a:srgbClr val="FF0000"/>
                        </a:solidFill>
                        <a:latin typeface="Cambria Math" panose="02040503050406030204" pitchFamily="18" charset="0"/>
                        <a:cs typeface="Times New Roman" panose="02020603050405020304" pitchFamily="18" charset="0"/>
                      </a:rPr>
                      <m:t>𝒙</m:t>
                    </m:r>
                  </m:oMath>
                </a14:m>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F3 = 2*2^(1/2) + 2</a:t>
                </a:r>
                <a:endParaRPr lang="en-US" altLang="zh-CN" dirty="0">
                  <a:solidFill>
                    <a:srgbClr val="0000FF"/>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F4 = int(1/</a:t>
                </a:r>
                <a:r>
                  <a:rPr lang="en-US" altLang="zh-CN" b="1" dirty="0" err="1">
                    <a:solidFill>
                      <a:srgbClr val="008000"/>
                    </a:solidFill>
                    <a:latin typeface="Courier New" panose="02070309020205020404" pitchFamily="49" charset="0"/>
                    <a:cs typeface="Times New Roman" panose="02020603050405020304" pitchFamily="18" charset="0"/>
                  </a:rPr>
                  <a:t>x,x</a:t>
                </a:r>
                <a:r>
                  <a:rPr lang="en-US" altLang="zh-CN" b="1" dirty="0">
                    <a:solidFill>
                      <a:srgbClr val="008000"/>
                    </a:solidFill>
                    <a:latin typeface="Courier New" panose="02070309020205020404" pitchFamily="49" charset="0"/>
                    <a:cs typeface="Times New Roman" panose="02020603050405020304" pitchFamily="18" charset="0"/>
                  </a:rPr>
                  <a:t>,[-1,2])		%</a:t>
                </a:r>
                <a:r>
                  <a:rPr lang="zh-CN" altLang="en-US" b="1" dirty="0">
                    <a:solidFill>
                      <a:srgbClr val="FF0000"/>
                    </a:solidFill>
                    <a:latin typeface="Courier New" panose="02070309020205020404" pitchFamily="49" charset="0"/>
                    <a:cs typeface="Times New Roman" panose="02020603050405020304" pitchFamily="18" charset="0"/>
                  </a:rPr>
                  <a:t>瑕积分</a:t>
                </a:r>
                <a14:m>
                  <m:oMath xmlns:m="http://schemas.openxmlformats.org/officeDocument/2006/math">
                    <m:nary>
                      <m:naryPr>
                        <m:ctrlPr>
                          <a:rPr lang="en-US" altLang="zh-CN" b="1" i="1">
                            <a:solidFill>
                              <a:srgbClr val="FF0000"/>
                            </a:solidFill>
                            <a:latin typeface="Cambria Math" panose="02040503050406030204" pitchFamily="18" charset="0"/>
                            <a:cs typeface="Times New Roman" panose="02020603050405020304" pitchFamily="18" charset="0"/>
                          </a:rPr>
                        </m:ctrlPr>
                      </m:naryPr>
                      <m:sub>
                        <m:d>
                          <m:dPr>
                            <m:ctrlPr>
                              <a:rPr lang="en-US" altLang="zh-CN" b="1" i="1">
                                <a:solidFill>
                                  <a:srgbClr val="FF0000"/>
                                </a:solidFill>
                                <a:latin typeface="Cambria Math" panose="02040503050406030204" pitchFamily="18" charset="0"/>
                                <a:cs typeface="Times New Roman" panose="02020603050405020304" pitchFamily="18" charset="0"/>
                              </a:rPr>
                            </m:ctrlPr>
                          </m:dPr>
                          <m:e>
                            <m:r>
                              <a:rPr lang="en-US" altLang="zh-CN" b="1" i="1">
                                <a:solidFill>
                                  <a:srgbClr val="FF0000"/>
                                </a:solidFill>
                                <a:latin typeface="Cambria Math" panose="02040503050406030204" pitchFamily="18" charset="0"/>
                                <a:cs typeface="Times New Roman" panose="02020603050405020304" pitchFamily="18" charset="0"/>
                              </a:rPr>
                              <m:t>−</m:t>
                            </m:r>
                            <m:r>
                              <a:rPr lang="en-US" altLang="zh-CN" b="1" i="1">
                                <a:solidFill>
                                  <a:srgbClr val="FF0000"/>
                                </a:solidFill>
                                <a:latin typeface="Cambria Math" panose="02040503050406030204" pitchFamily="18" charset="0"/>
                                <a:cs typeface="Times New Roman" panose="02020603050405020304" pitchFamily="18" charset="0"/>
                              </a:rPr>
                              <m:t>𝟏</m:t>
                            </m:r>
                          </m:e>
                        </m:d>
                      </m:sub>
                      <m:sup>
                        <m:r>
                          <a:rPr lang="en-US" altLang="zh-CN" b="1" i="1">
                            <a:solidFill>
                              <a:srgbClr val="FF0000"/>
                            </a:solidFill>
                            <a:latin typeface="Cambria Math" panose="02040503050406030204" pitchFamily="18" charset="0"/>
                            <a:cs typeface="Times New Roman" panose="02020603050405020304" pitchFamily="18" charset="0"/>
                          </a:rPr>
                          <m:t>𝟐</m:t>
                        </m:r>
                      </m:sup>
                      <m:e>
                        <m:f>
                          <m:fPr>
                            <m:ctrlPr>
                              <a:rPr lang="en-US" altLang="zh-CN" b="1" i="1" smtClean="0">
                                <a:solidFill>
                                  <a:srgbClr val="FF0000"/>
                                </a:solidFill>
                                <a:latin typeface="Cambria Math" panose="02040503050406030204" pitchFamily="18" charset="0"/>
                                <a:cs typeface="Times New Roman" panose="02020603050405020304" pitchFamily="18" charset="0"/>
                              </a:rPr>
                            </m:ctrlPr>
                          </m:fPr>
                          <m:num>
                            <m:r>
                              <a:rPr lang="en-US" altLang="zh-CN" b="1" i="1" smtClean="0">
                                <a:solidFill>
                                  <a:srgbClr val="FF0000"/>
                                </a:solidFill>
                                <a:latin typeface="Cambria Math" panose="02040503050406030204" pitchFamily="18" charset="0"/>
                                <a:cs typeface="Times New Roman" panose="02020603050405020304" pitchFamily="18" charset="0"/>
                              </a:rPr>
                              <m:t>𝟏</m:t>
                            </m:r>
                          </m:num>
                          <m:den>
                            <m:r>
                              <a:rPr lang="en-US" altLang="zh-CN" b="1" i="1" smtClean="0">
                                <a:solidFill>
                                  <a:srgbClr val="FF0000"/>
                                </a:solidFill>
                                <a:latin typeface="Cambria Math" panose="02040503050406030204" pitchFamily="18" charset="0"/>
                                <a:cs typeface="Times New Roman" panose="02020603050405020304" pitchFamily="18" charset="0"/>
                              </a:rPr>
                              <m:t>𝒙</m:t>
                            </m:r>
                          </m:den>
                        </m:f>
                      </m:e>
                    </m:nary>
                    <m:r>
                      <a:rPr lang="en-US" altLang="zh-CN" b="1">
                        <a:solidFill>
                          <a:srgbClr val="FF0000"/>
                        </a:solidFill>
                        <a:latin typeface="Cambria Math" panose="02040503050406030204" pitchFamily="18" charset="0"/>
                        <a:cs typeface="Times New Roman" panose="02020603050405020304" pitchFamily="18" charset="0"/>
                      </a:rPr>
                      <m:t>𝐝</m:t>
                    </m:r>
                    <m:r>
                      <a:rPr lang="en-US" altLang="zh-CN" b="1" i="1">
                        <a:solidFill>
                          <a:srgbClr val="FF0000"/>
                        </a:solidFill>
                        <a:latin typeface="Cambria Math" panose="02040503050406030204" pitchFamily="18" charset="0"/>
                        <a:cs typeface="Times New Roman" panose="02020603050405020304" pitchFamily="18" charset="0"/>
                      </a:rPr>
                      <m:t>𝒙</m:t>
                    </m:r>
                  </m:oMath>
                </a14:m>
                <a:r>
                  <a:rPr lang="zh-CN" altLang="en-US" b="1" dirty="0">
                    <a:solidFill>
                      <a:srgbClr val="FF0000"/>
                    </a:solidFill>
                    <a:latin typeface="Courier New" panose="02070309020205020404" pitchFamily="49" charset="0"/>
                    <a:cs typeface="Times New Roman" panose="02020603050405020304" pitchFamily="18" charset="0"/>
                  </a:rPr>
                  <a:t>不收敛</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F4 = </a:t>
                </a:r>
                <a:r>
                  <a:rPr lang="en-US" altLang="zh-CN" dirty="0" err="1">
                    <a:solidFill>
                      <a:srgbClr val="0000FF"/>
                    </a:solidFill>
                    <a:latin typeface="Courier New" panose="02070309020205020404" pitchFamily="49" charset="0"/>
                    <a:cs typeface="Times New Roman" panose="02020603050405020304" pitchFamily="18" charset="0"/>
                  </a:rPr>
                  <a:t>NaN</a:t>
                </a:r>
                <a:r>
                  <a:rPr lang="en-US" altLang="zh-CN" dirty="0">
                    <a:latin typeface="Courier New" panose="02070309020205020404" pitchFamily="49" charset="0"/>
                    <a:cs typeface="Times New Roman" panose="02020603050405020304" pitchFamily="18" charset="0"/>
                  </a:rPr>
                  <a:t> </a:t>
                </a:r>
                <a:endParaRPr lang="en-US"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F4N = int(1/</a:t>
                </a:r>
                <a:r>
                  <a:rPr lang="en-US" altLang="zh-CN" b="1" dirty="0" err="1">
                    <a:solidFill>
                      <a:srgbClr val="008000"/>
                    </a:solidFill>
                    <a:latin typeface="Courier New" panose="02070309020205020404" pitchFamily="49" charset="0"/>
                    <a:cs typeface="Times New Roman" panose="02020603050405020304" pitchFamily="18" charset="0"/>
                  </a:rPr>
                  <a:t>x,x</a:t>
                </a:r>
                <a:r>
                  <a:rPr lang="en-US" altLang="zh-CN" b="1" dirty="0">
                    <a:solidFill>
                      <a:srgbClr val="008000"/>
                    </a:solidFill>
                    <a:latin typeface="Courier New" panose="02070309020205020404" pitchFamily="49" charset="0"/>
                    <a:cs typeface="Times New Roman" panose="02020603050405020304" pitchFamily="18" charset="0"/>
                  </a:rPr>
                  <a:t>,[-1,2],'</a:t>
                </a:r>
                <a:r>
                  <a:rPr lang="en-US" altLang="zh-CN" b="1" dirty="0" err="1">
                    <a:solidFill>
                      <a:srgbClr val="008000"/>
                    </a:solidFill>
                    <a:latin typeface="Courier New" panose="02070309020205020404" pitchFamily="49" charset="0"/>
                    <a:cs typeface="Times New Roman" panose="02020603050405020304" pitchFamily="18" charset="0"/>
                  </a:rPr>
                  <a:t>PrincipalValue</a:t>
                </a:r>
                <a:r>
                  <a:rPr lang="en-US" altLang="zh-CN" b="1" dirty="0">
                    <a:solidFill>
                      <a:srgbClr val="008000"/>
                    </a:solidFill>
                    <a:latin typeface="Courier New" panose="02070309020205020404" pitchFamily="49" charset="0"/>
                    <a:cs typeface="Times New Roman" panose="02020603050405020304" pitchFamily="18" charset="0"/>
                  </a:rPr>
                  <a:t>',true)</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a:t>
                </a:r>
                <a:r>
                  <a:rPr lang="zh-CN" altLang="en-US" b="1" dirty="0">
                    <a:solidFill>
                      <a:srgbClr val="FF0000"/>
                    </a:solidFill>
                    <a:latin typeface="Courier New" panose="02070309020205020404" pitchFamily="49" charset="0"/>
                    <a:cs typeface="Times New Roman" panose="02020603050405020304" pitchFamily="18" charset="0"/>
                  </a:rPr>
                  <a:t>计算发散瑕积分</a:t>
                </a:r>
                <a14:m>
                  <m:oMath xmlns:m="http://schemas.openxmlformats.org/officeDocument/2006/math">
                    <m:nary>
                      <m:naryPr>
                        <m:ctrlPr>
                          <a:rPr lang="en-US" altLang="zh-CN" b="1" i="1">
                            <a:solidFill>
                              <a:srgbClr val="FF0000"/>
                            </a:solidFill>
                            <a:latin typeface="Cambria Math" panose="02040503050406030204" pitchFamily="18" charset="0"/>
                            <a:cs typeface="Times New Roman" panose="02020603050405020304" pitchFamily="18" charset="0"/>
                          </a:rPr>
                        </m:ctrlPr>
                      </m:naryPr>
                      <m:sub>
                        <m:d>
                          <m:dPr>
                            <m:ctrlPr>
                              <a:rPr lang="en-US" altLang="zh-CN" b="1" i="1">
                                <a:solidFill>
                                  <a:srgbClr val="FF0000"/>
                                </a:solidFill>
                                <a:latin typeface="Cambria Math" panose="02040503050406030204" pitchFamily="18" charset="0"/>
                                <a:cs typeface="Times New Roman" panose="02020603050405020304" pitchFamily="18" charset="0"/>
                              </a:rPr>
                            </m:ctrlPr>
                          </m:dPr>
                          <m:e>
                            <m:r>
                              <a:rPr lang="en-US" altLang="zh-CN" b="1" i="1">
                                <a:solidFill>
                                  <a:srgbClr val="FF0000"/>
                                </a:solidFill>
                                <a:latin typeface="Cambria Math" panose="02040503050406030204" pitchFamily="18" charset="0"/>
                                <a:cs typeface="Times New Roman" panose="02020603050405020304" pitchFamily="18" charset="0"/>
                              </a:rPr>
                              <m:t>−</m:t>
                            </m:r>
                            <m:r>
                              <a:rPr lang="en-US" altLang="zh-CN" b="1" i="1">
                                <a:solidFill>
                                  <a:srgbClr val="FF0000"/>
                                </a:solidFill>
                                <a:latin typeface="Cambria Math" panose="02040503050406030204" pitchFamily="18" charset="0"/>
                                <a:cs typeface="Times New Roman" panose="02020603050405020304" pitchFamily="18" charset="0"/>
                              </a:rPr>
                              <m:t>𝟏</m:t>
                            </m:r>
                          </m:e>
                        </m:d>
                      </m:sub>
                      <m:sup>
                        <m:r>
                          <a:rPr lang="en-US" altLang="zh-CN" b="1" i="1">
                            <a:solidFill>
                              <a:srgbClr val="FF0000"/>
                            </a:solidFill>
                            <a:latin typeface="Cambria Math" panose="02040503050406030204" pitchFamily="18" charset="0"/>
                            <a:cs typeface="Times New Roman" panose="02020603050405020304" pitchFamily="18" charset="0"/>
                          </a:rPr>
                          <m:t>𝟐</m:t>
                        </m:r>
                      </m:sup>
                      <m:e>
                        <m:f>
                          <m:fPr>
                            <m:ctrlPr>
                              <a:rPr lang="en-US" altLang="zh-CN" b="1" i="1">
                                <a:solidFill>
                                  <a:srgbClr val="FF0000"/>
                                </a:solidFill>
                                <a:latin typeface="Cambria Math" panose="02040503050406030204" pitchFamily="18" charset="0"/>
                                <a:cs typeface="Times New Roman" panose="02020603050405020304" pitchFamily="18" charset="0"/>
                              </a:rPr>
                            </m:ctrlPr>
                          </m:fPr>
                          <m:num>
                            <m:r>
                              <a:rPr lang="en-US" altLang="zh-CN" b="1" i="1">
                                <a:solidFill>
                                  <a:srgbClr val="FF0000"/>
                                </a:solidFill>
                                <a:latin typeface="Cambria Math" panose="02040503050406030204" pitchFamily="18" charset="0"/>
                                <a:cs typeface="Times New Roman" panose="02020603050405020304" pitchFamily="18" charset="0"/>
                              </a:rPr>
                              <m:t>𝟏</m:t>
                            </m:r>
                          </m:num>
                          <m:den>
                            <m:r>
                              <a:rPr lang="en-US" altLang="zh-CN" b="1" i="1">
                                <a:solidFill>
                                  <a:srgbClr val="FF0000"/>
                                </a:solidFill>
                                <a:latin typeface="Cambria Math" panose="02040503050406030204" pitchFamily="18" charset="0"/>
                                <a:cs typeface="Times New Roman" panose="02020603050405020304" pitchFamily="18" charset="0"/>
                              </a:rPr>
                              <m:t>𝒙</m:t>
                            </m:r>
                          </m:den>
                        </m:f>
                      </m:e>
                    </m:nary>
                    <m:r>
                      <a:rPr lang="en-US" altLang="zh-CN" b="1">
                        <a:solidFill>
                          <a:srgbClr val="FF0000"/>
                        </a:solidFill>
                        <a:latin typeface="Cambria Math" panose="02040503050406030204" pitchFamily="18" charset="0"/>
                        <a:cs typeface="Times New Roman" panose="02020603050405020304" pitchFamily="18" charset="0"/>
                      </a:rPr>
                      <m:t>𝐝</m:t>
                    </m:r>
                    <m:r>
                      <a:rPr lang="en-US" altLang="zh-CN" b="1" i="1">
                        <a:solidFill>
                          <a:srgbClr val="FF0000"/>
                        </a:solidFill>
                        <a:latin typeface="Cambria Math" panose="02040503050406030204" pitchFamily="18" charset="0"/>
                        <a:cs typeface="Times New Roman" panose="02020603050405020304" pitchFamily="18" charset="0"/>
                      </a:rPr>
                      <m:t>𝒙</m:t>
                    </m:r>
                  </m:oMath>
                </a14:m>
                <a:r>
                  <a:rPr lang="zh-CN" altLang="en-US" b="1" dirty="0">
                    <a:solidFill>
                      <a:srgbClr val="FF0000"/>
                    </a:solidFill>
                    <a:latin typeface="Courier New" panose="02070309020205020404" pitchFamily="49" charset="0"/>
                    <a:cs typeface="Times New Roman" panose="02020603050405020304" pitchFamily="18" charset="0"/>
                  </a:rPr>
                  <a:t>的柯西主值（请查阅其数学意义！）</a:t>
                </a:r>
                <a:endParaRPr lang="en-US" altLang="zh-CN"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F4N = log(2)</a:t>
                </a:r>
                <a:endParaRPr lang="en-US" altLang="zh-CN" dirty="0">
                  <a:latin typeface="Courier New" panose="02070309020205020404" pitchFamily="49" charset="0"/>
                  <a:cs typeface="Times New Roman" panose="02020603050405020304" pitchFamily="18" charset="0"/>
                </a:endParaRPr>
              </a:p>
            </p:txBody>
          </p:sp>
        </mc:Choice>
        <mc:Fallback>
          <p:sp>
            <p:nvSpPr>
              <p:cNvPr id="7" name="矩形 6"/>
              <p:cNvSpPr>
                <a:spLocks noRot="1" noChangeAspect="1" noMove="1" noResize="1" noEditPoints="1" noAdjustHandles="1" noChangeArrowheads="1" noChangeShapeType="1" noTextEdit="1"/>
              </p:cNvSpPr>
              <p:nvPr/>
            </p:nvSpPr>
            <p:spPr>
              <a:xfrm>
                <a:off x="247198" y="1268760"/>
                <a:ext cx="8550696" cy="5238357"/>
              </a:xfrm>
              <a:prstGeom prst="rect">
                <a:avLst/>
              </a:prstGeom>
              <a:blipFill rotWithShape="1">
                <a:blip r:embed="rId1"/>
                <a:stretch>
                  <a:fillRect l="-2" t="-1" r="7" b="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90850"/>
            <a:ext cx="7772400"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符号计算多层积分（重积分）</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6" name="矩形 5"/>
          <p:cNvSpPr/>
          <p:nvPr/>
        </p:nvSpPr>
        <p:spPr>
          <a:xfrm>
            <a:off x="323528" y="2204864"/>
            <a:ext cx="8064896" cy="3600986"/>
          </a:xfrm>
          <a:prstGeom prst="rect">
            <a:avLst/>
          </a:prstGeom>
        </p:spPr>
        <p:txBody>
          <a:bodyPr wrap="square">
            <a:spAutoFit/>
          </a:bodyPr>
          <a:lstStyle/>
          <a:p>
            <a:pPr algn="just" hangingPunct="0">
              <a:spcAft>
                <a:spcPts val="0"/>
              </a:spcAft>
              <a:tabLst>
                <a:tab pos="269875" algn="l"/>
              </a:tabLst>
            </a:pPr>
            <a:r>
              <a:rPr lang="en-US" altLang="zh-CN" b="1" dirty="0" err="1">
                <a:solidFill>
                  <a:srgbClr val="008000"/>
                </a:solidFill>
                <a:latin typeface="Courier New" panose="02070309020205020404" pitchFamily="49" charset="0"/>
                <a:cs typeface="Times New Roman" panose="02020603050405020304" pitchFamily="18" charset="0"/>
              </a:rPr>
              <a:t>syms</a:t>
            </a:r>
            <a:r>
              <a:rPr lang="en-US" altLang="zh-CN" b="1" dirty="0">
                <a:solidFill>
                  <a:srgbClr val="008000"/>
                </a:solidFill>
                <a:latin typeface="Courier New" panose="02070309020205020404" pitchFamily="49" charset="0"/>
                <a:cs typeface="Times New Roman" panose="02020603050405020304" pitchFamily="18" charset="0"/>
              </a:rPr>
              <a:t> x y z</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F2=</a:t>
            </a:r>
            <a:r>
              <a:rPr lang="en-US" altLang="zh-CN" b="1" dirty="0" err="1">
                <a:solidFill>
                  <a:srgbClr val="008000"/>
                </a:solidFill>
                <a:latin typeface="Courier New" panose="02070309020205020404" pitchFamily="49" charset="0"/>
                <a:cs typeface="Times New Roman" panose="02020603050405020304" pitchFamily="18" charset="0"/>
              </a:rPr>
              <a:t>int</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int</a:t>
            </a:r>
            <a:r>
              <a:rPr lang="en-US" altLang="zh-CN" b="1" dirty="0">
                <a:solidFill>
                  <a:srgbClr val="008000"/>
                </a:solidFill>
                <a:latin typeface="Courier New" panose="02070309020205020404" pitchFamily="49" charset="0"/>
                <a:cs typeface="Times New Roman" panose="02020603050405020304" pitchFamily="18" charset="0"/>
              </a:rPr>
              <a:t>(</a:t>
            </a:r>
            <a:r>
              <a:rPr lang="en-US" altLang="zh-CN" b="1" dirty="0" err="1">
                <a:solidFill>
                  <a:srgbClr val="008000"/>
                </a:solidFill>
                <a:latin typeface="Courier New" panose="02070309020205020404" pitchFamily="49" charset="0"/>
                <a:cs typeface="Times New Roman" panose="02020603050405020304" pitchFamily="18" charset="0"/>
              </a:rPr>
              <a:t>int</a:t>
            </a:r>
            <a:r>
              <a:rPr lang="en-US" altLang="zh-CN" b="1" dirty="0">
                <a:solidFill>
                  <a:srgbClr val="008000"/>
                </a:solidFill>
                <a:latin typeface="Courier New" panose="02070309020205020404" pitchFamily="49" charset="0"/>
                <a:cs typeface="Times New Roman" panose="02020603050405020304" pitchFamily="18" charset="0"/>
              </a:rPr>
              <a:t>(x^2+y^2+z^2,z,sqrt(x*y),x^2*y),</a:t>
            </a:r>
            <a:r>
              <a:rPr lang="en-US" altLang="zh-CN" b="1" dirty="0" err="1">
                <a:solidFill>
                  <a:srgbClr val="008000"/>
                </a:solidFill>
                <a:latin typeface="Courier New" panose="02070309020205020404" pitchFamily="49" charset="0"/>
                <a:cs typeface="Times New Roman" panose="02020603050405020304" pitchFamily="18" charset="0"/>
              </a:rPr>
              <a:t>y,sqrt</a:t>
            </a:r>
            <a:r>
              <a:rPr lang="en-US" altLang="zh-CN" b="1" dirty="0">
                <a:solidFill>
                  <a:srgbClr val="008000"/>
                </a:solidFill>
                <a:latin typeface="Courier New" panose="02070309020205020404" pitchFamily="49" charset="0"/>
                <a:cs typeface="Times New Roman" panose="02020603050405020304" pitchFamily="18" charset="0"/>
              </a:rPr>
              <a:t>(x),x^2),x,1,2)</a:t>
            </a:r>
            <a:endParaRPr lang="en-US" altLang="zh-CN" b="1" dirty="0">
              <a:solidFill>
                <a:srgbClr val="008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000" b="1" dirty="0">
                <a:solidFill>
                  <a:srgbClr val="008000"/>
                </a:solidFill>
                <a:latin typeface="Courier New" panose="02070309020205020404" pitchFamily="49" charset="0"/>
                <a:cs typeface="Times New Roman" panose="02020603050405020304" pitchFamily="18" charset="0"/>
              </a:rPr>
              <a:t>%</a:t>
            </a:r>
            <a:r>
              <a:rPr lang="zh-CN" altLang="en-US" sz="2000" b="1" dirty="0">
                <a:solidFill>
                  <a:srgbClr val="FF0000"/>
                </a:solidFill>
                <a:latin typeface="Courier New" panose="02070309020205020404" pitchFamily="49" charset="0"/>
                <a:cs typeface="Times New Roman" panose="02020603050405020304" pitchFamily="18" charset="0"/>
              </a:rPr>
              <a:t>从内到外依次是三层积分的定义</a:t>
            </a:r>
            <a:endParaRPr lang="en-US" altLang="zh-CN" sz="2000" b="1"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000" dirty="0">
                <a:solidFill>
                  <a:srgbClr val="0000FF"/>
                </a:solidFill>
                <a:latin typeface="Courier New" panose="02070309020205020404" pitchFamily="49" charset="0"/>
                <a:cs typeface="Times New Roman" panose="02020603050405020304" pitchFamily="18" charset="0"/>
              </a:rPr>
              <a:t>F2 =</a:t>
            </a:r>
            <a:endParaRPr lang="zh-CN" altLang="zh-CN" sz="2000"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sz="2000" dirty="0">
                <a:solidFill>
                  <a:srgbClr val="0000FF"/>
                </a:solidFill>
                <a:latin typeface="Courier New" panose="02070309020205020404" pitchFamily="49" charset="0"/>
                <a:cs typeface="Times New Roman" panose="02020603050405020304" pitchFamily="18" charset="0"/>
              </a:rPr>
              <a:t>(14912*2^(1/4))/4641 - (6072064*2^(1/2))/348075 + (64*2^(3/4))/225 + 1610027357/6563700</a:t>
            </a:r>
            <a:endParaRPr lang="zh-CN" altLang="zh-CN" sz="2000"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endParaRPr lang="zh-CN" altLang="zh-CN" sz="2000" dirty="0">
              <a:latin typeface="Times New Roman" panose="02020603050405020304" pitchFamily="18" charset="0"/>
            </a:endParaRPr>
          </a:p>
          <a:p>
            <a:pPr algn="just" hangingPunct="0">
              <a:spcAft>
                <a:spcPts val="0"/>
              </a:spcAft>
              <a:tabLst>
                <a:tab pos="269875" algn="l"/>
              </a:tabLst>
            </a:pPr>
            <a:r>
              <a:rPr lang="en-US" altLang="zh-CN" b="1" dirty="0">
                <a:solidFill>
                  <a:srgbClr val="008000"/>
                </a:solidFill>
                <a:latin typeface="Courier New" panose="02070309020205020404" pitchFamily="49" charset="0"/>
                <a:cs typeface="Times New Roman" panose="02020603050405020304" pitchFamily="18" charset="0"/>
              </a:rPr>
              <a:t>VF2=</a:t>
            </a:r>
            <a:r>
              <a:rPr lang="en-US" altLang="zh-CN" b="1" dirty="0" err="1">
                <a:solidFill>
                  <a:srgbClr val="008000"/>
                </a:solidFill>
                <a:latin typeface="Courier New" panose="02070309020205020404" pitchFamily="49" charset="0"/>
                <a:cs typeface="Times New Roman" panose="02020603050405020304" pitchFamily="18" charset="0"/>
              </a:rPr>
              <a:t>vpa</a:t>
            </a:r>
            <a:r>
              <a:rPr lang="en-US" altLang="zh-CN" b="1" dirty="0">
                <a:solidFill>
                  <a:srgbClr val="008000"/>
                </a:solidFill>
                <a:latin typeface="Courier New" panose="02070309020205020404" pitchFamily="49" charset="0"/>
                <a:cs typeface="Times New Roman" panose="02020603050405020304" pitchFamily="18" charset="0"/>
              </a:rPr>
              <a:t>(F2)	%</a:t>
            </a:r>
            <a:r>
              <a:rPr lang="en-US" altLang="zh-CN" b="1" dirty="0">
                <a:solidFill>
                  <a:srgbClr val="FF0000"/>
                </a:solidFill>
                <a:latin typeface="Courier New" panose="02070309020205020404" pitchFamily="49" charset="0"/>
                <a:cs typeface="Times New Roman" panose="02020603050405020304" pitchFamily="18" charset="0"/>
              </a:rPr>
              <a:t>32</a:t>
            </a:r>
            <a:r>
              <a:rPr lang="zh-CN" altLang="en-US" b="1" dirty="0">
                <a:solidFill>
                  <a:srgbClr val="FF0000"/>
                </a:solidFill>
                <a:latin typeface="Courier New" panose="02070309020205020404" pitchFamily="49" charset="0"/>
                <a:cs typeface="Times New Roman" panose="02020603050405020304" pitchFamily="18" charset="0"/>
              </a:rPr>
              <a:t>位有效数字的近似数值解</a:t>
            </a:r>
            <a:r>
              <a:rPr lang="en-US" altLang="zh-CN" b="1" dirty="0">
                <a:solidFill>
                  <a:srgbClr val="FF0000"/>
                </a:solidFill>
                <a:latin typeface="Courier New" panose="02070309020205020404" pitchFamily="49" charset="0"/>
                <a:cs typeface="Times New Roman" panose="02020603050405020304" pitchFamily="18" charset="0"/>
              </a:rPr>
              <a:t> </a:t>
            </a:r>
            <a:r>
              <a:rPr lang="en-US" altLang="zh-CN" dirty="0">
                <a:solidFill>
                  <a:srgbClr val="FF0000"/>
                </a:solidFill>
                <a:latin typeface="Courier New" panose="02070309020205020404" pitchFamily="49" charset="0"/>
                <a:cs typeface="Times New Roman" panose="02020603050405020304" pitchFamily="18" charset="0"/>
              </a:rPr>
              <a:t> </a:t>
            </a:r>
            <a:endParaRPr lang="zh-CN" altLang="zh-CN" dirty="0">
              <a:solidFill>
                <a:srgbClr val="FF0000"/>
              </a:solidFill>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VF2 =</a:t>
            </a:r>
            <a:endParaRPr lang="zh-CN" altLang="zh-CN" dirty="0">
              <a:latin typeface="Courier New" panose="02070309020205020404" pitchFamily="49" charset="0"/>
              <a:cs typeface="Times New Roman" panose="02020603050405020304" pitchFamily="18" charset="0"/>
            </a:endParaRPr>
          </a:p>
          <a:p>
            <a:pPr algn="just" hangingPunct="0">
              <a:spcAft>
                <a:spcPts val="0"/>
              </a:spcAft>
              <a:tabLst>
                <a:tab pos="269875" algn="l"/>
              </a:tabLst>
            </a:pPr>
            <a:r>
              <a:rPr lang="en-US" altLang="zh-CN" dirty="0">
                <a:solidFill>
                  <a:srgbClr val="0000FF"/>
                </a:solidFill>
                <a:latin typeface="Courier New" panose="02070309020205020404" pitchFamily="49" charset="0"/>
                <a:cs typeface="Times New Roman" panose="02020603050405020304" pitchFamily="18" charset="0"/>
              </a:rPr>
              <a:t>224.92153573331143159790710032805  </a:t>
            </a:r>
            <a:endParaRPr lang="zh-CN" altLang="zh-CN" dirty="0">
              <a:latin typeface="Courier New" panose="02070309020205020404" pitchFamily="49"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矩形 2"/>
              <p:cNvSpPr/>
              <p:nvPr/>
            </p:nvSpPr>
            <p:spPr>
              <a:xfrm>
                <a:off x="294680" y="1295738"/>
                <a:ext cx="8386663" cy="600870"/>
              </a:xfrm>
              <a:prstGeom prst="rect">
                <a:avLst/>
              </a:prstGeom>
            </p:spPr>
            <p:txBody>
              <a:bodyPr wrap="square">
                <a:spAutoFit/>
              </a:bodyPr>
              <a:lstStyle/>
              <a:p>
                <a:pPr algn="just" hangingPunct="0">
                  <a:spcAft>
                    <a:spcPts val="0"/>
                  </a:spcAft>
                  <a:tabLst>
                    <a:tab pos="269875" algn="l"/>
                  </a:tabLst>
                </a:pPr>
                <a:r>
                  <a:rPr lang="zh-CN" altLang="zh-CN" sz="2000" dirty="0">
                    <a:latin typeface="Times New Roman" panose="02020603050405020304" pitchFamily="18" charset="0"/>
                  </a:rPr>
                  <a:t>【例</a:t>
                </a:r>
                <a:r>
                  <a:rPr lang="en-US" altLang="zh-CN" sz="2000" dirty="0">
                    <a:latin typeface="Times New Roman" panose="02020603050405020304" pitchFamily="18" charset="0"/>
                  </a:rPr>
                  <a:t>2.7-9</a:t>
                </a:r>
                <a:r>
                  <a:rPr lang="zh-CN" altLang="en-US" sz="2000" dirty="0">
                    <a:latin typeface="Times New Roman" panose="02020603050405020304" pitchFamily="18" charset="0"/>
                  </a:rPr>
                  <a:t>（</a:t>
                </a:r>
                <a:r>
                  <a:rPr lang="en-US" altLang="zh-CN" sz="2000" dirty="0">
                    <a:latin typeface="Times New Roman" panose="02020603050405020304" pitchFamily="18" charset="0"/>
                  </a:rPr>
                  <a:t>2)</a:t>
                </a:r>
                <a:r>
                  <a:rPr lang="zh-CN" altLang="zh-CN" sz="2000" dirty="0">
                    <a:latin typeface="Times New Roman" panose="02020603050405020304" pitchFamily="18" charset="0"/>
                  </a:rPr>
                  <a:t>】</a:t>
                </a:r>
                <a:r>
                  <a:rPr lang="zh-CN" altLang="en-US" sz="2000" dirty="0">
                    <a:latin typeface="Times New Roman" panose="02020603050405020304" pitchFamily="18" charset="0"/>
                  </a:rPr>
                  <a:t>计算三次积分</a:t>
                </a:r>
                <a14:m>
                  <m:oMath xmlns:m="http://schemas.openxmlformats.org/officeDocument/2006/math">
                    <m:nary>
                      <m:naryPr>
                        <m:ctrlPr>
                          <a:rPr lang="en-US" altLang="zh-CN" sz="2000" b="0" i="1" smtClean="0">
                            <a:latin typeface="Cambria Math" panose="02040503050406030204" pitchFamily="18" charset="0"/>
                          </a:rPr>
                        </m:ctrlPr>
                      </m:naryPr>
                      <m:sub>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2</m:t>
                        </m:r>
                      </m:sup>
                      <m:e>
                        <m:nary>
                          <m:naryPr>
                            <m:ctrlPr>
                              <a:rPr lang="en-US" altLang="zh-CN" sz="2000" b="0" i="1" smtClean="0">
                                <a:latin typeface="Cambria Math" panose="02040503050406030204" pitchFamily="18" charset="0"/>
                              </a:rPr>
                            </m:ctrlPr>
                          </m:naryPr>
                          <m:sub>
                            <m:rad>
                              <m:radPr>
                                <m:degHide m:val="on"/>
                                <m:ctrlPr>
                                  <a:rPr lang="en-US" altLang="zh-CN" sz="2000" b="0" i="1" smtClean="0">
                                    <a:latin typeface="Cambria Math" panose="02040503050406030204" pitchFamily="18" charset="0"/>
                                  </a:rPr>
                                </m:ctrlPr>
                              </m:radPr>
                              <m:deg/>
                              <m:e>
                                <m:r>
                                  <a:rPr lang="en-US" altLang="zh-CN" sz="2000" b="0" i="1" smtClean="0">
                                    <a:latin typeface="Cambria Math" panose="02040503050406030204" pitchFamily="18" charset="0"/>
                                  </a:rPr>
                                  <m:t>𝑥</m:t>
                                </m:r>
                              </m:e>
                            </m:rad>
                          </m:sub>
                          <m:sup>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2</m:t>
                                </m:r>
                              </m:sup>
                            </m:sSup>
                          </m:sup>
                          <m:e>
                            <m:nary>
                              <m:naryPr>
                                <m:ctrlPr>
                                  <a:rPr lang="en-US" altLang="zh-CN" sz="2000" b="0" i="1" smtClean="0">
                                    <a:latin typeface="Cambria Math" panose="02040503050406030204" pitchFamily="18" charset="0"/>
                                  </a:rPr>
                                </m:ctrlPr>
                              </m:naryPr>
                              <m:sub>
                                <m:rad>
                                  <m:radPr>
                                    <m:degHide m:val="on"/>
                                    <m:ctrlPr>
                                      <a:rPr lang="en-US" altLang="zh-CN" sz="2000" b="0" i="1" smtClean="0">
                                        <a:latin typeface="Cambria Math" panose="02040503050406030204" pitchFamily="18" charset="0"/>
                                      </a:rPr>
                                    </m:ctrlPr>
                                  </m:radPr>
                                  <m:deg/>
                                  <m:e>
                                    <m:r>
                                      <a:rPr lang="en-US" altLang="zh-CN" sz="2000" b="0" i="1" smtClean="0">
                                        <a:latin typeface="Cambria Math" panose="02040503050406030204" pitchFamily="18" charset="0"/>
                                      </a:rPr>
                                      <m:t>𝑥𝑦</m:t>
                                    </m:r>
                                  </m:e>
                                </m:rad>
                              </m:sub>
                              <m:sup>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𝑦</m:t>
                                </m:r>
                              </m:sup>
                              <m:e>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𝑥</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𝑦</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𝑧</m:t>
                                    </m:r>
                                  </m:e>
                                  <m:sup>
                                    <m:r>
                                      <a:rPr lang="en-US" altLang="zh-CN" sz="2000" b="0" i="1" smtClean="0">
                                        <a:latin typeface="Cambria Math" panose="02040503050406030204" pitchFamily="18" charset="0"/>
                                      </a:rPr>
                                      <m:t>2</m:t>
                                    </m:r>
                                  </m:sup>
                                </m:sSup>
                                <m:r>
                                  <a:rPr lang="en-US" altLang="zh-CN" sz="2000" b="0" i="1" smtClean="0">
                                    <a:latin typeface="Cambria Math" panose="02040503050406030204" pitchFamily="18" charset="0"/>
                                  </a:rPr>
                                  <m:t>)</m:t>
                                </m:r>
                              </m:e>
                            </m:nary>
                            <m:r>
                              <m:rPr>
                                <m:sty m:val="p"/>
                              </m:rPr>
                              <a:rPr lang="en-US" altLang="zh-CN" sz="2000" b="0" i="0" smtClean="0">
                                <a:latin typeface="Cambria Math" panose="02040503050406030204" pitchFamily="18" charset="0"/>
                              </a:rPr>
                              <m:t>d</m:t>
                            </m:r>
                            <m:r>
                              <a:rPr lang="en-US" altLang="zh-CN" sz="2000" b="0" i="1" smtClean="0">
                                <a:latin typeface="Cambria Math" panose="02040503050406030204" pitchFamily="18" charset="0"/>
                              </a:rPr>
                              <m:t>𝑧</m:t>
                            </m:r>
                            <m:r>
                              <m:rPr>
                                <m:sty m:val="p"/>
                              </m:rPr>
                              <a:rPr lang="en-US" altLang="zh-CN" sz="2000" b="0" i="0" smtClean="0">
                                <a:latin typeface="Cambria Math" panose="02040503050406030204" pitchFamily="18" charset="0"/>
                              </a:rPr>
                              <m:t>d</m:t>
                            </m:r>
                            <m:r>
                              <a:rPr lang="en-US" altLang="zh-CN" sz="2000" b="0" i="1" smtClean="0">
                                <a:latin typeface="Cambria Math" panose="02040503050406030204" pitchFamily="18" charset="0"/>
                              </a:rPr>
                              <m:t>𝑦</m:t>
                            </m:r>
                            <m:r>
                              <m:rPr>
                                <m:sty m:val="p"/>
                              </m:rPr>
                              <a:rPr lang="en-US" altLang="zh-CN" sz="2000" b="0" i="0" smtClean="0">
                                <a:latin typeface="Cambria Math" panose="02040503050406030204" pitchFamily="18" charset="0"/>
                              </a:rPr>
                              <m:t>d</m:t>
                            </m:r>
                            <m:r>
                              <a:rPr lang="en-US" altLang="zh-CN" sz="2000" b="0" i="1" smtClean="0">
                                <a:latin typeface="Cambria Math" panose="02040503050406030204" pitchFamily="18" charset="0"/>
                              </a:rPr>
                              <m:t>𝑥</m:t>
                            </m:r>
                          </m:e>
                        </m:nary>
                      </m:e>
                    </m:nary>
                  </m:oMath>
                </a14:m>
                <a:endParaRPr lang="zh-CN" altLang="zh-CN" sz="2000" dirty="0">
                  <a:latin typeface="Times New Roman" panose="02020603050405020304"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294680" y="1295738"/>
                <a:ext cx="8386663" cy="600870"/>
              </a:xfrm>
              <a:prstGeom prst="rect">
                <a:avLst/>
              </a:prstGeom>
              <a:blipFill rotWithShape="1">
                <a:blip r:embed="rId1"/>
                <a:stretch>
                  <a:fillRect t="-56" r="3" b="8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3814" y="-270343"/>
            <a:ext cx="8596412"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第二周电子版作业（下周二晚以前提交）</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5" name="矩形 4"/>
          <p:cNvSpPr/>
          <p:nvPr/>
        </p:nvSpPr>
        <p:spPr>
          <a:xfrm>
            <a:off x="251520" y="845268"/>
            <a:ext cx="8438666" cy="830997"/>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作业请于下周二（</a:t>
            </a:r>
            <a:r>
              <a:rPr lang="en-US" altLang="zh-CN" sz="2400" b="1" dirty="0">
                <a:solidFill>
                  <a:prstClr val="black"/>
                </a:solidFill>
                <a:latin typeface="+mj-ea"/>
                <a:ea typeface="+mj-ea"/>
              </a:rPr>
              <a:t>9</a:t>
            </a:r>
            <a:r>
              <a:rPr lang="zh-CN" altLang="en-US" sz="2400" b="1" dirty="0">
                <a:solidFill>
                  <a:prstClr val="black"/>
                </a:solidFill>
                <a:latin typeface="+mj-ea"/>
                <a:ea typeface="+mj-ea"/>
              </a:rPr>
              <a:t>月</a:t>
            </a:r>
            <a:r>
              <a:rPr lang="en-US" altLang="zh-CN" sz="2400" b="1" dirty="0">
                <a:solidFill>
                  <a:prstClr val="black"/>
                </a:solidFill>
                <a:latin typeface="+mj-ea"/>
                <a:ea typeface="+mj-ea"/>
              </a:rPr>
              <a:t>14</a:t>
            </a:r>
            <a:r>
              <a:rPr lang="zh-CN" altLang="en-US" sz="2400" b="1" dirty="0">
                <a:solidFill>
                  <a:prstClr val="black"/>
                </a:solidFill>
                <a:latin typeface="+mj-ea"/>
                <a:ea typeface="+mj-ea"/>
              </a:rPr>
              <a:t>日）</a:t>
            </a:r>
            <a:r>
              <a:rPr lang="en-US" altLang="zh-CN" sz="2400" b="1" dirty="0">
                <a:solidFill>
                  <a:prstClr val="black"/>
                </a:solidFill>
                <a:latin typeface="+mj-ea"/>
                <a:ea typeface="+mj-ea"/>
              </a:rPr>
              <a:t>23:59:59</a:t>
            </a:r>
            <a:r>
              <a:rPr lang="zh-CN" altLang="en-US" sz="2400" b="1" dirty="0">
                <a:solidFill>
                  <a:prstClr val="black"/>
                </a:solidFill>
                <a:latin typeface="+mj-ea"/>
                <a:ea typeface="+mj-ea"/>
              </a:rPr>
              <a:t>或以前提交到课堂派平台。（请同学们加入正确的班级）</a:t>
            </a:r>
            <a:endParaRPr lang="en-US" altLang="zh-CN" sz="2400" b="1" dirty="0">
              <a:solidFill>
                <a:srgbClr val="FF0000"/>
              </a:solidFill>
              <a:latin typeface="+mj-ea"/>
              <a:ea typeface="+mj-ea"/>
            </a:endParaRPr>
          </a:p>
        </p:txBody>
      </p:sp>
      <p:sp>
        <p:nvSpPr>
          <p:cNvPr id="9" name="矩形 8"/>
          <p:cNvSpPr/>
          <p:nvPr/>
        </p:nvSpPr>
        <p:spPr>
          <a:xfrm>
            <a:off x="217848" y="1931434"/>
            <a:ext cx="8746640" cy="461665"/>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zh-CN" altLang="en-US" sz="2400" b="1" dirty="0">
                <a:latin typeface="+mj-ea"/>
                <a:ea typeface="+mj-ea"/>
              </a:rPr>
              <a:t>作业文件名格式：“</a:t>
            </a:r>
            <a:r>
              <a:rPr lang="en-US" altLang="zh-CN" sz="2400" b="1" dirty="0">
                <a:latin typeface="+mj-ea"/>
                <a:ea typeface="+mj-ea"/>
              </a:rPr>
              <a:t>05370038</a:t>
            </a:r>
            <a:r>
              <a:rPr lang="zh-CN" altLang="en-US" sz="2400" b="1" dirty="0">
                <a:latin typeface="+mj-ea"/>
                <a:ea typeface="+mj-ea"/>
              </a:rPr>
              <a:t>；李嘉；第二周作业”</a:t>
            </a:r>
            <a:endParaRPr lang="en-US" altLang="zh-CN" sz="2400" b="1" dirty="0">
              <a:latin typeface="+mj-ea"/>
              <a:ea typeface="+mj-ea"/>
            </a:endParaRPr>
          </a:p>
        </p:txBody>
      </p:sp>
      <p:sp>
        <p:nvSpPr>
          <p:cNvPr id="10" name="矩形 9"/>
          <p:cNvSpPr/>
          <p:nvPr/>
        </p:nvSpPr>
        <p:spPr>
          <a:xfrm>
            <a:off x="205718" y="2660494"/>
            <a:ext cx="8438666" cy="1200329"/>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zh-CN" altLang="en-US" sz="2400" b="1" dirty="0">
                <a:latin typeface="+mj-ea"/>
                <a:ea typeface="+mj-ea"/>
              </a:rPr>
              <a:t>请将所有题目的</a:t>
            </a:r>
            <a:r>
              <a:rPr lang="zh-CN" altLang="en-US" sz="2400" b="1" dirty="0">
                <a:solidFill>
                  <a:schemeClr val="accent2"/>
                </a:solidFill>
                <a:latin typeface="+mj-ea"/>
                <a:ea typeface="+mj-ea"/>
              </a:rPr>
              <a:t>方法设计（如果有）、代码、运行结果、绘图结果（如果有），</a:t>
            </a:r>
            <a:r>
              <a:rPr lang="zh-CN" altLang="en-US" sz="2400" b="1" dirty="0">
                <a:solidFill>
                  <a:prstClr val="black"/>
                </a:solidFill>
                <a:latin typeface="幼圆" panose="02010509060101010101" pitchFamily="49" charset="-122"/>
                <a:ea typeface="幼圆" panose="02010509060101010101" pitchFamily="49" charset="-122"/>
              </a:rPr>
              <a:t>放于</a:t>
            </a:r>
            <a:r>
              <a:rPr lang="zh-CN" altLang="en-US" sz="2400" b="1" dirty="0">
                <a:solidFill>
                  <a:srgbClr val="FF0000"/>
                </a:solidFill>
                <a:latin typeface="幼圆" panose="02010509060101010101" pitchFamily="49" charset="-122"/>
                <a:ea typeface="幼圆" panose="02010509060101010101" pitchFamily="49" charset="-122"/>
              </a:rPr>
              <a:t>同一个</a:t>
            </a:r>
            <a:r>
              <a:rPr lang="en-US" altLang="zh-CN" sz="2400" b="1" dirty="0">
                <a:solidFill>
                  <a:srgbClr val="FF0000"/>
                </a:solidFill>
                <a:latin typeface="幼圆" panose="02010509060101010101" pitchFamily="49" charset="-122"/>
                <a:ea typeface="幼圆" panose="02010509060101010101" pitchFamily="49" charset="-122"/>
              </a:rPr>
              <a:t>pdf(</a:t>
            </a:r>
            <a:r>
              <a:rPr lang="zh-CN" altLang="en-US" sz="2400" b="1" dirty="0">
                <a:solidFill>
                  <a:srgbClr val="FF0000"/>
                </a:solidFill>
                <a:latin typeface="幼圆" panose="02010509060101010101" pitchFamily="49" charset="-122"/>
                <a:ea typeface="幼圆" panose="02010509060101010101" pitchFamily="49" charset="-122"/>
              </a:rPr>
              <a:t>推荐使用）文件</a:t>
            </a:r>
            <a:r>
              <a:rPr lang="zh-CN" altLang="en-US" sz="2400" b="1" dirty="0">
                <a:solidFill>
                  <a:prstClr val="black"/>
                </a:solidFill>
                <a:latin typeface="幼圆" panose="02010509060101010101" pitchFamily="49" charset="-122"/>
                <a:ea typeface="幼圆" panose="02010509060101010101" pitchFamily="49" charset="-122"/>
              </a:rPr>
              <a:t>内（</a:t>
            </a:r>
            <a:r>
              <a:rPr lang="en-US" altLang="zh-CN" sz="2400" b="1" dirty="0">
                <a:solidFill>
                  <a:prstClr val="black"/>
                </a:solidFill>
                <a:latin typeface="幼圆" panose="02010509060101010101" pitchFamily="49" charset="-122"/>
                <a:ea typeface="幼圆" panose="02010509060101010101" pitchFamily="49" charset="-122"/>
              </a:rPr>
              <a:t>doc</a:t>
            </a:r>
            <a:r>
              <a:rPr lang="zh-CN" altLang="en-US" sz="2400" b="1" dirty="0">
                <a:solidFill>
                  <a:prstClr val="black"/>
                </a:solidFill>
                <a:latin typeface="幼圆" panose="02010509060101010101" pitchFamily="49" charset="-122"/>
                <a:ea typeface="幼圆" panose="02010509060101010101" pitchFamily="49" charset="-122"/>
              </a:rPr>
              <a:t>或</a:t>
            </a:r>
            <a:r>
              <a:rPr lang="en-US" altLang="zh-CN" sz="2400" b="1" dirty="0" err="1">
                <a:solidFill>
                  <a:prstClr val="black"/>
                </a:solidFill>
                <a:latin typeface="幼圆" panose="02010509060101010101" pitchFamily="49" charset="-122"/>
                <a:ea typeface="幼圆" panose="02010509060101010101" pitchFamily="49" charset="-122"/>
              </a:rPr>
              <a:t>docx</a:t>
            </a:r>
            <a:r>
              <a:rPr lang="zh-CN" altLang="en-US" sz="2400" b="1" dirty="0">
                <a:solidFill>
                  <a:prstClr val="black"/>
                </a:solidFill>
                <a:latin typeface="幼圆" panose="02010509060101010101" pitchFamily="49" charset="-122"/>
                <a:ea typeface="幼圆" panose="02010509060101010101" pitchFamily="49" charset="-122"/>
              </a:rPr>
              <a:t>也可） </a:t>
            </a:r>
            <a:r>
              <a:rPr lang="zh-CN" altLang="en-US" sz="2400" b="1" dirty="0">
                <a:latin typeface="+mj-ea"/>
                <a:ea typeface="+mj-ea"/>
              </a:rPr>
              <a:t>。文件名建议与邮件标题完全相同。</a:t>
            </a:r>
            <a:endParaRPr lang="en-US" altLang="zh-CN" sz="2400" b="1" dirty="0">
              <a:latin typeface="+mj-ea"/>
              <a:ea typeface="+mj-ea"/>
            </a:endParaRPr>
          </a:p>
        </p:txBody>
      </p:sp>
      <p:sp>
        <p:nvSpPr>
          <p:cNvPr id="11" name="矩形 10"/>
          <p:cNvSpPr/>
          <p:nvPr/>
        </p:nvSpPr>
        <p:spPr>
          <a:xfrm>
            <a:off x="217848" y="4036530"/>
            <a:ext cx="8438666" cy="1200329"/>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zh-CN" altLang="en-US" sz="2400" b="1" dirty="0">
                <a:latin typeface="+mj-ea"/>
                <a:ea typeface="+mj-ea"/>
              </a:rPr>
              <a:t>作业满分</a:t>
            </a:r>
            <a:r>
              <a:rPr lang="en-US" altLang="zh-CN" sz="2400" b="1" dirty="0">
                <a:latin typeface="+mj-ea"/>
                <a:ea typeface="+mj-ea"/>
              </a:rPr>
              <a:t>52</a:t>
            </a:r>
            <a:r>
              <a:rPr lang="zh-CN" altLang="en-US" sz="2400" b="1" dirty="0">
                <a:latin typeface="+mj-ea"/>
                <a:ea typeface="+mj-ea"/>
              </a:rPr>
              <a:t>分，电子版作业迟交者会按照每天</a:t>
            </a:r>
            <a:r>
              <a:rPr lang="en-US" altLang="zh-CN" sz="2400" b="1" dirty="0">
                <a:latin typeface="+mj-ea"/>
                <a:ea typeface="+mj-ea"/>
              </a:rPr>
              <a:t>5</a:t>
            </a:r>
            <a:r>
              <a:rPr lang="zh-CN" altLang="en-US" sz="2400" b="1" dirty="0">
                <a:latin typeface="+mj-ea"/>
                <a:ea typeface="+mj-ea"/>
              </a:rPr>
              <a:t>分的梯度损失分数。作业正确、规范与否价值</a:t>
            </a:r>
            <a:r>
              <a:rPr lang="en-US" altLang="zh-CN" sz="2400" b="1" dirty="0">
                <a:latin typeface="+mj-ea"/>
                <a:ea typeface="+mj-ea"/>
              </a:rPr>
              <a:t>50</a:t>
            </a:r>
            <a:r>
              <a:rPr lang="zh-CN" altLang="en-US" sz="2400" b="1" dirty="0">
                <a:latin typeface="+mj-ea"/>
                <a:ea typeface="+mj-ea"/>
              </a:rPr>
              <a:t>分，文档排版美观、内容深度价值</a:t>
            </a:r>
            <a:r>
              <a:rPr lang="en-US" altLang="zh-CN" sz="2400" b="1" dirty="0">
                <a:latin typeface="+mj-ea"/>
                <a:ea typeface="+mj-ea"/>
              </a:rPr>
              <a:t>2</a:t>
            </a:r>
            <a:r>
              <a:rPr lang="zh-CN" altLang="en-US" sz="2400" b="1" dirty="0">
                <a:latin typeface="+mj-ea"/>
                <a:ea typeface="+mj-ea"/>
              </a:rPr>
              <a:t>分。</a:t>
            </a:r>
            <a:endParaRPr lang="zh-CN" altLang="en-US" sz="2400" b="1" dirty="0">
              <a:latin typeface="+mj-ea"/>
              <a:ea typeface="+mj-ea"/>
            </a:endParaRPr>
          </a:p>
        </p:txBody>
      </p:sp>
      <p:sp>
        <p:nvSpPr>
          <p:cNvPr id="12" name="矩形 11"/>
          <p:cNvSpPr/>
          <p:nvPr/>
        </p:nvSpPr>
        <p:spPr>
          <a:xfrm>
            <a:off x="224177" y="5412567"/>
            <a:ext cx="8438666" cy="1200329"/>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zh-CN" altLang="en-US" sz="2400" b="1" dirty="0">
                <a:latin typeface="+mj-ea"/>
                <a:ea typeface="+mj-ea"/>
              </a:rPr>
              <a:t>请勿抄袭，一经发现，最终总评不超过</a:t>
            </a:r>
            <a:r>
              <a:rPr lang="en-US" altLang="zh-CN" sz="2400" b="1" dirty="0">
                <a:latin typeface="+mj-ea"/>
                <a:ea typeface="+mj-ea"/>
              </a:rPr>
              <a:t>80</a:t>
            </a:r>
            <a:r>
              <a:rPr lang="zh-CN" altLang="en-US" sz="2400" b="1" dirty="0">
                <a:latin typeface="+mj-ea"/>
                <a:ea typeface="+mj-ea"/>
              </a:rPr>
              <a:t>。两次抄袭等于挂科。如果进行了部分方法与内容的借鉴，请在作业明示你的参考文献或借鉴人。</a:t>
            </a:r>
            <a:endParaRPr lang="en-US" altLang="zh-CN" sz="2400" b="1" dirty="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70343"/>
            <a:ext cx="8438666" cy="1143000"/>
          </a:xfrm>
        </p:spPr>
        <p:txBody>
          <a:bodyPr>
            <a:normAutofit/>
          </a:bodyPr>
          <a:lstStyle/>
          <a:p>
            <a:pPr algn="ctr" eaLnBrk="0" fontAlgn="base" hangingPunct="0">
              <a:spcAft>
                <a:spcPct val="0"/>
              </a:spcAft>
              <a:defRPr/>
            </a:pPr>
            <a:r>
              <a:rPr lang="zh-CN" alt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第二周电子版作业</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8" name="矩形 7"/>
          <p:cNvSpPr/>
          <p:nvPr/>
        </p:nvSpPr>
        <p:spPr>
          <a:xfrm>
            <a:off x="251520" y="872657"/>
            <a:ext cx="8496944" cy="461665"/>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ea typeface="+mj-ea"/>
              </a:rPr>
              <a:t>Q1. </a:t>
            </a:r>
            <a:r>
              <a:rPr lang="zh-CN" altLang="en-US" sz="2400" b="1" dirty="0">
                <a:solidFill>
                  <a:prstClr val="black"/>
                </a:solidFill>
                <a:latin typeface="+mj-ea"/>
                <a:ea typeface="+mj-ea"/>
              </a:rPr>
              <a:t>改编的习题</a:t>
            </a:r>
            <a:r>
              <a:rPr lang="en-US" altLang="zh-CN" sz="2400" b="1" dirty="0">
                <a:solidFill>
                  <a:prstClr val="black"/>
                </a:solidFill>
                <a:latin typeface="+mj-ea"/>
                <a:ea typeface="+mj-ea"/>
              </a:rPr>
              <a:t>2</a:t>
            </a:r>
            <a:r>
              <a:rPr lang="zh-CN" altLang="en-US" sz="2400" b="1" dirty="0">
                <a:solidFill>
                  <a:prstClr val="black"/>
                </a:solidFill>
                <a:latin typeface="+mj-ea"/>
                <a:ea typeface="+mj-ea"/>
              </a:rPr>
              <a:t>第</a:t>
            </a:r>
            <a:r>
              <a:rPr lang="en-US" altLang="zh-CN" sz="2400" b="1" dirty="0">
                <a:solidFill>
                  <a:prstClr val="black"/>
                </a:solidFill>
                <a:latin typeface="+mj-ea"/>
                <a:ea typeface="+mj-ea"/>
              </a:rPr>
              <a:t>8</a:t>
            </a:r>
            <a:r>
              <a:rPr lang="zh-CN" altLang="en-US" sz="2400" b="1" dirty="0">
                <a:solidFill>
                  <a:prstClr val="black"/>
                </a:solidFill>
                <a:latin typeface="+mj-ea"/>
                <a:ea typeface="+mj-ea"/>
              </a:rPr>
              <a:t>题</a:t>
            </a:r>
            <a:endParaRPr lang="en-US" altLang="zh-CN" sz="2400" b="1" dirty="0">
              <a:latin typeface="+mj-ea"/>
              <a:ea typeface="+mj-ea"/>
            </a:endParaRPr>
          </a:p>
        </p:txBody>
      </p:sp>
      <mc:AlternateContent xmlns:mc="http://schemas.openxmlformats.org/markup-compatibility/2006">
        <mc:Choice xmlns:a14="http://schemas.microsoft.com/office/drawing/2010/main" Requires="a14">
          <p:sp>
            <p:nvSpPr>
              <p:cNvPr id="13" name="矩形 12"/>
              <p:cNvSpPr/>
              <p:nvPr/>
            </p:nvSpPr>
            <p:spPr>
              <a:xfrm>
                <a:off x="251520" y="2439271"/>
                <a:ext cx="8438666" cy="1586845"/>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ea typeface="+mj-ea"/>
                  </a:rPr>
                  <a:t>Q2.</a:t>
                </a:r>
                <a:r>
                  <a:rPr lang="zh-CN" altLang="en-US" sz="2400" b="1" dirty="0">
                    <a:solidFill>
                      <a:prstClr val="black"/>
                    </a:solidFill>
                    <a:latin typeface="+mj-ea"/>
                    <a:ea typeface="+mj-ea"/>
                  </a:rPr>
                  <a:t> （</a:t>
                </a:r>
                <a:r>
                  <a:rPr lang="en-US" altLang="zh-CN" sz="2400" b="1" dirty="0">
                    <a:solidFill>
                      <a:prstClr val="black"/>
                    </a:solidFill>
                    <a:latin typeface="+mj-ea"/>
                    <a:ea typeface="+mj-ea"/>
                  </a:rPr>
                  <a:t>1</a:t>
                </a:r>
                <a:r>
                  <a:rPr lang="zh-CN" altLang="en-US" sz="2400" b="1" dirty="0">
                    <a:solidFill>
                      <a:prstClr val="black"/>
                    </a:solidFill>
                    <a:latin typeface="+mj-ea"/>
                    <a:ea typeface="+mj-ea"/>
                  </a:rPr>
                  <a:t>）用数学分析的方法证明等式</a:t>
                </a:r>
                <a14:m>
                  <m:oMath xmlns:m="http://schemas.openxmlformats.org/officeDocument/2006/math">
                    <m:func>
                      <m:funcPr>
                        <m:ctrlPr>
                          <a:rPr lang="en-US" altLang="zh-CN" sz="2400" b="1" i="1">
                            <a:latin typeface="Cambria Math" panose="02040503050406030204" pitchFamily="18" charset="0"/>
                          </a:rPr>
                        </m:ctrlPr>
                      </m:funcPr>
                      <m:fName>
                        <m:limLow>
                          <m:limLowPr>
                            <m:ctrlPr>
                              <a:rPr lang="en-US" altLang="zh-CN" sz="2400" b="1" i="1">
                                <a:latin typeface="Cambria Math" panose="02040503050406030204" pitchFamily="18" charset="0"/>
                              </a:rPr>
                            </m:ctrlPr>
                          </m:limLowPr>
                          <m:e>
                            <m:r>
                              <m:rPr>
                                <m:sty m:val="p"/>
                              </m:rPr>
                              <a:rPr lang="en-US" altLang="zh-CN" sz="2400">
                                <a:latin typeface="Cambria Math" panose="02040503050406030204" pitchFamily="18" charset="0"/>
                              </a:rPr>
                              <m:t>lim</m:t>
                            </m:r>
                          </m:e>
                          <m:lim>
                            <m:r>
                              <a:rPr lang="en-US" altLang="zh-CN" sz="2400" b="1" i="1">
                                <a:latin typeface="Cambria Math" panose="02040503050406030204" pitchFamily="18" charset="0"/>
                              </a:rPr>
                              <m:t>𝒏</m:t>
                            </m:r>
                            <m:r>
                              <a:rPr lang="en-US" altLang="zh-CN" sz="2400" b="1" i="1">
                                <a:latin typeface="Cambria Math" panose="02040503050406030204" pitchFamily="18" charset="0"/>
                              </a:rPr>
                              <m:t>→∞</m:t>
                            </m:r>
                          </m:lim>
                        </m:limLow>
                      </m:fName>
                      <m:e>
                        <m:f>
                          <m:fPr>
                            <m:ctrlPr>
                              <a:rPr lang="en-US" altLang="zh-CN" sz="2400" b="1" i="1">
                                <a:latin typeface="Cambria Math" panose="02040503050406030204" pitchFamily="18" charset="0"/>
                              </a:rPr>
                            </m:ctrlPr>
                          </m:fPr>
                          <m:num>
                            <m:r>
                              <a:rPr lang="en-US" altLang="zh-CN" sz="2400" b="1" i="1">
                                <a:latin typeface="Cambria Math" panose="02040503050406030204" pitchFamily="18" charset="0"/>
                              </a:rPr>
                              <m:t>𝒏</m:t>
                            </m:r>
                          </m:num>
                          <m:den>
                            <m:rad>
                              <m:radPr>
                                <m:ctrlPr>
                                  <a:rPr lang="en-US" altLang="zh-CN" sz="2400" b="1" i="1">
                                    <a:latin typeface="Cambria Math" panose="02040503050406030204" pitchFamily="18" charset="0"/>
                                  </a:rPr>
                                </m:ctrlPr>
                              </m:radPr>
                              <m:deg>
                                <m:r>
                                  <m:rPr>
                                    <m:brk m:alnAt="7"/>
                                  </m:rPr>
                                  <a:rPr lang="en-US" altLang="zh-CN" sz="2400" b="1" i="1">
                                    <a:latin typeface="Cambria Math" panose="02040503050406030204" pitchFamily="18" charset="0"/>
                                  </a:rPr>
                                  <m:t>𝒏</m:t>
                                </m:r>
                              </m:deg>
                              <m:e>
                                <m:r>
                                  <a:rPr lang="en-US" altLang="zh-CN" sz="2400" b="1" i="1">
                                    <a:latin typeface="Cambria Math" panose="02040503050406030204" pitchFamily="18" charset="0"/>
                                  </a:rPr>
                                  <m:t>𝒏</m:t>
                                </m:r>
                                <m:r>
                                  <a:rPr lang="en-US" altLang="zh-CN" sz="2400" b="1" i="1">
                                    <a:latin typeface="Cambria Math" panose="02040503050406030204" pitchFamily="18" charset="0"/>
                                  </a:rPr>
                                  <m:t>!</m:t>
                                </m:r>
                              </m:e>
                            </m:rad>
                          </m:den>
                        </m:f>
                      </m:e>
                    </m:func>
                    <m:r>
                      <a:rPr lang="en-US" altLang="zh-CN" sz="2400" b="1" i="1">
                        <a:latin typeface="Cambria Math" panose="02040503050406030204" pitchFamily="18" charset="0"/>
                      </a:rPr>
                      <m:t>=</m:t>
                    </m:r>
                    <m:r>
                      <a:rPr lang="en-US" altLang="zh-CN" sz="2400" b="1">
                        <a:latin typeface="Cambria Math" panose="02040503050406030204" pitchFamily="18" charset="0"/>
                      </a:rPr>
                      <m:t>𝐞</m:t>
                    </m:r>
                  </m:oMath>
                </a14:m>
                <a:r>
                  <a:rPr lang="en-US" altLang="zh-CN" sz="2400" b="1" dirty="0">
                    <a:latin typeface="+mj-ea"/>
                  </a:rPr>
                  <a:t>.</a:t>
                </a:r>
                <a:endParaRPr lang="en-US" altLang="zh-CN" sz="2400" b="1" dirty="0">
                  <a:latin typeface="+mj-ea"/>
                </a:endParaRPr>
              </a:p>
              <a:p>
                <a:pPr>
                  <a:spcBef>
                    <a:spcPts val="580"/>
                  </a:spcBef>
                  <a:buClr>
                    <a:srgbClr val="00B050"/>
                  </a:buClr>
                  <a:buSzPct val="85000"/>
                </a:pPr>
                <a:r>
                  <a:rPr lang="zh-CN" altLang="en-US" sz="2400" b="1" dirty="0">
                    <a:solidFill>
                      <a:prstClr val="black"/>
                    </a:solidFill>
                    <a:latin typeface="+mj-ea"/>
                    <a:ea typeface="+mj-ea"/>
                  </a:rPr>
                  <a:t>（</a:t>
                </a:r>
                <a:r>
                  <a:rPr lang="en-US" altLang="zh-CN" sz="2400" b="1" dirty="0">
                    <a:solidFill>
                      <a:prstClr val="black"/>
                    </a:solidFill>
                    <a:latin typeface="+mj-ea"/>
                    <a:ea typeface="+mj-ea"/>
                  </a:rPr>
                  <a:t>2</a:t>
                </a:r>
                <a:r>
                  <a:rPr lang="zh-CN" altLang="en-US" sz="2400" b="1" dirty="0">
                    <a:solidFill>
                      <a:prstClr val="black"/>
                    </a:solidFill>
                    <a:latin typeface="+mj-ea"/>
                    <a:ea typeface="+mj-ea"/>
                  </a:rPr>
                  <a:t>）采用符号计算与函数</a:t>
                </a:r>
                <a:r>
                  <a:rPr lang="en-US" altLang="zh-CN" sz="2400" b="1" dirty="0" err="1">
                    <a:solidFill>
                      <a:schemeClr val="accent2"/>
                    </a:solidFill>
                    <a:latin typeface="Courier New" panose="02070309020205020404" pitchFamily="49" charset="0"/>
                    <a:ea typeface="+mj-ea"/>
                    <a:cs typeface="Courier New" panose="02070309020205020404" pitchFamily="49" charset="0"/>
                  </a:rPr>
                  <a:t>isAlways</a:t>
                </a:r>
                <a:r>
                  <a:rPr lang="zh-CN" altLang="en-US" sz="2400" b="1" dirty="0">
                    <a:solidFill>
                      <a:prstClr val="black"/>
                    </a:solidFill>
                    <a:latin typeface="+mj-ea"/>
                    <a:ea typeface="+mj-ea"/>
                  </a:rPr>
                  <a:t>验证</a:t>
                </a:r>
                <a14:m>
                  <m:oMath xmlns:m="http://schemas.openxmlformats.org/officeDocument/2006/math">
                    <m:func>
                      <m:funcPr>
                        <m:ctrlPr>
                          <a:rPr lang="en-US" altLang="zh-CN" sz="2400" b="1" i="1">
                            <a:latin typeface="Cambria Math" panose="02040503050406030204" pitchFamily="18" charset="0"/>
                          </a:rPr>
                        </m:ctrlPr>
                      </m:funcPr>
                      <m:fName>
                        <m:limLow>
                          <m:limLowPr>
                            <m:ctrlPr>
                              <a:rPr lang="en-US" altLang="zh-CN" sz="2400" b="1" i="1">
                                <a:latin typeface="Cambria Math" panose="02040503050406030204" pitchFamily="18" charset="0"/>
                              </a:rPr>
                            </m:ctrlPr>
                          </m:limLowPr>
                          <m:e>
                            <m:r>
                              <m:rPr>
                                <m:sty m:val="p"/>
                              </m:rPr>
                              <a:rPr lang="en-US" altLang="zh-CN" sz="2400">
                                <a:latin typeface="Cambria Math" panose="02040503050406030204" pitchFamily="18" charset="0"/>
                              </a:rPr>
                              <m:t>lim</m:t>
                            </m:r>
                          </m:e>
                          <m:lim>
                            <m:r>
                              <a:rPr lang="en-US" altLang="zh-CN" sz="2400" b="1" i="1">
                                <a:latin typeface="Cambria Math" panose="02040503050406030204" pitchFamily="18" charset="0"/>
                              </a:rPr>
                              <m:t>𝒏</m:t>
                            </m:r>
                            <m:r>
                              <a:rPr lang="en-US" altLang="zh-CN" sz="2400" b="1" i="1">
                                <a:latin typeface="Cambria Math" panose="02040503050406030204" pitchFamily="18" charset="0"/>
                              </a:rPr>
                              <m:t>→∞</m:t>
                            </m:r>
                          </m:lim>
                        </m:limLow>
                      </m:fName>
                      <m:e>
                        <m:f>
                          <m:fPr>
                            <m:ctrlPr>
                              <a:rPr lang="en-US" altLang="zh-CN" sz="2400" b="1" i="1">
                                <a:latin typeface="Cambria Math" panose="02040503050406030204" pitchFamily="18" charset="0"/>
                              </a:rPr>
                            </m:ctrlPr>
                          </m:fPr>
                          <m:num>
                            <m:r>
                              <a:rPr lang="en-US" altLang="zh-CN" sz="2400" b="1" i="1">
                                <a:latin typeface="Cambria Math" panose="02040503050406030204" pitchFamily="18" charset="0"/>
                              </a:rPr>
                              <m:t>𝒏</m:t>
                            </m:r>
                          </m:num>
                          <m:den>
                            <m:rad>
                              <m:radPr>
                                <m:ctrlPr>
                                  <a:rPr lang="en-US" altLang="zh-CN" sz="2400" b="1" i="1">
                                    <a:latin typeface="Cambria Math" panose="02040503050406030204" pitchFamily="18" charset="0"/>
                                  </a:rPr>
                                </m:ctrlPr>
                              </m:radPr>
                              <m:deg>
                                <m:r>
                                  <m:rPr>
                                    <m:brk m:alnAt="7"/>
                                  </m:rPr>
                                  <a:rPr lang="en-US" altLang="zh-CN" sz="2400" b="1" i="1">
                                    <a:latin typeface="Cambria Math" panose="02040503050406030204" pitchFamily="18" charset="0"/>
                                  </a:rPr>
                                  <m:t>𝒏</m:t>
                                </m:r>
                              </m:deg>
                              <m:e>
                                <m:r>
                                  <a:rPr lang="en-US" altLang="zh-CN" sz="2400" b="1" i="1">
                                    <a:latin typeface="Cambria Math" panose="02040503050406030204" pitchFamily="18" charset="0"/>
                                  </a:rPr>
                                  <m:t>𝒏</m:t>
                                </m:r>
                                <m:r>
                                  <a:rPr lang="en-US" altLang="zh-CN" sz="2400" b="1" i="1">
                                    <a:latin typeface="Cambria Math" panose="02040503050406030204" pitchFamily="18" charset="0"/>
                                  </a:rPr>
                                  <m:t>!</m:t>
                                </m:r>
                              </m:e>
                            </m:rad>
                          </m:den>
                        </m:f>
                      </m:e>
                    </m:func>
                    <m:r>
                      <a:rPr lang="en-US" altLang="zh-CN" sz="2400" b="1" i="1">
                        <a:latin typeface="Cambria Math" panose="02040503050406030204" pitchFamily="18" charset="0"/>
                      </a:rPr>
                      <m:t>=</m:t>
                    </m:r>
                    <m:r>
                      <a:rPr lang="en-US" altLang="zh-CN" sz="2400" b="1">
                        <a:latin typeface="Cambria Math" panose="02040503050406030204" pitchFamily="18" charset="0"/>
                      </a:rPr>
                      <m:t>𝐞</m:t>
                    </m:r>
                  </m:oMath>
                </a14:m>
                <a:r>
                  <a:rPr lang="en-US" altLang="zh-CN" sz="2400" b="1" dirty="0">
                    <a:latin typeface="+mj-ea"/>
                  </a:rPr>
                  <a:t>.</a:t>
                </a:r>
                <a:r>
                  <a:rPr lang="zh-CN" altLang="en-US" sz="2400" b="1" dirty="0">
                    <a:latin typeface="+mj-ea"/>
                    <a:ea typeface="+mj-ea"/>
                  </a:rPr>
                  <a:t>（提示函数：</a:t>
                </a:r>
                <a:r>
                  <a:rPr lang="en-US" altLang="zh-CN" sz="2400" b="1" dirty="0">
                    <a:solidFill>
                      <a:schemeClr val="accent2"/>
                    </a:solidFill>
                    <a:latin typeface="Courier New" panose="02070309020205020404" pitchFamily="49" charset="0"/>
                    <a:ea typeface="+mj-ea"/>
                    <a:cs typeface="Courier New" panose="02070309020205020404" pitchFamily="49" charset="0"/>
                  </a:rPr>
                  <a:t>factorial</a:t>
                </a:r>
                <a:r>
                  <a:rPr lang="zh-CN" altLang="en-US" sz="2400" b="1" dirty="0">
                    <a:latin typeface="+mj-ea"/>
                    <a:ea typeface="+mj-ea"/>
                  </a:rPr>
                  <a:t>）</a:t>
                </a:r>
                <a:endParaRPr lang="en-US" altLang="zh-CN" sz="2400" b="1" dirty="0">
                  <a:latin typeface="+mj-ea"/>
                  <a:ea typeface="+mj-ea"/>
                </a:endParaRPr>
              </a:p>
            </p:txBody>
          </p:sp>
        </mc:Choice>
        <mc:Fallback>
          <p:sp>
            <p:nvSpPr>
              <p:cNvPr id="13" name="矩形 12"/>
              <p:cNvSpPr>
                <a:spLocks noRot="1" noChangeAspect="1" noMove="1" noResize="1" noEditPoints="1" noAdjustHandles="1" noChangeArrowheads="1" noChangeShapeType="1" noTextEdit="1"/>
              </p:cNvSpPr>
              <p:nvPr/>
            </p:nvSpPr>
            <p:spPr>
              <a:xfrm>
                <a:off x="251520" y="2439271"/>
                <a:ext cx="8438666" cy="1586845"/>
              </a:xfrm>
              <a:prstGeom prst="rect">
                <a:avLst/>
              </a:prstGeom>
              <a:blipFill rotWithShape="1">
                <a:blip r:embed="rId1"/>
                <a:stretch>
                  <a:fillRect l="-1" t="-15" r="3" b="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251520" y="1378403"/>
                <a:ext cx="8352928" cy="1060868"/>
              </a:xfrm>
              <a:prstGeom prst="rect">
                <a:avLst/>
              </a:prstGeom>
              <a:noFill/>
            </p:spPr>
            <p:txBody>
              <a:bodyPr wrap="square">
                <a:spAutoFit/>
              </a:bodyPr>
              <a:lstStyle/>
              <a:p>
                <a:r>
                  <a:rPr lang="zh-CN" altLang="en-US" b="1" dirty="0">
                    <a:solidFill>
                      <a:prstClr val="black"/>
                    </a:solidFill>
                    <a:latin typeface="+mn-ea"/>
                  </a:rPr>
                  <a:t>（</a:t>
                </a:r>
                <a:r>
                  <a:rPr lang="en-US" altLang="zh-CN" b="1" dirty="0">
                    <a:solidFill>
                      <a:prstClr val="black"/>
                    </a:solidFill>
                    <a:latin typeface="+mn-ea"/>
                  </a:rPr>
                  <a:t>1</a:t>
                </a:r>
                <a:r>
                  <a:rPr lang="zh-CN" altLang="en-US" b="1" dirty="0">
                    <a:solidFill>
                      <a:prstClr val="black"/>
                    </a:solidFill>
                    <a:latin typeface="+mn-ea"/>
                  </a:rPr>
                  <a:t>）通过</a:t>
                </a:r>
                <a:r>
                  <a:rPr lang="en-US" altLang="zh-CN" b="1" dirty="0">
                    <a:solidFill>
                      <a:prstClr val="black"/>
                    </a:solidFill>
                    <a:latin typeface="+mn-ea"/>
                  </a:rPr>
                  <a:t>MATLAB</a:t>
                </a:r>
                <a:r>
                  <a:rPr lang="zh-CN" altLang="en-US" b="1" dirty="0">
                    <a:solidFill>
                      <a:prstClr val="black"/>
                    </a:solidFill>
                    <a:latin typeface="+mn-ea"/>
                  </a:rPr>
                  <a:t>函数</a:t>
                </a:r>
                <a:r>
                  <a:rPr lang="en-US" altLang="zh-CN" b="1" dirty="0">
                    <a:solidFill>
                      <a:schemeClr val="accent2"/>
                    </a:solidFill>
                    <a:latin typeface="Courier New" panose="02070309020205020404" pitchFamily="49" charset="0"/>
                    <a:cs typeface="Courier New" panose="02070309020205020404" pitchFamily="49" charset="0"/>
                  </a:rPr>
                  <a:t>diff</a:t>
                </a:r>
                <a:r>
                  <a:rPr lang="zh-CN" altLang="en-US" b="1" dirty="0">
                    <a:solidFill>
                      <a:prstClr val="black"/>
                    </a:solidFill>
                    <a:latin typeface="+mn-ea"/>
                  </a:rPr>
                  <a:t>计算求</a:t>
                </a:r>
                <a14:m>
                  <m:oMath xmlns:m="http://schemas.openxmlformats.org/officeDocument/2006/math">
                    <m:r>
                      <a:rPr lang="en-US" altLang="zh-CN" b="1" i="1" smtClean="0">
                        <a:solidFill>
                          <a:prstClr val="black"/>
                        </a:solidFill>
                        <a:latin typeface="Cambria Math" panose="02040503050406030204" pitchFamily="18" charset="0"/>
                      </a:rPr>
                      <m:t>𝒚</m:t>
                    </m:r>
                    <m:d>
                      <m:dPr>
                        <m:ctrlPr>
                          <a:rPr lang="en-US" altLang="zh-CN" b="1" i="1" smtClean="0">
                            <a:solidFill>
                              <a:prstClr val="black"/>
                            </a:solidFill>
                            <a:latin typeface="Cambria Math" panose="02040503050406030204" pitchFamily="18" charset="0"/>
                          </a:rPr>
                        </m:ctrlPr>
                      </m:dPr>
                      <m:e>
                        <m:r>
                          <a:rPr lang="en-US" altLang="zh-CN" b="1" i="1" smtClean="0">
                            <a:solidFill>
                              <a:prstClr val="black"/>
                            </a:solidFill>
                            <a:latin typeface="Cambria Math" panose="02040503050406030204" pitchFamily="18" charset="0"/>
                          </a:rPr>
                          <m:t>𝒕</m:t>
                        </m:r>
                      </m:e>
                    </m:d>
                    <m:r>
                      <a:rPr lang="en-US" altLang="zh-CN" b="1" i="1" smtClean="0">
                        <a:solidFill>
                          <a:prstClr val="black"/>
                        </a:solidFill>
                        <a:latin typeface="Cambria Math" panose="02040503050406030204" pitchFamily="18" charset="0"/>
                      </a:rPr>
                      <m:t>=</m:t>
                    </m:r>
                    <m:d>
                      <m:dPr>
                        <m:begChr m:val="|"/>
                        <m:endChr m:val="|"/>
                        <m:ctrlPr>
                          <a:rPr lang="en-US" altLang="zh-CN" b="1" i="1" smtClean="0">
                            <a:solidFill>
                              <a:prstClr val="black"/>
                            </a:solidFill>
                            <a:latin typeface="Cambria Math" panose="02040503050406030204" pitchFamily="18" charset="0"/>
                          </a:rPr>
                        </m:ctrlPr>
                      </m:dPr>
                      <m:e>
                        <m:func>
                          <m:funcPr>
                            <m:ctrlPr>
                              <a:rPr lang="en-US" altLang="zh-CN" b="1" i="1" smtClean="0">
                                <a:solidFill>
                                  <a:prstClr val="black"/>
                                </a:solidFill>
                                <a:latin typeface="Cambria Math" panose="02040503050406030204" pitchFamily="18" charset="0"/>
                              </a:rPr>
                            </m:ctrlPr>
                          </m:funcPr>
                          <m:fName>
                            <m:r>
                              <m:rPr>
                                <m:sty m:val="p"/>
                              </m:rPr>
                              <a:rPr lang="en-US" altLang="zh-CN" b="0" i="0" smtClean="0">
                                <a:solidFill>
                                  <a:prstClr val="black"/>
                                </a:solidFill>
                                <a:latin typeface="Cambria Math" panose="02040503050406030204" pitchFamily="18" charset="0"/>
                              </a:rPr>
                              <m:t>sin</m:t>
                            </m:r>
                          </m:fName>
                          <m:e>
                            <m:r>
                              <a:rPr lang="en-US" altLang="zh-CN" b="1" i="1" smtClean="0">
                                <a:solidFill>
                                  <a:prstClr val="black"/>
                                </a:solidFill>
                                <a:latin typeface="Cambria Math" panose="02040503050406030204" pitchFamily="18" charset="0"/>
                              </a:rPr>
                              <m:t>𝒕</m:t>
                            </m:r>
                          </m:e>
                        </m:func>
                      </m:e>
                    </m:d>
                  </m:oMath>
                </a14:m>
                <a:r>
                  <a:rPr lang="zh-CN" altLang="en-US" b="1" dirty="0">
                    <a:latin typeface="+mn-ea"/>
                  </a:rPr>
                  <a:t>的导数</a:t>
                </a:r>
                <a14:m>
                  <m:oMath xmlns:m="http://schemas.openxmlformats.org/officeDocument/2006/math">
                    <m:r>
                      <a:rPr lang="en-US" altLang="zh-CN" b="1" i="1" smtClean="0">
                        <a:latin typeface="Cambria Math" panose="02040503050406030204" pitchFamily="18" charset="0"/>
                      </a:rPr>
                      <m:t>𝒚</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r>
                  <a:rPr lang="zh-CN" altLang="en-US" b="1" dirty="0">
                    <a:latin typeface="+mn-ea"/>
                  </a:rPr>
                  <a:t>，结果表达式在哪些点存在异常？为什么？</a:t>
                </a:r>
                <a:endParaRPr lang="en-US" altLang="zh-CN" b="1" dirty="0">
                  <a:latin typeface="+mn-ea"/>
                </a:endParaRPr>
              </a:p>
              <a:p>
                <a:r>
                  <a:rPr lang="zh-CN" altLang="en-US" b="1" dirty="0">
                    <a:latin typeface="+mn-ea"/>
                  </a:rPr>
                  <a:t>（</a:t>
                </a:r>
                <a:r>
                  <a:rPr lang="en-US" altLang="zh-CN" b="1" dirty="0">
                    <a:latin typeface="+mn-ea"/>
                  </a:rPr>
                  <a:t>2</a:t>
                </a:r>
                <a:r>
                  <a:rPr lang="zh-CN" altLang="en-US" b="1" dirty="0">
                    <a:latin typeface="+mn-ea"/>
                  </a:rPr>
                  <a:t>）计算</a:t>
                </a:r>
                <a14:m>
                  <m:oMath xmlns:m="http://schemas.openxmlformats.org/officeDocument/2006/math">
                    <m:sSup>
                      <m:sSupPr>
                        <m:ctrlPr>
                          <a:rPr lang="en-US" altLang="zh-CN" b="1" i="1" smtClean="0">
                            <a:latin typeface="Cambria Math" panose="02040503050406030204" pitchFamily="18" charset="0"/>
                          </a:rPr>
                        </m:ctrlPr>
                      </m:sSupPr>
                      <m:e>
                        <m:r>
                          <a:rPr lang="en-US" altLang="zh-CN" b="1" i="1" smtClean="0">
                            <a:latin typeface="Cambria Math" panose="02040503050406030204" pitchFamily="18" charset="0"/>
                          </a:rPr>
                          <m:t>𝒚</m:t>
                        </m:r>
                      </m:e>
                      <m:sup>
                        <m:r>
                          <a:rPr lang="en-US" altLang="zh-CN" b="1" i="1" smtClean="0">
                            <a:latin typeface="Cambria Math" panose="02040503050406030204" pitchFamily="18" charset="0"/>
                          </a:rPr>
                          <m:t>′</m:t>
                        </m:r>
                      </m:sup>
                    </m:sSup>
                    <m:d>
                      <m:dPr>
                        <m:ctrlPr>
                          <a:rPr lang="en-US" altLang="zh-CN" b="1" i="1" smtClean="0">
                            <a:latin typeface="Cambria Math" panose="02040503050406030204" pitchFamily="18" charset="0"/>
                          </a:rPr>
                        </m:ctrlPr>
                      </m:dPr>
                      <m:e>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𝝅</m:t>
                            </m:r>
                          </m:num>
                          <m:den>
                            <m:r>
                              <a:rPr lang="en-US" altLang="zh-CN" b="1" i="1" smtClean="0">
                                <a:latin typeface="Cambria Math" panose="02040503050406030204" pitchFamily="18" charset="0"/>
                              </a:rPr>
                              <m:t>𝟐</m:t>
                            </m:r>
                          </m:den>
                        </m:f>
                      </m:e>
                    </m:d>
                  </m:oMath>
                </a14:m>
                <a:r>
                  <a:rPr lang="zh-CN" altLang="en-US" b="1" dirty="0">
                    <a:latin typeface="+mn-ea"/>
                  </a:rPr>
                  <a:t>与</a:t>
                </a:r>
                <a14:m>
                  <m:oMath xmlns:m="http://schemas.openxmlformats.org/officeDocument/2006/math">
                    <m:r>
                      <a:rPr lang="en-US" altLang="zh-CN" b="1" i="1" smtClean="0">
                        <a:latin typeface="Cambria Math" panose="02040503050406030204" pitchFamily="18" charset="0"/>
                      </a:rPr>
                      <m:t>𝒚</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r>
                  <a:rPr lang="zh-CN" altLang="en-US" b="1" dirty="0">
                    <a:latin typeface="+mn-ea"/>
                  </a:rPr>
                  <a:t>在</a:t>
                </a:r>
                <a14:m>
                  <m:oMath xmlns:m="http://schemas.openxmlformats.org/officeDocument/2006/math">
                    <m:r>
                      <a:rPr lang="en-US" altLang="zh-CN" b="1" i="1" dirty="0" smtClean="0">
                        <a:latin typeface="Cambria Math" panose="02040503050406030204" pitchFamily="18" charset="0"/>
                      </a:rPr>
                      <m:t>𝒕</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𝟎</m:t>
                    </m:r>
                  </m:oMath>
                </a14:m>
                <a:r>
                  <a:rPr lang="zh-CN" altLang="en-US" b="1" dirty="0">
                    <a:latin typeface="+mn-ea"/>
                  </a:rPr>
                  <a:t>的左导数</a:t>
                </a:r>
                <a14:m>
                  <m:oMath xmlns:m="http://schemas.openxmlformats.org/officeDocument/2006/math">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𝒚</m:t>
                        </m:r>
                      </m:e>
                      <m:sub>
                        <m:r>
                          <a:rPr lang="en-US" altLang="zh-CN" b="1" i="1" smtClean="0">
                            <a:latin typeface="Cambria Math" panose="02040503050406030204" pitchFamily="18" charset="0"/>
                          </a:rPr>
                          <m:t>−</m:t>
                        </m:r>
                      </m:sub>
                      <m:sup>
                        <m:r>
                          <a:rPr lang="en-US" altLang="zh-CN" b="1" i="1" smtClean="0">
                            <a:latin typeface="Cambria Math" panose="02040503050406030204" pitchFamily="18" charset="0"/>
                          </a:rPr>
                          <m:t>′</m:t>
                        </m:r>
                      </m:sup>
                    </m:sSubSup>
                    <m:r>
                      <a:rPr lang="en-US" altLang="zh-CN" b="1" i="1" smtClean="0">
                        <a:latin typeface="Cambria Math" panose="02040503050406030204" pitchFamily="18" charset="0"/>
                      </a:rPr>
                      <m:t>(</m:t>
                    </m:r>
                    <m:r>
                      <a:rPr lang="en-US" altLang="zh-CN" b="1" i="1" smtClean="0">
                        <a:latin typeface="Cambria Math" panose="02040503050406030204" pitchFamily="18" charset="0"/>
                      </a:rPr>
                      <m:t>𝟎</m:t>
                    </m:r>
                    <m:r>
                      <a:rPr lang="en-US" altLang="zh-CN" b="1" i="1" smtClean="0">
                        <a:latin typeface="Cambria Math" panose="02040503050406030204" pitchFamily="18" charset="0"/>
                      </a:rPr>
                      <m:t>)</m:t>
                    </m:r>
                  </m:oMath>
                </a14:m>
                <a:r>
                  <a:rPr lang="zh-CN" altLang="en-US" b="1" dirty="0">
                    <a:latin typeface="+mn-ea"/>
                  </a:rPr>
                  <a:t>，注意：</a:t>
                </a:r>
                <a:r>
                  <a:rPr lang="zh-CN" altLang="en-US" b="1" dirty="0">
                    <a:solidFill>
                      <a:srgbClr val="FF0000"/>
                    </a:solidFill>
                    <a:latin typeface="+mn-ea"/>
                  </a:rPr>
                  <a:t>左导数不是导数的左极限！</a:t>
                </a:r>
                <a:endParaRPr lang="zh-CN" altLang="en-US" b="1" dirty="0">
                  <a:solidFill>
                    <a:srgbClr val="FF0000"/>
                  </a:solidFill>
                  <a:latin typeface="+mn-ea"/>
                </a:endParaRPr>
              </a:p>
            </p:txBody>
          </p:sp>
        </mc:Choice>
        <mc:Fallback>
          <p:sp>
            <p:nvSpPr>
              <p:cNvPr id="9" name="文本框 8"/>
              <p:cNvSpPr txBox="1">
                <a:spLocks noRot="1" noChangeAspect="1" noMove="1" noResize="1" noEditPoints="1" noAdjustHandles="1" noChangeArrowheads="1" noChangeShapeType="1" noTextEdit="1"/>
              </p:cNvSpPr>
              <p:nvPr/>
            </p:nvSpPr>
            <p:spPr>
              <a:xfrm>
                <a:off x="251520" y="1378403"/>
                <a:ext cx="8352928" cy="1060868"/>
              </a:xfrm>
              <a:prstGeom prst="rect">
                <a:avLst/>
              </a:prstGeom>
              <a:blipFill rotWithShape="1">
                <a:blip r:embed="rId2"/>
                <a:stretch>
                  <a:fillRect l="-1" t="-43" r="2" b="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251520" y="4005064"/>
                <a:ext cx="8712968" cy="2656496"/>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en-US" altLang="zh-CN" sz="2400" b="1" dirty="0">
                    <a:solidFill>
                      <a:prstClr val="black"/>
                    </a:solidFill>
                    <a:latin typeface="+mj-ea"/>
                    <a:ea typeface="+mj-ea"/>
                  </a:rPr>
                  <a:t>Q3. </a:t>
                </a:r>
                <a:r>
                  <a:rPr lang="zh-CN" altLang="en-US" sz="2400" b="1" dirty="0">
                    <a:solidFill>
                      <a:prstClr val="black"/>
                    </a:solidFill>
                    <a:latin typeface="+mj-ea"/>
                    <a:ea typeface="+mj-ea"/>
                  </a:rPr>
                  <a:t>计算二重积分（高数难度）</a:t>
                </a:r>
                <a:endParaRPr lang="en-US" altLang="zh-CN" sz="2400" b="1" dirty="0">
                  <a:solidFill>
                    <a:prstClr val="black"/>
                  </a:solidFill>
                  <a:latin typeface="+mj-ea"/>
                  <a:ea typeface="+mj-ea"/>
                </a:endParaRPr>
              </a:p>
              <a:p>
                <a:pPr>
                  <a:spcBef>
                    <a:spcPts val="580"/>
                  </a:spcBef>
                  <a:buClr>
                    <a:srgbClr val="00B050"/>
                  </a:buClr>
                  <a:buSzPct val="85000"/>
                </a:pPr>
                <a14:m>
                  <m:oMathPara xmlns:m="http://schemas.openxmlformats.org/officeDocument/2006/math">
                    <m:oMathParaPr>
                      <m:jc m:val="centerGroup"/>
                    </m:oMathParaPr>
                    <m:oMath xmlns:m="http://schemas.openxmlformats.org/officeDocument/2006/math">
                      <m:nary>
                        <m:naryPr>
                          <m:chr m:val="∬"/>
                          <m:ctrlPr>
                            <a:rPr lang="zh-CN" altLang="en-US" sz="2400" b="1" i="1">
                              <a:solidFill>
                                <a:prstClr val="black"/>
                              </a:solidFill>
                              <a:latin typeface="Cambria Math" panose="02040503050406030204" pitchFamily="18" charset="0"/>
                            </a:rPr>
                          </m:ctrlPr>
                        </m:naryPr>
                        <m:sub>
                          <m:r>
                            <m:rPr>
                              <m:brk m:alnAt="23"/>
                            </m:rPr>
                            <a:rPr lang="en-US" altLang="zh-CN" sz="2400" b="1" i="1">
                              <a:solidFill>
                                <a:prstClr val="black"/>
                              </a:solidFill>
                              <a:latin typeface="Cambria Math" panose="02040503050406030204" pitchFamily="18" charset="0"/>
                            </a:rPr>
                            <m:t>𝑫</m:t>
                          </m:r>
                        </m:sub>
                        <m:sup/>
                        <m:e>
                          <m:f>
                            <m:fPr>
                              <m:ctrlPr>
                                <a:rPr lang="en-US" altLang="zh-CN" sz="2400" b="1" i="1">
                                  <a:solidFill>
                                    <a:prstClr val="black"/>
                                  </a:solidFill>
                                  <a:latin typeface="Cambria Math" panose="02040503050406030204" pitchFamily="18" charset="0"/>
                                </a:rPr>
                              </m:ctrlPr>
                            </m:fPr>
                            <m:num>
                              <m:r>
                                <a:rPr lang="en-US" altLang="zh-CN" sz="2400" b="1" i="1">
                                  <a:solidFill>
                                    <a:prstClr val="black"/>
                                  </a:solidFill>
                                  <a:latin typeface="Cambria Math" panose="02040503050406030204" pitchFamily="18" charset="0"/>
                                </a:rPr>
                                <m:t>𝟏</m:t>
                              </m:r>
                            </m:num>
                            <m:den>
                              <m:rad>
                                <m:radPr>
                                  <m:degHide m:val="on"/>
                                  <m:ctrlPr>
                                    <a:rPr lang="en-US" altLang="zh-CN" sz="2400" b="1" i="1">
                                      <a:solidFill>
                                        <a:prstClr val="black"/>
                                      </a:solidFill>
                                      <a:latin typeface="Cambria Math" panose="02040503050406030204" pitchFamily="18" charset="0"/>
                                    </a:rPr>
                                  </m:ctrlPr>
                                </m:radPr>
                                <m:deg/>
                                <m:e>
                                  <m:sSup>
                                    <m:sSupPr>
                                      <m:ctrlPr>
                                        <a:rPr lang="en-US" altLang="zh-CN" sz="2400" b="1" i="1">
                                          <a:solidFill>
                                            <a:prstClr val="black"/>
                                          </a:solidFill>
                                          <a:latin typeface="Cambria Math" panose="02040503050406030204" pitchFamily="18" charset="0"/>
                                        </a:rPr>
                                      </m:ctrlPr>
                                    </m:sSupPr>
                                    <m:e>
                                      <m:d>
                                        <m:dPr>
                                          <m:ctrlPr>
                                            <a:rPr lang="en-US" altLang="zh-CN" sz="2400" b="1" i="1">
                                              <a:solidFill>
                                                <a:prstClr val="black"/>
                                              </a:solidFill>
                                              <a:latin typeface="Cambria Math" panose="02040503050406030204" pitchFamily="18" charset="0"/>
                                            </a:rPr>
                                          </m:ctrlPr>
                                        </m:dPr>
                                        <m:e>
                                          <m:r>
                                            <a:rPr lang="en-US" altLang="zh-CN" sz="2400" b="1" i="1">
                                              <a:solidFill>
                                                <a:prstClr val="black"/>
                                              </a:solidFill>
                                              <a:latin typeface="Cambria Math" panose="02040503050406030204" pitchFamily="18" charset="0"/>
                                            </a:rPr>
                                            <m:t>𝟏</m:t>
                                          </m:r>
                                          <m:r>
                                            <a:rPr lang="en-US" altLang="zh-CN" sz="2400" b="1" i="1">
                                              <a:solidFill>
                                                <a:prstClr val="black"/>
                                              </a:solidFill>
                                              <a:latin typeface="Cambria Math" panose="02040503050406030204" pitchFamily="18" charset="0"/>
                                            </a:rPr>
                                            <m:t>+</m:t>
                                          </m:r>
                                          <m:sSup>
                                            <m:sSupPr>
                                              <m:ctrlPr>
                                                <a:rPr lang="en-US" altLang="zh-CN" sz="2400" b="1" i="1">
                                                  <a:solidFill>
                                                    <a:prstClr val="black"/>
                                                  </a:solidFill>
                                                  <a:latin typeface="Cambria Math" panose="02040503050406030204" pitchFamily="18" charset="0"/>
                                                </a:rPr>
                                              </m:ctrlPr>
                                            </m:sSupPr>
                                            <m:e>
                                              <m:r>
                                                <a:rPr lang="en-US" altLang="zh-CN" sz="2400" b="1" i="1">
                                                  <a:solidFill>
                                                    <a:prstClr val="black"/>
                                                  </a:solidFill>
                                                  <a:latin typeface="Cambria Math" panose="02040503050406030204" pitchFamily="18" charset="0"/>
                                                </a:rPr>
                                                <m:t>𝒙</m:t>
                                              </m:r>
                                            </m:e>
                                            <m:sup>
                                              <m:r>
                                                <a:rPr lang="en-US" altLang="zh-CN" sz="2400" b="1" i="1">
                                                  <a:solidFill>
                                                    <a:prstClr val="black"/>
                                                  </a:solidFill>
                                                  <a:latin typeface="Cambria Math" panose="02040503050406030204" pitchFamily="18" charset="0"/>
                                                </a:rPr>
                                                <m:t>𝟐</m:t>
                                              </m:r>
                                            </m:sup>
                                          </m:sSup>
                                          <m:r>
                                            <a:rPr lang="en-US" altLang="zh-CN" sz="2400" b="1" i="1">
                                              <a:solidFill>
                                                <a:prstClr val="black"/>
                                              </a:solidFill>
                                              <a:latin typeface="Cambria Math" panose="02040503050406030204" pitchFamily="18" charset="0"/>
                                            </a:rPr>
                                            <m:t>+</m:t>
                                          </m:r>
                                          <m:sSup>
                                            <m:sSupPr>
                                              <m:ctrlPr>
                                                <a:rPr lang="en-US" altLang="zh-CN" sz="2400" b="1" i="1">
                                                  <a:solidFill>
                                                    <a:prstClr val="black"/>
                                                  </a:solidFill>
                                                  <a:latin typeface="Cambria Math" panose="02040503050406030204" pitchFamily="18" charset="0"/>
                                                </a:rPr>
                                              </m:ctrlPr>
                                            </m:sSupPr>
                                            <m:e>
                                              <m:r>
                                                <a:rPr lang="en-US" altLang="zh-CN" sz="2400" b="1" i="1">
                                                  <a:solidFill>
                                                    <a:prstClr val="black"/>
                                                  </a:solidFill>
                                                  <a:latin typeface="Cambria Math" panose="02040503050406030204" pitchFamily="18" charset="0"/>
                                                </a:rPr>
                                                <m:t>𝒚</m:t>
                                              </m:r>
                                            </m:e>
                                            <m:sup>
                                              <m:r>
                                                <a:rPr lang="en-US" altLang="zh-CN" sz="2400" b="1" i="1">
                                                  <a:solidFill>
                                                    <a:prstClr val="black"/>
                                                  </a:solidFill>
                                                  <a:latin typeface="Cambria Math" panose="02040503050406030204" pitchFamily="18" charset="0"/>
                                                </a:rPr>
                                                <m:t>𝟐</m:t>
                                              </m:r>
                                            </m:sup>
                                          </m:sSup>
                                        </m:e>
                                      </m:d>
                                    </m:e>
                                    <m:sup>
                                      <m:r>
                                        <a:rPr lang="en-US" altLang="zh-CN" sz="2400" b="1" i="1">
                                          <a:solidFill>
                                            <a:prstClr val="black"/>
                                          </a:solidFill>
                                          <a:latin typeface="Cambria Math" panose="02040503050406030204" pitchFamily="18" charset="0"/>
                                        </a:rPr>
                                        <m:t>𝟑</m:t>
                                      </m:r>
                                    </m:sup>
                                  </m:sSup>
                                </m:e>
                              </m:rad>
                            </m:den>
                          </m:f>
                          <m:r>
                            <a:rPr lang="en-US" altLang="zh-CN" sz="2400" b="1">
                              <a:solidFill>
                                <a:prstClr val="black"/>
                              </a:solidFill>
                              <a:latin typeface="Cambria Math" panose="02040503050406030204" pitchFamily="18" charset="0"/>
                            </a:rPr>
                            <m:t>𝐝</m:t>
                          </m:r>
                          <m:r>
                            <a:rPr lang="en-US" altLang="zh-CN" sz="2400" b="1" i="1">
                              <a:solidFill>
                                <a:prstClr val="black"/>
                              </a:solidFill>
                              <a:latin typeface="Cambria Math" panose="02040503050406030204" pitchFamily="18" charset="0"/>
                            </a:rPr>
                            <m:t>𝒙</m:t>
                          </m:r>
                          <m:r>
                            <a:rPr lang="en-US" altLang="zh-CN" sz="2400" b="1">
                              <a:solidFill>
                                <a:prstClr val="black"/>
                              </a:solidFill>
                              <a:latin typeface="Cambria Math" panose="02040503050406030204" pitchFamily="18" charset="0"/>
                            </a:rPr>
                            <m:t>𝐝</m:t>
                          </m:r>
                          <m:r>
                            <a:rPr lang="en-US" altLang="zh-CN" sz="2400" b="1" i="1">
                              <a:solidFill>
                                <a:prstClr val="black"/>
                              </a:solidFill>
                              <a:latin typeface="Cambria Math" panose="02040503050406030204" pitchFamily="18" charset="0"/>
                            </a:rPr>
                            <m:t>𝒚</m:t>
                          </m:r>
                          <m:r>
                            <a:rPr lang="en-US" altLang="zh-CN" sz="2400" b="1" i="1">
                              <a:solidFill>
                                <a:prstClr val="black"/>
                              </a:solidFill>
                              <a:latin typeface="Cambria Math" panose="02040503050406030204" pitchFamily="18" charset="0"/>
                            </a:rPr>
                            <m:t>,  </m:t>
                          </m:r>
                          <m:d>
                            <m:dPr>
                              <m:begChr m:val="{"/>
                              <m:endChr m:val="}"/>
                              <m:ctrlPr>
                                <a:rPr lang="en-US" altLang="zh-CN" sz="2400" b="1" i="1">
                                  <a:solidFill>
                                    <a:prstClr val="black"/>
                                  </a:solidFill>
                                  <a:latin typeface="Cambria Math" panose="02040503050406030204" pitchFamily="18" charset="0"/>
                                </a:rPr>
                              </m:ctrlPr>
                            </m:dPr>
                            <m:e>
                              <m:r>
                                <a:rPr lang="en-US" altLang="zh-CN" sz="2400" b="1" i="1">
                                  <a:solidFill>
                                    <a:prstClr val="black"/>
                                  </a:solidFill>
                                  <a:latin typeface="Cambria Math" panose="02040503050406030204" pitchFamily="18" charset="0"/>
                                </a:rPr>
                                <m:t>𝑫</m:t>
                              </m:r>
                              <m:r>
                                <a:rPr lang="en-US" altLang="zh-CN" sz="2400" b="1" i="1">
                                  <a:solidFill>
                                    <a:prstClr val="black"/>
                                  </a:solidFill>
                                  <a:latin typeface="Cambria Math" panose="02040503050406030204" pitchFamily="18" charset="0"/>
                                </a:rPr>
                                <m:t>:</m:t>
                              </m:r>
                              <m:r>
                                <a:rPr lang="en-US" altLang="zh-CN" sz="2400" b="1" i="1">
                                  <a:solidFill>
                                    <a:prstClr val="black"/>
                                  </a:solidFill>
                                  <a:latin typeface="Cambria Math" panose="02040503050406030204" pitchFamily="18" charset="0"/>
                                </a:rPr>
                                <m:t>𝟎</m:t>
                              </m:r>
                              <m:r>
                                <a:rPr lang="en-US" altLang="zh-CN" sz="2400" b="1" i="1">
                                  <a:solidFill>
                                    <a:prstClr val="black"/>
                                  </a:solidFill>
                                  <a:latin typeface="Cambria Math" panose="02040503050406030204" pitchFamily="18" charset="0"/>
                                </a:rPr>
                                <m:t>≤</m:t>
                              </m:r>
                              <m:r>
                                <a:rPr lang="en-US" altLang="zh-CN" sz="2400" b="1" i="1">
                                  <a:solidFill>
                                    <a:prstClr val="black"/>
                                  </a:solidFill>
                                  <a:latin typeface="Cambria Math" panose="02040503050406030204" pitchFamily="18" charset="0"/>
                                </a:rPr>
                                <m:t>𝒙</m:t>
                              </m:r>
                              <m:r>
                                <a:rPr lang="en-US" altLang="zh-CN" sz="2400" b="1" i="1">
                                  <a:solidFill>
                                    <a:prstClr val="black"/>
                                  </a:solidFill>
                                  <a:latin typeface="Cambria Math" panose="02040503050406030204" pitchFamily="18" charset="0"/>
                                </a:rPr>
                                <m:t>≤</m:t>
                              </m:r>
                              <m:r>
                                <a:rPr lang="en-US" altLang="zh-CN" sz="2400" b="1" i="1">
                                  <a:solidFill>
                                    <a:prstClr val="black"/>
                                  </a:solidFill>
                                  <a:latin typeface="Cambria Math" panose="02040503050406030204" pitchFamily="18" charset="0"/>
                                </a:rPr>
                                <m:t>𝟏</m:t>
                              </m:r>
                              <m:r>
                                <a:rPr lang="en-US" altLang="zh-CN" sz="2400" b="1" i="1">
                                  <a:solidFill>
                                    <a:prstClr val="black"/>
                                  </a:solidFill>
                                  <a:latin typeface="Cambria Math" panose="02040503050406030204" pitchFamily="18" charset="0"/>
                                </a:rPr>
                                <m:t>,</m:t>
                              </m:r>
                              <m:r>
                                <a:rPr lang="en-US" altLang="zh-CN" sz="2400" b="1" i="1">
                                  <a:solidFill>
                                    <a:prstClr val="black"/>
                                  </a:solidFill>
                                  <a:latin typeface="Cambria Math" panose="02040503050406030204" pitchFamily="18" charset="0"/>
                                </a:rPr>
                                <m:t>𝟎</m:t>
                              </m:r>
                              <m:r>
                                <a:rPr lang="en-US" altLang="zh-CN" sz="2400" b="1" i="1">
                                  <a:solidFill>
                                    <a:prstClr val="black"/>
                                  </a:solidFill>
                                  <a:latin typeface="Cambria Math" panose="02040503050406030204" pitchFamily="18" charset="0"/>
                                </a:rPr>
                                <m:t>≤</m:t>
                              </m:r>
                              <m:r>
                                <a:rPr lang="en-US" altLang="zh-CN" sz="2400" b="1" i="1">
                                  <a:solidFill>
                                    <a:prstClr val="black"/>
                                  </a:solidFill>
                                  <a:latin typeface="Cambria Math" panose="02040503050406030204" pitchFamily="18" charset="0"/>
                                </a:rPr>
                                <m:t>𝒚</m:t>
                              </m:r>
                              <m:r>
                                <a:rPr lang="en-US" altLang="zh-CN" sz="2400" b="1" i="1">
                                  <a:solidFill>
                                    <a:prstClr val="black"/>
                                  </a:solidFill>
                                  <a:latin typeface="Cambria Math" panose="02040503050406030204" pitchFamily="18" charset="0"/>
                                </a:rPr>
                                <m:t>≤</m:t>
                              </m:r>
                              <m:r>
                                <a:rPr lang="en-US" altLang="zh-CN" sz="2400" b="1" i="1">
                                  <a:solidFill>
                                    <a:prstClr val="black"/>
                                  </a:solidFill>
                                  <a:latin typeface="Cambria Math" panose="02040503050406030204" pitchFamily="18" charset="0"/>
                                </a:rPr>
                                <m:t>𝟏</m:t>
                              </m:r>
                            </m:e>
                          </m:d>
                        </m:e>
                      </m:nary>
                    </m:oMath>
                  </m:oMathPara>
                </a14:m>
                <a:endParaRPr lang="en-US" altLang="zh-CN" sz="2400" b="1" dirty="0">
                  <a:solidFill>
                    <a:prstClr val="black"/>
                  </a:solidFill>
                  <a:latin typeface="+mj-ea"/>
                </a:endParaRPr>
              </a:p>
              <a:p>
                <a:pPr>
                  <a:spcBef>
                    <a:spcPts val="580"/>
                  </a:spcBef>
                  <a:buClr>
                    <a:srgbClr val="00B050"/>
                  </a:buClr>
                  <a:buSzPct val="85000"/>
                </a:pPr>
                <a:r>
                  <a:rPr lang="zh-CN" altLang="en-US" sz="2400" b="1" dirty="0">
                    <a:solidFill>
                      <a:prstClr val="black"/>
                    </a:solidFill>
                    <a:latin typeface="+mj-ea"/>
                    <a:ea typeface="+mj-ea"/>
                  </a:rPr>
                  <a:t>（</a:t>
                </a:r>
                <a:r>
                  <a:rPr lang="en-US" altLang="zh-CN" sz="2400" b="1" dirty="0">
                    <a:solidFill>
                      <a:prstClr val="black"/>
                    </a:solidFill>
                    <a:latin typeface="+mj-ea"/>
                    <a:ea typeface="+mj-ea"/>
                  </a:rPr>
                  <a:t>1</a:t>
                </a:r>
                <a:r>
                  <a:rPr lang="zh-CN" altLang="en-US" sz="2400" b="1" dirty="0">
                    <a:solidFill>
                      <a:prstClr val="black"/>
                    </a:solidFill>
                    <a:latin typeface="+mj-ea"/>
                    <a:ea typeface="+mj-ea"/>
                  </a:rPr>
                  <a:t>）用已学习的数学分析知识计算这个积分。</a:t>
                </a:r>
                <a:endParaRPr lang="en-US" altLang="zh-CN" sz="2400" b="1" dirty="0">
                  <a:solidFill>
                    <a:prstClr val="black"/>
                  </a:solidFill>
                  <a:latin typeface="+mj-ea"/>
                  <a:ea typeface="+mj-ea"/>
                </a:endParaRPr>
              </a:p>
              <a:p>
                <a:pPr>
                  <a:spcBef>
                    <a:spcPts val="580"/>
                  </a:spcBef>
                  <a:buClr>
                    <a:srgbClr val="00B050"/>
                  </a:buClr>
                  <a:buSzPct val="85000"/>
                </a:pPr>
                <a:r>
                  <a:rPr lang="zh-CN" altLang="en-US" sz="2400" b="1" dirty="0">
                    <a:solidFill>
                      <a:prstClr val="black"/>
                    </a:solidFill>
                    <a:latin typeface="+mj-ea"/>
                    <a:ea typeface="+mj-ea"/>
                  </a:rPr>
                  <a:t>（</a:t>
                </a:r>
                <a:r>
                  <a:rPr lang="en-US" altLang="zh-CN" sz="2400" b="1" dirty="0">
                    <a:solidFill>
                      <a:prstClr val="black"/>
                    </a:solidFill>
                    <a:latin typeface="+mj-ea"/>
                    <a:ea typeface="+mj-ea"/>
                  </a:rPr>
                  <a:t>2</a:t>
                </a:r>
                <a:r>
                  <a:rPr lang="zh-CN" altLang="en-US" sz="2400" b="1" dirty="0">
                    <a:solidFill>
                      <a:prstClr val="black"/>
                    </a:solidFill>
                    <a:latin typeface="+mj-ea"/>
                    <a:ea typeface="+mj-ea"/>
                  </a:rPr>
                  <a:t>）采用</a:t>
                </a:r>
                <a:r>
                  <a:rPr lang="en-US" altLang="zh-CN" sz="2400" b="1" dirty="0">
                    <a:solidFill>
                      <a:prstClr val="black"/>
                    </a:solidFill>
                    <a:latin typeface="+mj-ea"/>
                    <a:ea typeface="+mj-ea"/>
                  </a:rPr>
                  <a:t>MATLAB</a:t>
                </a:r>
                <a:r>
                  <a:rPr lang="zh-CN" altLang="en-US" sz="2400" b="1" dirty="0">
                    <a:solidFill>
                      <a:prstClr val="black"/>
                    </a:solidFill>
                    <a:latin typeface="+mj-ea"/>
                    <a:ea typeface="+mj-ea"/>
                  </a:rPr>
                  <a:t>符号计算验证你上一问的结果。（提示：由于</a:t>
                </a:r>
                <a:r>
                  <a:rPr lang="en-US" altLang="zh-CN" sz="2400" b="1" dirty="0">
                    <a:solidFill>
                      <a:prstClr val="black"/>
                    </a:solidFill>
                    <a:latin typeface="+mj-ea"/>
                    <a:ea typeface="+mj-ea"/>
                  </a:rPr>
                  <a:t>MATLAB</a:t>
                </a:r>
                <a:r>
                  <a:rPr lang="zh-CN" altLang="en-US" sz="2400" b="1" dirty="0">
                    <a:solidFill>
                      <a:prstClr val="black"/>
                    </a:solidFill>
                    <a:latin typeface="+mj-ea"/>
                    <a:ea typeface="+mj-ea"/>
                  </a:rPr>
                  <a:t>的计算能力有限，被积函数的分母定义可能需要调整）</a:t>
                </a:r>
                <a:endParaRPr lang="en-US" altLang="zh-CN" sz="2400" b="1" dirty="0">
                  <a:solidFill>
                    <a:prstClr val="black"/>
                  </a:solidFill>
                  <a:latin typeface="+mj-ea"/>
                  <a:ea typeface="+mj-ea"/>
                </a:endParaRPr>
              </a:p>
            </p:txBody>
          </p:sp>
        </mc:Choice>
        <mc:Fallback>
          <p:sp>
            <p:nvSpPr>
              <p:cNvPr id="10" name="矩形 9"/>
              <p:cNvSpPr>
                <a:spLocks noRot="1" noChangeAspect="1" noMove="1" noResize="1" noEditPoints="1" noAdjustHandles="1" noChangeArrowheads="1" noChangeShapeType="1" noTextEdit="1"/>
              </p:cNvSpPr>
              <p:nvPr/>
            </p:nvSpPr>
            <p:spPr>
              <a:xfrm>
                <a:off x="251520" y="4005064"/>
                <a:ext cx="8712968" cy="2656496"/>
              </a:xfrm>
              <a:prstGeom prst="rect">
                <a:avLst/>
              </a:prstGeom>
              <a:blipFill rotWithShape="1">
                <a:blip r:embed="rId3"/>
                <a:stretch>
                  <a:fillRect l="-1" t="-4" r="2" b="1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86" y="-281502"/>
            <a:ext cx="7772400" cy="1143000"/>
          </a:xfrm>
        </p:spPr>
        <p:txBody>
          <a:bodyPr>
            <a:normAutofit/>
          </a:bodyPr>
          <a:lstStyle/>
          <a:p>
            <a:pPr algn="ctr" eaLnBrk="0" fontAlgn="base" hangingPunct="0">
              <a:spcAft>
                <a:spcPct val="0"/>
              </a:spcAft>
              <a:defRPr/>
            </a:pPr>
            <a:r>
              <a:rPr lang="zh-CN" altLang="en-US" sz="360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rPr>
              <a:t>课后反馈（不用交）</a:t>
            </a:r>
            <a:endParaRPr lang="en-US" sz="3600" dirty="0">
              <a:solidFill>
                <a:schemeClr val="accent1">
                  <a:lumMod val="50000"/>
                </a:schemeClr>
              </a:solidFill>
              <a:latin typeface="微软雅黑" panose="020B0503020204020204" pitchFamily="34" charset="-122"/>
              <a:ea typeface="微软雅黑" panose="020B0503020204020204" pitchFamily="34" charset="-122"/>
              <a:cs typeface="Calibri" panose="020F0502020204030204" pitchFamily="34" charset="0"/>
            </a:endParaRPr>
          </a:p>
        </p:txBody>
      </p:sp>
      <p:sp>
        <p:nvSpPr>
          <p:cNvPr id="8" name="矩形 7"/>
          <p:cNvSpPr/>
          <p:nvPr/>
        </p:nvSpPr>
        <p:spPr>
          <a:xfrm>
            <a:off x="251520" y="1124744"/>
            <a:ext cx="8438666" cy="5293757"/>
          </a:xfrm>
          <a:prstGeom prst="rect">
            <a:avLst/>
          </a:prstGeom>
        </p:spPr>
        <p:txBody>
          <a:bodyPr wrap="square">
            <a:spAutoFit/>
          </a:bodyPr>
          <a:lstStyle/>
          <a:p>
            <a:pPr marL="27432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将今天讲过的例题尝试自己键入并运行一遍</a:t>
            </a: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以本次作业为契机，慢慢强化对前序数学、编程基础课程的温习与回顾。</a:t>
            </a: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endParaRPr lang="en-US" altLang="zh-CN" sz="2400" b="1" dirty="0">
              <a:solidFill>
                <a:prstClr val="black"/>
              </a:solidFill>
              <a:latin typeface="+mj-ea"/>
              <a:ea typeface="+mj-ea"/>
            </a:endParaRPr>
          </a:p>
          <a:p>
            <a:pPr marL="274320" indent="-274320">
              <a:spcBef>
                <a:spcPts val="580"/>
              </a:spcBef>
              <a:buClr>
                <a:srgbClr val="00B050"/>
              </a:buClr>
              <a:buSzPct val="85000"/>
              <a:buFont typeface="Wingdings" panose="05000000000000000000" pitchFamily="2" charset="2"/>
              <a:buChar char="q"/>
            </a:pPr>
            <a:r>
              <a:rPr lang="zh-CN" altLang="en-US" sz="2400" b="1" dirty="0">
                <a:solidFill>
                  <a:prstClr val="black"/>
                </a:solidFill>
                <a:latin typeface="+mj-ea"/>
                <a:ea typeface="+mj-ea"/>
              </a:rPr>
              <a:t>阅读思考课本对应习题（不作为考点）</a:t>
            </a:r>
            <a:endParaRPr lang="en-US" altLang="zh-CN" sz="2400" b="1" dirty="0">
              <a:latin typeface="+mj-ea"/>
              <a:ea typeface="+mj-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pPr algn="ctr"/>
            <a:r>
              <a:rPr lang="zh-CN" altLang="en-US" sz="6000" dirty="0">
                <a:solidFill>
                  <a:srgbClr val="00B0F0"/>
                </a:solidFill>
                <a:latin typeface="Calibri" panose="020F0502020204030204" pitchFamily="34" charset="0"/>
                <a:cs typeface="Calibri" panose="020F0502020204030204" pitchFamily="34" charset="0"/>
              </a:rPr>
              <a:t>感谢同学们认真听课</a:t>
            </a:r>
            <a:r>
              <a:rPr lang="en-US" altLang="zh-CN" sz="6000" i="0" dirty="0">
                <a:solidFill>
                  <a:srgbClr val="00B0F0"/>
                </a:solidFill>
                <a:latin typeface="Calibri" panose="020F0502020204030204" pitchFamily="34" charset="0"/>
                <a:cs typeface="Calibri" panose="020F0502020204030204" pitchFamily="34" charset="0"/>
              </a:rPr>
              <a:t>!</a:t>
            </a:r>
            <a:endParaRPr lang="zh-CN" altLang="en-US" sz="6000" i="0" dirty="0">
              <a:solidFill>
                <a:srgbClr val="00B0F0"/>
              </a:solidFill>
              <a:latin typeface="Calibri" panose="020F0502020204030204" pitchFamily="34" charset="0"/>
              <a:cs typeface="Calibri" panose="020F0502020204030204" pitchFamily="34" charset="0"/>
            </a:endParaRPr>
          </a:p>
        </p:txBody>
      </p:sp>
      <p:sp>
        <p:nvSpPr>
          <p:cNvPr id="5" name="TextBox 4"/>
          <p:cNvSpPr txBox="1"/>
          <p:nvPr/>
        </p:nvSpPr>
        <p:spPr>
          <a:xfrm>
            <a:off x="1547664" y="3446615"/>
            <a:ext cx="5904656" cy="523220"/>
          </a:xfrm>
          <a:prstGeom prst="rect">
            <a:avLst/>
          </a:prstGeom>
          <a:noFill/>
        </p:spPr>
        <p:txBody>
          <a:bodyPr wrap="square" rtlCol="0">
            <a:spAutoFit/>
          </a:bodyPr>
          <a:lstStyle/>
          <a:p>
            <a:pPr algn="ctr"/>
            <a:r>
              <a:rPr lang="zh-CN" altLang="en-US" sz="2800" dirty="0">
                <a:solidFill>
                  <a:srgbClr val="C47546"/>
                </a:solidFill>
                <a:latin typeface="Calibri" panose="020F0502020204030204" pitchFamily="34" charset="0"/>
                <a:cs typeface="Calibri" panose="020F0502020204030204" pitchFamily="34" charset="0"/>
              </a:rPr>
              <a:t>欢迎同学们积极提问、交流</a:t>
            </a:r>
            <a:endParaRPr lang="zh-CN" altLang="en-US" sz="2800" dirty="0">
              <a:solidFill>
                <a:srgbClr val="C47546"/>
              </a:solidFill>
              <a:latin typeface="Calibri" panose="020F0502020204030204" pitchFamily="34" charset="0"/>
              <a:cs typeface="Calibri" panose="020F0502020204030204" pitchFamily="34" charset="0"/>
            </a:endParaRPr>
          </a:p>
        </p:txBody>
      </p:sp>
      <p:sp>
        <p:nvSpPr>
          <p:cNvPr id="4" name="TextBox 3"/>
          <p:cNvSpPr txBox="1"/>
          <p:nvPr/>
        </p:nvSpPr>
        <p:spPr>
          <a:xfrm>
            <a:off x="1561255" y="4606536"/>
            <a:ext cx="5904656" cy="523220"/>
          </a:xfrm>
          <a:prstGeom prst="rect">
            <a:avLst/>
          </a:prstGeom>
          <a:noFill/>
        </p:spPr>
        <p:txBody>
          <a:bodyPr wrap="square" rtlCol="0">
            <a:spAutoFit/>
          </a:bodyPr>
          <a:lstStyle/>
          <a:p>
            <a:pPr algn="ctr"/>
            <a:r>
              <a:rPr lang="en-US" altLang="zh-CN" sz="2800" dirty="0">
                <a:solidFill>
                  <a:srgbClr val="C47546"/>
                </a:solidFill>
                <a:latin typeface="Calibri" panose="020F0502020204030204" pitchFamily="34" charset="0"/>
                <a:cs typeface="Calibri" panose="020F0502020204030204" pitchFamily="34" charset="0"/>
                <a:hlinkClick r:id="rId1"/>
              </a:rPr>
              <a:t>mcstj@163.com</a:t>
            </a:r>
            <a:r>
              <a:rPr lang="en-US" altLang="zh-CN" sz="2800" dirty="0">
                <a:solidFill>
                  <a:srgbClr val="C47546"/>
                </a:solidFill>
                <a:latin typeface="Calibri" panose="020F0502020204030204" pitchFamily="34" charset="0"/>
                <a:cs typeface="Calibri" panose="020F0502020204030204" pitchFamily="34" charset="0"/>
              </a:rPr>
              <a:t> </a:t>
            </a:r>
            <a:endParaRPr lang="en-US" altLang="zh-CN" sz="2800" dirty="0">
              <a:solidFill>
                <a:srgbClr val="C47546"/>
              </a:solidFill>
              <a:latin typeface="Calibri" panose="020F0502020204030204" pitchFamily="34" charset="0"/>
              <a:cs typeface="Calibri" panose="020F0502020204030204" pitchFamily="34" charset="0"/>
            </a:endParaRPr>
          </a:p>
        </p:txBody>
      </p:sp>
    </p:spTree>
  </p:cSld>
  <p:clrMapOvr>
    <a:masterClrMapping/>
  </p:clrMapOvr>
</p:sld>
</file>

<file path=ppt/tags/tag1.xml><?xml version="1.0" encoding="utf-8"?>
<p:tagLst xmlns:p="http://schemas.openxmlformats.org/presentationml/2006/main">
  <p:tag name="DEFAULTFONTSIZE" val="10"/>
  <p:tag name="DEFAULTWIDTH" val="354"/>
  <p:tag name="DEFAULTHEIGHT" val="383"/>
  <p:tag name="COMMONDATA" val="eyJoZGlkIjoiODFjMzZmMzA5NzlkZDNlNzAwNzg3NzY2MTk0YWM2MGYifQ=="/>
</p:tagLst>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极目远眺">
  <a:themeElements>
    <a:clrScheme name="极目远眺">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极目远眺">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极目远眺">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极目远眺">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Horizon</Template>
  <TotalTime>0</TotalTime>
  <Words>14182</Words>
  <Application>WPS 演示</Application>
  <PresentationFormat>全屏显示(4:3)</PresentationFormat>
  <Paragraphs>861</Paragraphs>
  <Slides>42</Slides>
  <Notes>30</Notes>
  <HiddenSlides>0</HiddenSlides>
  <MMClips>0</MMClips>
  <ScaleCrop>false</ScaleCrop>
  <HeadingPairs>
    <vt:vector size="6" baseType="variant">
      <vt:variant>
        <vt:lpstr>已用的字体</vt:lpstr>
      </vt:variant>
      <vt:variant>
        <vt:i4>20</vt:i4>
      </vt:variant>
      <vt:variant>
        <vt:lpstr>主题</vt:lpstr>
      </vt:variant>
      <vt:variant>
        <vt:i4>3</vt:i4>
      </vt:variant>
      <vt:variant>
        <vt:lpstr>幻灯片标题</vt:lpstr>
      </vt:variant>
      <vt:variant>
        <vt:i4>42</vt:i4>
      </vt:variant>
    </vt:vector>
  </HeadingPairs>
  <TitlesOfParts>
    <vt:vector size="65" baseType="lpstr">
      <vt:lpstr>Arial</vt:lpstr>
      <vt:lpstr>宋体</vt:lpstr>
      <vt:lpstr>Wingdings</vt:lpstr>
      <vt:lpstr>Wingdings 2</vt:lpstr>
      <vt:lpstr>Arial</vt:lpstr>
      <vt:lpstr>PMingLiU</vt:lpstr>
      <vt:lpstr>MingLiU-ExtB</vt:lpstr>
      <vt:lpstr>微软雅黑</vt:lpstr>
      <vt:lpstr>Calibri</vt:lpstr>
      <vt:lpstr>幼圆</vt:lpstr>
      <vt:lpstr>Courier New</vt:lpstr>
      <vt:lpstr>Times New Roman</vt:lpstr>
      <vt:lpstr>Cambria Math</vt:lpstr>
      <vt:lpstr>方正姚体</vt:lpstr>
      <vt:lpstr>Arial Narrow</vt:lpstr>
      <vt:lpstr>Arial Unicode MS</vt:lpstr>
      <vt:lpstr>Perpetua</vt:lpstr>
      <vt:lpstr>Franklin Gothic Book</vt:lpstr>
      <vt:lpstr>黑体</vt:lpstr>
      <vt:lpstr>Franklin Gothic Medium</vt:lpstr>
      <vt:lpstr>极目远眺</vt:lpstr>
      <vt:lpstr>Equity</vt:lpstr>
      <vt:lpstr>暗香扑面</vt:lpstr>
      <vt:lpstr>数学实验与数学软件 </vt:lpstr>
      <vt:lpstr>MATLAB作为计算器怎么样？</vt:lpstr>
      <vt:lpstr>运算结果的显示形式</vt:lpstr>
      <vt:lpstr>标点符号的功能</vt:lpstr>
      <vt:lpstr>标点符号的功能</vt:lpstr>
      <vt:lpstr>例1.2-7,8 矩阵的定义</vt:lpstr>
      <vt:lpstr>例1.2-9 复矩阵的定义与操作</vt:lpstr>
      <vt:lpstr>例1.2-9 复矩阵的定义与操作</vt:lpstr>
      <vt:lpstr>例1.2-9 复矩阵的定义与操作</vt:lpstr>
      <vt:lpstr>例1.2-11 复数矩阵的乘法(先讲这个)</vt:lpstr>
      <vt:lpstr>例1.2-10 衰减震荡曲线的绘制</vt:lpstr>
      <vt:lpstr>MATLAB的符号计算</vt:lpstr>
      <vt:lpstr>定义MATLAB符号数，例2.1-1</vt:lpstr>
      <vt:lpstr>例2.1-1（续）</vt:lpstr>
      <vt:lpstr>例2.1-1（续）</vt:lpstr>
      <vt:lpstr>例2.1-1（续）</vt:lpstr>
      <vt:lpstr>复合运算的误差规避</vt:lpstr>
      <vt:lpstr>复合运算的误差规避</vt:lpstr>
      <vt:lpstr>定义MATLAB基本符号变量</vt:lpstr>
      <vt:lpstr>MATLAB符号表达式与符号函数</vt:lpstr>
      <vt:lpstr>MATLAB符号表达式与符号函数</vt:lpstr>
      <vt:lpstr>MATLAB符号变量列表与自由变量</vt:lpstr>
      <vt:lpstr>例2.4-3（续）</vt:lpstr>
      <vt:lpstr>符号微积分-计算级数和</vt:lpstr>
      <vt:lpstr>MATLAB符号对象与求和</vt:lpstr>
      <vt:lpstr>符号微积分-计算极限（P51,2.3）</vt:lpstr>
      <vt:lpstr>例2.7-2</vt:lpstr>
      <vt:lpstr>符号微积分-计算（偏）导数</vt:lpstr>
      <vt:lpstr>符号函数求导例题</vt:lpstr>
      <vt:lpstr>符号函数求导例题</vt:lpstr>
      <vt:lpstr>符号函数求导例题</vt:lpstr>
      <vt:lpstr>泰勒展开</vt:lpstr>
      <vt:lpstr>泰勒展开</vt:lpstr>
      <vt:lpstr>泰勒展开</vt:lpstr>
      <vt:lpstr>符号积分</vt:lpstr>
      <vt:lpstr>符号积分</vt:lpstr>
      <vt:lpstr>符号积分</vt:lpstr>
      <vt:lpstr>符号计算多层积分（重积分）</vt:lpstr>
      <vt:lpstr>第二周电子版作业（下周二晚以前提交）</vt:lpstr>
      <vt:lpstr>第二周电子版作业</vt:lpstr>
      <vt:lpstr>课后反馈（不用交）</vt:lpstr>
      <vt:lpstr>感谢同学们认真听课!</vt:lpstr>
    </vt:vector>
  </TitlesOfParts>
  <Company>NUS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数学实验与数学软件 </dc:title>
  <dc:creator>JIA LI</dc:creator>
  <cp:lastModifiedBy>谭军</cp:lastModifiedBy>
  <cp:revision>582</cp:revision>
  <dcterms:created xsi:type="dcterms:W3CDTF">2014-07-04T06:51:00Z</dcterms:created>
  <dcterms:modified xsi:type="dcterms:W3CDTF">2023-09-12T09:54:43Z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E8B55FD9AB964914AFE75F1FE94DC9EE_12</vt:lpwstr>
  </property>
  <property fmtid="{D5CDD505-2E9C-101B-9397-08002B2CF9AE}" pid="3" name="KSOProductBuildVer">
    <vt:lpwstr>2052-12.1.0.15374</vt:lpwstr>
  </property>
</Properties>
</file>