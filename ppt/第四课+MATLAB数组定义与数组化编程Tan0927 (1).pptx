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27.fntdata" ContentType="application/x-fontdata"/>
  <Override PartName="/ppt/fonts/font28.fntdata" ContentType="application/x-fontdata"/>
  <Override PartName="/ppt/fonts/font29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13" embedTrueTypeFonts="1" saveSubsetFonts="1">
  <p:sldMasterIdLst>
    <p:sldMasterId id="2147483648" r:id="rId1"/>
    <p:sldMasterId id="2147483660" r:id="rId3"/>
    <p:sldMasterId id="2147483672" r:id="rId4"/>
  </p:sldMasterIdLst>
  <p:notesMasterIdLst>
    <p:notesMasterId r:id="rId17"/>
  </p:notesMasterIdLst>
  <p:sldIdLst>
    <p:sldId id="491" r:id="rId5"/>
    <p:sldId id="414" r:id="rId6"/>
    <p:sldId id="451" r:id="rId7"/>
    <p:sldId id="455" r:id="rId8"/>
    <p:sldId id="456" r:id="rId9"/>
    <p:sldId id="457" r:id="rId10"/>
    <p:sldId id="458" r:id="rId11"/>
    <p:sldId id="459" r:id="rId12"/>
    <p:sldId id="460" r:id="rId13"/>
    <p:sldId id="415" r:id="rId14"/>
    <p:sldId id="461" r:id="rId15"/>
    <p:sldId id="488" r:id="rId16"/>
    <p:sldId id="462" r:id="rId18"/>
    <p:sldId id="463" r:id="rId19"/>
    <p:sldId id="464" r:id="rId20"/>
    <p:sldId id="465" r:id="rId21"/>
    <p:sldId id="466" r:id="rId22"/>
    <p:sldId id="467" r:id="rId23"/>
    <p:sldId id="468" r:id="rId24"/>
    <p:sldId id="469" r:id="rId25"/>
    <p:sldId id="470" r:id="rId26"/>
    <p:sldId id="472" r:id="rId27"/>
    <p:sldId id="474" r:id="rId28"/>
    <p:sldId id="478" r:id="rId29"/>
    <p:sldId id="479" r:id="rId30"/>
    <p:sldId id="473" r:id="rId31"/>
    <p:sldId id="475" r:id="rId32"/>
    <p:sldId id="476" r:id="rId33"/>
    <p:sldId id="486" r:id="rId34"/>
    <p:sldId id="480" r:id="rId35"/>
    <p:sldId id="481" r:id="rId36"/>
    <p:sldId id="482" r:id="rId37"/>
    <p:sldId id="490" r:id="rId38"/>
    <p:sldId id="485" r:id="rId39"/>
    <p:sldId id="487" r:id="rId40"/>
    <p:sldId id="422" r:id="rId41"/>
    <p:sldId id="448" r:id="rId42"/>
    <p:sldId id="329" r:id="rId43"/>
    <p:sldId id="489" r:id="rId44"/>
  </p:sldIdLst>
  <p:sldSz cx="9144000" cy="6858000" type="screen4x3"/>
  <p:notesSz cx="6858000" cy="9144000"/>
  <p:embeddedFontLst>
    <p:embeddedFont>
      <p:font typeface="Wingdings 2" panose="05020102010507070707"/>
      <p:regular r:id="rId48"/>
    </p:embeddedFont>
    <p:embeddedFont>
      <p:font typeface="Arial Narrow" panose="020B0606020202030204"/>
      <p:regular r:id="rId49"/>
      <p:bold r:id="rId50"/>
      <p:italic r:id="rId51"/>
      <p:boldItalic r:id="rId52"/>
    </p:embeddedFont>
    <p:embeddedFont>
      <p:font typeface="方正姚体" panose="02010601030101010101" pitchFamily="2" charset="-122"/>
      <p:regular r:id="rId53"/>
    </p:embeddedFont>
    <p:embeddedFont>
      <p:font typeface="微软雅黑" panose="020B0503020204020204" pitchFamily="34" charset="-122"/>
      <p:regular r:id="rId54"/>
    </p:embeddedFont>
    <p:embeddedFont>
      <p:font typeface="Calibri" panose="020F0502020204030204" pitchFamily="34" charset="0"/>
      <p:regular r:id="rId55"/>
      <p:bold r:id="rId56"/>
      <p:italic r:id="rId57"/>
      <p:boldItalic r:id="rId58"/>
    </p:embeddedFont>
    <p:embeddedFont>
      <p:font typeface="幼圆" panose="02010509060101010101" pitchFamily="49" charset="-122"/>
      <p:regular r:id="rId59"/>
    </p:embeddedFont>
    <p:embeddedFont>
      <p:font typeface="Calibri" panose="020F0502020204030204"/>
      <p:regular r:id="rId60"/>
      <p:bold r:id="rId61"/>
      <p:italic r:id="rId62"/>
      <p:boldItalic r:id="rId63"/>
    </p:embeddedFont>
    <p:embeddedFont>
      <p:font typeface="Verdana" panose="020B0604030504040204" pitchFamily="34" charset="0"/>
      <p:regular r:id="rId64"/>
      <p:bold r:id="rId65"/>
      <p:italic r:id="rId66"/>
      <p:boldItalic r:id="rId67"/>
    </p:embeddedFont>
    <p:embeddedFont>
      <p:font typeface="黑体" panose="02010609060101010101" pitchFamily="49" charset="-122"/>
      <p:regular r:id="rId68"/>
    </p:embeddedFont>
    <p:embeddedFont>
      <p:font typeface="Perpetua" panose="02020502060401020303" charset="0"/>
      <p:regular r:id="rId69"/>
      <p:bold r:id="rId70"/>
      <p:italic r:id="rId71"/>
      <p:boldItalic r:id="rId72"/>
    </p:embeddedFont>
    <p:embeddedFont>
      <p:font typeface="Franklin Gothic Book" panose="020B0503020102020204" charset="0"/>
      <p:regular r:id="rId73"/>
      <p:italic r:id="rId74"/>
    </p:embeddedFont>
    <p:embeddedFont>
      <p:font typeface="Franklin Gothic Medium" panose="020B0603020102020204" charset="0"/>
      <p:regular r:id="rId75"/>
      <p:italic r:id="rId76"/>
    </p:embeddedFont>
  </p:embeddedFontLst>
  <p:custDataLst>
    <p:tags r:id="rId7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3089" autoAdjust="0"/>
  </p:normalViewPr>
  <p:slideViewPr>
    <p:cSldViewPr showGuides="1">
      <p:cViewPr varScale="1">
        <p:scale>
          <a:sx n="110" d="100"/>
          <a:sy n="110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7" Type="http://schemas.openxmlformats.org/officeDocument/2006/relationships/tags" Target="tags/tag1.xml"/><Relationship Id="rId76" Type="http://schemas.openxmlformats.org/officeDocument/2006/relationships/font" Target="fonts/font29.fntdata"/><Relationship Id="rId75" Type="http://schemas.openxmlformats.org/officeDocument/2006/relationships/font" Target="fonts/font28.fntdata"/><Relationship Id="rId74" Type="http://schemas.openxmlformats.org/officeDocument/2006/relationships/font" Target="fonts/font27.fntdata"/><Relationship Id="rId73" Type="http://schemas.openxmlformats.org/officeDocument/2006/relationships/font" Target="fonts/font26.fntdata"/><Relationship Id="rId72" Type="http://schemas.openxmlformats.org/officeDocument/2006/relationships/font" Target="fonts/font25.fntdata"/><Relationship Id="rId71" Type="http://schemas.openxmlformats.org/officeDocument/2006/relationships/font" Target="fonts/font24.fntdata"/><Relationship Id="rId70" Type="http://schemas.openxmlformats.org/officeDocument/2006/relationships/font" Target="fonts/font23.fntdata"/><Relationship Id="rId7" Type="http://schemas.openxmlformats.org/officeDocument/2006/relationships/slide" Target="slides/slide3.xml"/><Relationship Id="rId69" Type="http://schemas.openxmlformats.org/officeDocument/2006/relationships/font" Target="fonts/font22.fntdata"/><Relationship Id="rId68" Type="http://schemas.openxmlformats.org/officeDocument/2006/relationships/font" Target="fonts/font21.fntdata"/><Relationship Id="rId67" Type="http://schemas.openxmlformats.org/officeDocument/2006/relationships/font" Target="fonts/font20.fntdata"/><Relationship Id="rId66" Type="http://schemas.openxmlformats.org/officeDocument/2006/relationships/font" Target="fonts/font19.fntdata"/><Relationship Id="rId65" Type="http://schemas.openxmlformats.org/officeDocument/2006/relationships/font" Target="fonts/font18.fntdata"/><Relationship Id="rId64" Type="http://schemas.openxmlformats.org/officeDocument/2006/relationships/font" Target="fonts/font17.fntdata"/><Relationship Id="rId63" Type="http://schemas.openxmlformats.org/officeDocument/2006/relationships/font" Target="fonts/font16.fntdata"/><Relationship Id="rId62" Type="http://schemas.openxmlformats.org/officeDocument/2006/relationships/font" Target="fonts/font15.fntdata"/><Relationship Id="rId61" Type="http://schemas.openxmlformats.org/officeDocument/2006/relationships/font" Target="fonts/font14.fntdata"/><Relationship Id="rId60" Type="http://schemas.openxmlformats.org/officeDocument/2006/relationships/font" Target="fonts/font13.fntdata"/><Relationship Id="rId6" Type="http://schemas.openxmlformats.org/officeDocument/2006/relationships/slide" Target="slides/slide2.xml"/><Relationship Id="rId59" Type="http://schemas.openxmlformats.org/officeDocument/2006/relationships/font" Target="fonts/font12.fntdata"/><Relationship Id="rId58" Type="http://schemas.openxmlformats.org/officeDocument/2006/relationships/font" Target="fonts/font11.fntdata"/><Relationship Id="rId57" Type="http://schemas.openxmlformats.org/officeDocument/2006/relationships/font" Target="fonts/font10.fntdata"/><Relationship Id="rId56" Type="http://schemas.openxmlformats.org/officeDocument/2006/relationships/font" Target="fonts/font9.fntdata"/><Relationship Id="rId55" Type="http://schemas.openxmlformats.org/officeDocument/2006/relationships/font" Target="fonts/font8.fntdata"/><Relationship Id="rId54" Type="http://schemas.openxmlformats.org/officeDocument/2006/relationships/font" Target="fonts/font7.fntdata"/><Relationship Id="rId53" Type="http://schemas.openxmlformats.org/officeDocument/2006/relationships/font" Target="fonts/font6.fntdata"/><Relationship Id="rId52" Type="http://schemas.openxmlformats.org/officeDocument/2006/relationships/font" Target="fonts/font5.fntdata"/><Relationship Id="rId51" Type="http://schemas.openxmlformats.org/officeDocument/2006/relationships/font" Target="fonts/font4.fntdata"/><Relationship Id="rId50" Type="http://schemas.openxmlformats.org/officeDocument/2006/relationships/font" Target="fonts/font3.fntdata"/><Relationship Id="rId5" Type="http://schemas.openxmlformats.org/officeDocument/2006/relationships/slide" Target="slides/slide1.xml"/><Relationship Id="rId49" Type="http://schemas.openxmlformats.org/officeDocument/2006/relationships/font" Target="fonts/font2.fntdata"/><Relationship Id="rId48" Type="http://schemas.openxmlformats.org/officeDocument/2006/relationships/font" Target="fonts/font1.fntdata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183DD-ABDB-4EB1-A726-EE72F71F63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C750A-E720-45E3-B984-FED77418FD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5AC750A-E720-45E3-B984-FED77418FD2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750A-E720-45E3-B984-FED77418F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750A-E720-45E3-B984-FED77418F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750A-E720-45E3-B984-FED77418F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anose="020B0604020202020204" pitchFamily="34" charset="0"/>
              <a:buChar char="•"/>
              <a:defRPr/>
            </a:lvl6pPr>
            <a:lvl7pPr>
              <a:buClr>
                <a:schemeClr val="tx2"/>
              </a:buClr>
              <a:buFont typeface="Arial" panose="020B0604020202020204" pitchFamily="34" charset="0"/>
              <a:buChar char="•"/>
              <a:defRPr/>
            </a:lvl7pPr>
            <a:lvl8pPr>
              <a:buClr>
                <a:schemeClr val="tx2"/>
              </a:buClr>
              <a:buFont typeface="Arial" panose="020B0604020202020204" pitchFamily="34" charset="0"/>
              <a:buChar char="•"/>
              <a:defRPr/>
            </a:lvl8pPr>
            <a:lvl9pPr>
              <a:buClr>
                <a:schemeClr val="tx2"/>
              </a:buClr>
              <a:buFont typeface="Arial" panose="020B0604020202020204" pitchFamily="34" charset="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-1" fmla="*/ 0 w 3419856"/>
              <a:gd name="connsiteY0-2" fmla="*/ 74450 h 3429000"/>
              <a:gd name="connsiteX1-3" fmla="*/ 21806 w 3419856"/>
              <a:gd name="connsiteY1-4" fmla="*/ 21806 h 3429000"/>
              <a:gd name="connsiteX2-5" fmla="*/ 74450 w 3419856"/>
              <a:gd name="connsiteY2-6" fmla="*/ 0 h 3429000"/>
              <a:gd name="connsiteX3-7" fmla="*/ 3345406 w 3419856"/>
              <a:gd name="connsiteY3-8" fmla="*/ 0 h 3429000"/>
              <a:gd name="connsiteX4-9" fmla="*/ 3398050 w 3419856"/>
              <a:gd name="connsiteY4-10" fmla="*/ 21806 h 3429000"/>
              <a:gd name="connsiteX5-11" fmla="*/ 3419856 w 3419856"/>
              <a:gd name="connsiteY5-12" fmla="*/ 74450 h 3429000"/>
              <a:gd name="connsiteX6-13" fmla="*/ 3419856 w 3419856"/>
              <a:gd name="connsiteY6-14" fmla="*/ 3354550 h 3429000"/>
              <a:gd name="connsiteX7-15" fmla="*/ 3398050 w 3419856"/>
              <a:gd name="connsiteY7-16" fmla="*/ 3407194 h 3429000"/>
              <a:gd name="connsiteX8-17" fmla="*/ 3345406 w 3419856"/>
              <a:gd name="connsiteY8-18" fmla="*/ 3429000 h 3429000"/>
              <a:gd name="connsiteX9-19" fmla="*/ 21806 w 3419856"/>
              <a:gd name="connsiteY9-20" fmla="*/ 3407194 h 3429000"/>
              <a:gd name="connsiteX10-21" fmla="*/ 0 w 3419856"/>
              <a:gd name="connsiteY10-22" fmla="*/ 3354550 h 3429000"/>
              <a:gd name="connsiteX11-23" fmla="*/ 0 w 3419856"/>
              <a:gd name="connsiteY11-24" fmla="*/ 74450 h 3429000"/>
              <a:gd name="connsiteX0-25" fmla="*/ 0 w 3964392"/>
              <a:gd name="connsiteY0-26" fmla="*/ 74450 h 3415968"/>
              <a:gd name="connsiteX1-27" fmla="*/ 21806 w 3964392"/>
              <a:gd name="connsiteY1-28" fmla="*/ 21806 h 3415968"/>
              <a:gd name="connsiteX2-29" fmla="*/ 74450 w 3964392"/>
              <a:gd name="connsiteY2-30" fmla="*/ 0 h 3415968"/>
              <a:gd name="connsiteX3-31" fmla="*/ 3345406 w 3964392"/>
              <a:gd name="connsiteY3-32" fmla="*/ 0 h 3415968"/>
              <a:gd name="connsiteX4-33" fmla="*/ 3398050 w 3964392"/>
              <a:gd name="connsiteY4-34" fmla="*/ 21806 h 3415968"/>
              <a:gd name="connsiteX5-35" fmla="*/ 3419856 w 3964392"/>
              <a:gd name="connsiteY5-36" fmla="*/ 74450 h 3415968"/>
              <a:gd name="connsiteX6-37" fmla="*/ 3419856 w 3964392"/>
              <a:gd name="connsiteY6-38" fmla="*/ 3354550 h 3415968"/>
              <a:gd name="connsiteX7-39" fmla="*/ 3398050 w 3964392"/>
              <a:gd name="connsiteY7-40" fmla="*/ 3407194 h 3415968"/>
              <a:gd name="connsiteX8-41" fmla="*/ 21806 w 3964392"/>
              <a:gd name="connsiteY8-42" fmla="*/ 3407194 h 3415968"/>
              <a:gd name="connsiteX9-43" fmla="*/ 0 w 3964392"/>
              <a:gd name="connsiteY9-44" fmla="*/ 3354550 h 3415968"/>
              <a:gd name="connsiteX10-45" fmla="*/ 0 w 3964392"/>
              <a:gd name="connsiteY10-46" fmla="*/ 74450 h 3415968"/>
              <a:gd name="connsiteX0-47" fmla="*/ 0 w 3964392"/>
              <a:gd name="connsiteY0-48" fmla="*/ 74450 h 3415968"/>
              <a:gd name="connsiteX1-49" fmla="*/ 21806 w 3964392"/>
              <a:gd name="connsiteY1-50" fmla="*/ 21806 h 3415968"/>
              <a:gd name="connsiteX2-51" fmla="*/ 74450 w 3964392"/>
              <a:gd name="connsiteY2-52" fmla="*/ 0 h 3415968"/>
              <a:gd name="connsiteX3-53" fmla="*/ 3345406 w 3964392"/>
              <a:gd name="connsiteY3-54" fmla="*/ 0 h 3415968"/>
              <a:gd name="connsiteX4-55" fmla="*/ 3398050 w 3964392"/>
              <a:gd name="connsiteY4-56" fmla="*/ 21806 h 3415968"/>
              <a:gd name="connsiteX5-57" fmla="*/ 3419856 w 3964392"/>
              <a:gd name="connsiteY5-58" fmla="*/ 74450 h 3415968"/>
              <a:gd name="connsiteX6-59" fmla="*/ 3419856 w 3964392"/>
              <a:gd name="connsiteY6-60" fmla="*/ 3354550 h 3415968"/>
              <a:gd name="connsiteX7-61" fmla="*/ 3398050 w 3964392"/>
              <a:gd name="connsiteY7-62" fmla="*/ 3407194 h 3415968"/>
              <a:gd name="connsiteX8-63" fmla="*/ 21806 w 3964392"/>
              <a:gd name="connsiteY8-64" fmla="*/ 3407194 h 3415968"/>
              <a:gd name="connsiteX9-65" fmla="*/ 0 w 3964392"/>
              <a:gd name="connsiteY9-66" fmla="*/ 3354550 h 3415968"/>
              <a:gd name="connsiteX10-67" fmla="*/ 0 w 3964392"/>
              <a:gd name="connsiteY10-68" fmla="*/ 74450 h 3415968"/>
              <a:gd name="connsiteX0-69" fmla="*/ 0 w 3968026"/>
              <a:gd name="connsiteY0-70" fmla="*/ 74450 h 3910007"/>
              <a:gd name="connsiteX1-71" fmla="*/ 21806 w 3968026"/>
              <a:gd name="connsiteY1-72" fmla="*/ 21806 h 3910007"/>
              <a:gd name="connsiteX2-73" fmla="*/ 74450 w 3968026"/>
              <a:gd name="connsiteY2-74" fmla="*/ 0 h 3910007"/>
              <a:gd name="connsiteX3-75" fmla="*/ 3345406 w 3968026"/>
              <a:gd name="connsiteY3-76" fmla="*/ 0 h 3910007"/>
              <a:gd name="connsiteX4-77" fmla="*/ 3398050 w 3968026"/>
              <a:gd name="connsiteY4-78" fmla="*/ 21806 h 3910007"/>
              <a:gd name="connsiteX5-79" fmla="*/ 3419856 w 3968026"/>
              <a:gd name="connsiteY5-80" fmla="*/ 74450 h 3910007"/>
              <a:gd name="connsiteX6-81" fmla="*/ 3419856 w 3968026"/>
              <a:gd name="connsiteY6-82" fmla="*/ 3354550 h 3910007"/>
              <a:gd name="connsiteX7-83" fmla="*/ 3398050 w 3968026"/>
              <a:gd name="connsiteY7-84" fmla="*/ 3407194 h 3910007"/>
              <a:gd name="connsiteX8-85" fmla="*/ 0 w 3968026"/>
              <a:gd name="connsiteY8-86" fmla="*/ 3354550 h 3910007"/>
              <a:gd name="connsiteX9-87" fmla="*/ 0 w 3968026"/>
              <a:gd name="connsiteY9-88" fmla="*/ 74450 h 3910007"/>
              <a:gd name="connsiteX0-89" fmla="*/ 0 w 3419856"/>
              <a:gd name="connsiteY0-90" fmla="*/ 74450 h 3901233"/>
              <a:gd name="connsiteX1-91" fmla="*/ 21806 w 3419856"/>
              <a:gd name="connsiteY1-92" fmla="*/ 21806 h 3901233"/>
              <a:gd name="connsiteX2-93" fmla="*/ 74450 w 3419856"/>
              <a:gd name="connsiteY2-94" fmla="*/ 0 h 3901233"/>
              <a:gd name="connsiteX3-95" fmla="*/ 3345406 w 3419856"/>
              <a:gd name="connsiteY3-96" fmla="*/ 0 h 3901233"/>
              <a:gd name="connsiteX4-97" fmla="*/ 3398050 w 3419856"/>
              <a:gd name="connsiteY4-98" fmla="*/ 21806 h 3901233"/>
              <a:gd name="connsiteX5-99" fmla="*/ 3419856 w 3419856"/>
              <a:gd name="connsiteY5-100" fmla="*/ 74450 h 3901233"/>
              <a:gd name="connsiteX6-101" fmla="*/ 3419856 w 3419856"/>
              <a:gd name="connsiteY6-102" fmla="*/ 3354550 h 3901233"/>
              <a:gd name="connsiteX7-103" fmla="*/ 0 w 3419856"/>
              <a:gd name="connsiteY7-104" fmla="*/ 3354550 h 3901233"/>
              <a:gd name="connsiteX8-105" fmla="*/ 0 w 3419856"/>
              <a:gd name="connsiteY8-106" fmla="*/ 74450 h 3901233"/>
              <a:gd name="connsiteX0-107" fmla="*/ 0 w 3419856"/>
              <a:gd name="connsiteY0-108" fmla="*/ 74450 h 3354550"/>
              <a:gd name="connsiteX1-109" fmla="*/ 21806 w 3419856"/>
              <a:gd name="connsiteY1-110" fmla="*/ 21806 h 3354550"/>
              <a:gd name="connsiteX2-111" fmla="*/ 74450 w 3419856"/>
              <a:gd name="connsiteY2-112" fmla="*/ 0 h 3354550"/>
              <a:gd name="connsiteX3-113" fmla="*/ 3345406 w 3419856"/>
              <a:gd name="connsiteY3-114" fmla="*/ 0 h 3354550"/>
              <a:gd name="connsiteX4-115" fmla="*/ 3398050 w 3419856"/>
              <a:gd name="connsiteY4-116" fmla="*/ 21806 h 3354550"/>
              <a:gd name="connsiteX5-117" fmla="*/ 3419856 w 3419856"/>
              <a:gd name="connsiteY5-118" fmla="*/ 74450 h 3354550"/>
              <a:gd name="connsiteX6-119" fmla="*/ 3419856 w 3419856"/>
              <a:gd name="connsiteY6-120" fmla="*/ 3354550 h 3354550"/>
              <a:gd name="connsiteX7-121" fmla="*/ 0 w 3419856"/>
              <a:gd name="connsiteY7-122" fmla="*/ 3354550 h 3354550"/>
              <a:gd name="connsiteX8-123" fmla="*/ 0 w 3419856"/>
              <a:gd name="connsiteY8-124" fmla="*/ 74450 h 33545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t>2011/8/17</a:t>
            </a:r>
            <a:endParaRPr lang="zh-CN" altLang="en-US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1F9C30EF-BED7-4227-AEDB-FD1CDC6CCC52}" type="slidenum">
              <a:rPr lang="zh-CN" altLang="en-US" smtClean="0">
                <a:solidFill>
                  <a:srgbClr val="2F2F2F">
                    <a:lumMod val="75000"/>
                    <a:lumOff val="25000"/>
                  </a:srgbClr>
                </a:solidFill>
              </a:rPr>
            </a:fld>
            <a:endParaRPr lang="zh-CN" altLang="en-US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7.png"/><Relationship Id="rId1" Type="http://schemas.openxmlformats.org/officeDocument/2006/relationships/hyperlink" Target="&#8220;&#24184;&#36816;&#8221;&#23398;&#29983;&#25277;&#36873;&#22120;.exe" TargetMode="Externa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hyperlink" Target="&#8220;&#24184;&#36816;&#8221;&#23398;&#29983;&#25277;&#36873;&#22120;.exe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7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hyperlink" Target="mailto:sysumatlab@163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12F22"/>
            </a:gs>
            <a:gs pos="31000">
              <a:srgbClr val="0B7B3E"/>
            </a:gs>
            <a:gs pos="100000">
              <a:srgbClr val="1E241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340768"/>
            <a:ext cx="7772400" cy="1470025"/>
          </a:xfrm>
        </p:spPr>
        <p:txBody>
          <a:bodyPr/>
          <a:lstStyle/>
          <a:p>
            <a:r>
              <a:rPr lang="zh-CN" altLang="en-US" sz="4800" b="1" dirty="0">
                <a:solidFill>
                  <a:srgbClr val="FFC000"/>
                </a:solidFill>
              </a:rPr>
              <a:t>数学实验与数学软件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286000" y="2643852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CN" altLang="en-US" sz="2800" dirty="0"/>
              <a:t>第四课：</a:t>
            </a:r>
            <a:r>
              <a:rPr lang="en-US" altLang="zh-CN" sz="2800" dirty="0"/>
              <a:t>MATLAB</a:t>
            </a:r>
            <a:r>
              <a:rPr lang="zh-CN" altLang="en-US" sz="2800" dirty="0"/>
              <a:t>数组定义与数组化编程</a:t>
            </a:r>
            <a:endParaRPr lang="en-US" altLang="zh-CN" sz="2800" dirty="0"/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64" y="4581128"/>
            <a:ext cx="1616968" cy="155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476" y="4581817"/>
            <a:ext cx="1551600" cy="1551600"/>
          </a:xfrm>
          <a:prstGeom prst="rect">
            <a:avLst/>
          </a:prstGeom>
        </p:spPr>
      </p:pic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1219200" y="3429000"/>
            <a:ext cx="6400800" cy="1752600"/>
          </a:xfrm>
        </p:spPr>
        <p:txBody>
          <a:bodyPr/>
          <a:lstStyle/>
          <a:p>
            <a:endParaRPr lang="en-US" altLang="zh-CN" sz="2400" dirty="0"/>
          </a:p>
          <a:p>
            <a:r>
              <a:rPr lang="zh-CN" altLang="en-US" sz="2400" dirty="0"/>
              <a:t>谭军</a:t>
            </a:r>
            <a:endParaRPr lang="en-US" altLang="zh-CN" sz="2400" dirty="0"/>
          </a:p>
          <a:p>
            <a:r>
              <a:rPr lang="zh-CN" altLang="en-US" sz="2400" b="1" dirty="0">
                <a:ea typeface="PMingLiU" pitchFamily="18" charset="-120"/>
              </a:rPr>
              <a:t>中山大学数学学院</a:t>
            </a:r>
            <a:endParaRPr lang="en-US" altLang="zh-CN" sz="2400" b="1" dirty="0">
              <a:ea typeface="PMingLiU" pitchFamily="18" charset="-120"/>
            </a:endParaRPr>
          </a:p>
          <a:p>
            <a:endParaRPr lang="en-US" altLang="zh-CN" sz="1600" b="1" dirty="0">
              <a:ea typeface="PMingLiU" pitchFamily="18" charset="-120"/>
            </a:endParaRPr>
          </a:p>
          <a:p>
            <a:endParaRPr lang="zh-CN" altLang="en-US" sz="1600" dirty="0"/>
          </a:p>
          <a:p>
            <a:endParaRPr lang="zh-CN" altLang="en-US" dirty="0"/>
          </a:p>
        </p:txBody>
      </p:sp>
      <p:sp>
        <p:nvSpPr>
          <p:cNvPr id="11" name="副标题 2"/>
          <p:cNvSpPr txBox="1"/>
          <p:nvPr/>
        </p:nvSpPr>
        <p:spPr>
          <a:xfrm>
            <a:off x="1187624" y="47251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 spc="3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 spc="3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 spc="3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 spc="3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 spc="3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C9E1F"/>
              </a:buClr>
              <a:buSzTx/>
              <a:buFont typeface="Arial" panose="020B0604020202020204" pitchFamily="34" charset="0"/>
              <a:buNone/>
              <a:defRPr/>
            </a:pPr>
            <a:endParaRPr kumimoji="0" lang="en-US" altLang="zh-CN" sz="1700" b="0" i="0" u="none" strike="noStrike" kern="1200" cap="none" spc="30" normalizeH="0" baseline="0" noProof="0" dirty="0">
              <a:ln>
                <a:noFill/>
              </a:ln>
              <a:solidFill>
                <a:srgbClr val="DC9E1F"/>
              </a:solidFill>
              <a:effectLst/>
              <a:uLnTx/>
              <a:uFillTx/>
              <a:latin typeface="Arial Narrow" panose="020B0606020202030204"/>
              <a:ea typeface="方正姚体" panose="02010601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C9E1F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30" normalizeH="0" baseline="0" noProof="0" dirty="0">
                <a:ln>
                  <a:noFill/>
                </a:ln>
                <a:solidFill>
                  <a:srgbClr val="DC9E1F"/>
                </a:solidFill>
                <a:effectLst/>
                <a:uLnTx/>
                <a:uFillTx/>
                <a:latin typeface="Arial Narrow" panose="020B0606020202030204"/>
                <a:ea typeface="方正姚体" panose="02010601030101010101" pitchFamily="2" charset="-122"/>
                <a:cs typeface="+mn-cs"/>
              </a:rPr>
              <a:t>教师邮箱：</a:t>
            </a:r>
            <a:r>
              <a:rPr kumimoji="0" lang="en-US" altLang="zh-CN" sz="2400" b="0" i="0" u="none" strike="noStrike" kern="1200" cap="none" spc="30" normalizeH="0" baseline="0" noProof="0" dirty="0">
                <a:ln>
                  <a:noFill/>
                </a:ln>
                <a:solidFill>
                  <a:srgbClr val="DC9E1F"/>
                </a:solidFill>
                <a:effectLst/>
                <a:uLnTx/>
                <a:uFillTx/>
                <a:latin typeface="Arial Narrow" panose="020B0606020202030204"/>
                <a:ea typeface="方正姚体" panose="02010601030101010101" pitchFamily="2" charset="-122"/>
                <a:cs typeface="+mn-cs"/>
              </a:rPr>
              <a:t>mcstj@mail.sysu.edu.cn </a:t>
            </a:r>
            <a:endParaRPr kumimoji="0" lang="en-US" altLang="zh-CN" sz="2400" b="1" i="0" u="none" strike="noStrike" kern="1200" cap="none" spc="30" normalizeH="0" baseline="0" noProof="0" dirty="0">
              <a:ln>
                <a:noFill/>
              </a:ln>
              <a:solidFill>
                <a:srgbClr val="DC9E1F"/>
              </a:solidFill>
              <a:effectLst/>
              <a:uLnTx/>
              <a:uFillTx/>
              <a:latin typeface="Arial Narrow" panose="020B0606020202030204"/>
              <a:ea typeface="PMingLiU" pitchFamily="18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C9E1F"/>
              </a:buClr>
              <a:buSzTx/>
              <a:buFont typeface="Arial" panose="020B0604020202020204" pitchFamily="34" charset="0"/>
              <a:buNone/>
              <a:defRPr/>
            </a:pPr>
            <a:endParaRPr kumimoji="0" lang="en-US" altLang="zh-CN" sz="1600" b="1" i="0" u="none" strike="noStrike" kern="1200" cap="none" spc="30" normalizeH="0" baseline="0" noProof="0" dirty="0">
              <a:ln>
                <a:noFill/>
              </a:ln>
              <a:solidFill>
                <a:srgbClr val="DC9E1F"/>
              </a:solidFill>
              <a:effectLst/>
              <a:uLnTx/>
              <a:uFillTx/>
              <a:latin typeface="Arial Narrow" panose="020B0606020202030204"/>
              <a:ea typeface="PMingLiU" pitchFamily="18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C9E1F"/>
              </a:buClr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30" normalizeH="0" baseline="0" noProof="0" dirty="0">
              <a:ln>
                <a:noFill/>
              </a:ln>
              <a:solidFill>
                <a:srgbClr val="DC9E1F"/>
              </a:solidFill>
              <a:effectLst/>
              <a:uLnTx/>
              <a:uFillTx/>
              <a:latin typeface="Arial Narrow" panose="020B0606020202030204"/>
              <a:ea typeface="方正姚体" panose="02010601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C9E1F"/>
              </a:buClr>
              <a:buSzTx/>
              <a:buFont typeface="Arial" panose="020B0604020202020204" pitchFamily="34" charset="0"/>
              <a:buNone/>
              <a:defRPr/>
            </a:pPr>
            <a:endParaRPr kumimoji="0" lang="zh-CN" altLang="en-US" sz="1700" b="0" i="0" u="none" strike="noStrike" kern="1200" cap="none" spc="30" normalizeH="0" baseline="0" noProof="0" dirty="0">
              <a:ln>
                <a:noFill/>
              </a:ln>
              <a:solidFill>
                <a:srgbClr val="DC9E1F"/>
              </a:solidFill>
              <a:effectLst/>
              <a:uLnTx/>
              <a:uFillTx/>
              <a:latin typeface="Arial Narrow" panose="020B0606020202030204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复习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多层循环处理矩阵运算效率低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6894" y="1844824"/>
            <a:ext cx="7033418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AR=[1,3;2,4];AI=[5,7;6,8];	%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A=AR-AI*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marL="533400" indent="-266700" algn="just" hangingPunct="0">
              <a:spcAft>
                <a:spcPts val="0"/>
              </a:spcAft>
              <a:tabLst>
                <a:tab pos="457200" algn="l"/>
                <a:tab pos="533400" algn="l"/>
                <a:tab pos="4572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 m=1:2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marL="533400" indent="269875" algn="just" hangingPunct="0">
              <a:spcAft>
                <a:spcPts val="0"/>
              </a:spcAft>
              <a:tabLst>
                <a:tab pos="457200" algn="l"/>
                <a:tab pos="533400" algn="l"/>
                <a:tab pos="2667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 n=1:2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marL="533400" indent="-266700" algn="just" hangingPunct="0">
              <a:spcAft>
                <a:spcPts val="0"/>
              </a:spcAft>
              <a:tabLst>
                <a:tab pos="457200" algn="l"/>
                <a:tab pos="533400" algn="l"/>
                <a:tab pos="4572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		  Am1(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m,n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)=abs(A(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m,n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));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533400" indent="-266700" algn="just" hangingPunct="0">
              <a:spcAft>
                <a:spcPts val="0"/>
              </a:spcAft>
              <a:tabLst>
                <a:tab pos="457200" algn="l"/>
                <a:tab pos="533400" algn="l"/>
                <a:tab pos="457200" algn="l"/>
              </a:tabLst>
            </a:pPr>
            <a:r>
              <a:rPr lang="en-US" altLang="zh-CN" sz="20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  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Aa1(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m,n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)=angle(A(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m,n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))*180/pi;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辐角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533400" indent="-266700" algn="just" hangingPunct="0">
              <a:spcAft>
                <a:spcPts val="0"/>
              </a:spcAft>
              <a:tabLst>
                <a:tab pos="457200" algn="l"/>
                <a:tab pos="533400" algn="l"/>
                <a:tab pos="2667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end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marL="533400" indent="-266700" algn="just" hangingPunct="0">
              <a:spcAft>
                <a:spcPts val="0"/>
              </a:spcAft>
              <a:tabLst>
                <a:tab pos="457200" algn="l"/>
                <a:tab pos="533400" algn="l"/>
                <a:tab pos="2667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end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两层循环，效率低速度慢！！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Am2=abs(A)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Aa2=angle(A)*180/pi%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效率提高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342" y="5301208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latin typeface="+mj-ea"/>
                <a:ea typeface="+mj-ea"/>
              </a:rPr>
              <a:t>MATLAB</a:t>
            </a:r>
            <a:r>
              <a:rPr lang="zh-CN" altLang="en-US" sz="2400" b="1" dirty="0">
                <a:latin typeface="+mj-ea"/>
                <a:ea typeface="+mj-ea"/>
              </a:rPr>
              <a:t>采用解释性执行系统，不利于多层</a:t>
            </a:r>
            <a:r>
              <a:rPr lang="en-US" altLang="zh-CN" sz="2400" b="1" dirty="0">
                <a:latin typeface="+mj-ea"/>
                <a:ea typeface="+mj-ea"/>
              </a:rPr>
              <a:t>for</a:t>
            </a:r>
            <a:r>
              <a:rPr lang="zh-CN" altLang="en-US" sz="2400" b="1" dirty="0">
                <a:latin typeface="+mj-ea"/>
                <a:ea typeface="+mj-ea"/>
              </a:rPr>
              <a:t>循环操作，但是使用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数组（向量、矩阵）化编程可以简洁而且高效</a:t>
            </a:r>
            <a:r>
              <a:rPr lang="zh-CN" altLang="en-US" sz="2400" b="1" dirty="0">
                <a:latin typeface="+mj-ea"/>
                <a:ea typeface="+mj-ea"/>
              </a:rPr>
              <a:t>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51520" y="1138505"/>
                <a:ext cx="8784976" cy="585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solidFill>
                      <a:prstClr val="black"/>
                    </a:solidFill>
                    <a:latin typeface="+mn-ea"/>
                  </a:rPr>
                  <a:t>【</a:t>
                </a:r>
                <a:r>
                  <a:rPr lang="zh-CN" altLang="en-US" b="1" dirty="0">
                    <a:solidFill>
                      <a:prstClr val="black"/>
                    </a:solidFill>
                    <a:latin typeface="+mn-ea"/>
                  </a:rPr>
                  <a:t>例</a:t>
                </a:r>
                <a:r>
                  <a:rPr lang="en-US" altLang="zh-CN" b="1" dirty="0">
                    <a:solidFill>
                      <a:prstClr val="black"/>
                    </a:solidFill>
                    <a:latin typeface="+mn-ea"/>
                  </a:rPr>
                  <a:t>1.2-9】</a:t>
                </a:r>
                <a:r>
                  <a:rPr lang="zh-CN" altLang="en-US" b="1" dirty="0">
                    <a:solidFill>
                      <a:prstClr val="black"/>
                    </a:solidFill>
                    <a:latin typeface="+mn-ea"/>
                  </a:rPr>
                  <a:t>对复数数组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8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e>
                              <m: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  <m: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e>
                              <m: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  <m:r>
                                <a:rPr lang="en-US" altLang="zh-CN" sz="18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b="1" dirty="0">
                    <a:latin typeface="+mn-ea"/>
                  </a:rPr>
                  <a:t>进行求实部、</a:t>
                </a:r>
                <a:r>
                  <a:rPr lang="zh-CN" altLang="en-US" b="1">
                    <a:latin typeface="+mn-ea"/>
                  </a:rPr>
                  <a:t>虚部、模和</a:t>
                </a:r>
                <a:r>
                  <a:rPr lang="zh-CN" altLang="en-US" b="1" dirty="0">
                    <a:latin typeface="+mn-ea"/>
                  </a:rPr>
                  <a:t>辐角的运算。</a:t>
                </a:r>
                <a:endParaRPr lang="zh-CN" altLang="en-US" b="1" dirty="0">
                  <a:latin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138505"/>
                <a:ext cx="8784976" cy="585288"/>
              </a:xfrm>
              <a:prstGeom prst="rect">
                <a:avLst/>
              </a:prstGeom>
              <a:blipFill rotWithShape="1">
                <a:blip r:embed="rId1"/>
                <a:stretch>
                  <a:fillRect l="-1" t="-100" r="5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一维数组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向量（默认双精度）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342" y="950238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latin typeface="+mj-ea"/>
                <a:ea typeface="+mj-ea"/>
              </a:rPr>
              <a:t>MATLAB</a:t>
            </a:r>
            <a:r>
              <a:rPr lang="zh-CN" altLang="en-US" sz="2400" b="1" dirty="0">
                <a:latin typeface="+mj-ea"/>
                <a:ea typeface="+mj-ea"/>
              </a:rPr>
              <a:t>的一维数组有两种定义方式，即行向量或列向量。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仍然会以二维（行数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列数）的方式存在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即大小为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1Xn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或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nX1)</a:t>
            </a:r>
            <a:r>
              <a:rPr lang="zh-CN" altLang="en-US" sz="2400" b="1" dirty="0">
                <a:latin typeface="+mj-ea"/>
                <a:ea typeface="+mj-ea"/>
              </a:rPr>
              <a:t>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0188" y="1916832"/>
            <a:ext cx="8746307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</a:rPr>
              <a:t>&gt;&gt; </a:t>
            </a:r>
            <a:r>
              <a:rPr lang="en-US" altLang="zh-CN" sz="2400" b="1" dirty="0">
                <a:solidFill>
                  <a:srgbClr val="0070C0"/>
                </a:solidFill>
                <a:latin typeface="幼圆" panose="02010509060101010101" pitchFamily="49" charset="-122"/>
              </a:rPr>
              <a:t>A=1:5  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%</a:t>
            </a:r>
            <a:r>
              <a:rPr lang="zh-CN" altLang="en-US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按照逐一递增顺序从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1</a:t>
            </a:r>
            <a:r>
              <a:rPr lang="zh-CN" altLang="en-US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到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5</a:t>
            </a:r>
            <a:r>
              <a:rPr lang="zh-CN" altLang="en-US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建立一个行向量</a:t>
            </a:r>
            <a:endParaRPr lang="en-US" altLang="zh-CN" sz="2400" b="1" dirty="0">
              <a:solidFill>
                <a:srgbClr val="00B050"/>
              </a:solidFill>
              <a:latin typeface="幼圆" panose="02010509060101010101" pitchFamily="49" charset="-122"/>
            </a:endParaRPr>
          </a:p>
          <a:p>
            <a:pPr lvl="0">
              <a:spcBef>
                <a:spcPts val="580"/>
              </a:spcBef>
              <a:buClr>
                <a:srgbClr val="00B050"/>
              </a:buClr>
              <a:buSzPct val="85000"/>
            </a:pPr>
            <a:r>
              <a:rPr lang="pt-BR" altLang="zh-CN" sz="2400" b="1" dirty="0">
                <a:latin typeface="幼圆" panose="02010509060101010101" pitchFamily="49" charset="-122"/>
              </a:rPr>
              <a:t>A =	1     2     3     4     5</a:t>
            </a:r>
            <a:r>
              <a:rPr lang="en-US" altLang="zh-CN" sz="2400" b="1" dirty="0">
                <a:latin typeface="幼圆" panose="02010509060101010101" pitchFamily="49" charset="-122"/>
              </a:rPr>
              <a:t> </a:t>
            </a:r>
            <a:endParaRPr lang="en-US" altLang="zh-CN" sz="2400" b="1" dirty="0">
              <a:latin typeface="幼圆" panose="020105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0187" y="3068960"/>
            <a:ext cx="8746307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</a:rPr>
              <a:t>&gt;&gt; </a:t>
            </a:r>
            <a:r>
              <a:rPr lang="en-US" altLang="zh-CN" sz="2400" b="1" dirty="0">
                <a:solidFill>
                  <a:srgbClr val="0070C0"/>
                </a:solidFill>
                <a:latin typeface="幼圆" panose="02010509060101010101" pitchFamily="49" charset="-122"/>
              </a:rPr>
              <a:t>A=1:4.5  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%</a:t>
            </a:r>
            <a:r>
              <a:rPr lang="zh-CN" altLang="en-US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出现小数，仍以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1</a:t>
            </a:r>
            <a:r>
              <a:rPr lang="zh-CN" altLang="en-US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为步长递增，超过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4.5</a:t>
            </a:r>
            <a:r>
              <a:rPr lang="zh-CN" altLang="en-US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结束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.</a:t>
            </a:r>
            <a:endParaRPr lang="en-US" altLang="zh-CN" sz="2400" b="1" dirty="0">
              <a:solidFill>
                <a:srgbClr val="00B050"/>
              </a:solidFill>
              <a:latin typeface="幼圆" panose="02010509060101010101" pitchFamily="49" charset="-122"/>
            </a:endParaRPr>
          </a:p>
          <a:p>
            <a:pPr lvl="0">
              <a:spcBef>
                <a:spcPts val="580"/>
              </a:spcBef>
              <a:buClr>
                <a:srgbClr val="00B050"/>
              </a:buClr>
              <a:buSzPct val="85000"/>
            </a:pPr>
            <a:r>
              <a:rPr lang="pt-BR" altLang="zh-CN" sz="2400" b="1" dirty="0">
                <a:latin typeface="幼圆" panose="02010509060101010101" pitchFamily="49" charset="-122"/>
              </a:rPr>
              <a:t>A =	1     2     3     4</a:t>
            </a:r>
            <a:endParaRPr lang="en-US" altLang="zh-CN" sz="2400" b="1" dirty="0">
              <a:latin typeface="幼圆" panose="020105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90186" y="4221088"/>
            <a:ext cx="8746307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</a:rPr>
              <a:t>&gt;&gt; </a:t>
            </a:r>
            <a:r>
              <a:rPr lang="en-US" altLang="zh-CN" sz="2400" b="1" dirty="0">
                <a:solidFill>
                  <a:srgbClr val="0070C0"/>
                </a:solidFill>
                <a:latin typeface="幼圆" panose="02010509060101010101" pitchFamily="49" charset="-122"/>
              </a:rPr>
              <a:t>A=5:-1:1  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%</a:t>
            </a:r>
            <a:r>
              <a:rPr lang="zh-CN" altLang="en-US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此时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5</a:t>
            </a:r>
            <a:r>
              <a:rPr lang="zh-CN" altLang="en-US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为起始值，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-1</a:t>
            </a:r>
            <a:r>
              <a:rPr lang="zh-CN" altLang="en-US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步长值，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1</a:t>
            </a:r>
            <a:r>
              <a:rPr lang="zh-CN" altLang="en-US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结束值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.</a:t>
            </a:r>
            <a:endParaRPr lang="en-US" altLang="zh-CN" sz="2400" b="1" dirty="0">
              <a:solidFill>
                <a:srgbClr val="00B050"/>
              </a:solidFill>
              <a:latin typeface="幼圆" panose="02010509060101010101" pitchFamily="49" charset="-122"/>
            </a:endParaRPr>
          </a:p>
          <a:p>
            <a:pPr lvl="0">
              <a:spcBef>
                <a:spcPts val="580"/>
              </a:spcBef>
              <a:buClr>
                <a:srgbClr val="00B050"/>
              </a:buClr>
              <a:buSzPct val="85000"/>
            </a:pPr>
            <a:r>
              <a:rPr lang="pt-BR" altLang="zh-CN" sz="2400" b="1" dirty="0">
                <a:latin typeface="幼圆" panose="02010509060101010101" pitchFamily="49" charset="-122"/>
              </a:rPr>
              <a:t>A =	5	4	3	2	1</a:t>
            </a:r>
            <a:endParaRPr lang="en-US" altLang="zh-CN" sz="2400" b="1" dirty="0">
              <a:latin typeface="幼圆" panose="020105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0185" y="5264626"/>
            <a:ext cx="8746307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</a:rPr>
              <a:t>&gt;&gt; </a:t>
            </a:r>
            <a:r>
              <a:rPr lang="en-US" altLang="zh-CN" sz="2400" b="1" dirty="0">
                <a:solidFill>
                  <a:srgbClr val="0070C0"/>
                </a:solidFill>
                <a:latin typeface="幼圆" panose="02010509060101010101" pitchFamily="49" charset="-122"/>
              </a:rPr>
              <a:t>A=5:1  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%</a:t>
            </a:r>
            <a:r>
              <a:rPr lang="zh-CN" altLang="en-US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因为没有指定步长（默认为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1</a:t>
            </a:r>
            <a:r>
              <a:rPr lang="zh-CN" altLang="en-US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），初始值大于结束值，数组为空数组，大小为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1X0.</a:t>
            </a:r>
            <a:endParaRPr lang="en-US" altLang="zh-CN" sz="2400" b="1" dirty="0">
              <a:solidFill>
                <a:srgbClr val="00B050"/>
              </a:solidFill>
              <a:latin typeface="幼圆" panose="02010509060101010101" pitchFamily="49" charset="-122"/>
            </a:endParaRPr>
          </a:p>
          <a:p>
            <a:pPr lvl="0">
              <a:spcBef>
                <a:spcPts val="580"/>
              </a:spcBef>
              <a:buClr>
                <a:srgbClr val="00B050"/>
              </a:buClr>
              <a:buSzPct val="85000"/>
            </a:pPr>
            <a:r>
              <a:rPr lang="pt-BR" altLang="zh-CN" sz="2400" b="1" dirty="0">
                <a:latin typeface="幼圆" panose="02010509060101010101" pitchFamily="49" charset="-122"/>
              </a:rPr>
              <a:t>A =	</a:t>
            </a:r>
            <a:r>
              <a:rPr lang="zh-CN" altLang="en-US" sz="2400" b="1" dirty="0">
                <a:latin typeface="幼圆" panose="02010509060101010101" pitchFamily="49" charset="-122"/>
              </a:rPr>
              <a:t>空的 </a:t>
            </a:r>
            <a:r>
              <a:rPr lang="en-US" altLang="zh-CN" sz="2400" b="1" dirty="0">
                <a:latin typeface="幼圆" panose="02010509060101010101" pitchFamily="49" charset="-122"/>
              </a:rPr>
              <a:t>1×0 </a:t>
            </a:r>
            <a:r>
              <a:rPr lang="pt-BR" altLang="zh-CN" sz="2400" b="1" dirty="0">
                <a:latin typeface="幼圆" panose="02010509060101010101" pitchFamily="49" charset="-122"/>
              </a:rPr>
              <a:t>double </a:t>
            </a:r>
            <a:r>
              <a:rPr lang="zh-CN" altLang="en-US" sz="2400" b="1" dirty="0">
                <a:latin typeface="幼圆" panose="02010509060101010101" pitchFamily="49" charset="-122"/>
              </a:rPr>
              <a:t>行矢量</a:t>
            </a:r>
            <a:endParaRPr lang="en-US" altLang="zh-CN" sz="2400" b="1" dirty="0">
              <a:latin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一维数组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342" y="950238"/>
            <a:ext cx="8438666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linspace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a,b,n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latin typeface="+mj-ea"/>
                <a:ea typeface="+mj-ea"/>
              </a:rPr>
              <a:t>与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:(b-a)/(n-1):b</a:t>
            </a:r>
            <a:r>
              <a:rPr lang="zh-CN" altLang="en-US" sz="2400" b="1" dirty="0">
                <a:latin typeface="+mj-ea"/>
                <a:ea typeface="+mj-ea"/>
                <a:sym typeface="Wingdings" panose="05000000000000000000" pitchFamily="2" charset="2"/>
              </a:rPr>
              <a:t>等价</a:t>
            </a:r>
            <a:endParaRPr lang="en-US" altLang="zh-CN" sz="2400" b="1" dirty="0">
              <a:latin typeface="+mj-ea"/>
              <a:ea typeface="+mj-ea"/>
              <a:sym typeface="Wingdings" panose="05000000000000000000" pitchFamily="2" charset="2"/>
            </a:endParaRPr>
          </a:p>
          <a:p>
            <a:pPr>
              <a:spcBef>
                <a:spcPts val="580"/>
              </a:spcBef>
              <a:buClr>
                <a:srgbClr val="00B050"/>
              </a:buClr>
              <a:buSzPct val="85000"/>
            </a:pPr>
            <a:r>
              <a:rPr lang="zh-CN" altLang="en-US" sz="2400" b="1" dirty="0">
                <a:latin typeface="+mj-ea"/>
                <a:ea typeface="+mj-ea"/>
                <a:sym typeface="Wingdings" panose="05000000000000000000" pitchFamily="2" charset="2"/>
              </a:rPr>
              <a:t>（三个参数分别代表初始值，结束值，数组长度）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0187" y="3068960"/>
            <a:ext cx="87463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</a:rPr>
              <a:t>&gt;&gt; </a:t>
            </a:r>
            <a:r>
              <a:rPr lang="en-US" altLang="zh-CN" sz="2400" b="1" dirty="0">
                <a:solidFill>
                  <a:srgbClr val="0070C0"/>
                </a:solidFill>
                <a:latin typeface="幼圆" panose="02010509060101010101" pitchFamily="49" charset="-122"/>
              </a:rPr>
              <a:t>A=[0.2,pi/2,-2,sin(-pi/5),-</a:t>
            </a:r>
            <a:r>
              <a:rPr lang="en-US" altLang="zh-CN" sz="2400" b="1" dirty="0" err="1">
                <a:solidFill>
                  <a:srgbClr val="0070C0"/>
                </a:solidFill>
                <a:latin typeface="幼圆" panose="02010509060101010101" pitchFamily="49" charset="-122"/>
              </a:rPr>
              <a:t>exp</a:t>
            </a:r>
            <a:r>
              <a:rPr lang="en-US" altLang="zh-CN" sz="2400" b="1" dirty="0">
                <a:solidFill>
                  <a:srgbClr val="0070C0"/>
                </a:solidFill>
                <a:latin typeface="幼圆" panose="02010509060101010101" pitchFamily="49" charset="-122"/>
              </a:rPr>
              <a:t>(-3)]  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%</a:t>
            </a:r>
            <a:r>
              <a:rPr lang="zh-CN" altLang="en-US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逐个定义</a:t>
            </a:r>
            <a:endParaRPr lang="en-US" altLang="zh-CN" sz="2400" b="1" dirty="0">
              <a:solidFill>
                <a:srgbClr val="00B050"/>
              </a:solidFill>
              <a:latin typeface="幼圆" panose="020105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2342" y="2009599"/>
            <a:ext cx="8438666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lo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gspace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a,b,n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  <a:cs typeface="Courier New" panose="02070309020205020404" pitchFamily="49" charset="0"/>
              </a:rPr>
              <a:t>构成等比数列，</a:t>
            </a:r>
            <a:r>
              <a:rPr lang="zh-CN" altLang="en-US" sz="2400" b="1" dirty="0">
                <a:latin typeface="+mj-ea"/>
                <a:ea typeface="+mj-ea"/>
                <a:cs typeface="Courier New" panose="02070309020205020404" pitchFamily="49" charset="0"/>
              </a:rPr>
              <a:t>等价于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  <a:p>
            <a:pPr>
              <a:spcBef>
                <a:spcPts val="580"/>
              </a:spcBef>
              <a:buClr>
                <a:srgbClr val="00B050"/>
              </a:buClr>
              <a:buSzPct val="85000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10.^(a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:(b-a)/(n-1):b) 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%</a:t>
            </a:r>
            <a:r>
              <a:rPr lang="zh-CN" altLang="en-US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即每个点都以</a:t>
            </a:r>
            <a:r>
              <a:rPr lang="en-US" altLang="zh-CN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10</a:t>
            </a:r>
            <a:r>
              <a:rPr lang="zh-CN" altLang="en-US" sz="2400" b="1" dirty="0">
                <a:solidFill>
                  <a:srgbClr val="00B050"/>
                </a:solidFill>
                <a:latin typeface="幼圆" panose="02010509060101010101" pitchFamily="49" charset="-122"/>
              </a:rPr>
              <a:t>为底取指数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90185" y="3642322"/>
            <a:ext cx="8438666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ones(1,n)</a:t>
            </a:r>
            <a:r>
              <a:rPr lang="zh-CN" altLang="en-US" sz="2400" b="1" dirty="0">
                <a:latin typeface="+mj-ea"/>
                <a:ea typeface="+mj-ea"/>
                <a:cs typeface="Courier New" panose="02070309020205020404" pitchFamily="49" charset="0"/>
              </a:rPr>
              <a:t>生成一个元素全为</a:t>
            </a:r>
            <a:r>
              <a:rPr lang="en-US" altLang="zh-CN" sz="2400" b="1" dirty="0">
                <a:latin typeface="+mj-ea"/>
                <a:ea typeface="+mj-ea"/>
                <a:cs typeface="Courier New" panose="02070309020205020404" pitchFamily="49" charset="0"/>
              </a:rPr>
              <a:t>1</a:t>
            </a:r>
            <a:r>
              <a:rPr lang="zh-CN" altLang="en-US" sz="2400" b="1" dirty="0">
                <a:latin typeface="+mj-ea"/>
                <a:ea typeface="+mj-ea"/>
                <a:cs typeface="Courier New" panose="02070309020205020404" pitchFamily="49" charset="0"/>
              </a:rPr>
              <a:t>的</a:t>
            </a:r>
            <a:r>
              <a:rPr lang="en-US" altLang="zh-CN" sz="2400" b="1" dirty="0">
                <a:latin typeface="+mj-ea"/>
                <a:ea typeface="+mj-ea"/>
                <a:cs typeface="Courier New" panose="02070309020205020404" pitchFamily="49" charset="0"/>
              </a:rPr>
              <a:t>1</a:t>
            </a:r>
            <a:r>
              <a:rPr lang="zh-CN" altLang="en-US" sz="2400" b="1" dirty="0">
                <a:latin typeface="+mj-ea"/>
                <a:ea typeface="+mj-ea"/>
                <a:cs typeface="Courier New" panose="02070309020205020404" pitchFamily="49" charset="0"/>
              </a:rPr>
              <a:t>行</a:t>
            </a:r>
            <a:r>
              <a:rPr lang="en-US" altLang="zh-CN" sz="2400" b="1" dirty="0">
                <a:latin typeface="+mj-ea"/>
                <a:ea typeface="+mj-ea"/>
                <a:cs typeface="Courier New" panose="02070309020205020404" pitchFamily="49" charset="0"/>
              </a:rPr>
              <a:t>n</a:t>
            </a:r>
            <a:r>
              <a:rPr lang="zh-CN" altLang="en-US" sz="2400" b="1" dirty="0">
                <a:latin typeface="+mj-ea"/>
                <a:ea typeface="+mj-ea"/>
                <a:cs typeface="Courier New" panose="02070309020205020404" pitchFamily="49" charset="0"/>
              </a:rPr>
              <a:t>列的行向量，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  <a:p>
            <a:pPr>
              <a:spcBef>
                <a:spcPts val="580"/>
              </a:spcBef>
              <a:buClr>
                <a:srgbClr val="00B050"/>
              </a:buClr>
              <a:buSzPct val="85000"/>
            </a:pPr>
            <a:r>
              <a:rPr lang="zh-CN" altLang="en-US" sz="2400" b="1" dirty="0">
                <a:latin typeface="+mj-ea"/>
                <a:ea typeface="+mj-ea"/>
                <a:cs typeface="Courier New" panose="02070309020205020404" pitchFamily="49" charset="0"/>
              </a:rPr>
              <a:t>注意：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ones(n)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  <a:cs typeface="Courier New" panose="02070309020205020404" pitchFamily="49" charset="0"/>
              </a:rPr>
              <a:t>生成的是元素全为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  <a:cs typeface="Courier New" panose="02070309020205020404" pitchFamily="49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  <a:cs typeface="Courier New" panose="02070309020205020404" pitchFamily="49" charset="0"/>
              </a:rPr>
              <a:t>的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  <a:cs typeface="Courier New" panose="02070309020205020404" pitchFamily="49" charset="0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  <a:cs typeface="Courier New" panose="02070309020205020404" pitchFamily="49" charset="0"/>
              </a:rPr>
              <a:t>行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  <a:cs typeface="Courier New" panose="02070309020205020404" pitchFamily="49" charset="0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  <a:cs typeface="Courier New" panose="02070309020205020404" pitchFamily="49" charset="0"/>
              </a:rPr>
              <a:t>列的矩阵</a:t>
            </a:r>
            <a:r>
              <a:rPr lang="zh-CN" altLang="en-US" sz="2400" b="1" dirty="0">
                <a:solidFill>
                  <a:schemeClr val="accent2"/>
                </a:solidFill>
                <a:latin typeface="+mj-ea"/>
                <a:ea typeface="+mj-ea"/>
                <a:cs typeface="Courier New" panose="02070309020205020404" pitchFamily="49" charset="0"/>
              </a:rPr>
              <a:t>！</a:t>
            </a:r>
            <a:endParaRPr lang="en-US" altLang="zh-CN" sz="2400" b="1" dirty="0">
              <a:solidFill>
                <a:schemeClr val="accent2"/>
              </a:solidFill>
              <a:latin typeface="+mj-ea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0185" y="4661960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zeros(1,n)</a:t>
            </a:r>
            <a:r>
              <a:rPr lang="zh-CN" altLang="en-US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，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rand(1,n),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randn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(1,n)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分别生成全零，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0~1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均匀分布随机，标准正态分布随机的行向量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89727" y="5602521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A.',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conj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(A),A'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分别代表矩阵（或向量）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的转置、共轭和共轭转置的结果。行向量转置后将成为列向量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387424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数组指标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3.1-1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342" y="755576"/>
            <a:ext cx="843866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ndims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(A)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返回矩阵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</a:t>
            </a:r>
            <a:r>
              <a:rPr lang="zh-CN" altLang="en-US" sz="2400" b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的维度</a:t>
            </a:r>
            <a:endParaRPr lang="en-US" altLang="zh-CN" sz="2400" b="1" dirty="0"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size(A)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返回矩阵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的规模（每一维的大小）</a:t>
            </a:r>
            <a:endParaRPr lang="en-US" altLang="zh-CN" sz="2400" b="1" dirty="0"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size(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A,nd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返回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的第</a:t>
            </a:r>
            <a:r>
              <a:rPr lang="en-US" altLang="zh-CN" sz="24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nd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维的规模</a:t>
            </a:r>
            <a:endParaRPr lang="en-US" altLang="zh-CN" sz="2400" b="1" dirty="0"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rgbClr val="9B2D1F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length(A)</a:t>
            </a:r>
            <a:r>
              <a:rPr lang="zh-CN" altLang="en-US" sz="2400" b="1" dirty="0">
                <a:solidFill>
                  <a:prstClr val="black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返回</a:t>
            </a:r>
            <a:r>
              <a:rPr lang="en-US" altLang="zh-CN" sz="2400" b="1" dirty="0">
                <a:solidFill>
                  <a:prstClr val="black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A</a:t>
            </a:r>
            <a:r>
              <a:rPr lang="zh-CN" altLang="en-US" sz="2400" b="1" dirty="0">
                <a:solidFill>
                  <a:prstClr val="black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的最大维度规模（或向量长度）</a:t>
            </a: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 err="1">
                <a:solidFill>
                  <a:srgbClr val="9B2D1F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numel</a:t>
            </a:r>
            <a:r>
              <a:rPr lang="en-US" altLang="zh-CN" sz="2400" b="1" dirty="0">
                <a:solidFill>
                  <a:srgbClr val="9B2D1F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(A)</a:t>
            </a:r>
            <a:r>
              <a:rPr lang="zh-CN" altLang="en-US" sz="2400" b="1" dirty="0">
                <a:solidFill>
                  <a:prstClr val="black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返回</a:t>
            </a:r>
            <a:r>
              <a:rPr lang="en-US" altLang="zh-CN" sz="2400" b="1" dirty="0">
                <a:solidFill>
                  <a:prstClr val="black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A</a:t>
            </a:r>
            <a:r>
              <a:rPr lang="zh-CN" altLang="en-US" sz="2400" b="1" dirty="0">
                <a:solidFill>
                  <a:prstClr val="black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的所含元素的总数目</a:t>
            </a: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2342" y="2998060"/>
            <a:ext cx="869471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sz="2000" dirty="0">
                <a:latin typeface="Times New Roman" panose="02020603050405020304" pitchFamily="18" charset="0"/>
              </a:rPr>
              <a:t>【例</a:t>
            </a:r>
            <a:r>
              <a:rPr lang="en-US" altLang="zh-CN" sz="2000" dirty="0">
                <a:latin typeface="Times New Roman" panose="02020603050405020304" pitchFamily="18" charset="0"/>
              </a:rPr>
              <a:t>3.1-1</a:t>
            </a:r>
            <a:r>
              <a:rPr lang="zh-CN" altLang="zh-CN" sz="2000" dirty="0">
                <a:latin typeface="Times New Roman" panose="02020603050405020304" pitchFamily="18" charset="0"/>
              </a:rPr>
              <a:t>】</a:t>
            </a:r>
            <a:r>
              <a:rPr lang="zh-CN" altLang="en-US" sz="2000" dirty="0">
                <a:latin typeface="Times New Roman" panose="02020603050405020304" pitchFamily="18" charset="0"/>
              </a:rPr>
              <a:t>行数组常用的创建方法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a1=1:6		%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a1 =    1     2     3     4     5     6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na1=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ndims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(a1)	%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na1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Sa1=size(a1)	%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Sa1 =  1     6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La1=length(a1)%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La1 =    6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 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a2=0:pi/4:pi	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a2 =  0    0.7854    1.5708    2.3562    3.1416</a:t>
            </a:r>
            <a:endParaRPr lang="zh-CN" altLang="zh-CN" sz="20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a3=1:-0.1:0			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a3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Columns 1 through 6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1.0000    0.9000    0.8000    0.7000    0.6000    0.5000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	Columns 7 through 11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0.4000    0.3000    0.2000    0.1000         0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43408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3.1-1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0221" y="980728"/>
            <a:ext cx="8643558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b1=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linspace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(0,pi,4)	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b1 =</a:t>
            </a:r>
            <a:endParaRPr lang="zh-CN" altLang="zh-CN" sz="20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0    1.0472    2.0944    3.1416</a:t>
            </a:r>
            <a:endParaRPr lang="zh-CN" altLang="zh-CN" sz="20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b2=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logspace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(0,3,4)	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b2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  1          10         100        1000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 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c1=[2  pi/2  sqrt(3)  3+5i]		 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c1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Columns 1 through 3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2.0000             1.5708             1.7321         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Column 4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3.0000 + 5.0000i</a:t>
            </a:r>
            <a:r>
              <a:rPr lang="en-US" altLang="zh-CN" dirty="0">
                <a:solidFill>
                  <a:srgbClr val="FF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2000" dirty="0">
                <a:latin typeface="Times New Roman" panose="02020603050405020304" pitchFamily="18" charset="0"/>
              </a:rPr>
              <a:t> 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rng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default	%  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使随机状态回复到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MATLAB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初始值（伪随机）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c2=rand(1,5)	%  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所有机器的随机都是这个结果（若不回复，再来一次会不同）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c2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0.8147    0.9058    0.1270    0.9134    0.6324</a:t>
            </a:r>
            <a:r>
              <a:rPr lang="en-US" altLang="zh-CN" dirty="0">
                <a:solidFill>
                  <a:srgbClr val="FF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43408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矩阵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(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二维数组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)-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3.1-2,3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1520" y="764704"/>
            <a:ext cx="8496944" cy="30521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sz="2000" dirty="0">
                <a:latin typeface="Times New Roman" panose="02020603050405020304" pitchFamily="18" charset="0"/>
              </a:rPr>
              <a:t>【例</a:t>
            </a:r>
            <a:r>
              <a:rPr lang="en-US" altLang="zh-CN" sz="2000" dirty="0">
                <a:latin typeface="Times New Roman" panose="02020603050405020304" pitchFamily="18" charset="0"/>
              </a:rPr>
              <a:t>3.1-2</a:t>
            </a:r>
            <a:r>
              <a:rPr lang="zh-CN" altLang="zh-CN" sz="2000" dirty="0">
                <a:latin typeface="Times New Roman" panose="02020603050405020304" pitchFamily="18" charset="0"/>
              </a:rPr>
              <a:t>】</a:t>
            </a:r>
            <a:r>
              <a:rPr lang="zh-CN" altLang="en-US" sz="2000" dirty="0">
                <a:latin typeface="Times New Roman" panose="02020603050405020304" pitchFamily="18" charset="0"/>
              </a:rPr>
              <a:t>一般二维数组的创建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a=2.7358; b=33/79;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数值本质上是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1X1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矩阵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ndims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(a)		%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 2</a:t>
            </a:r>
            <a:endParaRPr lang="zh-CN" altLang="zh-CN" sz="20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=size(a)		%</a:t>
            </a:r>
            <a:r>
              <a:rPr lang="en-US" altLang="zh-CN" sz="2000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sa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 1     1 </a:t>
            </a:r>
            <a:r>
              <a:rPr lang="en-US" altLang="zh-CN" sz="2000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2000" dirty="0">
                <a:latin typeface="Times New Roman" panose="02020603050405020304" pitchFamily="18" charset="0"/>
              </a:rPr>
              <a:t> 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C=[1,2*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a+i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*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b,b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*sqrt(a);sin(pi/4),a+5*b,3.5+i]  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ts val="1000"/>
              </a:lnSpc>
              <a:spcAft>
                <a:spcPts val="0"/>
              </a:spcAft>
              <a:tabLst>
                <a:tab pos="269875" algn="l"/>
              </a:tabLst>
            </a:pP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ts val="1000"/>
              </a:lnSpc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 =1.0000 + 0.0000i   5.4716 + 0.4177i   0.6909 + 0.0000i</a:t>
            </a: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ts val="1000"/>
              </a:lnSpc>
              <a:spcAft>
                <a:spcPts val="0"/>
              </a:spcAft>
              <a:tabLst>
                <a:tab pos="269875" algn="l"/>
              </a:tabLst>
            </a:pPr>
            <a:endParaRPr lang="en-US" altLang="zh-CN" sz="2000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ts val="1000"/>
              </a:lnSpc>
              <a:tabLst>
                <a:tab pos="269875" algn="l"/>
              </a:tabLst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0.7071 + 0.0000i   4.8244 + 0.0000i   3.5000 + 1.0000i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 algn="just" hangingPunct="0">
              <a:lnSpc>
                <a:spcPts val="1000"/>
              </a:lnSpc>
              <a:spcAft>
                <a:spcPts val="0"/>
              </a:spcAft>
              <a:tabLst>
                <a:tab pos="269875" algn="l"/>
              </a:tabLst>
            </a:pP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lnSpc>
                <a:spcPts val="1000"/>
              </a:lnSpc>
              <a:tabLst>
                <a:tab pos="269875" algn="l"/>
              </a:tabLst>
            </a:pPr>
            <a:endParaRPr lang="en-US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ts val="1000"/>
              </a:lnSpc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nC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ndims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(C)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nC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SC=size(C)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SC =  2     3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527916" y="2921253"/>
            <a:ext cx="889193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788746" y="3284996"/>
          <a:ext cx="4711574" cy="3341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BMP 图像" r:id="rId1" imgW="4076700" imgH="2895600" progId="Paint.Picture">
                  <p:embed/>
                </p:oleObj>
              </mc:Choice>
              <mc:Fallback>
                <p:oleObj name="BMP 图像" r:id="rId1" imgW="4076700" imgH="2895600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8746" y="3284996"/>
                        <a:ext cx="4711574" cy="33414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179512" y="3816822"/>
            <a:ext cx="29523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dirty="0">
                <a:latin typeface="Times New Roman" panose="02020603050405020304" pitchFamily="18" charset="0"/>
              </a:rPr>
              <a:t>【例</a:t>
            </a:r>
            <a:r>
              <a:rPr lang="en-US" altLang="zh-CN" dirty="0">
                <a:latin typeface="Times New Roman" panose="02020603050405020304" pitchFamily="18" charset="0"/>
              </a:rPr>
              <a:t>3.1-3</a:t>
            </a:r>
            <a:r>
              <a:rPr lang="zh-CN" altLang="zh-CN" dirty="0">
                <a:latin typeface="Times New Roman" panose="02020603050405020304" pitchFamily="18" charset="0"/>
              </a:rPr>
              <a:t>】</a:t>
            </a:r>
            <a:r>
              <a:rPr lang="zh-CN" altLang="en-US" dirty="0">
                <a:latin typeface="Times New Roman" panose="02020603050405020304" pitchFamily="18" charset="0"/>
              </a:rPr>
              <a:t>变量编辑器创建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利用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MATLAB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内存工作区设计新矩阵，可以点击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new variable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来重命名。工作区可以进行右键保存（或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save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命令实现）</a:t>
            </a:r>
            <a:endParaRPr lang="zh-CN" altLang="zh-CN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5607812"/>
            <a:ext cx="3462676" cy="9709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43408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新建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文件建立矩阵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3.1-4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527916" y="2921253"/>
            <a:ext cx="889193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36" y="874437"/>
            <a:ext cx="7200800" cy="20719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22" y="2921253"/>
            <a:ext cx="7277100" cy="317182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52667" y="6093078"/>
            <a:ext cx="8438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新的</a:t>
            </a:r>
            <a:r>
              <a:rPr lang="en-US" altLang="zh-CN" sz="2400" b="1" dirty="0">
                <a:latin typeface="+mj-ea"/>
                <a:ea typeface="+mj-ea"/>
              </a:rPr>
              <a:t>m</a:t>
            </a:r>
            <a:r>
              <a:rPr lang="zh-CN" altLang="en-US" sz="2400" b="1" dirty="0">
                <a:latin typeface="+mj-ea"/>
                <a:ea typeface="+mj-ea"/>
              </a:rPr>
              <a:t>文件第一次运行前需要保存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函数构造二维数组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292298" y="2302049"/>
                <a:ext cx="8438666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ones(n),zeros(n)</a:t>
                </a:r>
                <a:r>
                  <a:rPr lang="zh-CN" altLang="en-US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，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rand(n),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randn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(n)</a:t>
                </a:r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分别生成全</a:t>
                </a:r>
                <a:r>
                  <a:rPr lang="en-US" altLang="zh-CN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1</a:t>
                </a:r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，全零，</a:t>
                </a:r>
                <a:r>
                  <a:rPr lang="en-US" altLang="zh-CN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0~1</a:t>
                </a:r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均匀分布随机，标准正态分布随机的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𝒏</m:t>
                    </m:r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  <a:latin typeface="+mj-ea"/>
                    <a:ea typeface="+mj-ea"/>
                    <a:cs typeface="Courier New" panose="02070309020205020404" pitchFamily="49" charset="0"/>
                  </a:rPr>
                  <a:t>规模的方阵</a:t>
                </a:r>
                <a:endParaRPr lang="en-US" altLang="zh-CN" sz="2400" b="1" dirty="0">
                  <a:latin typeface="+mj-ea"/>
                  <a:ea typeface="+mj-ea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298" y="2302049"/>
                <a:ext cx="8438666" cy="1200329"/>
              </a:xfrm>
              <a:prstGeom prst="rect">
                <a:avLst/>
              </a:prstGeom>
              <a:blipFill rotWithShape="1">
                <a:blip r:embed="rId1"/>
                <a:stretch>
                  <a:fillRect l="-2" t="-14" r="-891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290185" y="997064"/>
                <a:ext cx="8438666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ones(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m,n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),zeros(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m,n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)</a:t>
                </a:r>
                <a:r>
                  <a:rPr lang="zh-CN" altLang="en-US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，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rand(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m,n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),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randn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(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m,n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)</a:t>
                </a:r>
                <a:r>
                  <a:rPr lang="zh-CN" altLang="en-US" sz="2400" b="1" dirty="0"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分别生成全</a:t>
                </a:r>
                <a:r>
                  <a:rPr lang="en-US" altLang="zh-CN" sz="2400" b="1" dirty="0"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1</a:t>
                </a:r>
                <a:r>
                  <a:rPr lang="zh-CN" altLang="en-US" sz="2400" b="1" dirty="0"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，全零，</a:t>
                </a:r>
                <a:r>
                  <a:rPr lang="en-US" altLang="zh-CN" sz="2400" b="1" dirty="0"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0~1</a:t>
                </a:r>
                <a:r>
                  <a:rPr lang="zh-CN" altLang="en-US" sz="2400" b="1" dirty="0"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均匀分布随机，标准正态分布随机的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𝒎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×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𝒏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规模的矩阵。常用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zeros(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m,n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“申请存储空间”。</a:t>
                </a:r>
                <a:endParaRPr lang="en-US" altLang="zh-CN" sz="2400" b="1" dirty="0">
                  <a:latin typeface="+mj-ea"/>
                  <a:ea typeface="+mj-ea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5" y="997064"/>
                <a:ext cx="8438666" cy="1200329"/>
              </a:xfrm>
              <a:prstGeom prst="rect">
                <a:avLst/>
              </a:prstGeom>
              <a:blipFill rotWithShape="1">
                <a:blip r:embed="rId2"/>
                <a:stretch>
                  <a:fillRect l="-7" t="-9" r="-2211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290185" y="3619191"/>
                <a:ext cx="843866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eye(n), 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+mj-ea"/>
                    <a:ea typeface="+mj-ea"/>
                    <a:cs typeface="Courier New" panose="02070309020205020404" pitchFamily="49" charset="0"/>
                  </a:rPr>
                  <a:t>生成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𝒏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×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𝒏</m:t>
                    </m:r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latin typeface="+mj-ea"/>
                    <a:ea typeface="+mj-ea"/>
                    <a:cs typeface="Courier New" panose="02070309020205020404" pitchFamily="49" charset="0"/>
                  </a:rPr>
                  <a:t>规模的单位矩阵</a:t>
                </a:r>
                <a:endParaRPr lang="en-US" altLang="zh-CN" sz="2400" b="1" dirty="0">
                  <a:latin typeface="+mj-ea"/>
                  <a:ea typeface="+mj-ea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5" y="3619191"/>
                <a:ext cx="8438666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7" t="-71" r="2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290185" y="4293096"/>
                <a:ext cx="843866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magic(n), 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+mj-ea"/>
                    <a:ea typeface="+mj-ea"/>
                    <a:cs typeface="Courier New" panose="02070309020205020404" pitchFamily="49" charset="0"/>
                  </a:rPr>
                  <a:t>生成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𝒏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×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𝒏</m:t>
                    </m:r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latin typeface="+mj-ea"/>
                    <a:ea typeface="+mj-ea"/>
                    <a:cs typeface="Courier New" panose="02070309020205020404" pitchFamily="49" charset="0"/>
                  </a:rPr>
                  <a:t>规模的一种幻方（行、列和相等）</a:t>
                </a:r>
                <a:endParaRPr lang="en-US" altLang="zh-CN" sz="2400" b="1" dirty="0">
                  <a:latin typeface="+mj-ea"/>
                  <a:ea typeface="+mj-ea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5" y="4293096"/>
                <a:ext cx="8438666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7" t="-107" r="2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290185" y="5624586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random,randsrc,gallery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sz="2400" b="1" dirty="0">
                <a:latin typeface="+mj-ea"/>
                <a:ea typeface="+mj-ea"/>
                <a:cs typeface="Courier New" panose="02070309020205020404" pitchFamily="49" charset="0"/>
              </a:rPr>
              <a:t>分别用于生成一般的随机数字矩阵、指定字符集随机数组，以及特殊功能的测试数组。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90184" y="4950681"/>
            <a:ext cx="88538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diag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(A), </a:t>
            </a:r>
            <a:r>
              <a:rPr lang="zh-CN" altLang="en-US" sz="2400" b="1" dirty="0">
                <a:latin typeface="+mj-ea"/>
                <a:ea typeface="+mj-ea"/>
                <a:cs typeface="Courier New" panose="02070309020205020404" pitchFamily="49" charset="0"/>
              </a:rPr>
              <a:t>提取方阵对角元为列向量，或利用向量生成对角阵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/>
      <p:bldP spid="11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3.1-5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6672" y="950238"/>
            <a:ext cx="8190656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sz="2000" dirty="0">
                <a:latin typeface="Times New Roman" panose="02020603050405020304" pitchFamily="18" charset="0"/>
              </a:rPr>
              <a:t>【例</a:t>
            </a:r>
            <a:r>
              <a:rPr lang="en-US" altLang="zh-CN" sz="2000" dirty="0">
                <a:latin typeface="Times New Roman" panose="02020603050405020304" pitchFamily="18" charset="0"/>
              </a:rPr>
              <a:t>3.1-5</a:t>
            </a:r>
            <a:r>
              <a:rPr lang="zh-CN" altLang="zh-CN" sz="2000" dirty="0">
                <a:latin typeface="Times New Roman" panose="02020603050405020304" pitchFamily="18" charset="0"/>
              </a:rPr>
              <a:t>】</a:t>
            </a:r>
            <a:r>
              <a:rPr lang="zh-CN" altLang="en-US" sz="2000" dirty="0">
                <a:latin typeface="Times New Roman" panose="02020603050405020304" pitchFamily="18" charset="0"/>
              </a:rPr>
              <a:t>标准数组产生的演示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ones(2,4)	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5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1     1     1     1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5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1     1     1     1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 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rng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(0) 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以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为“种子”生成随机数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randn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(2,3)	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5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0.5377   -2.2588    0.3188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5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1.8339    0.8622   -1.3077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 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D=eye(3)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1     0     0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0     1     0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0     0     1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 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diag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(D)	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5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5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5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3.1-5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1520" y="950238"/>
            <a:ext cx="10288016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sz="2000" dirty="0">
                <a:latin typeface="Times New Roman" panose="02020603050405020304" pitchFamily="18" charset="0"/>
              </a:rPr>
              <a:t>【例</a:t>
            </a:r>
            <a:r>
              <a:rPr lang="en-US" altLang="zh-CN" sz="2000" dirty="0">
                <a:latin typeface="Times New Roman" panose="02020603050405020304" pitchFamily="18" charset="0"/>
              </a:rPr>
              <a:t>3.1-5</a:t>
            </a:r>
            <a:r>
              <a:rPr lang="zh-CN" altLang="zh-CN" sz="2000" dirty="0">
                <a:latin typeface="Times New Roman" panose="02020603050405020304" pitchFamily="18" charset="0"/>
              </a:rPr>
              <a:t>】</a:t>
            </a:r>
            <a:r>
              <a:rPr lang="zh-CN" altLang="en-US" sz="2000" dirty="0">
                <a:latin typeface="Times New Roman" panose="02020603050405020304" pitchFamily="18" charset="0"/>
              </a:rPr>
              <a:t>标准数组产生的演示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diag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diag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(D))			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1     0     0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0     1     0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0     0     1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2000" dirty="0">
                <a:latin typeface="Times New Roman" panose="02020603050405020304" pitchFamily="18" charset="0"/>
              </a:rPr>
              <a:t> 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randsrc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(3,20,[-3,-1,1,3],1)	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共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列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随机字符限制在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-3,-1,1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3,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结果矩阵仍为双精度</a:t>
            </a:r>
            <a:endParaRPr lang="zh-CN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初始随机状态为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1600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endParaRPr lang="zh-CN" altLang="zh-CN" sz="1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Columns 1 through 12</a:t>
            </a:r>
            <a:endParaRPr lang="zh-CN" altLang="zh-CN" sz="1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-1    -1    -3     1    -3     1    -3     3     3    -3    -3     1</a:t>
            </a:r>
            <a:endParaRPr lang="zh-CN" altLang="zh-CN" sz="1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1    -3    -1    -1     3    -1    -3    -1     3    -3    -1     1</a:t>
            </a:r>
            <a:endParaRPr lang="zh-CN" altLang="zh-CN" sz="1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-3    -3    -1     1    -3     1     3     1    -3     3     3    -1</a:t>
            </a:r>
            <a:endParaRPr lang="zh-CN" altLang="zh-CN" sz="1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Columns 13 through 20</a:t>
            </a:r>
            <a:endParaRPr lang="zh-CN" altLang="zh-CN" sz="1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1     3    -1    -1    -1     1    -1    -3</a:t>
            </a:r>
            <a:endParaRPr lang="zh-CN" altLang="zh-CN" sz="1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3     3     3     3    -3    -3    -3     1</a:t>
            </a:r>
            <a:endParaRPr lang="zh-CN" altLang="zh-CN" sz="1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16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-3     1    -3    -1    -3    -1     1     1  </a:t>
            </a:r>
            <a:endParaRPr lang="zh-CN" altLang="zh-CN" sz="16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43408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hlinkClick r:id="rId1" action="ppaction://hlinkfile"/>
              </a:rPr>
              <a:t>MATLAB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hlinkClick r:id="rId1" action="ppaction://hlinkfile"/>
              </a:rPr>
              <a:t>的稀疏矩阵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5784" y="1935348"/>
            <a:ext cx="87155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但是，大型的矩阵往往都是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非常稀疏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的，非零元素的比例不足千分之一甚至不足万分之一的大型矩阵，都是非常普遍的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95784" y="769081"/>
                <a:ext cx="8715540" cy="120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  <a:defRPr/>
                </a:pPr>
                <a:r>
                  <a:rPr lang="zh-CN" altLang="en-US" sz="2400" b="1" dirty="0">
                    <a:solidFill>
                      <a:schemeClr val="tx1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实际问题中可能会应用到元素数量达到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</a:rPr>
                      <m:t>𝟏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</a:rPr>
                          <m:t>𝟎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</a:rPr>
                          <m:t>𝟏𝟐</m:t>
                        </m:r>
                      </m:sup>
                    </m:sSup>
                  </m:oMath>
                </a14:m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</a:rPr>
                  <a:t>数量级的矩阵，如果直接使用通常的矩阵定义，很容易就会导致内存超限从而使得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</a:rPr>
                  <a:t>MATLAB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</a:rPr>
                  <a:t>代码无法正常运行。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84" y="769081"/>
                <a:ext cx="8715540" cy="1208664"/>
              </a:xfrm>
              <a:prstGeom prst="rect">
                <a:avLst/>
              </a:prstGeom>
              <a:blipFill rotWithShape="1">
                <a:blip r:embed="rId2"/>
                <a:stretch>
                  <a:fillRect l="-6" t="-8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295784" y="3198167"/>
            <a:ext cx="87155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B=sparse(A),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可以将一个正常定义的矩阵转化为稀疏矩阵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6483" y="3717032"/>
            <a:ext cx="856895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A=[0 0 1;0 2 0;3 0 0]</a:t>
            </a:r>
            <a:endParaRPr lang="pt-BR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pt-BR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</a:t>
            </a:r>
            <a:endParaRPr lang="pt-BR" altLang="zh-CN" b="1" dirty="0">
              <a:solidFill>
                <a:srgbClr val="0070C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pt-BR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0     0     1</a:t>
            </a:r>
            <a:endParaRPr lang="pt-BR" altLang="zh-CN" b="1" dirty="0">
              <a:solidFill>
                <a:srgbClr val="0070C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pt-BR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0     2     0</a:t>
            </a:r>
            <a:endParaRPr lang="pt-BR" altLang="zh-CN" b="1" dirty="0">
              <a:solidFill>
                <a:srgbClr val="0070C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pt-BR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3     0     0</a:t>
            </a:r>
            <a:endParaRPr lang="pt-BR" altLang="zh-CN" b="1" dirty="0">
              <a:solidFill>
                <a:srgbClr val="0070C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B=sparse(A)		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MATLAB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的系数矩阵基于三元组的形式定义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pl-PL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 =</a:t>
            </a:r>
            <a:endParaRPr lang="pl-PL" altLang="zh-CN" b="1" dirty="0">
              <a:solidFill>
                <a:srgbClr val="0070C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pl-PL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(3,1)        3</a:t>
            </a:r>
            <a:endParaRPr lang="pl-PL" altLang="zh-CN" b="1" dirty="0">
              <a:solidFill>
                <a:srgbClr val="0070C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pl-PL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(2,2)        2</a:t>
            </a:r>
            <a:endParaRPr lang="pl-PL" altLang="zh-CN" b="1" dirty="0">
              <a:solidFill>
                <a:srgbClr val="0070C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pl-PL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(1,3)        1</a:t>
            </a:r>
            <a:endParaRPr lang="en-US" altLang="zh-CN" b="1" dirty="0">
              <a:solidFill>
                <a:srgbClr val="0070C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5784" y="2746828"/>
            <a:ext cx="87155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speye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(n)</a:t>
            </a: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函数可以生成稀疏的</a:t>
            </a:r>
            <a:r>
              <a:rPr lang="en-US" altLang="zh-CN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n</a:t>
            </a:r>
            <a:r>
              <a:rPr lang="zh-CN" altLang="en-US" sz="2400" b="1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阶单位矩阵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二维数组形态改变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290185" y="1027787"/>
                <a:ext cx="843866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reshape(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A,m,n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)</a:t>
                </a:r>
                <a:r>
                  <a:rPr lang="zh-CN" altLang="en-US" sz="2400" b="1" dirty="0"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可将矩阵</a:t>
                </a:r>
                <a:r>
                  <a:rPr lang="en-US" altLang="zh-CN" sz="2400" b="1" dirty="0"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A</a:t>
                </a:r>
                <a:r>
                  <a:rPr lang="zh-CN" altLang="en-US" sz="2400" b="1" dirty="0"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按照相同的排列顺序</a:t>
                </a:r>
                <a:r>
                  <a:rPr lang="zh-CN" altLang="en-US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（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从左到右逐列，每一列从上到下</a:t>
                </a:r>
                <a:r>
                  <a:rPr lang="zh-CN" altLang="en-US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）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变形成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𝒎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×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𝒏</m:t>
                    </m:r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latin typeface="+mj-ea"/>
                    <a:ea typeface="+mj-ea"/>
                    <a:cs typeface="Courier New" panose="02070309020205020404" pitchFamily="49" charset="0"/>
                  </a:rPr>
                  <a:t>规模的矩阵</a:t>
                </a:r>
                <a:endParaRPr lang="en-US" altLang="zh-CN" sz="2400" b="1" dirty="0">
                  <a:solidFill>
                    <a:schemeClr val="accent2"/>
                  </a:solidFill>
                  <a:latin typeface="+mj-ea"/>
                  <a:ea typeface="+mj-ea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5" y="1027787"/>
                <a:ext cx="8438666" cy="830997"/>
              </a:xfrm>
              <a:prstGeom prst="rect">
                <a:avLst/>
              </a:prstGeom>
              <a:blipFill rotWithShape="1">
                <a:blip r:embed="rId1"/>
                <a:stretch>
                  <a:fillRect l="-7" t="-43" r="2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290185" y="4035774"/>
            <a:ext cx="8438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flipud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 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对矩阵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从上到下进行对称翻转</a:t>
            </a:r>
            <a:endParaRPr lang="en-US" altLang="zh-CN" sz="2400" b="1" dirty="0"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/>
              <p:nvPr/>
            </p:nvSpPr>
            <p:spPr>
              <a:xfrm>
                <a:off x="290185" y="5736845"/>
                <a:ext cx="843866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rot90(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A,n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对矩阵</a:t>
                </a:r>
                <a:r>
                  <a:rPr lang="en-US" altLang="zh-CN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A</a:t>
                </a:r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逆时针旋转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𝒏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×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𝟗𝟎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度</a:t>
                </a:r>
                <a:endParaRPr lang="en-US" altLang="zh-CN" sz="2400" b="1" dirty="0">
                  <a:latin typeface="+mj-ea"/>
                  <a:ea typeface="+mj-ea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5" y="5736845"/>
                <a:ext cx="8438666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7" t="-55" r="2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287992" y="2948504"/>
                <a:ext cx="843866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repmat(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A,m,n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)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可将矩阵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A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进行“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重复构造和拼接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”，按行数复制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m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份，按列数复制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n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份，新的矩阵是</a:t>
                </a:r>
                <a:r>
                  <a:rPr lang="en-US" altLang="zh-CN" sz="2400" b="1" dirty="0">
                    <a:solidFill>
                      <a:schemeClr val="tx1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A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𝒎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×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𝒏</m:t>
                    </m:r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latin typeface="+mj-ea"/>
                    <a:ea typeface="+mj-ea"/>
                    <a:cs typeface="Courier New" panose="02070309020205020404" pitchFamily="49" charset="0"/>
                  </a:rPr>
                  <a:t>倍大</a:t>
                </a:r>
                <a:endParaRPr lang="en-US" altLang="zh-CN" sz="2400" b="1" dirty="0">
                  <a:solidFill>
                    <a:schemeClr val="accent2"/>
                  </a:solidFill>
                  <a:latin typeface="+mj-ea"/>
                  <a:ea typeface="+mj-ea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92" y="2948504"/>
                <a:ext cx="8438666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4" t="-24" r="6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287992" y="2172811"/>
            <a:ext cx="8438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permute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可以置换不同维度的规模数（了解即可，不考）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87992" y="4886309"/>
            <a:ext cx="8438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fliplr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 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对矩阵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从左到右进行对称翻转</a:t>
            </a:r>
            <a:endParaRPr lang="en-US" altLang="zh-CN" sz="2400" b="1" dirty="0"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9" grpId="0"/>
      <p:bldP spid="12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3.1-6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9512" y="940233"/>
            <a:ext cx="8964488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sz="2000" dirty="0">
                <a:latin typeface="Times New Roman" panose="02020603050405020304" pitchFamily="18" charset="0"/>
              </a:rPr>
              <a:t>【例 </a:t>
            </a:r>
            <a:r>
              <a:rPr lang="en-US" altLang="zh-CN" sz="2000" dirty="0">
                <a:latin typeface="Times New Roman" panose="02020603050405020304" pitchFamily="18" charset="0"/>
              </a:rPr>
              <a:t>3.1-6</a:t>
            </a:r>
            <a:r>
              <a:rPr lang="zh-CN" altLang="zh-CN" sz="2000" dirty="0">
                <a:latin typeface="Times New Roman" panose="02020603050405020304" pitchFamily="18" charset="0"/>
              </a:rPr>
              <a:t>】</a:t>
            </a:r>
            <a:r>
              <a:rPr lang="zh-CN" altLang="en-US" sz="2000" dirty="0">
                <a:latin typeface="Times New Roman" panose="02020603050405020304" pitchFamily="18" charset="0"/>
              </a:rPr>
              <a:t>数组操作函数</a:t>
            </a:r>
            <a:r>
              <a:rPr lang="en-US" altLang="zh-CN" sz="2000" dirty="0">
                <a:latin typeface="Times New Roman" panose="02020603050405020304" pitchFamily="18" charset="0"/>
              </a:rPr>
              <a:t>reshape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</a:rPr>
              <a:t>diag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</a:rPr>
              <a:t>repmat</a:t>
            </a:r>
            <a:r>
              <a:rPr lang="zh-CN" altLang="en-US" sz="2000" dirty="0">
                <a:latin typeface="Times New Roman" panose="02020603050405020304" pitchFamily="18" charset="0"/>
              </a:rPr>
              <a:t>的用法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a=1:8		   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</a:t>
            </a:r>
            <a:r>
              <a:rPr lang="en-US" altLang="zh-CN" sz="2000" dirty="0"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1     2     3     4     5     6     7     8</a:t>
            </a:r>
            <a:endParaRPr lang="zh-CN" altLang="zh-CN" sz="20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A=reshape(a,4,2)		%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1     5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2     6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3     7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4     8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A=reshape(A,2,4)		%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1     3     5     7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2     4     6     8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diag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(A)			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 =</a:t>
            </a:r>
            <a:endParaRPr lang="zh-CN" altLang="zh-CN" sz="20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</a:t>
            </a:r>
            <a:endParaRPr lang="zh-CN" altLang="zh-CN" sz="20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4</a:t>
            </a:r>
            <a:endParaRPr lang="zh-CN" altLang="zh-CN" sz="20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diag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(b)			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0     4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3.1-6,7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9512" y="940233"/>
            <a:ext cx="8964488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sz="2000" dirty="0">
                <a:latin typeface="Times New Roman" panose="02020603050405020304" pitchFamily="18" charset="0"/>
              </a:rPr>
              <a:t>【例 </a:t>
            </a:r>
            <a:r>
              <a:rPr lang="en-US" altLang="zh-CN" sz="2000" dirty="0">
                <a:latin typeface="Times New Roman" panose="02020603050405020304" pitchFamily="18" charset="0"/>
              </a:rPr>
              <a:t>3.1-6</a:t>
            </a:r>
            <a:r>
              <a:rPr lang="zh-CN" altLang="zh-CN" sz="2000" dirty="0">
                <a:latin typeface="Times New Roman" panose="02020603050405020304" pitchFamily="18" charset="0"/>
              </a:rPr>
              <a:t>】</a:t>
            </a:r>
            <a:r>
              <a:rPr lang="zh-CN" altLang="en-US" sz="2000" dirty="0">
                <a:latin typeface="Times New Roman" panose="02020603050405020304" pitchFamily="18" charset="0"/>
              </a:rPr>
              <a:t>数组操作函数</a:t>
            </a:r>
            <a:r>
              <a:rPr lang="en-US" altLang="zh-CN" sz="2000" dirty="0">
                <a:latin typeface="Times New Roman" panose="02020603050405020304" pitchFamily="18" charset="0"/>
              </a:rPr>
              <a:t>reshape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</a:rPr>
              <a:t>diag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</a:rPr>
              <a:t>repmat</a:t>
            </a:r>
            <a:r>
              <a:rPr lang="zh-CN" altLang="en-US" sz="2000" dirty="0">
                <a:latin typeface="Times New Roman" panose="02020603050405020304" pitchFamily="18" charset="0"/>
              </a:rPr>
              <a:t>的用法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D1=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repmat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(B,2,4)	%  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结果矩阵大小为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4X8</a:t>
            </a:r>
            <a:endParaRPr lang="zh-CN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D1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1     0     1     0     1     0     1     0</a:t>
            </a: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	   0     4     0     4     0     4     0     4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1     0     1     0     1     0     1     0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0     4     0     4     0     4     0     4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 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D1([1,3],: )=[ ]	%  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此命令为使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D1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第一行与第三行（所有列）为空（删除）</a:t>
            </a:r>
            <a:endParaRPr lang="zh-CN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D1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0     4     0     4     0     4     0     4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0     4     0     4     0     4     0     4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9512" y="4627774"/>
            <a:ext cx="648072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sz="2000" dirty="0">
                <a:latin typeface="Times New Roman" panose="02020603050405020304" pitchFamily="18" charset="0"/>
              </a:rPr>
              <a:t>【例</a:t>
            </a:r>
            <a:r>
              <a:rPr lang="en-US" altLang="zh-CN" sz="2000" dirty="0">
                <a:latin typeface="Times New Roman" panose="02020603050405020304" pitchFamily="18" charset="0"/>
              </a:rPr>
              <a:t>3.1-7</a:t>
            </a:r>
            <a:r>
              <a:rPr lang="zh-CN" altLang="zh-CN" sz="2000" dirty="0">
                <a:latin typeface="Times New Roman" panose="02020603050405020304" pitchFamily="18" charset="0"/>
              </a:rPr>
              <a:t>】</a:t>
            </a:r>
            <a:r>
              <a:rPr lang="en-US" altLang="zh-CN" sz="2000" dirty="0" err="1">
                <a:latin typeface="Times New Roman" panose="02020603050405020304" pitchFamily="18" charset="0"/>
              </a:rPr>
              <a:t>flipud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</a:rPr>
              <a:t>fliplr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rot90</a:t>
            </a:r>
            <a:r>
              <a:rPr lang="zh-CN" altLang="en-US" sz="2000" dirty="0">
                <a:latin typeface="Times New Roman" panose="02020603050405020304" pitchFamily="18" charset="0"/>
              </a:rPr>
              <a:t>对数组的操作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A=reshape(1:9,3,3)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1     4     7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2     5     8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3     6     9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3.1-7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9512" y="950238"/>
            <a:ext cx="837497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sz="2000" dirty="0">
                <a:latin typeface="Times New Roman" panose="02020603050405020304" pitchFamily="18" charset="0"/>
              </a:rPr>
              <a:t>【例</a:t>
            </a:r>
            <a:r>
              <a:rPr lang="en-US" altLang="zh-CN" sz="2000" dirty="0">
                <a:latin typeface="Times New Roman" panose="02020603050405020304" pitchFamily="18" charset="0"/>
              </a:rPr>
              <a:t>3.1-7</a:t>
            </a:r>
            <a:r>
              <a:rPr lang="zh-CN" altLang="zh-CN" sz="2000" dirty="0">
                <a:latin typeface="Times New Roman" panose="02020603050405020304" pitchFamily="18" charset="0"/>
              </a:rPr>
              <a:t>】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</a:rPr>
              <a:t>flipud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 err="1">
                <a:latin typeface="Times New Roman" panose="02020603050405020304" pitchFamily="18" charset="0"/>
              </a:rPr>
              <a:t>fliplr</a:t>
            </a:r>
            <a:r>
              <a:rPr lang="zh-CN" altLang="en-US" sz="2000" dirty="0"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</a:rPr>
              <a:t>rot90</a:t>
            </a:r>
            <a:r>
              <a:rPr lang="zh-CN" altLang="en-US" sz="2000" dirty="0">
                <a:latin typeface="Times New Roman" panose="02020603050405020304" pitchFamily="18" charset="0"/>
              </a:rPr>
              <a:t>对数组的操作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flipud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(A) 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上下翻转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3     6     9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2     5     8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1     4     7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 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fliplr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(A)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左右翻转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7     4     1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8     5     2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9     6     3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sz="2000" dirty="0">
                <a:latin typeface="Times New Roman" panose="02020603050405020304" pitchFamily="18" charset="0"/>
              </a:rPr>
              <a:t> 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D=rot90(A,2)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共逆时针旋转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180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度</a:t>
            </a:r>
            <a:endParaRPr lang="zh-CN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9     6     3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8     5     2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6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7     4     1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hlinkClick r:id="rId1" action="ppaction://hlinkfile"/>
              </a:rPr>
              <a:t>二维数组编址（含一维向量）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0185" y="1027787"/>
            <a:ext cx="8438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A(2,1)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称为全下标编址，意味矩阵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的第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2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行第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1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列的元素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290184" y="3723196"/>
                <a:ext cx="8565823" cy="12838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反之，若矩阵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𝑨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ℝ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𝑴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×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𝑵</m:t>
                        </m:r>
                      </m:sup>
                    </m:sSup>
                  </m:oMath>
                </a14:m>
                <a:r>
                  <a:rPr lang="zh-CN" altLang="en-US" sz="2400" b="1" dirty="0"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，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j=ceil(k/M),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i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=k-(j-1)*M</a:t>
                </a:r>
                <a:r>
                  <a:rPr lang="zh-CN" altLang="en-US" sz="2400" b="1" dirty="0"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，则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A(k)=A(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i,j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).</a:t>
                </a:r>
                <a:endParaRPr lang="en-US" altLang="zh-CN" sz="2400" b="1" dirty="0">
                  <a:solidFill>
                    <a:schemeClr val="accent2"/>
                  </a:solidFill>
                  <a:latin typeface="Courier New" panose="02070309020205020404" pitchFamily="49" charset="0"/>
                  <a:ea typeface="+mj-ea"/>
                  <a:cs typeface="Courier New" panose="02070309020205020404" pitchFamily="49" charset="0"/>
                </a:endParaRPr>
              </a:p>
              <a:p>
                <a:pPr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 ceil</a:t>
                </a:r>
                <a:r>
                  <a:rPr lang="zh-CN" altLang="en-US" sz="2400" b="1" dirty="0"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函数意为取不小于某实数的最小整数。（反之为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floor</a:t>
                </a:r>
                <a:r>
                  <a:rPr lang="zh-CN" altLang="en-US" sz="2400" b="1" dirty="0"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）</a:t>
                </a:r>
                <a:endParaRPr lang="en-US" altLang="zh-CN" sz="2400" b="1" dirty="0">
                  <a:latin typeface="Courier New" panose="02070309020205020404" pitchFamily="49" charset="0"/>
                  <a:ea typeface="+mj-ea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4" y="3723196"/>
                <a:ext cx="8565823" cy="1283813"/>
              </a:xfrm>
              <a:prstGeom prst="rect">
                <a:avLst/>
              </a:prstGeom>
              <a:blipFill rotWithShape="1">
                <a:blip r:embed="rId2"/>
                <a:stretch>
                  <a:fillRect l="-7" t="-15" r="-501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290185" y="6077640"/>
            <a:ext cx="8438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IND=sub2ind([M N],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rowsub,colsub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latin typeface="+mj-ea"/>
                <a:ea typeface="+mj-ea"/>
                <a:cs typeface="Courier New" panose="02070309020205020404" pitchFamily="49" charset="0"/>
              </a:rPr>
              <a:t>得到单序号</a:t>
            </a:r>
            <a:r>
              <a:rPr lang="en-US" altLang="zh-CN" sz="2400" b="1" dirty="0">
                <a:latin typeface="+mj-ea"/>
                <a:ea typeface="+mj-ea"/>
                <a:cs typeface="Courier New" panose="02070309020205020404" pitchFamily="49" charset="0"/>
              </a:rPr>
              <a:t>IND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287992" y="2665563"/>
                <a:ext cx="8438666" cy="837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zh-CN" altLang="en-US" sz="2400" b="1" dirty="0">
                    <a:solidFill>
                      <a:schemeClr val="tx1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假设矩阵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ℝ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𝑴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×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𝑵</m:t>
                        </m:r>
                      </m:sup>
                    </m:sSup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  <a:latin typeface="+mj-ea"/>
                    <a:ea typeface="+mj-ea"/>
                    <a:cs typeface="Courier New" panose="02070309020205020404" pitchFamily="49" charset="0"/>
                  </a:rPr>
                  <a:t>,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+mj-ea"/>
                    <a:ea typeface="+mj-ea"/>
                    <a:cs typeface="Courier New" panose="02070309020205020404" pitchFamily="49" charset="0"/>
                  </a:rPr>
                  <a:t>则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A(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i,j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)=A((j-1)*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M+i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)</a:t>
                </a:r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。如课本图</a:t>
                </a:r>
                <a:r>
                  <a:rPr lang="en-US" altLang="zh-CN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3.2-1</a:t>
                </a:r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所示，单序号编址是按一列一列的顺序进行编排的</a:t>
                </a:r>
                <a:endParaRPr lang="en-US" altLang="zh-CN" sz="2400" b="1" dirty="0">
                  <a:solidFill>
                    <a:schemeClr val="tx1"/>
                  </a:solidFill>
                  <a:latin typeface="+mj-ea"/>
                  <a:ea typeface="+mj-ea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92" y="2665563"/>
                <a:ext cx="8438666" cy="837537"/>
              </a:xfrm>
              <a:prstGeom prst="rect">
                <a:avLst/>
              </a:prstGeom>
              <a:blipFill rotWithShape="1">
                <a:blip r:embed="rId3"/>
                <a:stretch>
                  <a:fillRect l="-4" t="-56" r="6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287992" y="1878322"/>
            <a:ext cx="8438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A(t)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同样可以直接以单个序号进行编址和访问矩阵的元素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87991" y="5126826"/>
            <a:ext cx="85658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rowsub,colsub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]=ind2sub([M N],IND)</a:t>
            </a:r>
            <a:r>
              <a:rPr lang="zh-CN" altLang="en-US" sz="2400" b="1" dirty="0">
                <a:latin typeface="+mj-ea"/>
                <a:ea typeface="+mj-ea"/>
                <a:cs typeface="Courier New" panose="02070309020205020404" pitchFamily="49" charset="0"/>
              </a:rPr>
              <a:t>得到</a:t>
            </a:r>
            <a:r>
              <a:rPr lang="en-US" altLang="zh-CN" sz="2400" b="1" dirty="0">
                <a:latin typeface="+mj-ea"/>
                <a:ea typeface="+mj-ea"/>
                <a:cs typeface="Courier New" panose="02070309020205020404" pitchFamily="49" charset="0"/>
              </a:rPr>
              <a:t>IND</a:t>
            </a:r>
            <a:r>
              <a:rPr lang="zh-CN" altLang="en-US" sz="2400" b="1" dirty="0">
                <a:latin typeface="+mj-ea"/>
                <a:ea typeface="+mj-ea"/>
                <a:cs typeface="Courier New" panose="02070309020205020404" pitchFamily="49" charset="0"/>
              </a:rPr>
              <a:t>对应的行列指标，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  <a:cs typeface="Courier New" panose="02070309020205020404" pitchFamily="49" charset="0"/>
              </a:rPr>
              <a:t>注意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  <a:cs typeface="Courier New" panose="02070309020205020404" pitchFamily="49" charset="0"/>
              </a:rPr>
              <a:t>IND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  <a:cs typeface="Courier New" panose="02070309020205020404" pitchFamily="49" charset="0"/>
              </a:rPr>
              <a:t>可以是一个地址（下标）数组</a:t>
            </a:r>
            <a:r>
              <a:rPr lang="zh-CN" altLang="en-US" sz="2400" b="1" dirty="0">
                <a:latin typeface="+mj-ea"/>
                <a:ea typeface="+mj-ea"/>
                <a:cs typeface="Courier New" panose="02070309020205020404" pitchFamily="49" charset="0"/>
              </a:rPr>
              <a:t>。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9" grpId="0"/>
      <p:bldP spid="12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-387424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二维数组寻访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3.2-1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0185" y="701304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r,c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可访问第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行第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列元素，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与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可以替换为向量指代多行多列，而冒号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:)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将对应指代所有行或所有列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,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每一维的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end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代表了这一维矩阵的规模数，如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1:2:end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  <a:sym typeface="Wingdings" panose="05000000000000000000" pitchFamily="2" charset="2"/>
              </a:rPr>
              <a:t>提取奇指标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7992" y="1901633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ind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可访问</a:t>
            </a:r>
            <a:r>
              <a:rPr lang="en-US" altLang="zh-CN" sz="24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ind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包含的元素，得到规模与</a:t>
            </a:r>
            <a:r>
              <a:rPr lang="en-US" altLang="zh-CN" sz="24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ind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相同的向量，即</a:t>
            </a:r>
            <a:r>
              <a:rPr lang="en-US" altLang="zh-CN" sz="24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ind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为行向量，结果也为行向量。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A(:)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默认列向量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7992" y="2579906"/>
            <a:ext cx="811864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dirty="0">
                <a:latin typeface="Times New Roman" panose="02020603050405020304" pitchFamily="18" charset="0"/>
              </a:rPr>
              <a:t>【例</a:t>
            </a:r>
            <a:r>
              <a:rPr lang="en-US" altLang="zh-CN" dirty="0">
                <a:latin typeface="Times New Roman" panose="02020603050405020304" pitchFamily="18" charset="0"/>
              </a:rPr>
              <a:t>3.2-1</a:t>
            </a:r>
            <a:r>
              <a:rPr lang="zh-CN" altLang="zh-CN" dirty="0">
                <a:latin typeface="Times New Roman" panose="02020603050405020304" pitchFamily="18" charset="0"/>
              </a:rPr>
              <a:t>】</a:t>
            </a:r>
            <a:r>
              <a:rPr lang="zh-CN" altLang="en-US" dirty="0">
                <a:latin typeface="Times New Roman" panose="02020603050405020304" pitchFamily="18" charset="0"/>
              </a:rPr>
              <a:t>二维数组的编址与寻访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clear,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A=[1:3:16;2:3:17;3:3:18]	%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1     4     7    10    13    16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2     5     8    11    14    17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3     6     9    12    15    18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Ass1=A(2,3)	%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Ass1 = 8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r=[2,3]; c=[1,5]; 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包含第二行和第三行，第一列和第五列，共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4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元素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As22=A(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r,c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	%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As22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2    14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		        3    15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 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As26=A([1,3],:)			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As26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1     4     7    10    13    16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3     6     9    12    15    18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-387424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3.2-1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7992" y="755576"/>
            <a:ext cx="811864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dirty="0">
                <a:latin typeface="Times New Roman" panose="02020603050405020304" pitchFamily="18" charset="0"/>
              </a:rPr>
              <a:t>【例</a:t>
            </a:r>
            <a:r>
              <a:rPr lang="en-US" altLang="zh-CN" dirty="0">
                <a:latin typeface="Times New Roman" panose="02020603050405020304" pitchFamily="18" charset="0"/>
              </a:rPr>
              <a:t>3.2-1</a:t>
            </a:r>
            <a:r>
              <a:rPr lang="zh-CN" altLang="zh-CN" dirty="0">
                <a:latin typeface="Times New Roman" panose="02020603050405020304" pitchFamily="18" charset="0"/>
              </a:rPr>
              <a:t>】</a:t>
            </a:r>
            <a:r>
              <a:rPr lang="zh-CN" altLang="en-US" dirty="0">
                <a:latin typeface="Times New Roman" panose="02020603050405020304" pitchFamily="18" charset="0"/>
              </a:rPr>
              <a:t>二维数组的编址与寻访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Ais1=A(8)		%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Ais1 =  8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ind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=[1,3,18];	%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ind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为行向量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Ai1r=A(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ind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		%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Ai1r =  1     3    18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Ai1c=A(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ind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	%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Ai1c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3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18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r,c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)=zeros(2,2)	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5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列，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行子矩阵被改为全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1     4     7    10    13    16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0     5     8    11     0    17</a:t>
            </a:r>
            <a:endParaRPr lang="en-US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0     6     9    12     0    18</a:t>
            </a: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A([1,end])=-A([1,end])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第一个和最后一个元素被取相反数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-1     4     7    10    13    16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0     5     8    11     0    17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     6     9    12     0   -18 </a:t>
            </a:r>
            <a:endParaRPr lang="zh-CN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-387424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3.2-1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7992" y="755576"/>
            <a:ext cx="811864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dirty="0">
                <a:latin typeface="Times New Roman" panose="02020603050405020304" pitchFamily="18" charset="0"/>
              </a:rPr>
              <a:t>【例</a:t>
            </a:r>
            <a:r>
              <a:rPr lang="en-US" altLang="zh-CN" dirty="0">
                <a:latin typeface="Times New Roman" panose="02020603050405020304" pitchFamily="18" charset="0"/>
              </a:rPr>
              <a:t>3.2-1</a:t>
            </a:r>
            <a:r>
              <a:rPr lang="zh-CN" altLang="zh-CN" dirty="0">
                <a:latin typeface="Times New Roman" panose="02020603050405020304" pitchFamily="18" charset="0"/>
              </a:rPr>
              <a:t>】</a:t>
            </a:r>
            <a:r>
              <a:rPr lang="zh-CN" altLang="en-US" dirty="0">
                <a:latin typeface="Times New Roman" panose="02020603050405020304" pitchFamily="18" charset="0"/>
              </a:rPr>
              <a:t>二维数组的编址与寻访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L=A&lt;=0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搜索并标记所有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中小于等于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的值（对应位置为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，否则对应位置为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），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与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为同型矩阵</a:t>
            </a:r>
            <a:r>
              <a:rPr lang="zh-CN" altLang="en-US" b="1" dirty="0">
                <a:solidFill>
                  <a:schemeClr val="accent2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（参考对比获取下标的</a:t>
            </a:r>
            <a:r>
              <a:rPr lang="en-US" altLang="zh-CN" b="1" dirty="0">
                <a:solidFill>
                  <a:schemeClr val="accent2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find</a:t>
            </a:r>
            <a:r>
              <a:rPr lang="zh-CN" altLang="en-US" b="1" dirty="0">
                <a:solidFill>
                  <a:schemeClr val="accent2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函数）</a:t>
            </a:r>
            <a:endParaRPr lang="en-US" altLang="zh-CN" b="1" dirty="0">
              <a:solidFill>
                <a:schemeClr val="accent2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1     0     0     0     0     0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1     0     0     0     1     0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1     0     0     0     1     1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AL=A(L)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访问这些元素并输出值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AL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-1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-18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 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A(L)=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%  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将这些访问的元素的值改为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NaN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NaN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4     7    10    13    16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NaN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5     8    11 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NaN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17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NaN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6     9    12 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NaN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NaN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数组的运算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-for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循环的替代品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0185" y="1027787"/>
            <a:ext cx="843866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除矩阵的乘法和除法（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MATLAB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定义的左右除）外，数组运算与矩阵运算定义并无区别。数组乘除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(.*,./,.\)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、数组乘方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(.^)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的含义即按照各个元素的位置对应相乘（或乘除乘方），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A.*B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需要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B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是同型矩阵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，结果也和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与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B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同型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77151" y="2699125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数组可以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与数值（标量）进行运算，原则为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数值逐一与所有元素做相同的运算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，如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a*B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为数值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与矩阵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B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所有元素相乘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88740" y="3630505"/>
          <a:ext cx="6966520" cy="30906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9392"/>
                <a:gridCol w="716589"/>
                <a:gridCol w="716589"/>
                <a:gridCol w="921742"/>
                <a:gridCol w="954249"/>
                <a:gridCol w="954249"/>
                <a:gridCol w="931855"/>
                <a:gridCol w="931855"/>
              </a:tblGrid>
              <a:tr h="378521">
                <a:tc rowSpan="3"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 dirty="0">
                          <a:effectLst/>
                        </a:rPr>
                        <a:t>算术运算</a:t>
                      </a:r>
                      <a:endParaRPr lang="zh-CN" sz="1300" dirty="0">
                        <a:effectLst/>
                      </a:endParaRPr>
                    </a:p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 dirty="0">
                          <a:effectLst/>
                        </a:rPr>
                        <a:t>Arithmetic Operations</a:t>
                      </a:r>
                      <a:endParaRPr lang="zh-CN" sz="13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298" marR="82298" marT="41149" marB="41149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算符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+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-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.*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 gridSpan="2"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.\ </a:t>
                      </a:r>
                      <a:r>
                        <a:rPr lang="zh-CN" sz="1300">
                          <a:effectLst/>
                        </a:rPr>
                        <a:t>或</a:t>
                      </a:r>
                      <a:r>
                        <a:rPr lang="en-US" sz="1300">
                          <a:effectLst/>
                        </a:rPr>
                        <a:t> ./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298" marR="82298" marT="41149" marB="41149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.^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</a:tr>
              <a:tr h="290384">
                <a:tc vMerge="1"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名称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减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数组乘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 gridSpan="2"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数组左除或数组右除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298" marR="82298" marT="41149" marB="41149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数组幂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</a:tr>
              <a:tr h="366929">
                <a:tc vMerge="1"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示例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 gridSpan="2"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298" marR="82298" marT="41149" marB="41149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</a:tr>
              <a:tr h="192030">
                <a:tc rowSpan="3"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 dirty="0">
                          <a:effectLst/>
                        </a:rPr>
                        <a:t>关系运算</a:t>
                      </a:r>
                      <a:endParaRPr lang="zh-CN" sz="1300" dirty="0">
                        <a:effectLst/>
                      </a:endParaRPr>
                    </a:p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 dirty="0">
                          <a:effectLst/>
                        </a:rPr>
                        <a:t>Relational Operations</a:t>
                      </a:r>
                      <a:endParaRPr lang="zh-CN" sz="13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298" marR="82298" marT="41149" marB="41149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算符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&gt;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&lt;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&gt;=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&lt;=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==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~=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</a:tr>
              <a:tr h="192030">
                <a:tc vMerge="1"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名称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大于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小于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大于等于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小于等于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等于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不等于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</a:tr>
              <a:tr h="663109">
                <a:tc vMerge="1"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示例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zh-CN" sz="13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</a:tr>
              <a:tr h="290384">
                <a:tc rowSpan="3"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逻辑运算</a:t>
                      </a:r>
                      <a:endParaRPr lang="zh-CN" sz="1300">
                        <a:effectLst/>
                      </a:endParaRPr>
                    </a:p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Logical Operations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298" marR="82298" marT="41149" marB="41149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算符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&amp;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|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~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xor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 gridSpan="2"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 dirty="0">
                          <a:effectLst/>
                        </a:rPr>
                        <a:t> </a:t>
                      </a:r>
                      <a:endParaRPr lang="zh-CN" sz="13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298" marR="82298" marT="41149" marB="41149" anchor="ctr"/>
                </a:tc>
                <a:tc hMerge="1">
                  <a:tcPr/>
                </a:tc>
              </a:tr>
              <a:tr h="290384">
                <a:tc vMerge="1"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名称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与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或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非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异或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 gridSpan="2"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 dirty="0">
                          <a:effectLst/>
                        </a:rPr>
                        <a:t> </a:t>
                      </a:r>
                      <a:endParaRPr lang="zh-CN" sz="13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298" marR="82298" marT="41149" marB="41149" anchor="ctr"/>
                </a:tc>
                <a:tc hMerge="1">
                  <a:tcPr/>
                </a:tc>
              </a:tr>
              <a:tr h="364074">
                <a:tc vMerge="1">
                  <a:tcPr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>
                          <a:effectLst/>
                        </a:rPr>
                        <a:t>示例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zh-CN" sz="13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016" marR="78016" marT="0" marB="0" anchor="ctr"/>
                </a:tc>
                <a:tc gridSpan="2">
                  <a:txBody>
                    <a:bodyPr/>
                    <a:lstStyle/>
                    <a:p>
                      <a:pPr algn="just" hangingPunct="0">
                        <a:spcAft>
                          <a:spcPts val="0"/>
                        </a:spcAft>
                        <a:tabLst>
                          <a:tab pos="269875" algn="l"/>
                        </a:tabLst>
                      </a:pPr>
                      <a:r>
                        <a:rPr lang="zh-CN" sz="1300" dirty="0">
                          <a:effectLst/>
                        </a:rPr>
                        <a:t> </a:t>
                      </a:r>
                      <a:endParaRPr lang="zh-CN" sz="13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298" marR="82298" marT="41149" marB="41149" anchor="ctr"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数组的运算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-for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循环的替代品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0185" y="1027787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数组的加法、减法、点乘、点除等运算都需要两个数组是完全同型的矩阵。事实上，数组和向量也可以进行类似的运算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0185" y="2132856"/>
            <a:ext cx="8438666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设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为</a:t>
            </a:r>
            <a:r>
              <a:rPr lang="en-US" altLang="zh-CN" sz="2400" b="1" dirty="0" err="1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mXn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的矩阵，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B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为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mX1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的列向量，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如果希望计算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的每一列都加上矩阵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B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并储存结果矩阵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，可以使用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MATLAB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函数</a:t>
            </a:r>
            <a:endParaRPr lang="en-US" altLang="zh-CN" sz="2400" b="1" dirty="0"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>
              <a:spcBef>
                <a:spcPts val="580"/>
              </a:spcBef>
              <a:buClr>
                <a:srgbClr val="00B050"/>
              </a:buClr>
              <a:buSzPct val="85000"/>
            </a:pP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bsxfun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(@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plus,A,B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),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新版本也可以直接相加！</a:t>
            </a:r>
            <a:endParaRPr lang="en-US" altLang="zh-CN" sz="2400" b="1" dirty="0">
              <a:solidFill>
                <a:srgbClr val="FF0000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0185" y="3473901"/>
            <a:ext cx="8438666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类似可以使用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bsxfun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(@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minus,A,B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) 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bsxfun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(@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times,A,B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bsxfun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(@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ldivide,A,B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2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580"/>
              </a:spcBef>
              <a:buClr>
                <a:srgbClr val="00B050"/>
              </a:buClr>
              <a:buSzPct val="85000"/>
            </a:pP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bsxfun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(@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rdivide,A,B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bsxfun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(@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power,A,B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2400" b="1" dirty="0">
              <a:solidFill>
                <a:schemeClr val="accent2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0185" y="4814946"/>
            <a:ext cx="8438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MATLAB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计算优先级与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C++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完全相同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，小括号可改变优先级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18754" y="5445224"/>
          <a:ext cx="7581527" cy="10364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2735"/>
                <a:gridCol w="1966264"/>
                <a:gridCol w="1966264"/>
                <a:gridCol w="1966264"/>
              </a:tblGrid>
              <a:tr h="290445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  <a:tab pos="3810" algn="l"/>
                        </a:tabLst>
                      </a:pPr>
                      <a:r>
                        <a:rPr lang="zh-CN" sz="1900">
                          <a:effectLst/>
                        </a:rPr>
                        <a:t>代数运算</a:t>
                      </a:r>
                      <a:endParaRPr lang="zh-CN" sz="1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4476" marR="12447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  <a:tab pos="3810" algn="l"/>
                        </a:tabLst>
                      </a:pPr>
                      <a:r>
                        <a:rPr lang="en-US" sz="1900">
                          <a:effectLst/>
                        </a:rPr>
                        <a:t>.^</a:t>
                      </a:r>
                      <a:endParaRPr lang="zh-CN" sz="1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4476" marR="124476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  <a:tab pos="3810" algn="l"/>
                        </a:tabLst>
                      </a:pPr>
                      <a:r>
                        <a:rPr lang="en-US" sz="1900">
                          <a:effectLst/>
                        </a:rPr>
                        <a:t>.*</a:t>
                      </a:r>
                      <a:r>
                        <a:rPr lang="zh-CN" sz="1900">
                          <a:effectLst/>
                        </a:rPr>
                        <a:t>、</a:t>
                      </a:r>
                      <a:r>
                        <a:rPr lang="en-US" sz="1900">
                          <a:effectLst/>
                        </a:rPr>
                        <a:t>./</a:t>
                      </a:r>
                      <a:r>
                        <a:rPr lang="zh-CN" sz="1900">
                          <a:effectLst/>
                        </a:rPr>
                        <a:t>、</a:t>
                      </a:r>
                      <a:r>
                        <a:rPr lang="en-US" sz="1900">
                          <a:effectLst/>
                        </a:rPr>
                        <a:t>.\</a:t>
                      </a:r>
                      <a:endParaRPr lang="zh-CN" sz="1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4476" marR="124476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  <a:tab pos="3810" algn="l"/>
                        </a:tabLst>
                      </a:pPr>
                      <a:r>
                        <a:rPr lang="en-US" sz="1900">
                          <a:effectLst/>
                        </a:rPr>
                        <a:t>+</a:t>
                      </a:r>
                      <a:r>
                        <a:rPr lang="zh-CN" sz="1900">
                          <a:effectLst/>
                        </a:rPr>
                        <a:t>、</a:t>
                      </a:r>
                      <a:r>
                        <a:rPr lang="en-US" sz="1900">
                          <a:effectLst/>
                        </a:rPr>
                        <a:t>-</a:t>
                      </a:r>
                      <a:endParaRPr lang="zh-CN" sz="1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4476" marR="124476" marT="0" marB="0"/>
                </a:tc>
              </a:tr>
              <a:tr h="290445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  <a:tab pos="3810" algn="l"/>
                        </a:tabLst>
                      </a:pPr>
                      <a:r>
                        <a:rPr lang="zh-CN" sz="1900">
                          <a:effectLst/>
                        </a:rPr>
                        <a:t>关系运算</a:t>
                      </a:r>
                      <a:endParaRPr lang="zh-CN" sz="1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4476" marR="124476" marT="0" marB="0" anchor="ctr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  <a:tab pos="3810" algn="l"/>
                        </a:tabLst>
                      </a:pPr>
                      <a:r>
                        <a:rPr lang="en-US" sz="1900">
                          <a:effectLst/>
                        </a:rPr>
                        <a:t>==</a:t>
                      </a:r>
                      <a:r>
                        <a:rPr lang="zh-CN" sz="1900">
                          <a:effectLst/>
                        </a:rPr>
                        <a:t>、</a:t>
                      </a:r>
                      <a:r>
                        <a:rPr lang="en-US" sz="1900">
                          <a:effectLst/>
                        </a:rPr>
                        <a:t>~=</a:t>
                      </a:r>
                      <a:endParaRPr lang="zh-CN" sz="1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4476" marR="124476" marT="0" marB="0"/>
                </a:tc>
                <a:tc gridSpan="2"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  <a:tab pos="3810" algn="l"/>
                        </a:tabLst>
                      </a:pPr>
                      <a:r>
                        <a:rPr lang="en-US" sz="1900">
                          <a:effectLst/>
                        </a:rPr>
                        <a:t>&gt;</a:t>
                      </a:r>
                      <a:r>
                        <a:rPr lang="zh-CN" sz="1900">
                          <a:effectLst/>
                        </a:rPr>
                        <a:t>、</a:t>
                      </a:r>
                      <a:r>
                        <a:rPr lang="en-US" sz="1900">
                          <a:effectLst/>
                        </a:rPr>
                        <a:t>&lt;</a:t>
                      </a:r>
                      <a:r>
                        <a:rPr lang="zh-CN" sz="1900">
                          <a:effectLst/>
                        </a:rPr>
                        <a:t>、</a:t>
                      </a:r>
                      <a:r>
                        <a:rPr lang="en-US" sz="1900">
                          <a:effectLst/>
                        </a:rPr>
                        <a:t>&gt;=</a:t>
                      </a:r>
                      <a:r>
                        <a:rPr lang="zh-CN" sz="1900">
                          <a:effectLst/>
                        </a:rPr>
                        <a:t>、</a:t>
                      </a:r>
                      <a:r>
                        <a:rPr lang="en-US" sz="1900">
                          <a:effectLst/>
                        </a:rPr>
                        <a:t>&lt;=</a:t>
                      </a:r>
                      <a:endParaRPr lang="zh-CN" sz="1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65968" marR="165968" marT="82984" marB="82984"/>
                </a:tc>
                <a:tc hMerge="1">
                  <a:tcPr/>
                </a:tc>
              </a:tr>
              <a:tr h="290445"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  <a:tab pos="3810" algn="l"/>
                        </a:tabLst>
                      </a:pPr>
                      <a:r>
                        <a:rPr lang="zh-CN" sz="1900">
                          <a:effectLst/>
                        </a:rPr>
                        <a:t>逻辑运算</a:t>
                      </a:r>
                      <a:endParaRPr lang="zh-CN" sz="1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4476" marR="124476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  <a:tab pos="3810" algn="l"/>
                        </a:tabLst>
                      </a:pPr>
                      <a:r>
                        <a:rPr lang="en-US" sz="1900">
                          <a:effectLst/>
                        </a:rPr>
                        <a:t>~</a:t>
                      </a:r>
                      <a:endParaRPr lang="zh-CN" sz="1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4476" marR="124476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  <a:tab pos="3810" algn="l"/>
                        </a:tabLst>
                      </a:pPr>
                      <a:r>
                        <a:rPr lang="en-US" sz="1900">
                          <a:effectLst/>
                        </a:rPr>
                        <a:t>&amp;</a:t>
                      </a:r>
                      <a:endParaRPr lang="zh-CN" sz="1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4476" marR="124476" marT="0" marB="0"/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  <a:tabLst>
                          <a:tab pos="269875" algn="l"/>
                          <a:tab pos="3810" algn="l"/>
                        </a:tabLst>
                      </a:pPr>
                      <a:r>
                        <a:rPr lang="en-US" sz="1900" dirty="0">
                          <a:effectLst/>
                        </a:rPr>
                        <a:t>|</a:t>
                      </a:r>
                      <a:endParaRPr lang="zh-CN" sz="1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24476" marR="124476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3.3-1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6934" y="836712"/>
            <a:ext cx="8622704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dirty="0">
                <a:latin typeface="Times New Roman" panose="02020603050405020304" pitchFamily="18" charset="0"/>
              </a:rPr>
              <a:t>【例</a:t>
            </a:r>
            <a:r>
              <a:rPr lang="en-US" altLang="zh-CN" dirty="0">
                <a:latin typeface="Times New Roman" panose="02020603050405020304" pitchFamily="18" charset="0"/>
              </a:rPr>
              <a:t>3.3-1</a:t>
            </a:r>
            <a:r>
              <a:rPr lang="zh-CN" altLang="zh-CN" dirty="0">
                <a:latin typeface="Times New Roman" panose="02020603050405020304" pitchFamily="18" charset="0"/>
              </a:rPr>
              <a:t>】</a:t>
            </a:r>
            <a:r>
              <a:rPr lang="zh-CN" altLang="en-US" dirty="0">
                <a:latin typeface="Times New Roman" panose="02020603050405020304" pitchFamily="18" charset="0"/>
              </a:rPr>
              <a:t>数组方法绘图以及奇异点的解决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clear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t=-3*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pi:pi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/10:3*pi;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共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61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个采样点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=sin(t);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整体调用函数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sin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st.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/t;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得到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sinc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函数，</a:t>
            </a:r>
            <a:r>
              <a:rPr lang="zh-CN" altLang="en-US" b="1" dirty="0">
                <a:solidFill>
                  <a:schemeClr val="accent2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但</a:t>
            </a:r>
            <a:r>
              <a:rPr lang="en-US" altLang="zh-CN" b="1" dirty="0">
                <a:solidFill>
                  <a:schemeClr val="accent2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chemeClr val="accent2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点会出现</a:t>
            </a:r>
            <a:r>
              <a:rPr lang="en-US" altLang="zh-CN" b="1" dirty="0" err="1">
                <a:solidFill>
                  <a:schemeClr val="accent2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NaN</a:t>
            </a:r>
            <a:endParaRPr lang="zh-CN" altLang="zh-CN" dirty="0">
              <a:solidFill>
                <a:schemeClr val="accent2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Lt=(t==0);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得到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t=0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的对应位置为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，其余位置为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t+Lt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.*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realmin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;	      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仅在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点处加上一个最小实数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yy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=sin(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)./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;		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subplot(1,2,1),plot(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t,y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),axis([-9,9,-0.5,1.2]),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xlabel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('t'),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ylabel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('y'),title('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残缺图形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subplot(1,2,2),plot(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tt,yy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),axis([-9,9,-0.5,1.2])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xlabel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'),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ylabel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yy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'),title('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正确图形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784" y="4190864"/>
            <a:ext cx="3888432" cy="26671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3.3-2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6934" y="836712"/>
            <a:ext cx="862270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dirty="0">
                <a:latin typeface="Times New Roman" panose="02020603050405020304" pitchFamily="18" charset="0"/>
              </a:rPr>
              <a:t>【例</a:t>
            </a:r>
            <a:r>
              <a:rPr lang="en-US" altLang="zh-CN" dirty="0">
                <a:latin typeface="Times New Roman" panose="02020603050405020304" pitchFamily="18" charset="0"/>
              </a:rPr>
              <a:t>3.3-2</a:t>
            </a:r>
            <a:r>
              <a:rPr lang="zh-CN" altLang="zh-CN" dirty="0">
                <a:latin typeface="Times New Roman" panose="02020603050405020304" pitchFamily="18" charset="0"/>
              </a:rPr>
              <a:t>】</a:t>
            </a:r>
            <a:r>
              <a:rPr lang="zh-CN" altLang="en-US" dirty="0">
                <a:latin typeface="Times New Roman" panose="02020603050405020304" pitchFamily="18" charset="0"/>
              </a:rPr>
              <a:t>逻辑数组的定义与性质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A=[-2,-1,0,0,1,2,3]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  -2    -1     0     0     1     2     3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B=[0,-1,1,0,1,-2,-3]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 =   0    -1     1     0     1    -2    -3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disp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(['A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的数据类型是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', class(A)])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的数据类型是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double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66700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66700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66700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R1=A==B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逐个判断元素是否相等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R1 =  0     1     0     1     1     0    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R2=A&gt;B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逐个元素判断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中元素是否比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中元素更大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R2 =  0     0     0     0     0     1     1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fprintf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('R1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的数据类型是什么？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%s\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n',class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(R1))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R1</a:t>
            </a: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的数据类型是什么？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logical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fprintf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('R2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的数据属于逻辑类？（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为真；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为假）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%d\n',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islogical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(R2))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R2</a:t>
            </a: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的数据属于逻辑类？（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为真；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为假）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1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3.3-2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6934" y="836712"/>
            <a:ext cx="8622704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dirty="0">
                <a:latin typeface="Times New Roman" panose="02020603050405020304" pitchFamily="18" charset="0"/>
              </a:rPr>
              <a:t>【例</a:t>
            </a:r>
            <a:r>
              <a:rPr lang="en-US" altLang="zh-CN" dirty="0">
                <a:latin typeface="Times New Roman" panose="02020603050405020304" pitchFamily="18" charset="0"/>
              </a:rPr>
              <a:t>3.3-2</a:t>
            </a:r>
            <a:r>
              <a:rPr lang="zh-CN" altLang="zh-CN" dirty="0">
                <a:latin typeface="Times New Roman" panose="02020603050405020304" pitchFamily="18" charset="0"/>
              </a:rPr>
              <a:t>】</a:t>
            </a:r>
            <a:r>
              <a:rPr lang="zh-CN" altLang="en-US" dirty="0">
                <a:latin typeface="Times New Roman" panose="02020603050405020304" pitchFamily="18" charset="0"/>
              </a:rPr>
              <a:t>逻辑数组的定义与性质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LA=logical(A)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LA =    1     1     0     0     1     1     1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LB=logical(B)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LB =   0     1     1     0     1     1     1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L1=LA&amp;LB </a:t>
            </a:r>
            <a:r>
              <a:rPr lang="en-US" altLang="zh-CN" sz="20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L1 =  0     1     0     0     1     1     1</a:t>
            </a:r>
            <a:endParaRPr lang="zh-CN" altLang="zh-CN" sz="20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LL1=A&amp;B 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直接对矩阵做逻辑运算会先转化成逻辑型（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或非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LL1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0     1     0     0     1     1     1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L3=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xor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(LA,LB)	%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L3 =  1     0     1     0     0     0    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LL3=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xor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(A,B)	%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LL3 = 1     0     1     0     0     0     0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TOTAL1=all([1,1,1,1,1])%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是否全部非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	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TOTAL1 =   1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TOTAL2=all([1,0,1,1,1]) </a:t>
            </a:r>
            <a:r>
              <a:rPr lang="en-US" altLang="zh-CN" sz="2000" dirty="0">
                <a:latin typeface="Times New Roman" panose="02020603050405020304" pitchFamily="18" charset="0"/>
              </a:rPr>
              <a:t> 		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TOTAL2 =   0 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ANYONE1=any([0,1,0,0,0])%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是否存在非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ANYONE1 =  1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ANYONE2=any([0,0,0,0,0]) </a:t>
            </a:r>
            <a:r>
              <a:rPr lang="en-US" altLang="zh-CN" sz="2000" dirty="0">
                <a:latin typeface="Times New Roman" panose="02020603050405020304" pitchFamily="18" charset="0"/>
              </a:rPr>
              <a:t> 		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ANYONE2 =   0 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zh-CN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数组的函数调用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-for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循环的替代品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0185" y="1027787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MATLAB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利用函数重载功能，支持数组的整体函数调用，原理即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对每一个元素分别调用相同的函数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。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  <p:graphicFrame>
        <p:nvGraphicFramePr>
          <p:cNvPr id="9" name="Group 2"/>
          <p:cNvGraphicFramePr/>
          <p:nvPr/>
        </p:nvGraphicFramePr>
        <p:xfrm>
          <a:off x="782086" y="2060848"/>
          <a:ext cx="7740923" cy="4310020"/>
        </p:xfrm>
        <a:graphic>
          <a:graphicData uri="http://schemas.openxmlformats.org/drawingml/2006/table">
            <a:tbl>
              <a:tblPr/>
              <a:tblGrid>
                <a:gridCol w="932146"/>
                <a:gridCol w="1586019"/>
                <a:gridCol w="932146"/>
                <a:gridCol w="1754627"/>
                <a:gridCol w="785470"/>
                <a:gridCol w="1750515"/>
              </a:tblGrid>
              <a:tr h="3947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含义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含义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含义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47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acos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反余弦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asinh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反双曲正弦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csch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双曲余割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47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acosh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反双曲余弦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atan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反正切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sec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正割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47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acot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反余切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atan2</a:t>
                      </a:r>
                      <a:endParaRPr kumimoji="1" lang="en-US" altLang="zh-CN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四象限反正切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sech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双曲正割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47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acoth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反双曲余切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atanh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反双曲正切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sin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正弦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47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acsc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反余割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cos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余弦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sinh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双曲正弦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47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acsch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反双曲余割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cosh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双曲余弦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tan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正切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47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asec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反正割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cot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余切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tanh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双曲正切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47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asech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反双曲正割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coth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双曲余切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47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asin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反正弦</a:t>
                      </a:r>
                      <a:endParaRPr kumimoji="1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csc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余割</a:t>
                      </a: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8958" marR="78958" marT="39479" marB="394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数组的函数调用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-for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循环的替代品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68313" y="976685"/>
            <a:ext cx="71278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kumimoji="0" lang="zh-CN" altLang="en-US" sz="1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　　　　　　　　　　　　　</a:t>
            </a:r>
            <a:r>
              <a:rPr kumimoji="0"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指数函数</a:t>
            </a:r>
            <a:endParaRPr kumimoji="0" lang="zh-CN" altLang="en-US" sz="28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aphicFrame>
        <p:nvGraphicFramePr>
          <p:cNvPr id="6" name="Group 3"/>
          <p:cNvGraphicFramePr/>
          <p:nvPr/>
        </p:nvGraphicFramePr>
        <p:xfrm>
          <a:off x="250825" y="1695822"/>
          <a:ext cx="8497888" cy="1607820"/>
        </p:xfrm>
        <a:graphic>
          <a:graphicData uri="http://schemas.openxmlformats.org/drawingml/2006/table">
            <a:tbl>
              <a:tblPr/>
              <a:tblGrid>
                <a:gridCol w="895350"/>
                <a:gridCol w="1612900"/>
                <a:gridCol w="1114425"/>
                <a:gridCol w="2327275"/>
                <a:gridCol w="1093788"/>
                <a:gridCol w="1454150"/>
              </a:tblGrid>
              <a:tr h="239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含　义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　含　义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含　义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exp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指数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(e</a:t>
                      </a:r>
                      <a:r>
                        <a:rPr kumimoji="1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log10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常用对数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pow2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２的幂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log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自然对数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log2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以２为底对数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sqrt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平方根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33"/>
          <p:cNvSpPr txBox="1">
            <a:spLocks noChangeArrowheads="1"/>
          </p:cNvSpPr>
          <p:nvPr/>
        </p:nvSpPr>
        <p:spPr bwMode="auto">
          <a:xfrm>
            <a:off x="1619250" y="3609007"/>
            <a:ext cx="5761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kumimoji="0" lang="zh-CN" altLang="en-US" sz="1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　　　　　　　　</a:t>
            </a:r>
            <a:r>
              <a:rPr kumimoji="0"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复数函数</a:t>
            </a:r>
            <a:endParaRPr kumimoji="0" lang="zh-CN" altLang="en-US" sz="28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aphicFrame>
        <p:nvGraphicFramePr>
          <p:cNvPr id="8" name="Group 34"/>
          <p:cNvGraphicFramePr>
            <a:graphicFrameLocks noGrp="1"/>
          </p:cNvGraphicFramePr>
          <p:nvPr/>
        </p:nvGraphicFramePr>
        <p:xfrm>
          <a:off x="389731" y="4509120"/>
          <a:ext cx="8220075" cy="1554480"/>
        </p:xfrm>
        <a:graphic>
          <a:graphicData uri="http://schemas.openxmlformats.org/drawingml/2006/table">
            <a:tbl>
              <a:tblPr/>
              <a:tblGrid>
                <a:gridCol w="1114425"/>
                <a:gridCol w="1970088"/>
                <a:gridCol w="1014412"/>
                <a:gridCol w="1612900"/>
                <a:gridCol w="895350"/>
                <a:gridCol w="1612900"/>
              </a:tblGrid>
              <a:tr h="257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含　义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含　义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含　义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abs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模或绝对值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conj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复数共轭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real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复数实部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angle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相角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弧度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imag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复数虚部</a:t>
                      </a: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数组的函数调用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-for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循环的替代品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935831" y="939271"/>
            <a:ext cx="71278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buFontTx/>
              <a:buNone/>
            </a:pPr>
            <a:r>
              <a:rPr lang="zh-CN" altLang="en-US" sz="2800" b="1" dirty="0">
                <a:latin typeface="+mj-ea"/>
                <a:ea typeface="+mj-ea"/>
              </a:rPr>
              <a:t>取整</a:t>
            </a:r>
            <a:r>
              <a:rPr kumimoji="0"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函数与取余函数</a:t>
            </a:r>
            <a:endParaRPr kumimoji="0" lang="zh-CN" altLang="en-US" sz="28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7" name="Text Box 33"/>
          <p:cNvSpPr txBox="1">
            <a:spLocks noChangeArrowheads="1"/>
          </p:cNvSpPr>
          <p:nvPr/>
        </p:nvSpPr>
        <p:spPr bwMode="auto">
          <a:xfrm>
            <a:off x="1691480" y="3925209"/>
            <a:ext cx="5761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kumimoji="0" lang="zh-CN" altLang="en-US" sz="18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　　　　　　　　</a:t>
            </a:r>
            <a:r>
              <a:rPr kumimoji="0"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坐标变换函数</a:t>
            </a:r>
            <a:endParaRPr kumimoji="0" lang="zh-CN" altLang="en-US" sz="28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aphicFrame>
        <p:nvGraphicFramePr>
          <p:cNvPr id="9" name="Group 26"/>
          <p:cNvGraphicFramePr>
            <a:graphicFrameLocks noGrp="1"/>
          </p:cNvGraphicFramePr>
          <p:nvPr/>
        </p:nvGraphicFramePr>
        <p:xfrm>
          <a:off x="716781" y="1512150"/>
          <a:ext cx="7710437" cy="2421290"/>
        </p:xfrm>
        <a:graphic>
          <a:graphicData uri="http://schemas.openxmlformats.org/drawingml/2006/table">
            <a:tbl>
              <a:tblPr/>
              <a:tblGrid>
                <a:gridCol w="910950"/>
                <a:gridCol w="2508823"/>
                <a:gridCol w="1114207"/>
                <a:gridCol w="3176457"/>
              </a:tblGrid>
              <a:tr h="4842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  <a:endParaRPr kumimoji="1" lang="zh-CN" alt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含　　义</a:t>
                      </a:r>
                      <a:endParaRPr kumimoji="1" lang="zh-CN" alt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  <a:endParaRPr kumimoji="1" lang="zh-CN" alt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　含　　义</a:t>
                      </a:r>
                      <a:endParaRPr kumimoji="1" lang="zh-CN" alt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2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ceil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向＋∞取整函数</a:t>
                      </a:r>
                      <a:endParaRPr kumimoji="1" lang="zh-CN" alt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rem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求余数</a:t>
                      </a:r>
                      <a:endParaRPr kumimoji="1" lang="zh-CN" alt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2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fix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向０取整函数</a:t>
                      </a:r>
                      <a:endParaRPr kumimoji="1" lang="zh-CN" alt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round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四舍五入</a:t>
                      </a:r>
                      <a:endParaRPr kumimoji="1" lang="zh-CN" alt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2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floor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向－∞取整函数</a:t>
                      </a:r>
                      <a:endParaRPr kumimoji="1" lang="zh-CN" alt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sign</a:t>
                      </a:r>
                      <a:endParaRPr kumimoji="1" lang="en-US" altLang="zh-CN" sz="2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符号函数   </a:t>
                      </a:r>
                      <a:r>
                        <a:rPr kumimoji="1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r>
                        <a:rPr kumimoji="1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(-1), </a:t>
                      </a:r>
                      <a:r>
                        <a:rPr kumimoji="1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1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(1)</a:t>
                      </a:r>
                      <a:endParaRPr kumimoji="1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           </a:t>
                      </a:r>
                      <a:r>
                        <a:rPr kumimoji="1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(0)</a:t>
                      </a:r>
                      <a:endParaRPr kumimoji="1" lang="en-US" altLang="zh-CN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2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mod</a:t>
                      </a:r>
                      <a:endParaRPr kumimoji="1" lang="en-US" altLang="zh-CN" sz="2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模除求余</a:t>
                      </a:r>
                      <a:endParaRPr kumimoji="1" lang="zh-CN" alt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457" marR="85457" marT="42729" marB="42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</a:tbl>
          </a:graphicData>
        </a:graphic>
      </p:graphicFrame>
      <p:graphicFrame>
        <p:nvGraphicFramePr>
          <p:cNvPr id="10" name="Group 3"/>
          <p:cNvGraphicFramePr/>
          <p:nvPr/>
        </p:nvGraphicFramePr>
        <p:xfrm>
          <a:off x="611560" y="4444322"/>
          <a:ext cx="8101310" cy="1539382"/>
        </p:xfrm>
        <a:graphic>
          <a:graphicData uri="http://schemas.openxmlformats.org/drawingml/2006/table">
            <a:tbl>
              <a:tblPr/>
              <a:tblGrid>
                <a:gridCol w="1272241"/>
                <a:gridCol w="2779152"/>
                <a:gridCol w="1236819"/>
                <a:gridCol w="2813098"/>
              </a:tblGrid>
              <a:tr h="4678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名称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013" marR="85013" marT="42506" marB="425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　含　　义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013" marR="85013" marT="42506" marB="425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名称</a:t>
                      </a:r>
                      <a:endParaRPr kumimoji="1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013" marR="85013" marT="42506" marB="425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　含　义</a:t>
                      </a:r>
                      <a:endParaRPr kumimoji="1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013" marR="85013" marT="42506" marB="425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57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cart2sph</a:t>
                      </a:r>
                      <a:endParaRPr kumimoji="1" lang="en-US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013" marR="85013" marT="42506" marB="425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直角坐标变球坐标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013" marR="85013" marT="42506" marB="425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pol2cart</a:t>
                      </a:r>
                      <a:endParaRPr kumimoji="1" lang="en-US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013" marR="85013" marT="42506" marB="425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极坐标变直角坐标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013" marR="85013" marT="42506" marB="425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57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cart2pol</a:t>
                      </a:r>
                      <a:endParaRPr kumimoji="1" lang="en-US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013" marR="85013" marT="42506" marB="425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直角坐标变极坐标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013" marR="85013" marT="42506" marB="425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sph2cart</a:t>
                      </a:r>
                      <a:endParaRPr kumimoji="1" lang="en-US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013" marR="85013" marT="42506" marB="425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球坐标变直角坐标</a:t>
                      </a:r>
                      <a:endParaRPr kumimoji="1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5013" marR="85013" marT="42506" marB="425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274204" y="5983704"/>
            <a:ext cx="85462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其余函数请大家自学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,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重点函数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: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int8, int32, num2str, double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均为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MATLAB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非常常用的类型转换函数）</a:t>
            </a:r>
            <a:endParaRPr lang="en-US" altLang="zh-CN" sz="2400" b="1" dirty="0">
              <a:latin typeface="+mj-ea"/>
              <a:ea typeface="+mj-ea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71400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预习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-M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脚本与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函数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3528" y="971600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latin typeface="+mj-ea"/>
                <a:ea typeface="+mj-ea"/>
              </a:rPr>
              <a:t>M</a:t>
            </a:r>
            <a:r>
              <a:rPr lang="zh-CN" altLang="en-US" sz="2400" b="1" dirty="0">
                <a:latin typeface="+mj-ea"/>
                <a:ea typeface="+mj-ea"/>
              </a:rPr>
              <a:t>脚本文件可以理解为代码的组合，一次运行可以将一串代码按照顺序依次运行</a:t>
            </a:r>
            <a:r>
              <a:rPr lang="en-US" altLang="zh-CN" sz="2400" b="1" dirty="0">
                <a:latin typeface="+mj-ea"/>
                <a:ea typeface="+mj-ea"/>
              </a:rPr>
              <a:t>(</a:t>
            </a:r>
            <a:r>
              <a:rPr lang="zh-CN" altLang="en-US" sz="2400" b="1" dirty="0">
                <a:latin typeface="+mj-ea"/>
                <a:ea typeface="+mj-ea"/>
              </a:rPr>
              <a:t>下图为华氏度转摄氏度脚本）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3528" y="3109511"/>
            <a:ext cx="84386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latin typeface="+mj-ea"/>
                <a:ea typeface="+mj-ea"/>
              </a:rPr>
              <a:t>M</a:t>
            </a:r>
            <a:r>
              <a:rPr lang="zh-CN" altLang="en-US" sz="2400" b="1" dirty="0">
                <a:latin typeface="+mj-ea"/>
                <a:ea typeface="+mj-ea"/>
              </a:rPr>
              <a:t>函数文件则拥有返回值与参数列表，无需指定各个变量的类型，左下图中</a:t>
            </a:r>
            <a:r>
              <a:rPr lang="en-US" altLang="zh-CN" sz="2400" b="1" dirty="0" err="1">
                <a:latin typeface="+mj-ea"/>
                <a:ea typeface="+mj-ea"/>
              </a:rPr>
              <a:t>output_args</a:t>
            </a:r>
            <a:r>
              <a:rPr lang="zh-CN" altLang="en-US" sz="2400" b="1" dirty="0">
                <a:latin typeface="+mj-ea"/>
                <a:ea typeface="+mj-ea"/>
              </a:rPr>
              <a:t>为返回值列表，不同返回值可以是数值、字符串、数组、胞元，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一般用逗号隔开</a:t>
            </a:r>
            <a:r>
              <a:rPr lang="zh-CN" altLang="en-US" sz="2400" b="1" dirty="0">
                <a:latin typeface="+mj-ea"/>
                <a:ea typeface="+mj-ea"/>
              </a:rPr>
              <a:t>。</a:t>
            </a:r>
            <a:r>
              <a:rPr lang="en-US" altLang="zh-CN" sz="2400" b="1" dirty="0" err="1">
                <a:latin typeface="+mj-ea"/>
                <a:ea typeface="+mj-ea"/>
              </a:rPr>
              <a:t>input_args</a:t>
            </a:r>
            <a:r>
              <a:rPr lang="zh-CN" altLang="en-US" sz="2400" b="1" dirty="0">
                <a:latin typeface="+mj-ea"/>
                <a:ea typeface="+mj-ea"/>
              </a:rPr>
              <a:t>为参数列表，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同样用逗号隔开</a:t>
            </a:r>
            <a:r>
              <a:rPr lang="zh-CN" altLang="en-US" sz="2400" b="1" dirty="0">
                <a:latin typeface="+mj-ea"/>
                <a:ea typeface="+mj-ea"/>
              </a:rPr>
              <a:t>，与调用对应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仅包括一个函数的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M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函数文件结尾的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end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可不写。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5157192"/>
            <a:ext cx="3814790" cy="13239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836" y="1985294"/>
            <a:ext cx="4106328" cy="96030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684" y="5157192"/>
            <a:ext cx="2985333" cy="1323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3.3-3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：分段光滑曲线的绘制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836712"/>
            <a:ext cx="8400774" cy="157838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1520" y="2415099"/>
            <a:ext cx="711053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function y=exm030303_1(x)%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需单独建立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exm030303_1.m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% exm030303_1	,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利用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for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循环与逐个的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if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语句判断，效率低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% x					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% y					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M=length(x);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y=zeros(1,M);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for 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=1:M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if x(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)&lt;=-1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marL="252095" indent="252095"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y(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)=x(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);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indent="252095">
              <a:tabLst>
                <a:tab pos="269875" algn="l"/>
                <a:tab pos="266700" algn="l"/>
              </a:tabLst>
            </a:pP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elseif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-1&lt;x(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)&amp;&amp;x(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)&lt;=1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marL="252095" indent="252095"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y(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)=x(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)^3*cos(2*pi*x(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));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indent="252095"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else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marL="252095" indent="252095"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y(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)=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exp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(-x(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)+1);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indent="252095"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end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end</a:t>
            </a:r>
            <a:endParaRPr lang="zh-CN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3.3-3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：分段光滑曲线的绘制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1520" y="843677"/>
            <a:ext cx="849694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function</a:t>
            </a:r>
            <a:r>
              <a:rPr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 y=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exm030303_</a:t>
            </a:r>
            <a:r>
              <a:rPr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2(x)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需单独建立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exm030303_2.m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% 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exm030303_</a:t>
            </a:r>
            <a:r>
              <a:rPr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2		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L1=x&lt;=-1;	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按照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分别将三个分段的位置标记到同型逻辑矩阵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L2=-1&lt;</a:t>
            </a:r>
            <a:r>
              <a:rPr lang="en-US" altLang="zh-CN" b="1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x&amp;x</a:t>
            </a:r>
            <a:r>
              <a:rPr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&lt;=1;		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L3=1&lt;x;			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y=zeros(size(x));%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为结果矩阵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y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先申请一个规模与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一样的向量</a:t>
            </a:r>
            <a:endParaRPr lang="zh-CN" altLang="zh-CN" b="1" dirty="0">
              <a:solidFill>
                <a:srgbClr val="FF0000"/>
              </a:solidFill>
              <a:highlight>
                <a:srgbClr val="FFFF00"/>
              </a:highlight>
              <a:latin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y(L1)=x(L1);	    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分段赋值，提高效率，无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for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与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if</a:t>
            </a:r>
            <a:endParaRPr lang="zh-CN" altLang="zh-CN" b="1" dirty="0">
              <a:solidFill>
                <a:srgbClr val="FF0000"/>
              </a:solidFill>
              <a:highlight>
                <a:srgbClr val="FFFF00"/>
              </a:highlight>
              <a:latin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y(L2)=x(L2).^3.*cos(2*pi*x(L2));	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y(L3)=</a:t>
            </a:r>
            <a:r>
              <a:rPr lang="en-US" altLang="zh-CN" b="1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exp</a:t>
            </a:r>
            <a:r>
              <a:rPr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(-x(L3)+1);				</a:t>
            </a:r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5500" y="3429000"/>
            <a:ext cx="893501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x=-2:0.01:2;			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y1=exm030303_1(x);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调用慢速函数生成算法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尝试用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tic,toc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函数计时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y2=exm030303_2(x);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调用快速函数生成算法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e12=max(abs(y1(:)-y2(:)))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计算两条曲线采样点最大误差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e12 =  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clf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						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plot(x,y2,'r','Linewidth',3)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画第二条函数的曲线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xlabel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('x'),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ylabel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('y')			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grid on							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axis([-2,2,min(min(y1)),max(max(y1))])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一层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min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即可，当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为矩阵时，单层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min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意为取每一列最小值，双层为全矩阵最小值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3.3-3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：分段光滑曲线的绘制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204" y="924667"/>
            <a:ext cx="7459592" cy="572952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数组化编程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矩阵软阈值算法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90185" y="950238"/>
                <a:ext cx="8438666" cy="22480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zh-CN" altLang="en-US" sz="2400" b="1" dirty="0"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已知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𝑨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  <a:cs typeface="Courier New" panose="02070309020205020404" pitchFamily="49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+mj-ea"/>
                                <a:cs typeface="Courier New" panose="02070309020205020404" pitchFamily="49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𝟒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𝟓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,</a:t>
                </a:r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现需要将</a:t>
                </a:r>
                <a14:m>
                  <m:oMath xmlns:m="http://schemas.openxmlformats.org/officeDocument/2006/math">
                    <m:r>
                      <a:rPr lang="en-US" altLang="zh-CN" sz="2400" b="1"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𝑨</m:t>
                    </m:r>
                  </m:oMath>
                </a14:m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中元素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  <a:cs typeface="Courier New" panose="02070309020205020404" pitchFamily="49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  <a:cs typeface="Courier New" panose="02070309020205020404" pitchFamily="49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全部转化为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  <a:cs typeface="Courier New" panose="02070309020205020404" pitchFamily="49" charset="0"/>
                          </a:rPr>
                          <m:t>𝒃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  <a:cs typeface="Courier New" panose="02070309020205020404" pitchFamily="49" charset="0"/>
                          </a:rPr>
                          <m:t>𝒊𝒋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𝓣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𝒊𝒋</m:t>
                            </m:r>
                          </m:sub>
                        </m:sSub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𝟎</m:t>
                            </m:r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,                                        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𝒊𝒋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≤</m:t>
                            </m:r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altLang="zh-CN" sz="24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𝐬𝐢𝐠𝐧</m:t>
                            </m:r>
                            <m:d>
                              <m:d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𝒊𝒋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⋅</m:t>
                            </m:r>
                            <m:d>
                              <m:d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ourier New" panose="02070309020205020404" pitchFamily="49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ourier New" panose="02070309020205020404" pitchFamily="49" charset="0"/>
                                          </a:rPr>
                                          <m:t>𝒂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ourier New" panose="02070309020205020404" pitchFamily="49" charset="0"/>
                                          </a:rPr>
                                          <m:t>𝒊𝒋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−</m:t>
                                </m:r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,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ourier New" panose="02070309020205020404" pitchFamily="49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ourier New" panose="02070309020205020404" pitchFamily="49" charset="0"/>
                                      </a:rPr>
                                      <m:t>𝒊𝒋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≥</m:t>
                            </m:r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𝟏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b="1" dirty="0">
                  <a:latin typeface="+mj-ea"/>
                  <a:ea typeface="+mj-ea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5" y="950238"/>
                <a:ext cx="8438666" cy="2248051"/>
              </a:xfrm>
              <a:prstGeom prst="rect">
                <a:avLst/>
              </a:prstGeom>
              <a:blipFill rotWithShape="1">
                <a:blip r:embed="rId1"/>
                <a:stretch>
                  <a:fillRect l="-7" t="-12" r="2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301426" y="3198289"/>
            <a:ext cx="8375030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A=[1 -2 0 1;-1 2 -3 4;1 -3 5 0]; B = A;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 i = 1:3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for j = 1:4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	if(abs(A(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i,j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))&lt;=1)  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		B(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i,j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)=0; 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	else 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		B(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i,j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)=sign(A(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i,j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))*(abs(A(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i,j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))-1);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	end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end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end%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双层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for+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逐个元素判断效率很低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结果略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 = max(abs(A)-1,0).*sign(A);%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等价并且不用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循环的方法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数组化编程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矩阵初等变换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90185" y="997064"/>
                <a:ext cx="8438666" cy="14384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zh-CN" altLang="en-US" sz="2400" b="1" dirty="0"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已知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𝑨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  <a:cs typeface="Courier New" panose="02070309020205020404" pitchFamily="49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+mj-ea"/>
                                <a:cs typeface="Courier New" panose="02070309020205020404" pitchFamily="49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𝟒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𝟓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𝟖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,</a:t>
                </a:r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现模拟初等行变换法解方程组一步，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+mj-ea"/>
                    <a:ea typeface="+mj-ea"/>
                    <a:cs typeface="Courier New" panose="02070309020205020404" pitchFamily="49" charset="0"/>
                  </a:rPr>
                  <a:t>即第二行减第一行，第三行减第一行</a:t>
                </a:r>
                <a:endParaRPr lang="en-US" altLang="zh-CN" sz="2400" b="1" dirty="0">
                  <a:solidFill>
                    <a:srgbClr val="FF0000"/>
                  </a:solidFill>
                  <a:latin typeface="+mj-ea"/>
                  <a:ea typeface="+mj-ea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5" y="997064"/>
                <a:ext cx="8438666" cy="1438471"/>
              </a:xfrm>
              <a:prstGeom prst="rect">
                <a:avLst/>
              </a:prstGeom>
              <a:blipFill rotWithShape="1">
                <a:blip r:embed="rId1"/>
                <a:stretch>
                  <a:fillRect l="-7" t="-8" r="-894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301426" y="2513153"/>
            <a:ext cx="8375030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A=[1 1 1 1;1 2 3 4;1 3 5 8];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 2:3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for j = 1:4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	A(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i,j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 = A(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i,j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 - A(1,j);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end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end%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双层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效率很低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A=[1 1 1 1;1 2 3 4;1 3 5 8];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 2:3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A(i,:) = A(i,:) - A(1,:);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end%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一层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循环提高了效率，降低了代码复杂度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3810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A=[1 1 1 1;1 2 3 4;1 3 5 8];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A(2:3,:) =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bsxfun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(@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minus,A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(2:3,:),A(1,:));%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仅需一步，运行也最快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数组化编程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矩阵初等变换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90185" y="908720"/>
                <a:ext cx="8438666" cy="14384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zh-CN" altLang="en-US" sz="2400" b="1" dirty="0">
                    <a:latin typeface="Courier New" panose="02070309020205020404" pitchFamily="49" charset="0"/>
                    <a:ea typeface="+mj-ea"/>
                    <a:cs typeface="Courier New" panose="02070309020205020404" pitchFamily="49" charset="0"/>
                  </a:rPr>
                  <a:t>已知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𝑨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+mj-ea"/>
                        <a:cs typeface="Courier New" panose="02070309020205020404" pitchFamily="49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+mj-ea"/>
                            <a:cs typeface="Courier New" panose="02070309020205020404" pitchFamily="49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+mj-ea"/>
                                <a:cs typeface="Courier New" panose="02070309020205020404" pitchFamily="49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𝟑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𝟒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+mj-ea"/>
                                  <a:cs typeface="Courier New" panose="02070309020205020404" pitchFamily="49" charset="0"/>
                                </a:rPr>
                                <m:t>𝟕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,</a:t>
                </a:r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现模拟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初等行变换法</a:t>
                </a:r>
                <a:r>
                  <a:rPr lang="zh-CN" altLang="en-US" sz="2400" b="1" dirty="0">
                    <a:latin typeface="+mj-ea"/>
                    <a:ea typeface="+mj-ea"/>
                    <a:cs typeface="Courier New" panose="02070309020205020404" pitchFamily="49" charset="0"/>
                  </a:rPr>
                  <a:t>下一步（这里化行最简形），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+mj-ea"/>
                    <a:ea typeface="+mj-ea"/>
                    <a:cs typeface="Courier New" panose="02070309020205020404" pitchFamily="49" charset="0"/>
                  </a:rPr>
                  <a:t>即第一行减第二行，第三行减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+mj-ea"/>
                    <a:ea typeface="+mj-ea"/>
                    <a:cs typeface="Courier New" panose="02070309020205020404" pitchFamily="49" charset="0"/>
                  </a:rPr>
                  <a:t>2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+mj-ea"/>
                    <a:ea typeface="+mj-ea"/>
                    <a:cs typeface="Courier New" panose="02070309020205020404" pitchFamily="49" charset="0"/>
                  </a:rPr>
                  <a:t>倍的第二行</a:t>
                </a:r>
                <a:endParaRPr lang="en-US" altLang="zh-CN" sz="2400" b="1" dirty="0">
                  <a:solidFill>
                    <a:srgbClr val="FF0000"/>
                  </a:solidFill>
                  <a:latin typeface="+mj-ea"/>
                  <a:ea typeface="+mj-ea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5" y="908720"/>
                <a:ext cx="8438666" cy="1438471"/>
              </a:xfrm>
              <a:prstGeom prst="rect">
                <a:avLst/>
              </a:prstGeom>
              <a:blipFill rotWithShape="1">
                <a:blip r:embed="rId1"/>
                <a:stretch>
                  <a:fillRect l="-7" t="-2" r="2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301426" y="2420888"/>
            <a:ext cx="837503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A=[1 1 1 1;0 1 2 3;0 2 4 7];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 j = 2:4%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第一列相减无效果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A(1,j) = A(1,j) - A(2,j);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A(3,j) = A(3,j) - 2*A(2,j);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end%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虽然是单层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，但计算仍然是基于元素的，效率低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A=[1 1 1 1;0 1 2 3;0 2 4 7];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A(1,:) = A(1,:) - A(2,:);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A(3,:) = A(3,:) - 2*A(2,:);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两行代码，以行为单位计算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但矩阵规模很大时，方法并不切实际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3810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A=[1 1 1 1;0 1 2 3;0 2 4 7];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A(1:2:3,:) = A(1:2:3,:)-[1;2]*A(2,:);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仅需一行，代码精简，运行也较快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思考矩阵规模较大时如何计算和存储倍数列向量，从而达到代码快速、简洁、实用的效果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814" y="-270343"/>
            <a:ext cx="8596412" cy="1143000"/>
          </a:xfrm>
        </p:spPr>
        <p:txBody>
          <a:bodyPr>
            <a:normAutofit fontScale="90000"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第五六周电子版作业（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10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月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12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日晚以前提交）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1520" y="845268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作业请于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10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月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12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日（周二）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23:59:59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或以前提交到课堂派平台。（请同学们加入正确的班级）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7848" y="1931434"/>
            <a:ext cx="8746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作业文件名格式：“</a:t>
            </a:r>
            <a:r>
              <a:rPr lang="en-US" altLang="zh-CN" sz="2400" b="1" dirty="0">
                <a:latin typeface="+mj-ea"/>
                <a:ea typeface="+mj-ea"/>
              </a:rPr>
              <a:t>05370038</a:t>
            </a:r>
            <a:r>
              <a:rPr lang="zh-CN" altLang="en-US" sz="2400" b="1" dirty="0">
                <a:latin typeface="+mj-ea"/>
                <a:ea typeface="+mj-ea"/>
              </a:rPr>
              <a:t>；李嘉；第五六周作业”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5718" y="2660494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请将所有题目的</a:t>
            </a:r>
            <a:r>
              <a:rPr lang="zh-CN" altLang="en-US" sz="2400" b="1" dirty="0">
                <a:solidFill>
                  <a:schemeClr val="accent2"/>
                </a:solidFill>
                <a:latin typeface="+mj-ea"/>
                <a:ea typeface="+mj-ea"/>
              </a:rPr>
              <a:t>方法设计（如果有）、代码、运行结果、绘图结果（如果有），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放于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同一个</a:t>
            </a:r>
            <a:r>
              <a:rPr lang="en-US" altLang="zh-CN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pdf(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推荐使用）文件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内（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doc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或</a:t>
            </a:r>
            <a:r>
              <a:rPr lang="en-US" altLang="zh-CN" sz="2400" b="1" dirty="0" err="1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docx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也可） </a:t>
            </a:r>
            <a:r>
              <a:rPr lang="zh-CN" altLang="en-US" sz="2400" b="1" dirty="0">
                <a:latin typeface="+mj-ea"/>
                <a:ea typeface="+mj-ea"/>
              </a:rPr>
              <a:t>。文件名建议与邮件标题完全相同。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7848" y="4036530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作业满分</a:t>
            </a:r>
            <a:r>
              <a:rPr lang="en-US" altLang="zh-CN" sz="2400" b="1" dirty="0">
                <a:latin typeface="+mj-ea"/>
                <a:ea typeface="+mj-ea"/>
              </a:rPr>
              <a:t>62</a:t>
            </a:r>
            <a:r>
              <a:rPr lang="zh-CN" altLang="en-US" sz="2400" b="1" dirty="0">
                <a:latin typeface="+mj-ea"/>
                <a:ea typeface="+mj-ea"/>
              </a:rPr>
              <a:t>分，电子版作业迟交者会按照每天</a:t>
            </a:r>
            <a:r>
              <a:rPr lang="en-US" altLang="zh-CN" sz="2400" b="1" dirty="0">
                <a:latin typeface="+mj-ea"/>
                <a:ea typeface="+mj-ea"/>
              </a:rPr>
              <a:t>5</a:t>
            </a:r>
            <a:r>
              <a:rPr lang="zh-CN" altLang="en-US" sz="2400" b="1" dirty="0">
                <a:latin typeface="+mj-ea"/>
                <a:ea typeface="+mj-ea"/>
              </a:rPr>
              <a:t>分的梯度损失分数。必做题满分</a:t>
            </a:r>
            <a:r>
              <a:rPr lang="en-US" altLang="zh-CN" sz="2400" b="1" dirty="0">
                <a:latin typeface="+mj-ea"/>
                <a:ea typeface="+mj-ea"/>
              </a:rPr>
              <a:t>52</a:t>
            </a:r>
            <a:r>
              <a:rPr lang="zh-CN" altLang="en-US" sz="2400" b="1" dirty="0">
                <a:latin typeface="+mj-ea"/>
                <a:ea typeface="+mj-ea"/>
              </a:rPr>
              <a:t>分，选做题</a:t>
            </a:r>
            <a:r>
              <a:rPr lang="en-US" altLang="zh-CN" sz="2400" b="1" dirty="0">
                <a:latin typeface="+mj-ea"/>
                <a:ea typeface="+mj-ea"/>
              </a:rPr>
              <a:t>10</a:t>
            </a:r>
            <a:r>
              <a:rPr lang="zh-CN" altLang="en-US" sz="2400" b="1" dirty="0">
                <a:latin typeface="+mj-ea"/>
                <a:ea typeface="+mj-ea"/>
              </a:rPr>
              <a:t>分。选做题多尝试就有可能获得更多的分数。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24177" y="5412567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请勿抄袭，一经发现，最终总评不超过</a:t>
            </a:r>
            <a:r>
              <a:rPr lang="en-US" altLang="zh-CN" sz="2400" b="1" dirty="0">
                <a:latin typeface="+mj-ea"/>
                <a:ea typeface="+mj-ea"/>
              </a:rPr>
              <a:t>80</a:t>
            </a:r>
            <a:r>
              <a:rPr lang="zh-CN" altLang="en-US" sz="2400" b="1" dirty="0">
                <a:latin typeface="+mj-ea"/>
                <a:ea typeface="+mj-ea"/>
              </a:rPr>
              <a:t>。两次抄袭等于挂科。如果进行了部分方法与内容的借鉴，请在作业明示你的参考文献或借鉴人。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1520" y="779263"/>
            <a:ext cx="8438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Q1. 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习题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3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第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3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题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1520" y="1887264"/>
            <a:ext cx="8438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Q2. 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习题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3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第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7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题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仿照例题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3.3-1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完成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)</a:t>
            </a:r>
            <a:endParaRPr lang="en-US" altLang="zh-CN" sz="2400" b="1" dirty="0"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247812" y="3105044"/>
                <a:ext cx="8798706" cy="31322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Q3.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线性方程组问题可以通过高等代数中所学习的初等变换法解决，也可以通过（按列选主元的）高斯消去法解决。容易得知，这些算法复杂度均为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𝑶</m:t>
                    </m:r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sSup>
                      <m:sSupPr>
                        <m:ctrlP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𝒏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𝟑</m:t>
                        </m:r>
                      </m:sup>
                    </m:sSup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，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3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层循环的代码效率很低。</a:t>
                </a:r>
                <a:endParaRPr lang="en-US" altLang="zh-CN" sz="2400" b="1" dirty="0">
                  <a:solidFill>
                    <a:prstClr val="black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设方阵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A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可逆，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利用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MATLAB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的数组化运算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，尝试以尽量少的循环层数完成初等变换法或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(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选主元的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)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高斯消去法。然后用下列代码生成的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A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与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b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，解出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Ax=b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的向量解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(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无需粘贴解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),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并与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MATLAB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函数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c=A\b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得到的解（这个也不精确）进行误差分析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(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函数</a:t>
                </a:r>
                <a:r>
                  <a:rPr lang="en-US" altLang="zh-CN" sz="24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norm(b-b2)</a:t>
                </a:r>
                <a:r>
                  <a:rPr lang="zh-CN" altLang="en-US" sz="2400" b="1" dirty="0"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可以计算向量</a:t>
                </a:r>
                <a:r>
                  <a:rPr lang="en-US" altLang="zh-CN" sz="2400" b="1" dirty="0"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b</a:t>
                </a:r>
                <a:r>
                  <a:rPr lang="zh-CN" altLang="en-US" sz="2400" b="1" dirty="0"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与</a:t>
                </a:r>
                <a:r>
                  <a:rPr lang="en-US" altLang="zh-CN" sz="2400" b="1" dirty="0"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b2</a:t>
                </a:r>
                <a:r>
                  <a:rPr lang="zh-CN" altLang="en-US" sz="2400" b="1" dirty="0"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之间的</a:t>
                </a:r>
                <a:r>
                  <a:rPr lang="en-US" altLang="zh-CN" sz="2400" b="1" dirty="0"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2-</a:t>
                </a:r>
                <a:r>
                  <a:rPr lang="zh-CN" altLang="en-US" sz="2400" b="1" dirty="0"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范数差距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)</a:t>
                </a:r>
                <a:endParaRPr lang="en-US" altLang="zh-CN" sz="2400" b="1" dirty="0">
                  <a:solidFill>
                    <a:prstClr val="black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12" y="3105044"/>
                <a:ext cx="8798706" cy="3132268"/>
              </a:xfrm>
              <a:prstGeom prst="rect">
                <a:avLst/>
              </a:prstGeom>
              <a:blipFill rotWithShape="1">
                <a:blip r:embed="rId1"/>
                <a:stretch>
                  <a:fillRect l="-2" t="-17" r="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07" y="1240928"/>
            <a:ext cx="8473186" cy="6382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68" y="2348929"/>
            <a:ext cx="8589594" cy="70483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51520" y="6237312"/>
            <a:ext cx="72002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lvl="0" algn="just" hangingPunct="0">
              <a:tabLst>
                <a:tab pos="269875" algn="l"/>
                <a:tab pos="266700" algn="l"/>
              </a:tabLst>
            </a:pPr>
            <a:r>
              <a:rPr lang="en-US" altLang="zh-CN" b="1" dirty="0" err="1">
                <a:solidFill>
                  <a:srgbClr val="00B050"/>
                </a:solidFill>
                <a:latin typeface="Courier New" panose="02070309020205020404" pitchFamily="49" charset="0"/>
              </a:rPr>
              <a:t>rng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</a:rPr>
              <a:t> default,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Courier New" panose="02070309020205020404" pitchFamily="49" charset="0"/>
              </a:rPr>
              <a:t>A=rand(1000);A(1,1)=0;b=rand(1000,1);</a:t>
            </a:r>
            <a:endParaRPr lang="en-US" altLang="zh-CN" sz="2400" b="1" dirty="0">
              <a:latin typeface="+mj-ea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3814" y="-270343"/>
            <a:ext cx="8596412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第五六周电子版作业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8150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课后反馈（不用交）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1520" y="1124744"/>
            <a:ext cx="8438666" cy="5216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将今天讲过的例题尝试自己键入并运行一遍</a:t>
            </a: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>
              <a:spcBef>
                <a:spcPts val="580"/>
              </a:spcBef>
              <a:buClr>
                <a:srgbClr val="00B050"/>
              </a:buClr>
              <a:buSzPct val="85000"/>
            </a:pP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>
              <a:spcBef>
                <a:spcPts val="580"/>
              </a:spcBef>
              <a:buClr>
                <a:srgbClr val="00B050"/>
              </a:buClr>
              <a:buSzPct val="85000"/>
            </a:pP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利用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help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或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doc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函数，自学课本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114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页特殊函数与强制转换函数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的定义与使用方法。</a:t>
            </a: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>
              <a:spcBef>
                <a:spcPts val="580"/>
              </a:spcBef>
              <a:buClr>
                <a:srgbClr val="00B050"/>
              </a:buClr>
              <a:buSzPct val="85000"/>
            </a:pP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lvl="0">
              <a:spcBef>
                <a:spcPts val="580"/>
              </a:spcBef>
              <a:buClr>
                <a:srgbClr val="00B050"/>
              </a:buClr>
              <a:buSzPct val="85000"/>
            </a:pP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选学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MATLAB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的实时脚本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(Live Script)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及其转存为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PDF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的功能，有兴趣与条件的同学可尝试用这个功能制作作业文档。</a:t>
            </a: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阅读思考课本对应习题（不作为考点）</a:t>
            </a: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60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感谢同学们认真听课</a:t>
            </a:r>
            <a:r>
              <a:rPr lang="en-US" altLang="zh-CN" sz="6000" i="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  <a:endParaRPr lang="zh-CN" altLang="en-US" sz="6000" i="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47664" y="3446615"/>
            <a:ext cx="590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47546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欢迎同学们积极提问、交流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47546"/>
              </a:solidFill>
              <a:effectLst/>
              <a:uLnTx/>
              <a:uFillTx/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61255" y="4606536"/>
            <a:ext cx="590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47546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  <a:hlinkClick r:id="rId1"/>
              </a:rPr>
              <a:t>mcstj@mail.sysu.edu.cn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47546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47546"/>
              </a:solidFill>
              <a:effectLst/>
              <a:uLnTx/>
              <a:uFillTx/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DEFAULTFONTSIZE" val="10"/>
  <p:tag name="DEFAULTWIDTH" val="354"/>
  <p:tag name="DEFAULTHEIGHT" val="383"/>
  <p:tag name="COMMONDATA" val="eyJoZGlkIjoiZjRmNjRmMGEyOGI5ZmYyZDc0M2Y0MDRmOTYyNWVlOGEifQ==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极目远眺">
  <a:themeElements>
    <a:clrScheme name="极目远眺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极目远眺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极目远眺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极目远眺">
    <a:dk1>
      <a:srgbClr val="000000"/>
    </a:dk1>
    <a:lt1>
      <a:srgbClr val="FFFFFF"/>
    </a:lt1>
    <a:dk2>
      <a:srgbClr val="1F2123"/>
    </a:dk2>
    <a:lt2>
      <a:srgbClr val="DC9E1F"/>
    </a:lt2>
    <a:accent1>
      <a:srgbClr val="7E97AD"/>
    </a:accent1>
    <a:accent2>
      <a:srgbClr val="CC8E60"/>
    </a:accent2>
    <a:accent3>
      <a:srgbClr val="7A6A60"/>
    </a:accent3>
    <a:accent4>
      <a:srgbClr val="B4936D"/>
    </a:accent4>
    <a:accent5>
      <a:srgbClr val="67787B"/>
    </a:accent5>
    <a:accent6>
      <a:srgbClr val="9D936F"/>
    </a:accent6>
    <a:hlink>
      <a:srgbClr val="646464"/>
    </a:hlink>
    <a:folHlink>
      <a:srgbClr val="96969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0</TotalTime>
  <Words>13187</Words>
  <Application>WPS 演示</Application>
  <PresentationFormat>全屏显示(4:3)</PresentationFormat>
  <Paragraphs>1043</Paragraphs>
  <Slides>39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65" baseType="lpstr">
      <vt:lpstr>Arial</vt:lpstr>
      <vt:lpstr>宋体</vt:lpstr>
      <vt:lpstr>Wingdings</vt:lpstr>
      <vt:lpstr>Wingdings 2</vt:lpstr>
      <vt:lpstr>Arial</vt:lpstr>
      <vt:lpstr>PMingLiU</vt:lpstr>
      <vt:lpstr>MingLiU-ExtB</vt:lpstr>
      <vt:lpstr>Arial Narrow</vt:lpstr>
      <vt:lpstr>方正姚体</vt:lpstr>
      <vt:lpstr>微软雅黑</vt:lpstr>
      <vt:lpstr>Calibri</vt:lpstr>
      <vt:lpstr>Courier New</vt:lpstr>
      <vt:lpstr>Times New Roman</vt:lpstr>
      <vt:lpstr>Cambria Math</vt:lpstr>
      <vt:lpstr>幼圆</vt:lpstr>
      <vt:lpstr>Arial Unicode MS</vt:lpstr>
      <vt:lpstr>Calibri</vt:lpstr>
      <vt:lpstr>Verdana</vt:lpstr>
      <vt:lpstr>黑体</vt:lpstr>
      <vt:lpstr>Perpetua</vt:lpstr>
      <vt:lpstr>Franklin Gothic Book</vt:lpstr>
      <vt:lpstr>Franklin Gothic Medium</vt:lpstr>
      <vt:lpstr>极目远眺</vt:lpstr>
      <vt:lpstr>Equity</vt:lpstr>
      <vt:lpstr>暗香扑面</vt:lpstr>
      <vt:lpstr>Paint.Picture</vt:lpstr>
      <vt:lpstr>数学实验与数学软件 </vt:lpstr>
      <vt:lpstr>复习-多层循环处理矩阵运算效率低</vt:lpstr>
      <vt:lpstr>一维数组-向量（默认双精度）</vt:lpstr>
      <vt:lpstr>一维数组</vt:lpstr>
      <vt:lpstr>数组指标-例3.1-1</vt:lpstr>
      <vt:lpstr>例3.1-1</vt:lpstr>
      <vt:lpstr>矩阵(二维数组)-例3.1-2,3</vt:lpstr>
      <vt:lpstr>新建m文件建立矩阵-例3.1-4</vt:lpstr>
      <vt:lpstr>函数构造二维数组</vt:lpstr>
      <vt:lpstr>例3.1-5</vt:lpstr>
      <vt:lpstr>例3.1-5</vt:lpstr>
      <vt:lpstr>MATLAB的稀疏矩阵</vt:lpstr>
      <vt:lpstr>二维数组形态改变</vt:lpstr>
      <vt:lpstr>例3.1-6</vt:lpstr>
      <vt:lpstr>例3.1-6,7</vt:lpstr>
      <vt:lpstr>例3.1-7</vt:lpstr>
      <vt:lpstr>二维数组编址（含一维向量）</vt:lpstr>
      <vt:lpstr>二维数组寻访-例3.2-1</vt:lpstr>
      <vt:lpstr>例3.2-1</vt:lpstr>
      <vt:lpstr>例3.2-1</vt:lpstr>
      <vt:lpstr>数组的运算-for循环的替代品</vt:lpstr>
      <vt:lpstr>数组的运算-for循环的替代品</vt:lpstr>
      <vt:lpstr>例3.3-1</vt:lpstr>
      <vt:lpstr>例3.3-2</vt:lpstr>
      <vt:lpstr>例3.3-2</vt:lpstr>
      <vt:lpstr>数组的函数调用-for循环的替代品</vt:lpstr>
      <vt:lpstr>数组的函数调用-for循环的替代品</vt:lpstr>
      <vt:lpstr>数组的函数调用-for循环的替代品</vt:lpstr>
      <vt:lpstr>预习-M脚本与M函数</vt:lpstr>
      <vt:lpstr>例3.3-3：分段光滑曲线的绘制</vt:lpstr>
      <vt:lpstr>例3.3-3：分段光滑曲线的绘制</vt:lpstr>
      <vt:lpstr>例3.3-3：分段光滑曲线的绘制</vt:lpstr>
      <vt:lpstr>数组化编程-矩阵软阈值算法</vt:lpstr>
      <vt:lpstr>数组化编程-矩阵初等变换</vt:lpstr>
      <vt:lpstr>数组化编程-矩阵初等变换</vt:lpstr>
      <vt:lpstr>第五六周电子版作业（10月12日晚以前提交）</vt:lpstr>
      <vt:lpstr>第五六周电子版作业</vt:lpstr>
      <vt:lpstr>课后反馈（不用交）</vt:lpstr>
      <vt:lpstr>感谢同学们认真听课!</vt:lpstr>
    </vt:vector>
  </TitlesOfParts>
  <Company>NUS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数学实验与数学软件 </dc:title>
  <dc:creator>JIA LI</dc:creator>
  <cp:lastModifiedBy>WPS_1174559666</cp:lastModifiedBy>
  <cp:revision>852</cp:revision>
  <dcterms:created xsi:type="dcterms:W3CDTF">2014-07-04T06:51:00Z</dcterms:created>
  <dcterms:modified xsi:type="dcterms:W3CDTF">2023-09-24T03:30:43Z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98ECEA70035E488CB5FDF1B13D6EE6B6_13</vt:lpwstr>
  </property>
  <property fmtid="{D5CDD505-2E9C-101B-9397-08002B2CF9AE}" pid="3" name="KSOProductBuildVer">
    <vt:lpwstr>2052-12.1.0.15374</vt:lpwstr>
  </property>
</Properties>
</file>