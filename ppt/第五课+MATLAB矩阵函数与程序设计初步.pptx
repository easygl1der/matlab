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13" embedTrueTypeFonts="1" saveSubsetFonts="1">
  <p:sldMasterIdLst>
    <p:sldMasterId id="2147483648" r:id="rId1"/>
    <p:sldMasterId id="2147483660" r:id="rId3"/>
    <p:sldMasterId id="2147483672" r:id="rId4"/>
  </p:sldMasterIdLst>
  <p:notesMasterIdLst>
    <p:notesMasterId r:id="rId45"/>
  </p:notesMasterIdLst>
  <p:sldIdLst>
    <p:sldId id="531" r:id="rId5"/>
    <p:sldId id="486" r:id="rId6"/>
    <p:sldId id="487" r:id="rId7"/>
    <p:sldId id="488" r:id="rId8"/>
    <p:sldId id="489" r:id="rId9"/>
    <p:sldId id="490" r:id="rId10"/>
    <p:sldId id="514" r:id="rId11"/>
    <p:sldId id="515" r:id="rId12"/>
    <p:sldId id="525" r:id="rId13"/>
    <p:sldId id="526" r:id="rId14"/>
    <p:sldId id="491" r:id="rId15"/>
    <p:sldId id="494" r:id="rId16"/>
    <p:sldId id="493" r:id="rId17"/>
    <p:sldId id="492" r:id="rId18"/>
    <p:sldId id="495" r:id="rId19"/>
    <p:sldId id="496" r:id="rId20"/>
    <p:sldId id="528" r:id="rId21"/>
    <p:sldId id="529" r:id="rId22"/>
    <p:sldId id="530" r:id="rId23"/>
    <p:sldId id="497" r:id="rId24"/>
    <p:sldId id="499" r:id="rId25"/>
    <p:sldId id="498" r:id="rId26"/>
    <p:sldId id="500" r:id="rId27"/>
    <p:sldId id="501" r:id="rId28"/>
    <p:sldId id="502" r:id="rId29"/>
    <p:sldId id="503" r:id="rId30"/>
    <p:sldId id="504" r:id="rId31"/>
    <p:sldId id="505" r:id="rId32"/>
    <p:sldId id="506" r:id="rId33"/>
    <p:sldId id="508" r:id="rId34"/>
    <p:sldId id="509" r:id="rId35"/>
    <p:sldId id="510" r:id="rId36"/>
    <p:sldId id="523" r:id="rId37"/>
    <p:sldId id="511" r:id="rId38"/>
    <p:sldId id="513" r:id="rId39"/>
    <p:sldId id="517" r:id="rId40"/>
    <p:sldId id="518" r:id="rId41"/>
    <p:sldId id="519" r:id="rId42"/>
    <p:sldId id="520" r:id="rId43"/>
    <p:sldId id="422" r:id="rId44"/>
    <p:sldId id="521" r:id="rId46"/>
    <p:sldId id="527" r:id="rId47"/>
    <p:sldId id="329" r:id="rId48"/>
    <p:sldId id="524" r:id="rId49"/>
  </p:sldIdLst>
  <p:sldSz cx="9144000" cy="6858000" type="screen4x3"/>
  <p:notesSz cx="6858000" cy="9144000"/>
  <p:embeddedFontLst>
    <p:embeddedFont>
      <p:font typeface="Wingdings 2" panose="05020102010507070707"/>
      <p:regular r:id="rId53"/>
    </p:embeddedFont>
    <p:embeddedFont>
      <p:font typeface="Arial Narrow" panose="020B0606020202030204"/>
      <p:regular r:id="rId54"/>
      <p:bold r:id="rId55"/>
      <p:italic r:id="rId56"/>
      <p:boldItalic r:id="rId57"/>
    </p:embeddedFont>
    <p:embeddedFont>
      <p:font typeface="方正姚体" panose="02010601030101010101" pitchFamily="2" charset="-122"/>
      <p:regular r:id="rId58"/>
    </p:embeddedFont>
    <p:embeddedFont>
      <p:font typeface="微软雅黑" panose="020B0503020204020204" pitchFamily="34" charset="-122"/>
      <p:regular r:id="rId59"/>
    </p:embeddedFont>
    <p:embeddedFont>
      <p:font typeface="Calibri" panose="020F0502020204030204" pitchFamily="34" charset="0"/>
      <p:regular r:id="rId60"/>
      <p:bold r:id="rId61"/>
      <p:italic r:id="rId62"/>
      <p:boldItalic r:id="rId63"/>
    </p:embeddedFont>
    <p:embeddedFont>
      <p:font typeface="幼圆" panose="02010509060101010101" pitchFamily="49" charset="-122"/>
      <p:regular r:id="rId64"/>
    </p:embeddedFont>
    <p:embeddedFont>
      <p:font typeface="楷体" panose="02010609060101010101" pitchFamily="49" charset="-122"/>
      <p:regular r:id="rId65"/>
    </p:embeddedFont>
    <p:embeddedFont>
      <p:font typeface="黑体" panose="02010609060101010101" pitchFamily="49" charset="-122"/>
      <p:regular r:id="rId66"/>
    </p:embeddedFont>
    <p:embeddedFont>
      <p:font typeface="Perpetua" panose="02020502060401020303" charset="0"/>
      <p:regular r:id="rId67"/>
      <p:bold r:id="rId68"/>
      <p:italic r:id="rId69"/>
      <p:boldItalic r:id="rId70"/>
    </p:embeddedFont>
    <p:embeddedFont>
      <p:font typeface="Franklin Gothic Book" panose="020B0503020102020204" charset="0"/>
      <p:regular r:id="rId71"/>
      <p:italic r:id="rId72"/>
    </p:embeddedFont>
    <p:embeddedFont>
      <p:font typeface="Franklin Gothic Medium" panose="020B0603020102020204" charset="0"/>
      <p:regular r:id="rId73"/>
      <p:italic r:id="rId74"/>
    </p:embeddedFont>
  </p:embeddedFontLst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9" autoAdjust="0"/>
    <p:restoredTop sz="93089" autoAdjust="0"/>
  </p:normalViewPr>
  <p:slideViewPr>
    <p:cSldViewPr showGuides="1">
      <p:cViewPr varScale="1">
        <p:scale>
          <a:sx n="114" d="100"/>
          <a:sy n="114" d="100"/>
        </p:scale>
        <p:origin x="144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5" Type="http://schemas.openxmlformats.org/officeDocument/2006/relationships/tags" Target="tags/tag1.xml"/><Relationship Id="rId74" Type="http://schemas.openxmlformats.org/officeDocument/2006/relationships/font" Target="fonts/font22.fntdata"/><Relationship Id="rId73" Type="http://schemas.openxmlformats.org/officeDocument/2006/relationships/font" Target="fonts/font21.fntdata"/><Relationship Id="rId72" Type="http://schemas.openxmlformats.org/officeDocument/2006/relationships/font" Target="fonts/font20.fntdata"/><Relationship Id="rId71" Type="http://schemas.openxmlformats.org/officeDocument/2006/relationships/font" Target="fonts/font19.fntdata"/><Relationship Id="rId70" Type="http://schemas.openxmlformats.org/officeDocument/2006/relationships/font" Target="fonts/font18.fntdata"/><Relationship Id="rId7" Type="http://schemas.openxmlformats.org/officeDocument/2006/relationships/slide" Target="slides/slide3.xml"/><Relationship Id="rId69" Type="http://schemas.openxmlformats.org/officeDocument/2006/relationships/font" Target="fonts/font17.fntdata"/><Relationship Id="rId68" Type="http://schemas.openxmlformats.org/officeDocument/2006/relationships/font" Target="fonts/font16.fntdata"/><Relationship Id="rId67" Type="http://schemas.openxmlformats.org/officeDocument/2006/relationships/font" Target="fonts/font15.fntdata"/><Relationship Id="rId66" Type="http://schemas.openxmlformats.org/officeDocument/2006/relationships/font" Target="fonts/font14.fntdata"/><Relationship Id="rId65" Type="http://schemas.openxmlformats.org/officeDocument/2006/relationships/font" Target="fonts/font13.fntdata"/><Relationship Id="rId64" Type="http://schemas.openxmlformats.org/officeDocument/2006/relationships/font" Target="fonts/font12.fntdata"/><Relationship Id="rId63" Type="http://schemas.openxmlformats.org/officeDocument/2006/relationships/font" Target="fonts/font11.fntdata"/><Relationship Id="rId62" Type="http://schemas.openxmlformats.org/officeDocument/2006/relationships/font" Target="fonts/font10.fntdata"/><Relationship Id="rId61" Type="http://schemas.openxmlformats.org/officeDocument/2006/relationships/font" Target="fonts/font9.fntdata"/><Relationship Id="rId60" Type="http://schemas.openxmlformats.org/officeDocument/2006/relationships/font" Target="fonts/font8.fntdata"/><Relationship Id="rId6" Type="http://schemas.openxmlformats.org/officeDocument/2006/relationships/slide" Target="slides/slide2.xml"/><Relationship Id="rId59" Type="http://schemas.openxmlformats.org/officeDocument/2006/relationships/font" Target="fonts/font7.fntdata"/><Relationship Id="rId58" Type="http://schemas.openxmlformats.org/officeDocument/2006/relationships/font" Target="fonts/font6.fntdata"/><Relationship Id="rId57" Type="http://schemas.openxmlformats.org/officeDocument/2006/relationships/font" Target="fonts/font5.fntdata"/><Relationship Id="rId56" Type="http://schemas.openxmlformats.org/officeDocument/2006/relationships/font" Target="fonts/font4.fntdata"/><Relationship Id="rId55" Type="http://schemas.openxmlformats.org/officeDocument/2006/relationships/font" Target="fonts/font3.fntdata"/><Relationship Id="rId54" Type="http://schemas.openxmlformats.org/officeDocument/2006/relationships/font" Target="fonts/font2.fntdata"/><Relationship Id="rId53" Type="http://schemas.openxmlformats.org/officeDocument/2006/relationships/font" Target="fonts/font1.fntdata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183DD-ABDB-4EB1-A726-EE72F71F63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AC750A-E720-45E3-B984-FED77418FD2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anose="020B0604020202020204" pitchFamily="34" charset="0"/>
              <a:buChar char="•"/>
              <a:defRPr/>
            </a:lvl6pPr>
            <a:lvl7pPr>
              <a:buClr>
                <a:schemeClr val="tx2"/>
              </a:buClr>
              <a:buFont typeface="Arial" panose="020B0604020202020204" pitchFamily="34" charset="0"/>
              <a:buChar char="•"/>
              <a:defRPr/>
            </a:lvl7pPr>
            <a:lvl8pPr>
              <a:buClr>
                <a:schemeClr val="tx2"/>
              </a:buClr>
              <a:buFont typeface="Arial" panose="020B0604020202020204" pitchFamily="34" charset="0"/>
              <a:buChar char="•"/>
              <a:defRPr/>
            </a:lvl8pPr>
            <a:lvl9pPr>
              <a:buClr>
                <a:schemeClr val="tx2"/>
              </a:buClr>
              <a:buFont typeface="Arial" panose="020B0604020202020204" pitchFamily="34" charset="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-1" fmla="*/ 0 w 3419856"/>
              <a:gd name="connsiteY0-2" fmla="*/ 74450 h 3429000"/>
              <a:gd name="connsiteX1-3" fmla="*/ 21806 w 3419856"/>
              <a:gd name="connsiteY1-4" fmla="*/ 21806 h 3429000"/>
              <a:gd name="connsiteX2-5" fmla="*/ 74450 w 3419856"/>
              <a:gd name="connsiteY2-6" fmla="*/ 0 h 3429000"/>
              <a:gd name="connsiteX3-7" fmla="*/ 3345406 w 3419856"/>
              <a:gd name="connsiteY3-8" fmla="*/ 0 h 3429000"/>
              <a:gd name="connsiteX4-9" fmla="*/ 3398050 w 3419856"/>
              <a:gd name="connsiteY4-10" fmla="*/ 21806 h 3429000"/>
              <a:gd name="connsiteX5-11" fmla="*/ 3419856 w 3419856"/>
              <a:gd name="connsiteY5-12" fmla="*/ 74450 h 3429000"/>
              <a:gd name="connsiteX6-13" fmla="*/ 3419856 w 3419856"/>
              <a:gd name="connsiteY6-14" fmla="*/ 3354550 h 3429000"/>
              <a:gd name="connsiteX7-15" fmla="*/ 3398050 w 3419856"/>
              <a:gd name="connsiteY7-16" fmla="*/ 3407194 h 3429000"/>
              <a:gd name="connsiteX8-17" fmla="*/ 3345406 w 3419856"/>
              <a:gd name="connsiteY8-18" fmla="*/ 3429000 h 3429000"/>
              <a:gd name="connsiteX9-19" fmla="*/ 21806 w 3419856"/>
              <a:gd name="connsiteY9-20" fmla="*/ 3407194 h 3429000"/>
              <a:gd name="connsiteX10-21" fmla="*/ 0 w 3419856"/>
              <a:gd name="connsiteY10-22" fmla="*/ 3354550 h 3429000"/>
              <a:gd name="connsiteX11-23" fmla="*/ 0 w 3419856"/>
              <a:gd name="connsiteY11-24" fmla="*/ 74450 h 3429000"/>
              <a:gd name="connsiteX0-25" fmla="*/ 0 w 3964392"/>
              <a:gd name="connsiteY0-26" fmla="*/ 74450 h 3415968"/>
              <a:gd name="connsiteX1-27" fmla="*/ 21806 w 3964392"/>
              <a:gd name="connsiteY1-28" fmla="*/ 21806 h 3415968"/>
              <a:gd name="connsiteX2-29" fmla="*/ 74450 w 3964392"/>
              <a:gd name="connsiteY2-30" fmla="*/ 0 h 3415968"/>
              <a:gd name="connsiteX3-31" fmla="*/ 3345406 w 3964392"/>
              <a:gd name="connsiteY3-32" fmla="*/ 0 h 3415968"/>
              <a:gd name="connsiteX4-33" fmla="*/ 3398050 w 3964392"/>
              <a:gd name="connsiteY4-34" fmla="*/ 21806 h 3415968"/>
              <a:gd name="connsiteX5-35" fmla="*/ 3419856 w 3964392"/>
              <a:gd name="connsiteY5-36" fmla="*/ 74450 h 3415968"/>
              <a:gd name="connsiteX6-37" fmla="*/ 3419856 w 3964392"/>
              <a:gd name="connsiteY6-38" fmla="*/ 3354550 h 3415968"/>
              <a:gd name="connsiteX7-39" fmla="*/ 3398050 w 3964392"/>
              <a:gd name="connsiteY7-40" fmla="*/ 3407194 h 3415968"/>
              <a:gd name="connsiteX8-41" fmla="*/ 21806 w 3964392"/>
              <a:gd name="connsiteY8-42" fmla="*/ 3407194 h 3415968"/>
              <a:gd name="connsiteX9-43" fmla="*/ 0 w 3964392"/>
              <a:gd name="connsiteY9-44" fmla="*/ 3354550 h 3415968"/>
              <a:gd name="connsiteX10-45" fmla="*/ 0 w 3964392"/>
              <a:gd name="connsiteY10-46" fmla="*/ 74450 h 3415968"/>
              <a:gd name="connsiteX0-47" fmla="*/ 0 w 3964392"/>
              <a:gd name="connsiteY0-48" fmla="*/ 74450 h 3415968"/>
              <a:gd name="connsiteX1-49" fmla="*/ 21806 w 3964392"/>
              <a:gd name="connsiteY1-50" fmla="*/ 21806 h 3415968"/>
              <a:gd name="connsiteX2-51" fmla="*/ 74450 w 3964392"/>
              <a:gd name="connsiteY2-52" fmla="*/ 0 h 3415968"/>
              <a:gd name="connsiteX3-53" fmla="*/ 3345406 w 3964392"/>
              <a:gd name="connsiteY3-54" fmla="*/ 0 h 3415968"/>
              <a:gd name="connsiteX4-55" fmla="*/ 3398050 w 3964392"/>
              <a:gd name="connsiteY4-56" fmla="*/ 21806 h 3415968"/>
              <a:gd name="connsiteX5-57" fmla="*/ 3419856 w 3964392"/>
              <a:gd name="connsiteY5-58" fmla="*/ 74450 h 3415968"/>
              <a:gd name="connsiteX6-59" fmla="*/ 3419856 w 3964392"/>
              <a:gd name="connsiteY6-60" fmla="*/ 3354550 h 3415968"/>
              <a:gd name="connsiteX7-61" fmla="*/ 3398050 w 3964392"/>
              <a:gd name="connsiteY7-62" fmla="*/ 3407194 h 3415968"/>
              <a:gd name="connsiteX8-63" fmla="*/ 21806 w 3964392"/>
              <a:gd name="connsiteY8-64" fmla="*/ 3407194 h 3415968"/>
              <a:gd name="connsiteX9-65" fmla="*/ 0 w 3964392"/>
              <a:gd name="connsiteY9-66" fmla="*/ 3354550 h 3415968"/>
              <a:gd name="connsiteX10-67" fmla="*/ 0 w 3964392"/>
              <a:gd name="connsiteY10-68" fmla="*/ 74450 h 3415968"/>
              <a:gd name="connsiteX0-69" fmla="*/ 0 w 3968026"/>
              <a:gd name="connsiteY0-70" fmla="*/ 74450 h 3910007"/>
              <a:gd name="connsiteX1-71" fmla="*/ 21806 w 3968026"/>
              <a:gd name="connsiteY1-72" fmla="*/ 21806 h 3910007"/>
              <a:gd name="connsiteX2-73" fmla="*/ 74450 w 3968026"/>
              <a:gd name="connsiteY2-74" fmla="*/ 0 h 3910007"/>
              <a:gd name="connsiteX3-75" fmla="*/ 3345406 w 3968026"/>
              <a:gd name="connsiteY3-76" fmla="*/ 0 h 3910007"/>
              <a:gd name="connsiteX4-77" fmla="*/ 3398050 w 3968026"/>
              <a:gd name="connsiteY4-78" fmla="*/ 21806 h 3910007"/>
              <a:gd name="connsiteX5-79" fmla="*/ 3419856 w 3968026"/>
              <a:gd name="connsiteY5-80" fmla="*/ 74450 h 3910007"/>
              <a:gd name="connsiteX6-81" fmla="*/ 3419856 w 3968026"/>
              <a:gd name="connsiteY6-82" fmla="*/ 3354550 h 3910007"/>
              <a:gd name="connsiteX7-83" fmla="*/ 3398050 w 3968026"/>
              <a:gd name="connsiteY7-84" fmla="*/ 3407194 h 3910007"/>
              <a:gd name="connsiteX8-85" fmla="*/ 0 w 3968026"/>
              <a:gd name="connsiteY8-86" fmla="*/ 3354550 h 3910007"/>
              <a:gd name="connsiteX9-87" fmla="*/ 0 w 3968026"/>
              <a:gd name="connsiteY9-88" fmla="*/ 74450 h 3910007"/>
              <a:gd name="connsiteX0-89" fmla="*/ 0 w 3419856"/>
              <a:gd name="connsiteY0-90" fmla="*/ 74450 h 3901233"/>
              <a:gd name="connsiteX1-91" fmla="*/ 21806 w 3419856"/>
              <a:gd name="connsiteY1-92" fmla="*/ 21806 h 3901233"/>
              <a:gd name="connsiteX2-93" fmla="*/ 74450 w 3419856"/>
              <a:gd name="connsiteY2-94" fmla="*/ 0 h 3901233"/>
              <a:gd name="connsiteX3-95" fmla="*/ 3345406 w 3419856"/>
              <a:gd name="connsiteY3-96" fmla="*/ 0 h 3901233"/>
              <a:gd name="connsiteX4-97" fmla="*/ 3398050 w 3419856"/>
              <a:gd name="connsiteY4-98" fmla="*/ 21806 h 3901233"/>
              <a:gd name="connsiteX5-99" fmla="*/ 3419856 w 3419856"/>
              <a:gd name="connsiteY5-100" fmla="*/ 74450 h 3901233"/>
              <a:gd name="connsiteX6-101" fmla="*/ 3419856 w 3419856"/>
              <a:gd name="connsiteY6-102" fmla="*/ 3354550 h 3901233"/>
              <a:gd name="connsiteX7-103" fmla="*/ 0 w 3419856"/>
              <a:gd name="connsiteY7-104" fmla="*/ 3354550 h 3901233"/>
              <a:gd name="connsiteX8-105" fmla="*/ 0 w 3419856"/>
              <a:gd name="connsiteY8-106" fmla="*/ 74450 h 3901233"/>
              <a:gd name="connsiteX0-107" fmla="*/ 0 w 3419856"/>
              <a:gd name="connsiteY0-108" fmla="*/ 74450 h 3354550"/>
              <a:gd name="connsiteX1-109" fmla="*/ 21806 w 3419856"/>
              <a:gd name="connsiteY1-110" fmla="*/ 21806 h 3354550"/>
              <a:gd name="connsiteX2-111" fmla="*/ 74450 w 3419856"/>
              <a:gd name="connsiteY2-112" fmla="*/ 0 h 3354550"/>
              <a:gd name="connsiteX3-113" fmla="*/ 3345406 w 3419856"/>
              <a:gd name="connsiteY3-114" fmla="*/ 0 h 3354550"/>
              <a:gd name="connsiteX4-115" fmla="*/ 3398050 w 3419856"/>
              <a:gd name="connsiteY4-116" fmla="*/ 21806 h 3354550"/>
              <a:gd name="connsiteX5-117" fmla="*/ 3419856 w 3419856"/>
              <a:gd name="connsiteY5-118" fmla="*/ 74450 h 3354550"/>
              <a:gd name="connsiteX6-119" fmla="*/ 3419856 w 3419856"/>
              <a:gd name="connsiteY6-120" fmla="*/ 3354550 h 3354550"/>
              <a:gd name="connsiteX7-121" fmla="*/ 0 w 3419856"/>
              <a:gd name="connsiteY7-122" fmla="*/ 3354550 h 3354550"/>
              <a:gd name="connsiteX8-123" fmla="*/ 0 w 3419856"/>
              <a:gd name="connsiteY8-124" fmla="*/ 74450 h 33545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96686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676401"/>
            <a:ext cx="7772400" cy="1538286"/>
          </a:xfrm>
        </p:spPr>
        <p:txBody>
          <a:bodyPr anchor="b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146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3152" y="6400800"/>
            <a:ext cx="3200400" cy="2838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30952" y="6400800"/>
            <a:ext cx="3733800" cy="2838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685800" y="3143248"/>
            <a:ext cx="77724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143248"/>
            <a:ext cx="7772400" cy="1362075"/>
          </a:xfrm>
        </p:spPr>
        <p:txBody>
          <a:bodyPr anchor="t"/>
          <a:lstStyle>
            <a:lvl1pPr algn="ctr">
              <a:defRPr sz="4000" b="0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1643061"/>
            <a:ext cx="7772400" cy="1500187"/>
          </a:xfrm>
        </p:spPr>
        <p:txBody>
          <a:bodyPr anchor="b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 sz="20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2pPr>
            <a:lvl3pPr marL="914400" indent="0">
              <a:buNone/>
              <a:defRPr sz="18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3pPr>
            <a:lvl4pPr marL="13716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4pPr>
            <a:lvl5pPr marL="1828800" indent="0">
              <a:buNone/>
              <a:defRPr sz="1600" b="1">
                <a:effectLst>
                  <a:outerShdw blurRad="50800" dist="25400" dir="5400000" algn="tl" rotWithShape="0">
                    <a:srgbClr val="000000">
                      <a:alpha val="43137"/>
                    </a:srgbClr>
                  </a:outerShdw>
                </a:effectLst>
              </a:defRPr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786050" y="1053546"/>
            <a:ext cx="59040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86050" y="228600"/>
            <a:ext cx="5900752" cy="842946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86050" y="1142984"/>
            <a:ext cx="5900750" cy="51435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5" y="1142984"/>
            <a:ext cx="2257408" cy="5143536"/>
          </a:xfrm>
        </p:spPr>
        <p:txBody>
          <a:bodyPr anchor="ctr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6400800" cy="685800"/>
          </a:xfrm>
        </p:spPr>
        <p:txBody>
          <a:bodyPr anchor="ctr"/>
          <a:lstStyle>
            <a:lvl1pPr algn="l">
              <a:defRPr sz="24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01552" y="1143000"/>
            <a:ext cx="7223248" cy="3980172"/>
          </a:xfrm>
          <a:prstGeom prst="roundRect">
            <a:avLst>
              <a:gd name="adj" fmla="val 18278"/>
            </a:avLst>
          </a:prstGeom>
          <a:solidFill>
            <a:schemeClr val="accent1">
              <a:tint val="40000"/>
            </a:schemeClr>
          </a:solidFill>
          <a:ln w="50800" cap="rnd">
            <a:gradFill flip="none" rotWithShape="1">
              <a:gsLst>
                <a:gs pos="0">
                  <a:schemeClr val="accent1">
                    <a:shade val="50000"/>
                  </a:schemeClr>
                </a:gs>
                <a:gs pos="20000">
                  <a:schemeClr val="accent2">
                    <a:shade val="50000"/>
                  </a:schemeClr>
                </a:gs>
                <a:gs pos="40000">
                  <a:schemeClr val="accent3">
                    <a:shade val="50000"/>
                  </a:schemeClr>
                </a:gs>
                <a:gs pos="60000">
                  <a:schemeClr val="accent4">
                    <a:shade val="50000"/>
                  </a:schemeClr>
                </a:gs>
                <a:gs pos="80000">
                  <a:schemeClr val="accent5">
                    <a:shade val="50000"/>
                  </a:schemeClr>
                </a:gs>
                <a:gs pos="100000">
                  <a:schemeClr val="accent6">
                    <a:shade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  <a:effectLst>
            <a:outerShdw blurRad="50800" dist="38100" dir="5400000" algn="tl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62200" y="5410200"/>
            <a:ext cx="5657888" cy="804862"/>
          </a:xfrm>
        </p:spPr>
        <p:txBody>
          <a:bodyPr anchor="ctr"/>
          <a:lstStyle>
            <a:lvl1pPr marL="0" indent="0" algn="r">
              <a:buNone/>
              <a:defRPr sz="1200" b="0"/>
            </a:lvl1pPr>
            <a:lvl2pPr marL="457200" indent="0" algn="r">
              <a:buNone/>
              <a:defRPr sz="1200" b="0"/>
            </a:lvl2pPr>
            <a:lvl3pPr marL="914400" indent="0" algn="r">
              <a:buNone/>
              <a:defRPr sz="1200" b="0"/>
            </a:lvl3pPr>
            <a:lvl4pPr marL="1371600" indent="0" algn="r">
              <a:buNone/>
              <a:defRPr sz="1200" b="0"/>
            </a:lvl4pPr>
            <a:lvl5pPr marL="1828800" indent="0" algn="r">
              <a:buNone/>
              <a:defRPr sz="1200" b="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7200" y="1410736"/>
            <a:ext cx="8229600" cy="18000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15206" y="274638"/>
            <a:ext cx="1471594" cy="6011882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686568" cy="6011882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srgbClr val="FFFFCC"/>
                </a:solidFill>
              </a:rPr>
              <a:t>2011/8/17</a:t>
            </a: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FFFFC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99691A7-1C81-401E-8E67-300AC1F1246F}" type="slidenum">
              <a:rPr lang="en-US" altLang="zh-CN" smtClean="0">
                <a:solidFill>
                  <a:srgbClr val="FFFFCC"/>
                </a:solidFill>
              </a:rPr>
            </a:fld>
            <a:endParaRPr lang="en-US" altLang="zh-CN">
              <a:solidFill>
                <a:srgbClr val="FFFFCC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7200E83E-3DDC-4057-BD42-0C3CE9F543F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36E5C9AC-B17D-4002-9342-307711A35635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696464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000"/>
            <a:ext cx="9144000" cy="180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68632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200" y="6400800"/>
            <a:ext cx="3200400" cy="283800"/>
          </a:xfrm>
          <a:prstGeom prst="rect">
            <a:avLst/>
          </a:prstGeom>
        </p:spPr>
        <p:txBody>
          <a:bodyPr vert="horz" rtlCol="0" anchor="b"/>
          <a:lstStyle>
            <a:lvl1pPr algn="l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>
                <a:solidFill>
                  <a:srgbClr val="2F2F2F">
                    <a:lumMod val="75000"/>
                    <a:lumOff val="25000"/>
                  </a:srgbClr>
                </a:solidFill>
              </a:rPr>
              <a:t>2011/8/17</a:t>
            </a:r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34000" y="6400800"/>
            <a:ext cx="3733800" cy="283800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1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114800" y="6400800"/>
            <a:ext cx="914400" cy="283464"/>
          </a:xfrm>
          <a:prstGeom prst="rect">
            <a:avLst/>
          </a:prstGeom>
          <a:noFill/>
        </p:spPr>
        <p:txBody>
          <a:bodyPr vert="horz" lIns="45720" rIns="45720" rtlCol="0" anchor="ctr"/>
          <a:lstStyle>
            <a:lvl1pPr algn="ctr" eaLnBrk="1" latinLnBrk="0" hangingPunct="1">
              <a:defRPr kumimoji="0" sz="1100" b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fld id="{1F9C30EF-BED7-4227-AEDB-FD1CDC6CCC52}" type="slidenum">
              <a:rPr lang="zh-CN" altLang="en-US" smtClean="0">
                <a:solidFill>
                  <a:srgbClr val="2F2F2F">
                    <a:lumMod val="75000"/>
                    <a:lumOff val="25000"/>
                  </a:srgbClr>
                </a:solidFill>
              </a:rPr>
            </a:fld>
            <a:endParaRPr lang="zh-CN" altLang="en-US">
              <a:solidFill>
                <a:srgbClr val="2F2F2F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144000" cy="1080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ß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Þ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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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50000"/>
        <a:buFont typeface="Wingdings 2" panose="05020102010507070707"/>
        <a:buChar char="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2.png"/><Relationship Id="rId1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1.emf"/><Relationship Id="rId1" Type="http://schemas.openxmlformats.org/officeDocument/2006/relationships/hyperlink" Target="&#8220;&#24184;&#36816;&#8221;&#23398;&#29983;&#25277;&#36873;&#22120;.ex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3.png"/><Relationship Id="rId1" Type="http://schemas.openxmlformats.org/officeDocument/2006/relationships/image" Target="../media/image2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9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29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1.png"/><Relationship Id="rId1" Type="http://schemas.openxmlformats.org/officeDocument/2006/relationships/image" Target="../media/image30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0.e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hyperlink" Target="&#8220;&#24184;&#36816;&#8221;&#23398;&#29983;&#25277;&#36873;&#22120;.exe" TargetMode="Externa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hyperlink" Target="mailto:sysumatlab@163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212F22"/>
            </a:gs>
            <a:gs pos="31000">
              <a:srgbClr val="0B7B3E"/>
            </a:gs>
            <a:gs pos="100000">
              <a:srgbClr val="1E241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340768"/>
            <a:ext cx="7772400" cy="1470025"/>
          </a:xfrm>
        </p:spPr>
        <p:txBody>
          <a:bodyPr/>
          <a:lstStyle/>
          <a:p>
            <a:r>
              <a:rPr lang="zh-CN" altLang="en-US" sz="4800" b="1" dirty="0">
                <a:solidFill>
                  <a:srgbClr val="FFC000"/>
                </a:solidFill>
              </a:rPr>
              <a:t>数学实验与数学软件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286000" y="2643852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sz="2800" dirty="0"/>
              <a:t>第五课：</a:t>
            </a:r>
            <a:r>
              <a:rPr lang="en-US" altLang="zh-CN" sz="2800" dirty="0"/>
              <a:t>MATLAB</a:t>
            </a:r>
            <a:r>
              <a:rPr lang="zh-CN" altLang="en-US" sz="2800" dirty="0"/>
              <a:t>矩阵函数与程序设计初步</a:t>
            </a:r>
            <a:endParaRPr lang="en-US" altLang="zh-CN" sz="2800" dirty="0"/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564" y="4581128"/>
            <a:ext cx="1616968" cy="1552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476" y="4581817"/>
            <a:ext cx="1551600" cy="1551600"/>
          </a:xfrm>
          <a:prstGeom prst="rect">
            <a:avLst/>
          </a:prstGeom>
        </p:spPr>
      </p:pic>
      <p:sp>
        <p:nvSpPr>
          <p:cNvPr id="10" name="副标题 2"/>
          <p:cNvSpPr>
            <a:spLocks noGrp="1"/>
          </p:cNvSpPr>
          <p:nvPr>
            <p:ph type="subTitle" idx="1"/>
          </p:nvPr>
        </p:nvSpPr>
        <p:spPr>
          <a:xfrm>
            <a:off x="1219200" y="3429000"/>
            <a:ext cx="6400800" cy="1752600"/>
          </a:xfrm>
        </p:spPr>
        <p:txBody>
          <a:bodyPr/>
          <a:lstStyle/>
          <a:p>
            <a:endParaRPr lang="en-US" altLang="zh-CN" sz="2400" dirty="0"/>
          </a:p>
          <a:p>
            <a:r>
              <a:rPr lang="zh-CN" altLang="en-US" sz="2400" dirty="0"/>
              <a:t>谭军</a:t>
            </a:r>
            <a:endParaRPr lang="en-US" altLang="zh-CN" sz="2400" dirty="0"/>
          </a:p>
          <a:p>
            <a:r>
              <a:rPr lang="zh-CN" altLang="en-US" sz="2400" b="1" dirty="0">
                <a:ea typeface="PMingLiU" pitchFamily="18" charset="-120"/>
              </a:rPr>
              <a:t>中山大学数学学院</a:t>
            </a:r>
            <a:endParaRPr lang="en-US" altLang="zh-CN" sz="2400" b="1" dirty="0">
              <a:ea typeface="PMingLiU" pitchFamily="18" charset="-120"/>
            </a:endParaRPr>
          </a:p>
          <a:p>
            <a:endParaRPr lang="en-US" altLang="zh-CN" sz="1600" b="1" dirty="0">
              <a:ea typeface="PMingLiU" pitchFamily="18" charset="-120"/>
            </a:endParaRPr>
          </a:p>
          <a:p>
            <a:endParaRPr lang="zh-CN" altLang="en-US" sz="1600" dirty="0"/>
          </a:p>
          <a:p>
            <a:endParaRPr lang="zh-CN" altLang="en-US" dirty="0"/>
          </a:p>
        </p:txBody>
      </p:sp>
      <p:sp>
        <p:nvSpPr>
          <p:cNvPr id="11" name="副标题 2"/>
          <p:cNvSpPr txBox="1"/>
          <p:nvPr/>
        </p:nvSpPr>
        <p:spPr>
          <a:xfrm>
            <a:off x="1187624" y="47251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 spc="3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None/>
              <a:defRPr sz="1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sz="17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方正姚体" panose="02010601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30" normalizeH="0" baseline="0" noProof="0" dirty="0">
                <a:ln>
                  <a:noFill/>
                </a:ln>
                <a:solidFill>
                  <a:srgbClr val="DC9E1F"/>
                </a:solidFill>
                <a:effectLst/>
                <a:uLnTx/>
                <a:uFillTx/>
                <a:latin typeface="Arial Narrow" panose="020B0606020202030204"/>
                <a:ea typeface="方正姚体" panose="02010601030101010101" pitchFamily="2" charset="-122"/>
                <a:cs typeface="+mn-cs"/>
              </a:rPr>
              <a:t>教师邮箱：</a:t>
            </a:r>
            <a:r>
              <a:rPr kumimoji="0" lang="en-US" altLang="zh-CN" sz="2400" b="0" i="0" u="none" strike="noStrike" kern="1200" cap="none" spc="30" normalizeH="0" baseline="0" noProof="0" dirty="0">
                <a:ln>
                  <a:noFill/>
                </a:ln>
                <a:solidFill>
                  <a:srgbClr val="DC9E1F"/>
                </a:solidFill>
                <a:effectLst/>
                <a:uLnTx/>
                <a:uFillTx/>
                <a:latin typeface="Arial Narrow" panose="020B0606020202030204"/>
                <a:ea typeface="方正姚体" panose="02010601030101010101" pitchFamily="2" charset="-122"/>
                <a:cs typeface="+mn-cs"/>
              </a:rPr>
              <a:t>mcstj@mail.sysu.edu.cn </a:t>
            </a:r>
            <a:endParaRPr kumimoji="0" lang="en-US" altLang="zh-CN" sz="2400" b="1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1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PMingLiU" pitchFamily="18" charset="-120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方正姚体" panose="02010601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DC9E1F"/>
              </a:buClr>
              <a:buSzTx/>
              <a:buFont typeface="Arial" panose="020B0604020202020204" pitchFamily="34" charset="0"/>
              <a:buNone/>
              <a:defRPr/>
            </a:pPr>
            <a:endParaRPr kumimoji="0" lang="zh-CN" altLang="en-US" sz="1700" b="0" i="0" u="none" strike="noStrike" kern="1200" cap="none" spc="30" normalizeH="0" baseline="0" noProof="0" dirty="0">
              <a:ln>
                <a:noFill/>
              </a:ln>
              <a:solidFill>
                <a:srgbClr val="DC9E1F"/>
              </a:solidFill>
              <a:effectLst/>
              <a:uLnTx/>
              <a:uFillTx/>
              <a:latin typeface="Arial Narrow" panose="020B0606020202030204"/>
              <a:ea typeface="方正姚体" panose="02010601030101010101" pitchFamily="2" charset="-122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矩阵的乘除运算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0185" y="956783"/>
            <a:ext cx="84386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除矩阵的乘法和除法（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MATLAB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定义的左右除）外，数组运算与矩阵运算定义并无区别。矩阵的乘法分为两种，即“数乘”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a*B</a:t>
            </a:r>
            <a:r>
              <a:rPr lang="en-US" altLang="zh-CN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;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或矩阵与矩阵相乘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A*B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,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此时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的列数必须与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的行数完全相同。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7151" y="2613392"/>
            <a:ext cx="8438666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矩阵左除为左矩阵取逆相乘，右除则为右矩阵取逆，如：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幼圆" panose="02010509060101010101" pitchFamily="49" charset="-122"/>
              <a:cs typeface="Courier New" panose="02070309020205020404" pitchFamily="49" charset="0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r>
              <a:rPr lang="pt-BR" altLang="zh-CN" sz="2400" b="1" dirty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  <a:cs typeface="Courier New" panose="02070309020205020404" pitchFamily="49" charset="0"/>
              </a:rPr>
              <a:t>   A\B=inv(A)*B=A</a:t>
            </a:r>
            <a:r>
              <a:rPr lang="pt-BR" altLang="zh-CN" sz="2400" b="1" baseline="30000" dirty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  <a:cs typeface="Courier New" panose="02070309020205020404" pitchFamily="49" charset="0"/>
              </a:rPr>
              <a:t>-1</a:t>
            </a:r>
            <a:r>
              <a:rPr lang="pt-BR" altLang="zh-CN" sz="2400" b="1" dirty="0">
                <a:solidFill>
                  <a:srgbClr val="0070C0"/>
                </a:solidFill>
                <a:latin typeface="幼圆" panose="02010509060101010101" pitchFamily="49" charset="-122"/>
                <a:ea typeface="幼圆" panose="02010509060101010101" pitchFamily="49" charset="-122"/>
                <a:cs typeface="Courier New" panose="02070309020205020404" pitchFamily="49" charset="0"/>
              </a:rPr>
              <a:t>*B       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  <a:cs typeface="Courier New" panose="02070309020205020404" pitchFamily="49" charset="0"/>
              </a:rPr>
              <a:t>而       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A/B= A*</a:t>
            </a:r>
            <a:r>
              <a:rPr lang="en-US" altLang="zh-CN" sz="2400" b="1" dirty="0" err="1">
                <a:solidFill>
                  <a:srgbClr val="0070C0"/>
                </a:solidFill>
                <a:latin typeface="+mj-ea"/>
              </a:rPr>
              <a:t>inv</a:t>
            </a:r>
            <a:r>
              <a:rPr lang="en-US" altLang="zh-CN" sz="2400" b="1" dirty="0">
                <a:solidFill>
                  <a:srgbClr val="0070C0"/>
                </a:solidFill>
                <a:latin typeface="+mj-ea"/>
              </a:rPr>
              <a:t>(B)</a:t>
            </a:r>
            <a:endParaRPr lang="en-US" altLang="zh-CN" sz="2400" b="1" baseline="30000" dirty="0">
              <a:solidFill>
                <a:srgbClr val="0070C0"/>
              </a:solidFill>
              <a:latin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0184" y="3663555"/>
            <a:ext cx="8818319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符号</a:t>
            </a:r>
            <a:r>
              <a:rPr lang="en-US" altLang="zh-CN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’\’</a:t>
            </a: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可以很方便的解线性方程组，如</a:t>
            </a:r>
            <a:r>
              <a:rPr lang="en-US" altLang="zh-CN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Ax=b</a:t>
            </a: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的解即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x=A\b,</a:t>
            </a:r>
            <a:endParaRPr lang="en-US" altLang="zh-CN" sz="2400" b="1" dirty="0">
              <a:solidFill>
                <a:schemeClr val="accent2"/>
              </a:solidFill>
              <a:latin typeface="Courier New" panose="02070309020205020404" pitchFamily="49" charset="0"/>
              <a:ea typeface="幼圆" panose="02010509060101010101" pitchFamily="49" charset="-122"/>
              <a:cs typeface="Courier New" panose="02070309020205020404" pitchFamily="49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defRPr/>
            </a:pPr>
            <a:r>
              <a:rPr lang="zh-CN" altLang="en-US" sz="2400" b="1" noProof="0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 矩阵方程</a:t>
            </a:r>
            <a:r>
              <a:rPr lang="en-US" altLang="zh-CN" sz="2400" b="1" noProof="0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XA=B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可用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X=B/A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来解出。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超定方程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(A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列满秩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将提供最小二乘解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其余无解方程将可能会返回</a:t>
            </a:r>
            <a:r>
              <a:rPr lang="en-US" altLang="zh-CN" sz="2400" b="1" dirty="0" err="1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NaN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向量或矩阵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295287" y="4940828"/>
                <a:ext cx="8818319" cy="470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kumimoji="0" lang="zh-CN" altLang="en-US" sz="2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幼圆" panose="02010509060101010101" pitchFamily="49" charset="-122"/>
                    <a:cs typeface="Courier New" panose="02070309020205020404" pitchFamily="49" charset="0"/>
                  </a:rPr>
                  <a:t>关于数组运算，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&lt;</m:t>
                    </m:r>
                    <m:sSup>
                      <m:sSup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𝑪</m:t>
                        </m:r>
                      </m:e>
                      <m:sup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𝑺</m:t>
                        </m:r>
                      </m:sup>
                    </m:sSup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,+,.∗&gt;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构成复数集合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𝑪</m:t>
                        </m:r>
                      </m:e>
                      <m:sup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𝒔</m:t>
                        </m:r>
                      </m:sup>
                    </m:sSup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上的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数组域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87" y="4940828"/>
                <a:ext cx="8818319" cy="470000"/>
              </a:xfrm>
              <a:prstGeom prst="rect">
                <a:avLst/>
              </a:prstGeom>
              <a:blipFill rotWithShape="1">
                <a:blip r:embed="rId1"/>
                <a:stretch>
                  <a:fillRect t="-112" r="1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90184" y="5583560"/>
                <a:ext cx="8818319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kumimoji="0" lang="zh-CN" altLang="en-US" sz="2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幼圆" panose="02010509060101010101" pitchFamily="49" charset="-122"/>
                    <a:cs typeface="Courier New" panose="02070309020205020404" pitchFamily="49" charset="0"/>
                  </a:rPr>
                  <a:t>关于矩阵运算，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&lt;</m:t>
                    </m:r>
                    <m:sSup>
                      <m:sSup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𝑪</m:t>
                        </m:r>
                      </m:e>
                      <m:sup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𝑴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×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𝑵</m:t>
                        </m:r>
                      </m:sup>
                    </m:sSup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,+&gt;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构成复数集合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𝑪</m:t>
                        </m:r>
                      </m:e>
                      <m:sup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𝑴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×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上的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阿贝尔群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4" y="5583560"/>
                <a:ext cx="8818319" cy="468205"/>
              </a:xfrm>
              <a:prstGeom prst="rect">
                <a:avLst/>
              </a:prstGeom>
              <a:blipFill rotWithShape="1">
                <a:blip r:embed="rId2"/>
                <a:stretch>
                  <a:fillRect l="-7" t="-1" r="1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90184" y="6224497"/>
                <a:ext cx="8818319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  <a:defRPr/>
                </a:pPr>
                <a:r>
                  <a:rPr kumimoji="0" lang="zh-CN" altLang="en-US" sz="2400" b="1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ea typeface="幼圆" panose="02010509060101010101" pitchFamily="49" charset="-122"/>
                    <a:cs typeface="Courier New" panose="02070309020205020404" pitchFamily="49" charset="0"/>
                  </a:rPr>
                  <a:t>关于矩阵运算，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&lt;</m:t>
                    </m:r>
                    <m:sSup>
                      <m:sSup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𝑪</m:t>
                        </m:r>
                      </m:e>
                      <m:sup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𝑵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×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𝑵</m:t>
                        </m:r>
                      </m:sup>
                    </m:sSup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,+,∗&gt;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构成复数集合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𝑪</m:t>
                        </m:r>
                      </m:e>
                      <m:sup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𝑵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×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𝑵</m:t>
                        </m:r>
                      </m:sup>
                    </m:sSup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上的</a:t>
                </a:r>
                <a:r>
                  <a:rPr lang="zh-CN" altLang="en-US" sz="2400" b="1" noProof="0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环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4" y="6224497"/>
                <a:ext cx="8818319" cy="468205"/>
              </a:xfrm>
              <a:prstGeom prst="rect">
                <a:avLst/>
              </a:prstGeom>
              <a:blipFill rotWithShape="1">
                <a:blip r:embed="rId3"/>
                <a:stretch>
                  <a:fillRect l="-7" t="-48" r="1" b="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矩阵的幂运算与矩阵函数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90185" y="956783"/>
                <a:ext cx="8438666" cy="886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底数为标量：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b^A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𝒃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𝟏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𝒃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𝒏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,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且特征根各异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956783"/>
                <a:ext cx="8438666" cy="886846"/>
              </a:xfrm>
              <a:prstGeom prst="rect">
                <a:avLst/>
              </a:prstGeom>
              <a:blipFill rotWithShape="1">
                <a:blip r:embed="rId1"/>
                <a:stretch>
                  <a:fillRect l="-7" t="-53" r="2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矩形 10"/>
              <p:cNvSpPr/>
              <p:nvPr/>
            </p:nvSpPr>
            <p:spPr>
              <a:xfrm>
                <a:off x="290184" y="1955498"/>
                <a:ext cx="8438666" cy="9005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指数为标量：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A^b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𝒃</m:t>
                            </m:r>
                          </m:sup>
                        </m:sSub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sSubSup>
                          <m:sSubSup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𝒃</m:t>
                            </m:r>
                          </m:sup>
                        </m:sSub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 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,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且特征根各异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4" y="1955498"/>
                <a:ext cx="8438666" cy="900568"/>
              </a:xfrm>
              <a:prstGeom prst="rect">
                <a:avLst/>
              </a:prstGeom>
              <a:blipFill rotWithShape="1">
                <a:blip r:embed="rId2"/>
                <a:stretch>
                  <a:fillRect l="-7" t="-37" r="2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290184" y="2967935"/>
                <a:ext cx="8438666" cy="88684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expm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(A)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为矩阵指数函数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𝟏</m:t>
                                </m:r>
                              </m:sub>
                            </m:sSub>
                          </m:sup>
                        </m:sSup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sSup>
                          <m:sSupPr>
                            <m:ctrlPr>
                              <a:rPr lang="en-US" altLang="zh-CN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𝒏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,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=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且特征根各异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4" y="2967935"/>
                <a:ext cx="8438666" cy="886846"/>
              </a:xfrm>
              <a:prstGeom prst="rect">
                <a:avLst/>
              </a:prstGeom>
              <a:blipFill rotWithShape="1">
                <a:blip r:embed="rId3"/>
                <a:stretch>
                  <a:fillRect l="-7" t="-65" r="2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88908" y="3954736"/>
                <a:ext cx="8438666" cy="4700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logm(A)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为矩阵对数函数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func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func>
                          <m:funcPr>
                            <m:ctrlPr>
                              <a:rPr lang="en-US" altLang="zh-CN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ln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func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08" y="3954736"/>
                <a:ext cx="8438666" cy="470000"/>
              </a:xfrm>
              <a:prstGeom prst="rect">
                <a:avLst/>
              </a:prstGeom>
              <a:blipFill rotWithShape="1">
                <a:blip r:embed="rId4"/>
                <a:stretch>
                  <a:fillRect l="-7" t="-126" r="2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288908" y="4524691"/>
                <a:ext cx="8438666" cy="1091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sqrtm(A)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为矩阵平方根函数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rad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𝝀</m:t>
                                </m:r>
                              </m:e>
                              <m:sub>
                                <m:r>
                                  <a:rPr lang="en-US" altLang="zh-CN" sz="2400" b="1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幼圆" panose="02010509060101010101" pitchFamily="49" charset="-122"/>
                                    <a:cs typeface="Courier New" panose="02070309020205020404" pitchFamily="49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rad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,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  <a:p>
                <a:pPr lvl="0">
                  <a:spcBef>
                    <a:spcPts val="580"/>
                  </a:spcBef>
                  <a:buClr>
                    <a:srgbClr val="00B050"/>
                  </a:buClr>
                  <a:buSzPct val="85000"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 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在矩阵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A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正定的情况下，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sqrtm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(A)*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sqrtm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(A)=A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08" y="4524691"/>
                <a:ext cx="8438666" cy="1091324"/>
              </a:xfrm>
              <a:prstGeom prst="rect">
                <a:avLst/>
              </a:prstGeom>
              <a:blipFill rotWithShape="1">
                <a:blip r:embed="rId5"/>
                <a:stretch>
                  <a:fillRect l="-7" t="-29" r="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288908" y="5696511"/>
                <a:ext cx="8438666" cy="83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funm(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A,Hfun</a:t>
                </a:r>
                <a:r>
                  <a:rPr lang="en-US" altLang="zh-CN" sz="2400" b="1" dirty="0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)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为矩阵对数函数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𝑸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𝒅𝒊𝒂𝒈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𝒇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)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,…,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𝒇</m:t>
                        </m:r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𝝀</m:t>
                            </m:r>
                          </m:e>
                          <m:sub>
                            <m:r>
                              <a:rPr lang="en-US" altLang="zh-CN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幼圆" panose="02010509060101010101" pitchFamily="49" charset="-122"/>
                                <a:cs typeface="Courier New" panose="02070309020205020404" pitchFamily="49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)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</m:ctrlPr>
                      </m:sSup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𝑸</m:t>
                        </m:r>
                      </m:e>
                      <m:sup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幼圆" panose="02010509060101010101" pitchFamily="49" charset="-122"/>
                            <a:cs typeface="Courier New" panose="02070309020205020404" pitchFamily="49" charset="0"/>
                          </a:rPr>
                          <m:t>𝟏</m:t>
                        </m:r>
                      </m:sup>
                    </m:sSup>
                    <m:r>
                      <a:rPr lang="zh-CN" alt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，</m:t>
                    </m:r>
                  </m:oMath>
                </a14:m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Hfun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称为函数句柄（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详见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6.4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，以后会讲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）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08" y="5696511"/>
                <a:ext cx="8438666" cy="839332"/>
              </a:xfrm>
              <a:prstGeom prst="rect">
                <a:avLst/>
              </a:prstGeom>
              <a:blipFill rotWithShape="1">
                <a:blip r:embed="rId6"/>
                <a:stretch>
                  <a:fillRect l="-7" t="-67" r="2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3.4-1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629" y="764704"/>
            <a:ext cx="804664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zh-CN" altLang="zh-CN" dirty="0">
                <a:latin typeface="Times New Roman" panose="02020603050405020304" pitchFamily="18" charset="0"/>
              </a:rPr>
              <a:t>【例 </a:t>
            </a:r>
            <a:r>
              <a:rPr lang="en-US" altLang="zh-CN" dirty="0">
                <a:latin typeface="Times New Roman" panose="02020603050405020304" pitchFamily="18" charset="0"/>
              </a:rPr>
              <a:t>3.4-1</a:t>
            </a:r>
            <a:r>
              <a:rPr lang="zh-CN" altLang="zh-CN" dirty="0">
                <a:latin typeface="Times New Roman" panose="02020603050405020304" pitchFamily="18" charset="0"/>
              </a:rPr>
              <a:t>】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Am=magic(3)	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8     1     6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3     5     7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4     9     2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Aa=reshape(1:12,3,4) 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1     4     7    10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2     5     8    11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3     6     9    12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repmat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(1:4,3,1)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1     2     3     4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1     2     3     4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1     2     3     4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AmmB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=Am*B		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AmmB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15    30    45    60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15    30    45    60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15    30    45    60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AamB=Aa.*B		      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AamB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1     8    21    40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2    10    24    44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3    12    27    48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3.4-1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6712" y="836712"/>
            <a:ext cx="747057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AmLdB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=Am\B	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的逆矩阵乘以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AmLdB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0.0667    0.1333    0.2000    0.2667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0.0667    0.1333    0.2000    0.2667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0.0667    0.1333    0.2000    0.2667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AaadB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=Aa.\B	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对应位置左除（右除以左）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AaadB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1.0000    0.5000    0.4286    0.4000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0.5000    0.4000    0.3750    0.3636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0.3333    0.3333    0.3333    0.3333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Amm2=Am^2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相当于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Amm2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91    67    67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67    91    67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67    67    91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Ama2=Am.^2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每个元素平方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Ama2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64     1    36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9    25    49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16    81     4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3.4-1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7544" y="936327"/>
            <a:ext cx="741682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Am2m=2^Am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对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特征值分别以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位底数求幂再复原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Am2m =   1.0e+04 *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1.0942    1.0906    1.0921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1.0912    1.0933    1.0924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1.0915    1.0930    1.0923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Am2a=2.^Am				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Am2a =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256     2    64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8    32   128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16   512     4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rng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(0)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种子为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的随机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randn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(3,3);		%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9875" algn="l"/>
                <a:tab pos="13239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AmLdD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=Am\D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的逆乘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AmLdD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  -0.3301   -0.0027    0.1153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   -0.2305   -0.1836    0.4118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	    0.5681    0.1778   -0.2946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DRdAm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=D/Am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乘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Am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的逆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DRdAm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   0.0349   -0.1404    0.1699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    0.2438   -0.1931    0.1156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   -0.3222    0.9731   -0.6501 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3.4-2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94719" y="1916832"/>
            <a:ext cx="825447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function D=exm030402_1(A,B)</a:t>
            </a:r>
            <a:r>
              <a:rPr lang="en-US" altLang="zh-CN" dirty="0">
                <a:highlight>
                  <a:srgbClr val="FFFF00"/>
                </a:highlight>
                <a:latin typeface="Times New Roman" panose="02020603050405020304" pitchFamily="18" charset="0"/>
              </a:rPr>
              <a:t>    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D=exm030402_1(A,B),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需建立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m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文件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 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[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m,p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]=size(A);    [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q,n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]=size(B);				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if p~=q				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error('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ea typeface="楷体" panose="02010609060101010101" pitchFamily="49" charset="-122"/>
              </a:rPr>
              <a:t>A</a:t>
            </a:r>
            <a:r>
              <a:rPr lang="zh-CN" altLang="zh-CN" b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Courier New" panose="02070309020205020404" pitchFamily="49" charset="0"/>
              </a:rPr>
              <a:t>阵的列数不等于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ea typeface="楷体" panose="02010609060101010101" pitchFamily="49" charset="-122"/>
              </a:rPr>
              <a:t>B</a:t>
            </a:r>
            <a:r>
              <a:rPr lang="zh-CN" altLang="zh-CN" b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Courier New" panose="02070309020205020404" pitchFamily="49" charset="0"/>
              </a:rPr>
              <a:t>阵的行数，所以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ea typeface="楷体" panose="02010609060101010101" pitchFamily="49" charset="-122"/>
              </a:rPr>
              <a:t>A</a:t>
            </a:r>
            <a:r>
              <a:rPr lang="zh-CN" altLang="zh-CN" b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Courier New" panose="02070309020205020404" pitchFamily="49" charset="0"/>
              </a:rPr>
              <a:t>不能与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ea typeface="楷体" panose="02010609060101010101" pitchFamily="49" charset="-122"/>
              </a:rPr>
              <a:t>B</a:t>
            </a:r>
            <a:r>
              <a:rPr lang="zh-CN" altLang="zh-CN" b="1" dirty="0">
                <a:highlight>
                  <a:srgbClr val="FFFF00"/>
                </a:highlight>
                <a:latin typeface="Times New Roman" panose="02020603050405020304" pitchFamily="18" charset="0"/>
                <a:ea typeface="楷体" panose="02010609060101010101" pitchFamily="49" charset="-122"/>
                <a:cs typeface="Courier New" panose="02070309020205020404" pitchFamily="49" charset="0"/>
              </a:rPr>
              <a:t>相乘！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')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end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for ii=1:m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for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=1:n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wr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=0;wi=0;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for k=1:p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	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wr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wr+real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(A(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ii,k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))*real(B(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k,jj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))...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	   -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imag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(A(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ii,k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))*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imag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(B(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k,jj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	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wi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wi+real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(A(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ii,k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))*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imag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(B(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k,jj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))...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		+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imag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(A(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ii,k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))*real(B(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k,jj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));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end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D(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ii,jj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wr+j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*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wi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end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end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950238"/>
            <a:ext cx="8772194" cy="98991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58" y="2110758"/>
            <a:ext cx="8772194" cy="16481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3.4-2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5903" y="918111"/>
            <a:ext cx="8772194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rng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('default'),m=100;p=300;n=200;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randn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)+1j*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randn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);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1j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即复数单位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i,j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均被占用可如此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randn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)+1j*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randn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);	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tic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开始计时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Dc=exm030402_1(A,B);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Tc=toc;	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toc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代表距离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tic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已经过去的时间（秒）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tic,Dm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=A*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B;Tm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=toc;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记录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MATLAB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算符运算的时间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RE=abs((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-Dc)./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计算相对误差矩阵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re=max(RE(:));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RE(:)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意为将矩阵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拉成列向量，再取最大值，即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的最大元素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tmc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=Tm/Tc;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计算耗时比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		%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fprintf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两种编码所得矩阵间的最大元素相对误差为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%6.4e\n', re)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fprintf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“直接乘算符法”耗时与“标量循环法”耗时之比为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%6.4e\n',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tmc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类似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语言这样的输出格式，使用方法和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语言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printf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完全相同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两种编码所得矩阵间的最大元素相对误差为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  4.0256e-14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3810" algn="l"/>
              </a:tabLst>
            </a:pP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“直接乘算符法”耗时与“标量循环法”耗时之比为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3.2045e-03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fprintf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来自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语言的屏显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写文件函数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290185" y="956783"/>
                <a:ext cx="843866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MATLAB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函数</a:t>
                </a:r>
                <a:r>
                  <a:rPr lang="en-US" altLang="zh-CN" sz="2400" b="1" dirty="0" err="1">
                    <a:solidFill>
                      <a:schemeClr val="accent2"/>
                    </a:solidFill>
                    <a:latin typeface="Courier New" panose="02070309020205020404" pitchFamily="49" charset="0"/>
                    <a:ea typeface="幼圆" panose="02010509060101010101" pitchFamily="49" charset="-122"/>
                    <a:cs typeface="Courier New" panose="02070309020205020404" pitchFamily="49" charset="0"/>
                  </a:rPr>
                  <a:t>fprintf</a:t>
                </a:r>
                <a14:m>
                  <m:oMath xmlns:m="http://schemas.openxmlformats.org/officeDocument/2006/math">
                    <m:r>
                      <a:rPr lang="zh-CN" altLang="en-US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  <a:cs typeface="Courier New" panose="02070309020205020404" pitchFamily="49" charset="0"/>
                      </a:rPr>
                      <m:t>既</m:t>
                    </m:r>
                  </m:oMath>
                </a14:m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可以加入文件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ID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来进行文件写入，也可以不加入文件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ID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，类似</a:t>
                </a: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C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语言的</a:t>
                </a:r>
                <a:r>
                  <a:rPr kumimoji="0" lang="en-US" altLang="zh-CN" sz="2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printf</a:t>
                </a: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函数直接进行屏幕的输出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，其格式也与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C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语言的</a:t>
                </a:r>
                <a:r>
                  <a:rPr lang="en-US" altLang="zh-CN" sz="2400" b="1" dirty="0" err="1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printf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  <a:cs typeface="Courier New" panose="02070309020205020404" pitchFamily="49" charset="0"/>
                  </a:rPr>
                  <a:t>相同。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幼圆" panose="02010509060101010101" pitchFamily="49" charset="-122"/>
                  <a:ea typeface="幼圆" panose="02010509060101010101" pitchFamily="49" charset="-122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185" y="956783"/>
                <a:ext cx="8438666" cy="1200329"/>
              </a:xfrm>
              <a:prstGeom prst="rect">
                <a:avLst/>
              </a:prstGeom>
              <a:blipFill rotWithShape="1">
                <a:blip r:embed="rId1"/>
                <a:stretch>
                  <a:fillRect l="-7" t="-39" r="2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290184" y="2112240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屏显标准用法：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fprintf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(formatSpec,A1,...,An)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90184" y="2563973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noProof="0" dirty="0" err="1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formatSpec</a:t>
            </a:r>
            <a:r>
              <a:rPr lang="zh-CN" altLang="en-US" sz="2400" b="1" noProof="0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的含义为输出字段格式，其可以是一个普通字符串如</a:t>
            </a:r>
            <a:r>
              <a:rPr lang="en-US" altLang="zh-CN" sz="2400" b="1" noProof="0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'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Hello World!'</a:t>
            </a:r>
            <a:r>
              <a:rPr lang="zh-CN" altLang="en-US" sz="2400" b="1" noProof="0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，这样后面就不需要加入</a:t>
            </a:r>
            <a:r>
              <a:rPr lang="en-US" altLang="zh-CN" sz="2400" b="1" noProof="0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A1</a:t>
            </a:r>
            <a:r>
              <a:rPr lang="zh-CN" altLang="en-US" sz="2400" b="1" noProof="0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等额外的变量名。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88908" y="3761037"/>
            <a:ext cx="843866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fprintf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('</a:t>
            </a:r>
            <a:r>
              <a:rPr lang="zh-CN" altLang="en-US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两种编码所得矩阵间的最大元素相对误差为        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%6.4e\n', re)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当中，左边出现了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%6.4e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，这个表达式的含义为科学计数法表示浮点数，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6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代表浮点数占用空间不少于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6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格（可以尝试增大到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10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，左边会增加空格），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4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代表保留四位小数，即共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5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位有效数字。字符串末尾的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\n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表示换行。而字符串后面的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re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则代表着前面的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%6.4e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对应的浮点型数就是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re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的值。</a:t>
            </a:r>
            <a:endParaRPr lang="en-US" altLang="zh-CN" sz="2400" b="1" dirty="0">
              <a:latin typeface="Courier New" panose="02070309020205020404" pitchFamily="49" charset="0"/>
              <a:ea typeface="幼圆" panose="02010509060101010101" pitchFamily="49" charset="-122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5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19276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 err="1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fprintf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来自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语言的屏显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写文件函数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3" name="表格 4"/>
          <p:cNvGraphicFramePr>
            <a:graphicFrameLocks noGrp="1"/>
          </p:cNvGraphicFramePr>
          <p:nvPr/>
        </p:nvGraphicFramePr>
        <p:xfrm>
          <a:off x="368252" y="1196752"/>
          <a:ext cx="8504748" cy="5164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540"/>
                <a:gridCol w="2304256"/>
                <a:gridCol w="1742765"/>
                <a:gridCol w="2126187"/>
              </a:tblGrid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600" dirty="0"/>
                        <a:t>格式化操作符</a:t>
                      </a:r>
                      <a:endParaRPr lang="zh-CN" altLang="en-US" sz="2600" dirty="0"/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600" dirty="0"/>
                        <a:t>含义</a:t>
                      </a:r>
                      <a:endParaRPr lang="zh-CN" altLang="en-US" sz="2600" dirty="0"/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600" dirty="0"/>
                        <a:t>特殊字符</a:t>
                      </a:r>
                      <a:endParaRPr lang="zh-CN" altLang="en-US" sz="2600" dirty="0"/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600" dirty="0"/>
                        <a:t>含义</a:t>
                      </a:r>
                      <a:endParaRPr lang="zh-CN" altLang="en-US" sz="2600" dirty="0"/>
                    </a:p>
                  </a:txBody>
                  <a:tcPr marL="127571" marR="127571" marT="63786" marB="63786" anchor="ctr"/>
                </a:tc>
              </a:tr>
              <a:tr h="5099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%d</a:t>
                      </a:r>
                      <a:endParaRPr lang="zh-CN" altLang="en-US" sz="2400" b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有符号整数</a:t>
                      </a:r>
                      <a:endParaRPr lang="zh-CN" altLang="en-US" sz="2400" b="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\n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换行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</a:tr>
              <a:tr h="1647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%u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无符号整数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%%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百分号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</a:tr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%f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浮点数（非科学计数法）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\\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反斜杠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</a:tr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%e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浮点数（科学计数法）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''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单引号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</a:tr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%c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单个字符（转换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ASCII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码）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%.4f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保留四位小数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</a:tr>
              <a:tr h="79208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%s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字符串变量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%+f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正数前面加</a:t>
                      </a:r>
                      <a:r>
                        <a:rPr lang="en-US" altLang="zh-CN" sz="2400" dirty="0">
                          <a:latin typeface="Courier New" panose="02070309020205020404" pitchFamily="49" charset="0"/>
                          <a:ea typeface="+mj-ea"/>
                          <a:cs typeface="Courier New" panose="02070309020205020404" pitchFamily="49" charset="0"/>
                        </a:rPr>
                        <a:t>+</a:t>
                      </a:r>
                      <a:endParaRPr lang="zh-CN" altLang="en-US" sz="2400" dirty="0">
                        <a:latin typeface="Courier New" panose="02070309020205020404" pitchFamily="49" charset="0"/>
                        <a:ea typeface="+mj-ea"/>
                        <a:cs typeface="Courier New" panose="02070309020205020404" pitchFamily="49" charset="0"/>
                      </a:endParaRPr>
                    </a:p>
                  </a:txBody>
                  <a:tcPr marL="127571" marR="127571" marT="63786" marB="63786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 fontScale="90000"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控制流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-if-else-end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分支结构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29" y="836712"/>
            <a:ext cx="8178513" cy="4898394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18876" y="5730741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不同于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语言，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即使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if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后面只有一句命令，也需用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end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结束条件命令段</a:t>
            </a:r>
            <a:r>
              <a:rPr lang="en-US" altLang="zh-CN" sz="2400" b="1" dirty="0">
                <a:latin typeface="+mj-ea"/>
                <a:ea typeface="+mj-ea"/>
              </a:rPr>
              <a:t>,MATLAB</a:t>
            </a:r>
            <a:r>
              <a:rPr lang="zh-CN" altLang="en-US" sz="2400" b="1" dirty="0">
                <a:latin typeface="+mj-ea"/>
                <a:ea typeface="+mj-ea"/>
              </a:rPr>
              <a:t>可以全选代码后用</a:t>
            </a:r>
            <a:r>
              <a:rPr lang="en-US" altLang="zh-CN" sz="2400" b="1" dirty="0" err="1">
                <a:solidFill>
                  <a:schemeClr val="accent2"/>
                </a:solidFill>
                <a:latin typeface="+mj-ea"/>
                <a:ea typeface="+mj-ea"/>
              </a:rPr>
              <a:t>Ctrl+i</a:t>
            </a:r>
            <a:r>
              <a:rPr lang="zh-CN" altLang="en-US" sz="2400" b="1" dirty="0">
                <a:solidFill>
                  <a:schemeClr val="accent2"/>
                </a:solidFill>
                <a:latin typeface="+mj-ea"/>
                <a:ea typeface="+mj-ea"/>
              </a:rPr>
              <a:t>自动美化排版</a:t>
            </a:r>
            <a:endParaRPr lang="en-US" altLang="zh-CN" sz="2400" b="1" dirty="0">
              <a:solidFill>
                <a:schemeClr val="accent2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15" y="877011"/>
            <a:ext cx="8865885" cy="30762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19" y="1484784"/>
            <a:ext cx="8289562" cy="4731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15" y="877011"/>
            <a:ext cx="8865885" cy="3076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78115" y="1412776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已有函数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xmin,fmin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]=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fminbnd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fx,a,b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可以计算某个区间内的一个极小值，但对于本题函数，波动较大，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一个极小值很可能并不是最小值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8115" y="2924944"/>
            <a:ext cx="84386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这里采用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倍增区间极值搜索法</a:t>
            </a:r>
            <a:r>
              <a:rPr lang="zh-CN" altLang="en-US" sz="2400" b="1" dirty="0">
                <a:latin typeface="+mj-ea"/>
                <a:ea typeface="+mj-ea"/>
              </a:rPr>
              <a:t>，将分割区间的长度不断变小，从而可以获得“更多的极小值”，每一次分割都将获取最小的一个极小值。在单调区间个数有限的假设下，分割越细，就越有可能获得最小值。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115" y="4941168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最终当进一步分层后，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获取的最小值在连续几次倍增后不变（或变化量极小），就退出循环</a:t>
            </a:r>
            <a:r>
              <a:rPr lang="zh-CN" altLang="en-US" sz="2400" b="1" dirty="0">
                <a:latin typeface="+mj-ea"/>
                <a:ea typeface="+mj-ea"/>
              </a:rPr>
              <a:t>，结束区间倍增，然后输出最终得到的最小值、最小值点以及最终倍增区间的个数。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15" y="877011"/>
            <a:ext cx="8865885" cy="30762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395536" y="1184633"/>
            <a:ext cx="85689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function [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xmin,fmin,n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]=exm060101(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fx,a,b,Nt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建立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m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文件，函数共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个参数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fx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为函数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a,b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为左右端点，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Nt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为子区间细分的过程中极小值点重复超过多少次即可停止细分</a:t>
            </a:r>
            <a:endParaRPr lang="en-US" altLang="zh-CN" b="1" dirty="0">
              <a:solidFill>
                <a:srgbClr val="FF0000"/>
              </a:solidFill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函数共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个返回值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xmin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和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ymin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代表最小值所在的横坐标和纵坐标，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为获得最小值时分割的子区间数</a:t>
            </a:r>
            <a:endParaRPr lang="zh-CN" altLang="zh-CN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 exm060101.m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[~,f0]=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fminbnd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fx,a,b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);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求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fx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在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a,b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一个极小值，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f0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记录最小值，第一个返回值（最小值点）舍去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n=1;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初始区间没有分割，共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个区间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=1;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同一最小值的重复出现次数（初始当然设为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）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while 1 %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无限的循环（需要带有条件的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break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跳出循环）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304800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n=2*n;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每次循环区间数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X2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304800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d=(b-a)/n;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区间长度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/2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x=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a:d:b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;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按照更细的区间长度重新等分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304800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ii=0;%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记录本轮循环（本次精度）极小值的数量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316230"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xc=zeros(1,n);fc=xc;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用于存储本次循环极值点与极值的点的数组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for k=1:n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对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个子区间进行循环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[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w,f,eflag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]=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fminbnd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fx,x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(k),x(k+1));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每个子区间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(x(k),x(k+1))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取极值点，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w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为点，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为值，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flag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为是否找到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15" y="877011"/>
            <a:ext cx="8865885" cy="30762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78114" y="1268760"/>
            <a:ext cx="847034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	 if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eflag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&gt;0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若成功找到了极小值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    ii=ii+1;%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极小值数量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+1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，并在下面分别记录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    xc(ii)=w;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    fc(ii)=f;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end%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对应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if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end 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end%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对应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for k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end </a:t>
            </a:r>
            <a:endParaRPr lang="en-US" altLang="zh-CN" b="1" dirty="0">
              <a:solidFill>
                <a:srgbClr val="FF0000"/>
              </a:solidFill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		  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xc = xc(1:ii);fc = fc(1:ii); 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舍去末尾多余的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0</a:t>
            </a:r>
            <a:endParaRPr lang="zh-CN" altLang="zh-CN" b="1" dirty="0"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[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fmin,kk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]=min(fc);%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取数组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fc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中的最小值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fmin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，数组位置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kk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xmin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=xc(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kk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);	%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xc(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kk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代表最小值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fmin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对应的横坐标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xmin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if abs(f0-fmin)&lt;1e-6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若新的最小值与当前最小值差不多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=jj+1;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最小值重复次数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+1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if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&gt;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Nt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若重复次数足够多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698500" indent="252095"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break	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结束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while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循环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end	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对应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if 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&gt;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Nt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elseif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f0-fmin&gt;1e-6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否则，若新的最小值明显减少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f0=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fmin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;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确立新最小值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</a:rPr>
              <a:t>jj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=1;	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重复次数恢复到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1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    end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对应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elseif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</a:rPr>
              <a:t>end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对应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while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32705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15" y="975248"/>
            <a:ext cx="8865885" cy="3076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78114" y="1412776"/>
            <a:ext cx="8182317" cy="4646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fx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=@(x)(sin(x)^2*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(-0.1*x)-0.5*sin(x)*(x+0.1));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fx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称为函数句柄，含义为以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为自变量，函数值为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sin(x)^2*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(-0.1*x)-0.5*sin(x)*(x+0.1)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，即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fx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(x)=sin(x)^2*</a:t>
            </a:r>
            <a:r>
              <a:rPr lang="en-US" altLang="zh-CN" b="1" dirty="0" err="1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(-0.1*x)-0.5*sin(x)*(x+0.1).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a=-50;b=5;%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讨论区间的上下界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xmin,fmin,n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]=exm060101(fx,a,b,3);%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最值超过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次将停止细分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l" defTabSz="914400">
              <a:buClrTx/>
              <a:buSzTx/>
              <a:buFontTx/>
            </a:pP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[x0,f0]=fminbnd(fx,-50,5)</a:t>
            </a:r>
            <a:endParaRPr lang="en-US" altLang="zh-CN" sz="1800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l" defTabSz="914400">
              <a:buClrTx/>
              <a:buSzTx/>
              <a:buFontTx/>
            </a:pPr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x0 =-8.4867， f0 =-1.8621</a:t>
            </a:r>
            <a:endParaRPr lang="en-US" altLang="zh-CN" sz="1800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fprintf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在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x=%6.5f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处，函数到达最小值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%6.5f\n',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xmin,fmin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0"/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x=-19.60721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处，函数到达最小值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-3.34765</a:t>
            </a:r>
            <a:endParaRPr lang="zh-CN" altLang="zh-CN" sz="20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endParaRPr lang="en-US" altLang="zh-CN" sz="2000" dirty="0">
              <a:latin typeface="Times New Roman" panose="02020603050405020304" pitchFamily="18" charset="0"/>
            </a:endParaRPr>
          </a:p>
          <a:p>
            <a:pPr>
              <a:tabLst>
                <a:tab pos="269875" algn="l"/>
                <a:tab pos="266700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fprintf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最终子区间分割数为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%d\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n',n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最终子区间分割数为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128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模拟退火算法解决例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115" y="877011"/>
            <a:ext cx="8865885" cy="30762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90184" y="1257202"/>
            <a:ext cx="874631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  <a:cs typeface="Courier New" panose="02070309020205020404" pitchFamily="49" charset="0"/>
              </a:rPr>
              <a:t>模拟退火算法是一种“没有充分理论证明”的随机算法，对于有多个局部最小值的函数全局小值问题有一定的效果。其主要思路为左右随机扰动，并分析扰动后函数值的变化，如果函数值变小则接受扰动；函数值变大则以一定概率接受扰动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Courier New" panose="020703090202050204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8115" y="2899431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模拟退火算法需要迭代有限次，迭代过程中会记录一个“退火”过程中的温度，不断迭代的过程中，温度降低，从而“接受函数值变大”的扰动概率也会渐渐趋于</a:t>
            </a:r>
            <a:r>
              <a:rPr lang="en-US" altLang="zh-CN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0</a:t>
            </a:r>
            <a:r>
              <a:rPr lang="zh-CN" altLang="en-US" sz="2400" b="1" dirty="0"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37901" y="4172329"/>
                <a:ext cx="8746311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clear, close all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f=@(x)(sin(x)^2*exp(-0.1*x)-0.5*sin(x)*(x+0.1));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ini_temprature = 300;		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初始退火温度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end_temprature = 1e-6;		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终止退火温度</a:t>
                </a:r>
                <a:endParaRPr lang="it-IT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endParaRPr lang="zh-CN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temprature = ini_temprature;	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设置当前温度为初始温度</a:t>
                </a:r>
                <a:endParaRPr lang="it-IT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x = rand(1)*55-50;			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搜索初始位置为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[−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的一个点</a:t>
                </a:r>
                <a:endParaRPr lang="it-IT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iter = 0;				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设置初始迭代次数为</a:t>
                </a:r>
                <a:r>
                  <a:rPr lang="en-US" altLang="zh-CN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0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01" y="4172329"/>
                <a:ext cx="8746311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1" t="-16" r="6" b="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模拟退火算法解决例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395526" y="764704"/>
                <a:ext cx="8746311" cy="5909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while temprature &gt; end_temprature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energy_old = f(x);		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当前能量即当前函数值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delta = (rand(1)*20-10)*min(1,temprature/1e-4);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	  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设置一个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</m:t>
                        </m:r>
                      </m:e>
                    </m:d>
                  </m:oMath>
                </a14:m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范围的扰动，并通过下列判断确保扰动不会出定义域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if(x+delta&lt;5 &amp;&amp; x+delta&gt;-50)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    temp = x + delta;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else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    temp = x - delta;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end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energy_new = f(temp);		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扰动后能量值（函数值）</a:t>
                </a:r>
                <a:endParaRPr lang="it-IT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delta_e = energy_new - energy_old;	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扰动后能量变化</a:t>
                </a:r>
                <a:endParaRPr lang="it-IT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if (delta_e &lt;0 || exp(-delta_e/temprature) &gt;rand)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    x = temp;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end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	  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如果能量降低，或提高的幅度、温度组合表达式未超过随机数则接受扰动</a:t>
                </a:r>
                <a:endParaRPr lang="en-US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endParaRPr lang="it-IT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iter = iter + 1;energy(iter) = f(x);xi(iter) = x;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    temprature = temprature * 0.99;</a:t>
                </a:r>
                <a:endParaRPr lang="it-IT" altLang="zh-CN" b="1" dirty="0">
                  <a:solidFill>
                    <a:srgbClr val="008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		  </a:t>
                </a:r>
                <a:r>
                  <a:rPr lang="en-US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%</a:t>
                </a:r>
                <a:r>
                  <a:rPr lang="zh-CN" alt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记录能量（函数值）、当前点的变化，并更新温度的衰减</a:t>
                </a:r>
                <a:endParaRPr lang="it-IT" altLang="zh-CN" b="1" dirty="0">
                  <a:solidFill>
                    <a:srgbClr val="FF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endParaRPr>
              </a:p>
              <a:p>
                <a:pPr algn="just" hangingPunct="0">
                  <a:spcAft>
                    <a:spcPts val="0"/>
                  </a:spcAft>
                  <a:tabLst>
                    <a:tab pos="269875" algn="l"/>
                    <a:tab pos="266700" algn="l"/>
                  </a:tabLst>
                </a:pPr>
                <a:r>
                  <a:rPr lang="it-IT" altLang="zh-CN" b="1" dirty="0">
                    <a:solidFill>
                      <a:srgbClr val="008000"/>
                    </a:solidFill>
                    <a:latin typeface="Courier New" panose="02070309020205020404" pitchFamily="49" charset="0"/>
                    <a:cs typeface="Times New Roman" panose="02020603050405020304" pitchFamily="18" charset="0"/>
                  </a:rPr>
                  <a:t>end</a:t>
                </a:r>
                <a:endParaRPr lang="zh-CN" altLang="zh-CN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26" y="764704"/>
                <a:ext cx="8746311" cy="5909310"/>
              </a:xfrm>
              <a:prstGeom prst="rect">
                <a:avLst/>
              </a:prstGeom>
              <a:blipFill rotWithShape="1">
                <a:blip r:embed="rId1"/>
                <a:stretch>
                  <a:fillRect l="-6" t="-3" r="4" b="-2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模拟退火算法解决例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95526" y="764704"/>
            <a:ext cx="87463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plot(energy)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图示函数值变化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  <a:tab pos="266700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figure;plot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(xi)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图示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的搜索变化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6700" algn="l"/>
              </a:tabLst>
            </a:pPr>
            <a:r>
              <a:rPr lang="da-DK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disp([x(end),energy(end)])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%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-19.6071   -3.3476</a:t>
            </a:r>
            <a:endParaRPr lang="zh-CN" altLang="zh-CN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790" y="1412776"/>
            <a:ext cx="7076420" cy="53073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468" y="1430873"/>
            <a:ext cx="7076421" cy="53073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 fontScale="90000"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控制流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-switch-case-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多分支结构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73" y="1196752"/>
            <a:ext cx="8905654" cy="50405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32705"/>
            <a:ext cx="7772400" cy="1143000"/>
          </a:xfrm>
        </p:spPr>
        <p:txBody>
          <a:bodyPr>
            <a:normAutofit fontScale="90000"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用于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case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的胞元数组（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P411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A.2-1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8115" y="910295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胞元</a:t>
            </a:r>
            <a:r>
              <a:rPr lang="en-US" altLang="zh-CN" sz="2400" b="1" dirty="0">
                <a:latin typeface="+mj-ea"/>
                <a:ea typeface="+mj-ea"/>
              </a:rPr>
              <a:t>(cell)</a:t>
            </a:r>
            <a:r>
              <a:rPr lang="zh-CN" altLang="en-US" sz="2400" b="1" dirty="0">
                <a:latin typeface="+mj-ea"/>
                <a:ea typeface="+mj-ea"/>
              </a:rPr>
              <a:t>是特殊的数组，它的元素可以拥有完全不同的类型</a:t>
            </a:r>
            <a:r>
              <a:rPr lang="en-US" altLang="zh-CN" sz="2400" b="1" dirty="0">
                <a:latin typeface="+mj-ea"/>
                <a:ea typeface="+mj-ea"/>
              </a:rPr>
              <a:t>(</a:t>
            </a:r>
            <a:r>
              <a:rPr lang="zh-CN" altLang="en-US" sz="2400" b="1" dirty="0">
                <a:latin typeface="+mj-ea"/>
                <a:ea typeface="+mj-ea"/>
              </a:rPr>
              <a:t>甚至可用大小不同的数组构成胞元）。胞元的寻访分为援引（小括号）与内容援引（大括号）两类，详情见下面例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0929" y="2204864"/>
            <a:ext cx="869471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C_str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这是胞元数组创建算例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1';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R=reshape(1:9,3,3);				%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Cn=[1+2i];				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syms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t,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S_sym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=sin(-3*t)*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exp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(-t);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避免新版报错！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B{1,1}=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C_str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;	B{1,2}=R;B{2,1}=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Cn;B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{2,2}=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S_sym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四个元素类型不同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a=B(1,2)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援引结果为数组类型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  [3x3 double]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class(a)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 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援引元素仍是胞元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  cell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b=B{1,2}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内容援引显示值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1     4     7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2     5     8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lvl="8"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3     6     9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class(b)   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内容援引显示元素类型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ans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=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double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6.1-2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7504" y="845342"/>
            <a:ext cx="8712968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zh-CN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满分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(100)</a:t>
            </a:r>
            <a:r>
              <a:rPr lang="zh-CN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优秀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(90-99)</a:t>
            </a:r>
            <a:r>
              <a:rPr lang="zh-CN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良好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(80-89)</a:t>
            </a:r>
            <a:r>
              <a:rPr lang="zh-CN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及格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(60-79)</a:t>
            </a:r>
            <a:r>
              <a:rPr lang="zh-CN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</a:t>
            </a:r>
            <a:r>
              <a:rPr lang="zh-CN" altLang="zh-CN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不及格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(&lt;60)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k=1:10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a(k)={89+k};b(k)={79+k};c(k)={69+k};d(k)={59+k};%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每个胞元是数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c=[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d,c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];%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60~69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70~79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归为同一类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输入学生的名字和分数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99263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  <a:tab pos="7086600" algn="l"/>
                <a:tab pos="73152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A=cell(3,5);	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也定义成胞元数组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A(1,:)={'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Jack','Marry','Peter','Rose','Tom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'};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A(2,:)={72,83,56,94,100};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根据学生的分数，求出相应的等级。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k=1:5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switch A{2,k}	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对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A{2,k}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进行判断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case 100,r='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满分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';	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case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优秀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';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若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A{2,k}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出现在胞元数组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中，即介于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90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99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之间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case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b,r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良好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';  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case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c,r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及格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';   	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otherwise,r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不及格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其余情况，结果字符串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’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不及格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’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end</a:t>
            </a:r>
            <a:endParaRPr lang="zh-CN" altLang="zh-CN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  <a:tab pos="70866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A(3,k)={r};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将胞元数组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的第三行来存储每个人的成绩定位</a:t>
            </a:r>
            <a:endParaRPr lang="zh-CN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297658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6.1-2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3528" y="845342"/>
            <a:ext cx="80466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228600" algn="l"/>
                <a:tab pos="269875" algn="l"/>
                <a:tab pos="45720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  <a:tab pos="5257800" algn="l"/>
                <a:tab pos="5486400" algn="l"/>
                <a:tab pos="5715000" algn="l"/>
                <a:tab pos="5943600" algn="l"/>
                <a:tab pos="6172200" algn="l"/>
                <a:tab pos="6400800" algn="l"/>
                <a:tab pos="6629400" algn="l"/>
                <a:tab pos="685800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输出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的结果，注意到每个胞元都会以其字符串或数值形式输出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'Jack'    'Marry'    'Peter'     'Rose'    'Tom'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[  72]    [   83]    [    56]    [  94]    [ 100]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'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及格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    '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良好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     '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不及格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    '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优秀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    '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满分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2482198"/>
            <a:ext cx="843866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本例题中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为了能够使</a:t>
            </a:r>
            <a:r>
              <a:rPr lang="en-US" altLang="zh-CN" sz="2400" b="1" dirty="0">
                <a:latin typeface="+mj-ea"/>
                <a:ea typeface="+mj-ea"/>
              </a:rPr>
              <a:t>switch-case</a:t>
            </a:r>
            <a:r>
              <a:rPr lang="zh-CN" altLang="en-US" sz="2400" b="1" dirty="0">
                <a:latin typeface="+mj-ea"/>
                <a:ea typeface="+mj-ea"/>
              </a:rPr>
              <a:t>结构能够同时包括多种情况，需要定义胞元数组，</a:t>
            </a:r>
            <a:r>
              <a:rPr lang="en-US" altLang="zh-CN" sz="2400" b="1" dirty="0" err="1">
                <a:solidFill>
                  <a:srgbClr val="FF0000"/>
                </a:solidFill>
                <a:latin typeface="+mj-ea"/>
                <a:ea typeface="+mj-ea"/>
              </a:rPr>
              <a:t>a,b,c,d,A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都是胞元数组</a:t>
            </a:r>
            <a:r>
              <a:rPr lang="zh-CN" altLang="en-US" sz="2400" b="1" dirty="0">
                <a:latin typeface="+mj-ea"/>
                <a:ea typeface="+mj-ea"/>
              </a:rPr>
              <a:t>。其中，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为包括了不同类型数据的胞元数组。而</a:t>
            </a:r>
            <a:r>
              <a:rPr lang="en-US" altLang="zh-CN" sz="2400" b="1" dirty="0" err="1">
                <a:latin typeface="+mj-ea"/>
                <a:ea typeface="+mj-ea"/>
              </a:rPr>
              <a:t>a,b,c,d</a:t>
            </a:r>
            <a:r>
              <a:rPr lang="zh-CN" altLang="en-US" sz="2400" b="1" dirty="0">
                <a:latin typeface="+mj-ea"/>
                <a:ea typeface="+mj-ea"/>
              </a:rPr>
              <a:t>则由数值胞元构成。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78972" y="4196700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对胞元数组的赋值，本例使用了形如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a(k)={89+k}</a:t>
            </a:r>
            <a:r>
              <a:rPr lang="zh-CN" altLang="en-US" sz="2400" b="1" dirty="0">
                <a:latin typeface="+mj-ea"/>
                <a:ea typeface="+mj-ea"/>
              </a:rPr>
              <a:t>这样的格式，即利用胞元赋值给援引的胞元位。另一种方法为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a{k}=89+k</a:t>
            </a:r>
            <a:r>
              <a:rPr lang="zh-CN" altLang="en-US" sz="2400" b="1" dirty="0">
                <a:latin typeface="+mj-ea"/>
                <a:ea typeface="+mj-ea"/>
              </a:rPr>
              <a:t>，即将函数值赋值给胞元的具体内容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8115" y="5541871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反之，调用胞元值时，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a(k)</a:t>
            </a:r>
            <a:r>
              <a:rPr lang="zh-CN" altLang="en-US" sz="2400" b="1" dirty="0">
                <a:latin typeface="+mj-ea"/>
                <a:ea typeface="+mj-ea"/>
              </a:rPr>
              <a:t>的值是数字胞元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{k} </a:t>
            </a:r>
            <a:r>
              <a:rPr lang="zh-CN" altLang="en-US" sz="2400" b="1" dirty="0">
                <a:latin typeface="+mj-ea"/>
                <a:ea typeface="+mj-ea"/>
              </a:rPr>
              <a:t>，需要获取内部值时，则需要使用大括号表达式</a:t>
            </a:r>
            <a:r>
              <a:rPr lang="en-US" altLang="zh-CN" sz="2400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a{k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控制流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-for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while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循环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600" y="988939"/>
            <a:ext cx="7200800" cy="227809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23528" y="3398646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for</a:t>
            </a:r>
            <a:r>
              <a:rPr lang="zh-CN" altLang="en-US" sz="2400" b="1" dirty="0">
                <a:latin typeface="+mj-ea"/>
                <a:ea typeface="+mj-ea"/>
              </a:rPr>
              <a:t>循环的表达式往往是行向量，循环次数与向量的长度完全相同，因此 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for 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=[1,2]</a:t>
            </a:r>
            <a:r>
              <a:rPr lang="zh-CN" altLang="en-US" sz="2400" b="1" dirty="0">
                <a:latin typeface="+mj-ea"/>
                <a:ea typeface="+mj-ea"/>
              </a:rPr>
              <a:t>也是合理的循环语句。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每次循环中，循环变量</a:t>
            </a:r>
            <a:r>
              <a:rPr lang="en-US" altLang="zh-CN" sz="2400" b="1" dirty="0" err="1">
                <a:solidFill>
                  <a:srgbClr val="FF0000"/>
                </a:solidFill>
                <a:latin typeface="+mj-ea"/>
                <a:ea typeface="+mj-ea"/>
              </a:rPr>
              <a:t>i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的值将等于数组中对应位置的值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4690065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while</a:t>
            </a:r>
            <a:r>
              <a:rPr lang="zh-CN" altLang="en-US" sz="2400" b="1" dirty="0">
                <a:latin typeface="+mj-ea"/>
                <a:ea typeface="+mj-ea"/>
              </a:rPr>
              <a:t>循环的表达式往往是条件（逻辑）表达式，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为真的条件或非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0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的值将使得循环继续</a:t>
            </a:r>
            <a:r>
              <a:rPr lang="zh-CN" altLang="en-US" sz="2400" b="1" dirty="0">
                <a:latin typeface="+mj-ea"/>
                <a:ea typeface="+mj-ea"/>
              </a:rPr>
              <a:t>，与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原理相同。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5733256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不支持大括号包含代码段，不论是一句还是多句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命令，都需要用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end</a:t>
            </a:r>
            <a:r>
              <a:rPr lang="zh-CN" altLang="en-US" sz="2400" b="1" dirty="0">
                <a:latin typeface="+mj-ea"/>
                <a:ea typeface="+mj-ea"/>
              </a:rPr>
              <a:t>作为循环体代码段终止的标志。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6775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6.1-3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576" y="1412776"/>
            <a:ext cx="884284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K=5;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 zeros(K,K) 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申请空间建立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*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的二维矩阵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m = 1:K		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for n = 1:K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低效率两层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A(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= 1/(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m+n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-1);%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逐个赋值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end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format rat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小整数构成的分数显示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              1/2            1/3            1/4            1/5   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1/2            1/3            1/4            1/5            1/6   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1/3            1/4            1/5            1/6            1/7   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1/4            1/5            1/6            1/7            1/8   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1/5            1/6            1/7            1/8            1/9 </a:t>
            </a:r>
            <a:endParaRPr lang="en-US" altLang="zh-CN" dirty="0">
              <a:solidFill>
                <a:srgbClr val="0000FF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format short g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		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显示五位有效数字，且显示小数尾数的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0</a:t>
            </a:r>
            <a:endParaRPr lang="zh-CN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76" y="887153"/>
            <a:ext cx="8918206" cy="613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400" y="-32695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6.1-3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0576" y="1502688"/>
            <a:ext cx="79026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clear,tic,K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=1000; 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清除变量并开始计时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m = 1:K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for n = 1:K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A1(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= 1/(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m+n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-1);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end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t1=toc	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t1 = 0.2036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tic,K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=1000;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A2 = zeros(K,K);%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预先申请空间可加速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 m = 1:K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for n = 1:K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	A2(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 = 1/(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m+n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-1);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end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t2=toc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		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t2 = 0.0181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364088" y="2204864"/>
            <a:ext cx="4572000" cy="32316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tic,N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=1000;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n=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repmat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(1:N,N,1);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的每一行都是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1~N</a:t>
            </a:r>
            <a:endParaRPr lang="en-US" altLang="zh-CN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m=n';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sz="2000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m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的每一列都是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1~N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A3=1./(n+m-1);</a:t>
            </a:r>
            <a:endParaRPr lang="en-US" altLang="zh-CN" b="1" dirty="0">
              <a:solidFill>
                <a:srgbClr val="008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每个位置都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</a:t>
            </a:r>
            <a:endParaRPr lang="en-US" altLang="zh-CN" sz="2000" b="1" dirty="0">
              <a:solidFill>
                <a:srgbClr val="FF0000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%1/(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行指标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+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列指标</a:t>
            </a:r>
            <a:r>
              <a:rPr lang="en-US" altLang="zh-CN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-1</a:t>
            </a:r>
            <a:r>
              <a:rPr lang="zh-CN" alt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t3=toc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t3 =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   0.0136 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576" y="887153"/>
            <a:ext cx="8918206" cy="6137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6775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6.1-4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924" y="975248"/>
            <a:ext cx="8865885" cy="307622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46924" y="1340768"/>
            <a:ext cx="864555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function [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A,n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]=exm060104_ZZY(n)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结果魔方矩阵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% 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 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结果矩阵的阶数（若输入的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不是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的倍数则可能会改变）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clc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 1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if mod(n,4)==0%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若函数调用或输入的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的倍数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	break                                                                   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	else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	n=input(</a:t>
            </a:r>
            <a:r>
              <a:rPr lang="en-US" altLang="zh-CN" dirty="0">
                <a:highlight>
                  <a:srgbClr val="FFFF00"/>
                </a:highlight>
              </a:rPr>
              <a:t>'</a:t>
            </a:r>
            <a:r>
              <a:rPr lang="zh-CN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请输入一个能被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整除的正整数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 n =  </a:t>
            </a:r>
            <a:r>
              <a:rPr lang="en-US" altLang="zh-CN" dirty="0">
                <a:highlight>
                  <a:srgbClr val="FFFF00"/>
                </a:highlight>
              </a:rPr>
              <a:t>'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		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若不符合则重新（或再次）输入</a:t>
            </a:r>
            <a:endParaRPr lang="en-US" altLang="zh-CN" b="1" dirty="0">
              <a:solidFill>
                <a:srgbClr val="FF0000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	end							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											</a:t>
            </a:r>
            <a:endParaRPr lang="en-US" altLang="zh-CN" b="1" dirty="0"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269875" algn="l"/>
                <a:tab pos="266700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G=logical(eye(4,4)+rot90(eye(4,4)));%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阶单位阵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旋转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90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度的单位阵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m=n/4;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K=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repmat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G,m,m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        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固定套路：该矩阵复制</a:t>
            </a:r>
            <a:r>
              <a:rPr lang="en-US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mXm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份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N=n^2;                     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即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N=n*n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A=reshape(1:N,n,n);	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获得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1~n^2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的重排</a:t>
            </a:r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endParaRPr lang="zh-C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A(K)=N-A(K)+1             	%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每个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4X4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的主副对角元素变成</a:t>
            </a:r>
            <a:r>
              <a:rPr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N+1-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原值</a:t>
            </a:r>
            <a:endParaRPr lang="zh-CN" alt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6775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6.1-4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924" y="975248"/>
            <a:ext cx="8865885" cy="30762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27" y="1844824"/>
            <a:ext cx="8432036" cy="446510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6924" y="1282870"/>
            <a:ext cx="84386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n=16</a:t>
            </a:r>
            <a:r>
              <a:rPr lang="zh-CN" altLang="en-US" sz="2400" b="1" dirty="0">
                <a:latin typeface="+mj-ea"/>
                <a:ea typeface="+mj-ea"/>
              </a:rPr>
              <a:t>的输出结果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6775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例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6.1-4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924" y="975248"/>
            <a:ext cx="8865885" cy="30762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46924" y="1218295"/>
            <a:ext cx="86501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clear,clc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n=12;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A,n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]=exm060104_ZZY(n);	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s0=round(n*(n*n+1)/2);	%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四舍五入取整（事实上本来就应该是整数）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([int2str(n),' 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阶魔方矩阵的标称和是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',int2str(s0)])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tabLst>
                <a:tab pos="269875" algn="l"/>
              </a:tabLst>
            </a:pP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12 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阶魔方矩阵的标称和是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  870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Ns0=round(2*(n+1));	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% 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总共需要统计的和（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+n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列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+2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条对角线）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B=A';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SC=sum(A);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计算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每一列的和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SR=sum(B);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相当于计算了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每一行的和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Sd=sum(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diag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(A)); 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计算了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主对角线的和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  <a:tab pos="3810" algn="l"/>
              </a:tabLst>
            </a:pPr>
            <a:r>
              <a:rPr lang="en-US" altLang="zh-CN" b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Sdi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=sum(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diag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(rot90(A)));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计算了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副对角线的和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LS=[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SC,SR,Sd,Sdi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]==s0;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每一项分别判断是否等于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s0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，等于则为真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NS=round(sum(LS));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统计为真的条件表达式个数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if NS==Ns0			%</a:t>
            </a:r>
            <a:r>
              <a:rPr lang="zh-CN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若为真个数与检验个数相同</a:t>
            </a:r>
            <a:endParaRPr lang="zh-CN" altLang="zh-CN" sz="2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经验证，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是魔方矩阵。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else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</a:t>
            </a:r>
            <a:r>
              <a:rPr lang="en-US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disp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('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经验证，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不是魔方矩阵。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')</a:t>
            </a:r>
            <a:endParaRPr lang="zh-CN" altLang="zh-CN" sz="2000" dirty="0">
              <a:latin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end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  <a:tabLst>
                <a:tab pos="269875" algn="l"/>
              </a:tabLst>
            </a:pP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经验证，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FF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是魔方矩阵。 </a:t>
            </a:r>
            <a:r>
              <a:rPr lang="en-US" altLang="zh-CN" dirty="0">
                <a:latin typeface="Courier New" panose="02070309020205020404" pitchFamily="49" charset="0"/>
                <a:cs typeface="Times New Roman" panose="02020603050405020304" pitchFamily="18" charset="0"/>
              </a:rPr>
              <a:t> </a:t>
            </a:r>
            <a:endParaRPr lang="zh-CN" altLang="zh-CN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控制流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-break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continue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1196752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break</a:t>
            </a:r>
            <a:r>
              <a:rPr lang="zh-CN" altLang="en-US" sz="2400" b="1" dirty="0">
                <a:latin typeface="+mj-ea"/>
                <a:ea typeface="+mj-ea"/>
              </a:rPr>
              <a:t>命令的含义与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基本相同，即跳出最近一层的</a:t>
            </a:r>
            <a:r>
              <a:rPr lang="en-US" altLang="zh-CN" sz="2400" b="1" dirty="0">
                <a:latin typeface="+mj-ea"/>
                <a:ea typeface="+mj-ea"/>
              </a:rPr>
              <a:t>for</a:t>
            </a:r>
            <a:r>
              <a:rPr lang="zh-CN" altLang="en-US" sz="2400" b="1" dirty="0">
                <a:latin typeface="+mj-ea"/>
                <a:ea typeface="+mj-ea"/>
              </a:rPr>
              <a:t>或</a:t>
            </a:r>
            <a:r>
              <a:rPr lang="en-US" altLang="zh-CN" sz="2400" b="1" dirty="0">
                <a:latin typeface="+mj-ea"/>
                <a:ea typeface="+mj-ea"/>
              </a:rPr>
              <a:t>while</a:t>
            </a:r>
            <a:r>
              <a:rPr lang="zh-CN" altLang="en-US" sz="2400" b="1" dirty="0">
                <a:latin typeface="+mj-ea"/>
                <a:ea typeface="+mj-ea"/>
              </a:rPr>
              <a:t>循环（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往往会同时跳出一层或多层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if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结构</a:t>
            </a:r>
            <a:r>
              <a:rPr lang="zh-CN" altLang="en-US" sz="2400" b="1" dirty="0">
                <a:latin typeface="+mj-ea"/>
                <a:ea typeface="+mj-ea"/>
              </a:rPr>
              <a:t>）。常用语某些条件判断语句后，达到某些特定条件后，可以跳出循环。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3284984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continue</a:t>
            </a:r>
            <a:r>
              <a:rPr lang="zh-CN" altLang="en-US" sz="2400" b="1" dirty="0">
                <a:latin typeface="+mj-ea"/>
                <a:ea typeface="+mj-ea"/>
              </a:rPr>
              <a:t>命令的含义同样与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基本相同，即结束本次循环，回到循环体的开头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进行下一次循环</a:t>
            </a:r>
            <a:r>
              <a:rPr lang="zh-CN" altLang="en-US" sz="2400" b="1" dirty="0">
                <a:latin typeface="+mj-ea"/>
                <a:ea typeface="+mj-ea"/>
              </a:rPr>
              <a:t>。若本次循环为最后一次循环，则跳出循环。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5229200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与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相同，循环体滥用</a:t>
            </a:r>
            <a:r>
              <a:rPr lang="en-US" altLang="zh-CN" sz="2400" b="1" dirty="0">
                <a:latin typeface="+mj-ea"/>
                <a:ea typeface="+mj-ea"/>
              </a:rPr>
              <a:t>while</a:t>
            </a:r>
            <a:r>
              <a:rPr lang="zh-CN" altLang="en-US" sz="2400" b="1" dirty="0">
                <a:latin typeface="+mj-ea"/>
                <a:ea typeface="+mj-ea"/>
              </a:rPr>
              <a:t>与</a:t>
            </a:r>
            <a:r>
              <a:rPr lang="en-US" altLang="zh-CN" sz="2400" b="1" dirty="0">
                <a:latin typeface="+mj-ea"/>
                <a:ea typeface="+mj-ea"/>
              </a:rPr>
              <a:t>continue</a:t>
            </a:r>
            <a:r>
              <a:rPr lang="zh-CN" altLang="en-US" sz="2400" b="1" dirty="0">
                <a:latin typeface="+mj-ea"/>
                <a:ea typeface="+mj-ea"/>
              </a:rPr>
              <a:t>可能会构造出死循环，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不会检查死循环并且在运行中会造成卡顿，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在命令行窗口使用</a:t>
            </a:r>
            <a:r>
              <a:rPr lang="en-US" altLang="zh-CN" sz="2400" b="1" dirty="0" err="1">
                <a:solidFill>
                  <a:srgbClr val="FF0000"/>
                </a:solidFill>
                <a:latin typeface="+mj-ea"/>
                <a:ea typeface="+mj-ea"/>
              </a:rPr>
              <a:t>Ctrl+C</a:t>
            </a:r>
            <a:r>
              <a:rPr lang="zh-CN" altLang="en-US" sz="2400" b="1" dirty="0">
                <a:latin typeface="+mj-ea"/>
                <a:ea typeface="+mj-ea"/>
              </a:rPr>
              <a:t>可以强行停止程序运行。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控制流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-pause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keyboard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1196752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pause</a:t>
            </a:r>
            <a:r>
              <a:rPr lang="zh-CN" altLang="en-US" sz="2400" b="1" dirty="0">
                <a:latin typeface="+mj-ea"/>
                <a:ea typeface="+mj-ea"/>
              </a:rPr>
              <a:t>命令的含义即当程序运行到这一行时，会出现暂停，当用户按任意键后，程序将继续运行。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52667" y="3068960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pause(n)</a:t>
            </a:r>
            <a:r>
              <a:rPr lang="zh-CN" altLang="en-US" sz="2400" b="1" dirty="0">
                <a:latin typeface="+mj-ea"/>
                <a:ea typeface="+mj-ea"/>
              </a:rPr>
              <a:t>命令的含义为当程序运行到这一行时，程序将暂停</a:t>
            </a:r>
            <a:r>
              <a:rPr lang="en-US" altLang="zh-CN" sz="2400" b="1" dirty="0">
                <a:latin typeface="+mj-ea"/>
                <a:ea typeface="+mj-ea"/>
              </a:rPr>
              <a:t>n</a:t>
            </a:r>
            <a:r>
              <a:rPr lang="zh-CN" altLang="en-US" sz="2400" b="1" dirty="0">
                <a:latin typeface="+mj-ea"/>
                <a:ea typeface="+mj-ea"/>
              </a:rPr>
              <a:t>秒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用户按任意键不会中止程序的暂停。此命令也可以用于控制实时动画的展示与速度。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5157192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keyboard</a:t>
            </a:r>
            <a:r>
              <a:rPr lang="zh-CN" altLang="en-US" sz="2400" b="1" dirty="0">
                <a:latin typeface="+mj-ea"/>
                <a:ea typeface="+mj-ea"/>
              </a:rPr>
              <a:t>命令同样会将程序中止（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并进入调试模式</a:t>
            </a:r>
            <a:r>
              <a:rPr lang="zh-CN" altLang="en-US" sz="2400" b="1" dirty="0">
                <a:latin typeface="+mj-ea"/>
                <a:ea typeface="+mj-ea"/>
              </a:rPr>
              <a:t>），但用户可以在此期间键入各种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命令显示、访问、改变变量的值，直到键入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dbcont</a:t>
            </a:r>
            <a:r>
              <a:rPr lang="zh-CN" altLang="en-US" sz="2400" b="1" dirty="0">
                <a:latin typeface="+mj-ea"/>
                <a:ea typeface="+mj-ea"/>
              </a:rPr>
              <a:t>来恢复代码段的运行。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控制流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-input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return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1160349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a=input('input a number')</a:t>
            </a:r>
            <a:r>
              <a:rPr lang="zh-CN" altLang="en-US" sz="2400" b="1" dirty="0">
                <a:latin typeface="+mj-ea"/>
                <a:ea typeface="+mj-ea"/>
              </a:rPr>
              <a:t>命令的含义为在屏幕提示</a:t>
            </a:r>
            <a:r>
              <a:rPr lang="en-US" altLang="zh-CN" sz="2400" b="1" dirty="0">
                <a:latin typeface="+mj-ea"/>
                <a:ea typeface="+mj-ea"/>
              </a:rPr>
              <a:t>input a number</a:t>
            </a:r>
            <a:r>
              <a:rPr lang="zh-CN" altLang="en-US" sz="2400" b="1" dirty="0">
                <a:latin typeface="+mj-ea"/>
                <a:ea typeface="+mj-ea"/>
              </a:rPr>
              <a:t>的情况下，键盘输入一个数，并将其赋值到变量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。字符串不得缺省，但可用空串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''</a:t>
            </a:r>
            <a:r>
              <a:rPr lang="zh-CN" altLang="en-US" sz="2400" b="1" dirty="0">
                <a:latin typeface="+mj-ea"/>
                <a:ea typeface="+mj-ea"/>
              </a:rPr>
              <a:t>实现无提示信息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5262806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return</a:t>
            </a:r>
            <a:r>
              <a:rPr lang="zh-CN" altLang="en-US" sz="2400" b="1" dirty="0">
                <a:latin typeface="+mj-ea"/>
                <a:ea typeface="+mj-ea"/>
              </a:rPr>
              <a:t>命令可结束当前函数运行并返回调用当前函数的上一级函数或脚本，若已经在主程序脚本中，则程序运行结束。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3229779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a=input('input a 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number',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s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命令的含义为在屏幕提示</a:t>
            </a:r>
            <a:r>
              <a:rPr lang="en-US" altLang="zh-CN" sz="2400" b="1" dirty="0">
                <a:latin typeface="+mj-ea"/>
                <a:ea typeface="+mj-ea"/>
              </a:rPr>
              <a:t>input a number</a:t>
            </a:r>
            <a:r>
              <a:rPr lang="zh-CN" altLang="en-US" sz="2400" b="1" dirty="0">
                <a:latin typeface="+mj-ea"/>
                <a:ea typeface="+mj-ea"/>
              </a:rPr>
              <a:t>的情况下，键盘输入一个字符串，并将其赋值到变量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。提示字符串可用空串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''</a:t>
            </a:r>
            <a:r>
              <a:rPr lang="zh-CN" altLang="en-US" sz="2400" b="1" dirty="0">
                <a:latin typeface="+mj-ea"/>
                <a:ea typeface="+mj-ea"/>
              </a:rPr>
              <a:t>实现无提示信息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MATLAB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控制流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弹窗输入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528" y="1019468"/>
            <a:ext cx="84386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a=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inputdlg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(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input a number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)</a:t>
            </a:r>
            <a:r>
              <a:rPr lang="zh-CN" altLang="en-US" sz="2400" b="1" dirty="0">
                <a:latin typeface="+mj-ea"/>
                <a:ea typeface="+mj-ea"/>
              </a:rPr>
              <a:t>命令的含义为弹出输入窗口输入一段信息。不过不同的是，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返回值会是包含一个胞元的数组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，胞元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{a}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内包含的是一个字符串。如果要调用里面的数据，需要用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str2num(a{1})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进行转化</a:t>
            </a:r>
            <a:r>
              <a:rPr lang="zh-CN" altLang="en-US" sz="2400" b="1" dirty="0">
                <a:latin typeface="+mj-ea"/>
                <a:ea typeface="+mj-ea"/>
              </a:rPr>
              <a:t>。多变量弹窗输入的方法可以查阅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的帮助引用页。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23528" y="4274972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函数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listdlg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questdlg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可以通过弹窗的方式进行列表单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/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多项选择弹窗，以及按钮选择输入。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6935" y="2952359"/>
            <a:ext cx="2062700" cy="120032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04" y="2566379"/>
            <a:ext cx="1847864" cy="4248181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43" y="5194552"/>
            <a:ext cx="3550437" cy="13270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脚本与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函数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971600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文件可以通过在主菜单新建或打开来获取，也可以在当前文件夹双击对用</a:t>
            </a: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文件来弹出编辑器。其中第二个新建里，可以新建</a:t>
            </a: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函数文件，默认函数头尾将自动加在文件中。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2276872"/>
            <a:ext cx="7380312" cy="39495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脚本与</a:t>
            </a: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hlinkClick r:id="rId1" action="ppaction://hlinkfile"/>
              </a:rPr>
              <a:t>函数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23528" y="971600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脚本文件可以理解为代码的组合，一次运行可以将一串代码按照顺序依次运行</a:t>
            </a:r>
            <a:r>
              <a:rPr lang="en-US" altLang="zh-CN" sz="2400" b="1" dirty="0">
                <a:latin typeface="+mj-ea"/>
                <a:ea typeface="+mj-ea"/>
              </a:rPr>
              <a:t>(</a:t>
            </a:r>
            <a:r>
              <a:rPr lang="zh-CN" altLang="en-US" sz="2400" b="1" dirty="0">
                <a:latin typeface="+mj-ea"/>
                <a:ea typeface="+mj-ea"/>
              </a:rPr>
              <a:t>下图为华氏度转摄氏度脚本）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23528" y="3109511"/>
            <a:ext cx="84386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函数文件则拥有返回值与参数列表，无需指定各个变量的类型，左下图中</a:t>
            </a:r>
            <a:r>
              <a:rPr lang="en-US" altLang="zh-CN" sz="2400" b="1" dirty="0" err="1">
                <a:latin typeface="+mj-ea"/>
                <a:ea typeface="+mj-ea"/>
              </a:rPr>
              <a:t>output_args</a:t>
            </a:r>
            <a:r>
              <a:rPr lang="zh-CN" altLang="en-US" sz="2400" b="1" dirty="0">
                <a:latin typeface="+mj-ea"/>
                <a:ea typeface="+mj-ea"/>
              </a:rPr>
              <a:t>为返回值列表，不同返回值可以是数值、字符串、数组、胞元，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一般用逗号隔开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r>
              <a:rPr lang="en-US" altLang="zh-CN" sz="2400" b="1" dirty="0" err="1">
                <a:latin typeface="+mj-ea"/>
                <a:ea typeface="+mj-ea"/>
              </a:rPr>
              <a:t>input_args</a:t>
            </a:r>
            <a:r>
              <a:rPr lang="zh-CN" altLang="en-US" sz="2400" b="1" dirty="0">
                <a:latin typeface="+mj-ea"/>
                <a:ea typeface="+mj-ea"/>
              </a:rPr>
              <a:t>为参数列表，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同样用逗号隔开</a:t>
            </a:r>
            <a:r>
              <a:rPr lang="zh-CN" altLang="en-US" sz="2400" b="1" dirty="0">
                <a:latin typeface="+mj-ea"/>
                <a:ea typeface="+mj-ea"/>
              </a:rPr>
              <a:t>，与调用对应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仅包括一个函数的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M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函数文件结尾的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end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可不写。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5157192"/>
            <a:ext cx="3814790" cy="13239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836" y="1985294"/>
            <a:ext cx="4106328" cy="96030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684" y="5157192"/>
            <a:ext cx="2985333" cy="1323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函数的局部变量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3528" y="971600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与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类似，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在执行到</a:t>
            </a: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函数的函数体内时，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参数值将会临时复制</a:t>
            </a:r>
            <a:r>
              <a:rPr lang="zh-CN" altLang="en-US" sz="2400" b="1" dirty="0">
                <a:latin typeface="+mj-ea"/>
                <a:ea typeface="+mj-ea"/>
              </a:rPr>
              <a:t>并申请一个新的存储空间，与</a:t>
            </a: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函数内新设立的变量共同构成局部变量。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0932" y="2171929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与</a:t>
            </a:r>
            <a:r>
              <a:rPr lang="en-US" altLang="zh-CN" sz="2400" b="1" dirty="0">
                <a:latin typeface="+mj-ea"/>
                <a:ea typeface="+mj-ea"/>
              </a:rPr>
              <a:t>C++</a:t>
            </a:r>
            <a:r>
              <a:rPr lang="zh-CN" altLang="en-US" sz="2400" b="1" dirty="0">
                <a:latin typeface="+mj-ea"/>
                <a:ea typeface="+mj-ea"/>
              </a:rPr>
              <a:t>相同，函数外层的变量值在函数内不可见，而局部变量在</a:t>
            </a: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函数执行完毕后，除返回值外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也将全部销毁</a:t>
            </a:r>
            <a:r>
              <a:rPr lang="zh-CN" altLang="en-US" sz="2400" b="1" dirty="0">
                <a:latin typeface="+mj-ea"/>
                <a:ea typeface="+mj-ea"/>
              </a:rPr>
              <a:t>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2667" y="3024078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运行左下图脚本，利用断点观察局部变量</a:t>
            </a:r>
            <a:r>
              <a:rPr lang="en-US" altLang="zh-CN" sz="2400" b="1" dirty="0">
                <a:latin typeface="+mj-ea"/>
                <a:ea typeface="+mj-ea"/>
              </a:rPr>
              <a:t>f</a:t>
            </a:r>
            <a:r>
              <a:rPr lang="zh-CN" altLang="en-US" sz="2400" b="1" dirty="0">
                <a:latin typeface="+mj-ea"/>
                <a:ea typeface="+mj-ea"/>
              </a:rPr>
              <a:t>与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不可见）。程序运行结束后，只能看到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和函数返回值</a:t>
            </a:r>
            <a:r>
              <a:rPr lang="en-US" altLang="zh-CN" sz="2400" b="1" dirty="0" err="1">
                <a:latin typeface="+mj-ea"/>
                <a:ea typeface="+mj-ea"/>
              </a:rPr>
              <a:t>c,s</a:t>
            </a:r>
            <a:r>
              <a:rPr lang="zh-CN" altLang="en-US" sz="2400" b="1" dirty="0">
                <a:latin typeface="+mj-ea"/>
                <a:ea typeface="+mj-ea"/>
              </a:rPr>
              <a:t>值仍为</a:t>
            </a:r>
            <a:r>
              <a:rPr lang="en-US" altLang="zh-CN" sz="2400" b="1" dirty="0">
                <a:latin typeface="+mj-ea"/>
                <a:ea typeface="+mj-ea"/>
              </a:rPr>
              <a:t>0</a:t>
            </a:r>
            <a:endParaRPr lang="en-US" altLang="zh-CN" sz="2400" b="1" dirty="0">
              <a:latin typeface="+mj-ea"/>
              <a:ea typeface="+mj-ea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4079" y="3932255"/>
            <a:ext cx="2686070" cy="135732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56" y="4203255"/>
            <a:ext cx="2690832" cy="762006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60" y="3961772"/>
            <a:ext cx="1772148" cy="11283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0177" y="5445224"/>
            <a:ext cx="2723645" cy="103128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函数的全局变量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23528" y="971600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利用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global</a:t>
            </a:r>
            <a:r>
              <a:rPr lang="zh-CN" altLang="en-US" sz="2400" b="1" dirty="0">
                <a:latin typeface="+mj-ea"/>
                <a:ea typeface="+mj-ea"/>
              </a:rPr>
              <a:t>可以在主脚本与</a:t>
            </a:r>
            <a:r>
              <a:rPr lang="en-US" altLang="zh-CN" sz="2400" b="1" dirty="0">
                <a:latin typeface="+mj-ea"/>
                <a:ea typeface="+mj-ea"/>
              </a:rPr>
              <a:t>M</a:t>
            </a:r>
            <a:r>
              <a:rPr lang="zh-CN" altLang="en-US" sz="2400" b="1" dirty="0">
                <a:latin typeface="+mj-ea"/>
                <a:ea typeface="+mj-ea"/>
              </a:rPr>
              <a:t>函数内设立全局变量，这样参数的记录和传递会很方便，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但破坏了封装性</a:t>
            </a:r>
            <a:r>
              <a:rPr lang="zh-CN" altLang="en-US" sz="2400" b="1" dirty="0">
                <a:latin typeface="+mj-ea"/>
                <a:ea typeface="+mj-ea"/>
              </a:rPr>
              <a:t>，不建议。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52667" y="2147493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修改脚本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并定义变量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为全局变量，程序运行结束后，内存区变量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可以记录子函数内修改的函数值。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6991" y="5085184"/>
            <a:ext cx="2909909" cy="93821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674" y="3211082"/>
            <a:ext cx="2700357" cy="15668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404067"/>
            <a:ext cx="1512168" cy="128139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60" y="3682573"/>
            <a:ext cx="2952772" cy="6238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函数的建议格式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526" y="971600"/>
            <a:ext cx="8314947" cy="468052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36230" y="5652120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实例使用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命令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edit ode45</a:t>
            </a:r>
            <a:r>
              <a:rPr lang="zh-CN" altLang="en-US" sz="2400" b="1" dirty="0">
                <a:latin typeface="+mj-ea"/>
                <a:ea typeface="+mj-ea"/>
              </a:rPr>
              <a:t>可以观察</a:t>
            </a:r>
            <a:r>
              <a:rPr lang="en-US" altLang="zh-CN" sz="2400" b="1" dirty="0">
                <a:latin typeface="+mj-ea"/>
                <a:ea typeface="+mj-ea"/>
              </a:rPr>
              <a:t>MATLAB</a:t>
            </a:r>
            <a:r>
              <a:rPr lang="zh-CN" altLang="en-US" sz="2400" b="1" dirty="0">
                <a:latin typeface="+mj-ea"/>
                <a:ea typeface="+mj-ea"/>
              </a:rPr>
              <a:t>自带的一种常微分方程函数的编写。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5" y="-171400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en-US" altLang="zh-CN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</a:t>
            </a: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函数复杂代码的分段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746" y="2708920"/>
            <a:ext cx="7496230" cy="350998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23528" y="1124744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在</a:t>
            </a:r>
            <a:r>
              <a:rPr lang="en-US" altLang="zh-CN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MATLAB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函数编写中，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使用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%%</a:t>
            </a:r>
            <a:r>
              <a:rPr lang="zh-CN" altLang="en-US" sz="2400" b="1" dirty="0">
                <a:solidFill>
                  <a:srgbClr val="FF0000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可以引领一个代码分段</a:t>
            </a:r>
            <a:r>
              <a:rPr lang="zh-CN" altLang="en-US" sz="2400" b="1" dirty="0"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，对于复杂的代码编写，这样可以大大提高代码的易读性与可编辑性。鼠标点在一个代码段内，仅该代码段区域底色会变黄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814" y="-270343"/>
            <a:ext cx="8596412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第七周电子版作业（下周二晚以前提交）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1520" y="845268"/>
            <a:ext cx="84386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作业请于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10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月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19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日（周二）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23:59:59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或以前提交到课堂派平台。（请同学们加入正确的班级）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17848" y="1931434"/>
            <a:ext cx="87466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作业文件名格式：“</a:t>
            </a:r>
            <a:r>
              <a:rPr lang="en-US" altLang="zh-CN" sz="2400" b="1" dirty="0">
                <a:latin typeface="+mj-ea"/>
                <a:ea typeface="+mj-ea"/>
              </a:rPr>
              <a:t>05370038</a:t>
            </a:r>
            <a:r>
              <a:rPr lang="zh-CN" altLang="en-US" sz="2400" b="1" dirty="0">
                <a:latin typeface="+mj-ea"/>
                <a:ea typeface="+mj-ea"/>
              </a:rPr>
              <a:t>；李嘉；第七周作业”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5718" y="2660494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请将所有题目的</a:t>
            </a:r>
            <a:r>
              <a:rPr lang="zh-CN" altLang="en-US" sz="2400" b="1" dirty="0">
                <a:solidFill>
                  <a:schemeClr val="accent2"/>
                </a:solidFill>
                <a:latin typeface="+mj-ea"/>
                <a:ea typeface="+mj-ea"/>
              </a:rPr>
              <a:t>方法设计（如果有）、代码、运行结果、绘图结果（如果有），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放于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同一个</a:t>
            </a:r>
            <a:r>
              <a:rPr lang="en-US" altLang="zh-CN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pdf(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推荐使用）文件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内（</a:t>
            </a:r>
            <a:r>
              <a:rPr lang="en-US" altLang="zh-CN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doc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或</a:t>
            </a:r>
            <a:r>
              <a:rPr lang="en-US" altLang="zh-CN" sz="2400" b="1" dirty="0" err="1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docx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也可） </a:t>
            </a:r>
            <a:r>
              <a:rPr lang="zh-CN" altLang="en-US" sz="2400" b="1" dirty="0">
                <a:latin typeface="+mj-ea"/>
                <a:ea typeface="+mj-ea"/>
              </a:rPr>
              <a:t>。文件名建议与邮件标题完全相同。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7848" y="4036530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作业满分</a:t>
            </a:r>
            <a:r>
              <a:rPr lang="en-US" altLang="zh-CN" sz="2400" b="1" dirty="0">
                <a:latin typeface="+mj-ea"/>
                <a:ea typeface="+mj-ea"/>
              </a:rPr>
              <a:t>52</a:t>
            </a:r>
            <a:r>
              <a:rPr lang="zh-CN" altLang="en-US" sz="2400" b="1" dirty="0">
                <a:latin typeface="+mj-ea"/>
                <a:ea typeface="+mj-ea"/>
              </a:rPr>
              <a:t>分，电子版作业迟交者会按照每天</a:t>
            </a:r>
            <a:r>
              <a:rPr lang="en-US" altLang="zh-CN" sz="2400" b="1" dirty="0">
                <a:latin typeface="+mj-ea"/>
                <a:ea typeface="+mj-ea"/>
              </a:rPr>
              <a:t>5</a:t>
            </a:r>
            <a:r>
              <a:rPr lang="zh-CN" altLang="en-US" sz="2400" b="1" dirty="0">
                <a:latin typeface="+mj-ea"/>
                <a:ea typeface="+mj-ea"/>
              </a:rPr>
              <a:t>分的梯度损失分数。分数会根据答案的正确与否、算法的高效与否、文档展示的规范性等多个方面综合评定。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4177" y="5412567"/>
            <a:ext cx="84386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+mj-ea"/>
                <a:ea typeface="+mj-ea"/>
              </a:rPr>
              <a:t>请勿抄袭，一经发现，最终总评不超过</a:t>
            </a:r>
            <a:r>
              <a:rPr lang="en-US" altLang="zh-CN" sz="2400" b="1" dirty="0">
                <a:latin typeface="+mj-ea"/>
                <a:ea typeface="+mj-ea"/>
              </a:rPr>
              <a:t>80</a:t>
            </a:r>
            <a:r>
              <a:rPr lang="zh-CN" altLang="en-US" sz="2400" b="1" dirty="0">
                <a:latin typeface="+mj-ea"/>
                <a:ea typeface="+mj-ea"/>
              </a:rPr>
              <a:t>。两次抄袭等于挂科。如果进行了部分方法与内容的借鉴，请在作业明示你的参考文献或借鉴人。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950" y="-171400"/>
            <a:ext cx="79081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第七周电子版作业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1520" y="1593985"/>
            <a:ext cx="843866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Q1.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某年春节，数院传奇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D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神希望为朋友圈点赞的朋友发红包。他表示，点赞序数为素数的朋友将获得红包。但点赞朋友共有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360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人，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D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神发现逐个手算这些素数很费时间，而且容易出错。同时，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D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神的豪华手机朋友圈每行可以显示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9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名好友，他希望能够利用程序自动显示出获得红包的好友行数与列数。</a:t>
            </a:r>
            <a:endParaRPr lang="zh-CN" altLang="en-US" sz="2400" b="1" dirty="0">
              <a:solidFill>
                <a:prstClr val="black"/>
              </a:solidFill>
              <a:latin typeface="+mj-ea"/>
              <a:ea typeface="+mj-ea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557174" y="2884337"/>
            <a:ext cx="72050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51520" y="1051960"/>
            <a:ext cx="6606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这次一共只有两道题</a:t>
            </a:r>
            <a:r>
              <a:rPr lang="en-US" altLang="zh-CN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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  <a:sym typeface="Wingdings" panose="05000000000000000000" pitchFamily="2" charset="2"/>
              </a:rPr>
              <a:t></a:t>
            </a:r>
            <a:endParaRPr lang="en-US" altLang="zh-CN" sz="24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1520" y="3598454"/>
            <a:ext cx="8856984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现需要你设计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算法效率尽量高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（降低复杂度，减少循环层数）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的一个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MATLAB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程序，找出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1~360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的所有素数，</a:t>
            </a: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并且用下列格式显示获得红包的好友：</a:t>
            </a: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位获得红包好友为第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号好友，位于第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行第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列。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1520" y="5359010"/>
            <a:ext cx="8640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请在作业中写明你的算法思路、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MATLAB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代码，以及你屏幕所输出的所有红包获奖结果。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禁用</a:t>
            </a:r>
            <a:r>
              <a:rPr lang="en-US" altLang="zh-CN" sz="2400" b="1" dirty="0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primes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与</a:t>
            </a:r>
            <a:r>
              <a:rPr lang="en-US" altLang="zh-CN" sz="2400" b="1" dirty="0" err="1">
                <a:solidFill>
                  <a:schemeClr val="accent2"/>
                </a:solidFill>
                <a:latin typeface="Courier New" panose="02070309020205020404" pitchFamily="49" charset="0"/>
                <a:ea typeface="幼圆" panose="02010509060101010101" pitchFamily="49" charset="-122"/>
                <a:cs typeface="Courier New" panose="02070309020205020404" pitchFamily="49" charset="0"/>
              </a:rPr>
              <a:t>isprime</a:t>
            </a:r>
            <a:r>
              <a:rPr lang="zh-CN" altLang="en-US" sz="2400" b="1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函数。禁止纯手算解决问题。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811" y="-306288"/>
            <a:ext cx="7966378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第七周电子版作业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557174" y="2884337"/>
            <a:ext cx="72050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23797" y="836712"/>
                <a:ext cx="8896406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Q2. 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跳马最少步数计算题：如下图，中国象棋的棋盘有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10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行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9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列，我们需要计算棋子“马”走到每个点的最少步数，并将这些结果存储在矩阵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𝑨</m:t>
                        </m:r>
                      </m:e>
                      <m:sub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𝟏𝟎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×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𝟗</m:t>
                        </m:r>
                      </m:sub>
                    </m:sSub>
                  </m:oMath>
                </a14:m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中。参考结果如比如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𝑨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𝟐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𝟎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𝑨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𝟏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𝟑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,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𝑨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𝟐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,</m:t>
                        </m:r>
                        <m:r>
                          <a:rPr lang="en-US" altLang="zh-CN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𝟒</m:t>
                        </m:r>
                      </m:e>
                    </m:d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+mj-ea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solidFill>
                      <a:prstClr val="black"/>
                    </a:solidFill>
                    <a:latin typeface="+mj-ea"/>
                    <a:ea typeface="+mj-ea"/>
                  </a:rPr>
                  <a:t>等等。</a:t>
                </a:r>
                <a:endParaRPr lang="en-US" altLang="zh-CN" sz="2400" b="1" dirty="0">
                  <a:solidFill>
                    <a:prstClr val="black"/>
                  </a:solidFill>
                  <a:latin typeface="+mj-ea"/>
                  <a:ea typeface="+mj-ea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97" y="836712"/>
                <a:ext cx="8896406" cy="1569660"/>
              </a:xfrm>
              <a:prstGeom prst="rect">
                <a:avLst/>
              </a:prstGeom>
              <a:blipFill rotWithShape="1">
                <a:blip r:embed="rId1"/>
                <a:stretch>
                  <a:fillRect l="-7" t="-27" r="-2205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/>
              <p:cNvSpPr/>
              <p:nvPr/>
            </p:nvSpPr>
            <p:spPr>
              <a:xfrm>
                <a:off x="123797" y="2406372"/>
                <a:ext cx="5024267" cy="43088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请在作业中提供一种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尽可能效率高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的算法，并将算法用</a:t>
                </a:r>
                <a:r>
                  <a:rPr lang="en-US" altLang="zh-CN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MATLAB</a:t>
                </a:r>
                <a:r>
                  <a:rPr lang="zh-CN" altLang="en-US" sz="2400" b="1" dirty="0">
                    <a:solidFill>
                      <a:prstClr val="black"/>
                    </a:solidFill>
                    <a:latin typeface="幼圆" panose="02010509060101010101" pitchFamily="49" charset="-122"/>
                    <a:ea typeface="幼圆" panose="02010509060101010101" pitchFamily="49" charset="-122"/>
                  </a:rPr>
                  <a:t>代码实现。最后将矩阵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幼圆" panose="020105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的计算结果粘贴在作业里。没有修过</a:t>
                </a:r>
                <a:r>
                  <a:rPr lang="en-US" altLang="zh-CN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《</a:t>
                </a:r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数据结构与算法</a:t>
                </a:r>
                <a:r>
                  <a:rPr lang="en-US" altLang="zh-CN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》</a:t>
                </a:r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的同学可以与修过的同学进行必要的交流和学习。允许代码使用任意层循环。</a:t>
                </a:r>
                <a:endParaRPr lang="en-US" altLang="zh-CN" sz="24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endParaRPr lang="en-US" altLang="zh-CN" sz="24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marL="274320" lvl="0" indent="-274320">
                  <a:spcBef>
                    <a:spcPts val="580"/>
                  </a:spcBef>
                  <a:buClr>
                    <a:srgbClr val="00B050"/>
                  </a:buClr>
                  <a:buSzPct val="85000"/>
                  <a:buFont typeface="Wingdings" panose="05000000000000000000" pitchFamily="2" charset="2"/>
                  <a:buChar char="q"/>
                </a:pPr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算法关键词：广度优先搜索，静态队列。（本题亦可以使用逐点递归计算，但复杂度会大大提高）</a:t>
                </a:r>
                <a:endParaRPr lang="en-US" altLang="zh-CN" sz="24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97" y="2406372"/>
                <a:ext cx="5024267" cy="4308872"/>
              </a:xfrm>
              <a:prstGeom prst="rect">
                <a:avLst/>
              </a:prstGeom>
              <a:blipFill rotWithShape="1">
                <a:blip r:embed="rId2"/>
                <a:stretch>
                  <a:fillRect l="-12" t="-8" r="2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2636912"/>
            <a:ext cx="3700490" cy="39529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086" y="-281502"/>
            <a:ext cx="7772400" cy="1143000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lang="zh-CN" altLang="en-US" sz="360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课后反馈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1520" y="1124744"/>
            <a:ext cx="8438666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将今天讲过的例题尝试自己键入并运行一遍</a:t>
            </a: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温习</a:t>
            </a:r>
            <a:r>
              <a:rPr lang="en-US" altLang="zh-CN" sz="2400" b="1" dirty="0">
                <a:solidFill>
                  <a:prstClr val="black"/>
                </a:solidFill>
                <a:latin typeface="+mj-ea"/>
                <a:ea typeface="+mj-ea"/>
              </a:rPr>
              <a:t>C++</a:t>
            </a:r>
            <a:r>
              <a:rPr lang="zh-CN" altLang="en-US" sz="2400" b="1" dirty="0">
                <a:solidFill>
                  <a:prstClr val="black"/>
                </a:solidFill>
                <a:latin typeface="+mj-ea"/>
                <a:ea typeface="+mj-ea"/>
              </a:rPr>
              <a:t>和数据结构中学过的基础知识</a:t>
            </a: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>
              <a:spcBef>
                <a:spcPts val="580"/>
              </a:spcBef>
              <a:buClr>
                <a:srgbClr val="00B050"/>
              </a:buClr>
              <a:buSzPct val="85000"/>
            </a:pPr>
            <a:endParaRPr lang="en-US" altLang="zh-CN" sz="2400" b="1" dirty="0">
              <a:solidFill>
                <a:prstClr val="black"/>
              </a:solidFill>
              <a:latin typeface="+mj-ea"/>
              <a:ea typeface="+mj-ea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endParaRPr lang="en-US" altLang="zh-CN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274320" lvl="0" indent="-274320">
              <a:spcBef>
                <a:spcPts val="580"/>
              </a:spcBef>
              <a:buClr>
                <a:srgbClr val="00B050"/>
              </a:buClr>
              <a:buSzPct val="85000"/>
              <a:buFont typeface="Wingdings" panose="05000000000000000000" pitchFamily="2" charset="2"/>
              <a:buChar char="q"/>
            </a:pPr>
            <a:r>
              <a:rPr lang="zh-CN" altLang="en-US" sz="2400" b="1" dirty="0">
                <a:solidFill>
                  <a:prstClr val="blac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阅读思考课本对应习题（不作为考点）</a:t>
            </a:r>
            <a:endParaRPr lang="zh-CN" altLang="en-US" sz="2400" b="1" dirty="0">
              <a:solidFill>
                <a:prstClr val="blac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600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感谢同学们认真听课</a:t>
            </a:r>
            <a:r>
              <a:rPr lang="en-US" altLang="zh-CN" sz="6000" i="0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zh-CN" altLang="en-US" sz="6000" i="0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47664" y="3446615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47546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欢迎同学们积极提问、交流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47546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61255" y="4606536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47546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  <a:hlinkClick r:id="rId1"/>
              </a:rPr>
              <a:t>mcstj@mail.sysu.edu.cn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C47546"/>
                </a:solidFill>
                <a:effectLst/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C47546"/>
              </a:solidFill>
              <a:effectLst/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DEFAULTFONTSIZE" val="10"/>
  <p:tag name="DEFAULTWIDTH" val="354"/>
  <p:tag name="DEFAULTHEIGHT" val="383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极目远眺">
  <a:themeElements>
    <a:clrScheme name="极目远眺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极目远眺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极目远眺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极目远眺">
    <a:dk1>
      <a:srgbClr val="000000"/>
    </a:dk1>
    <a:lt1>
      <a:srgbClr val="FFFFFF"/>
    </a:lt1>
    <a:dk2>
      <a:srgbClr val="1F2123"/>
    </a:dk2>
    <a:lt2>
      <a:srgbClr val="DC9E1F"/>
    </a:lt2>
    <a:accent1>
      <a:srgbClr val="7E97AD"/>
    </a:accent1>
    <a:accent2>
      <a:srgbClr val="CC8E60"/>
    </a:accent2>
    <a:accent3>
      <a:srgbClr val="7A6A60"/>
    </a:accent3>
    <a:accent4>
      <a:srgbClr val="B4936D"/>
    </a:accent4>
    <a:accent5>
      <a:srgbClr val="67787B"/>
    </a:accent5>
    <a:accent6>
      <a:srgbClr val="9D936F"/>
    </a:accent6>
    <a:hlink>
      <a:srgbClr val="646464"/>
    </a:hlink>
    <a:folHlink>
      <a:srgbClr val="96969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0</TotalTime>
  <Words>13070</Words>
  <Application>WPS 演示</Application>
  <PresentationFormat>全屏显示(4:3)</PresentationFormat>
  <Paragraphs>630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68" baseType="lpstr">
      <vt:lpstr>Arial</vt:lpstr>
      <vt:lpstr>宋体</vt:lpstr>
      <vt:lpstr>Wingdings</vt:lpstr>
      <vt:lpstr>Wingdings 2</vt:lpstr>
      <vt:lpstr>Arial</vt:lpstr>
      <vt:lpstr>PMingLiU</vt:lpstr>
      <vt:lpstr>MingLiU-ExtB</vt:lpstr>
      <vt:lpstr>Arial Narrow</vt:lpstr>
      <vt:lpstr>方正姚体</vt:lpstr>
      <vt:lpstr>微软雅黑</vt:lpstr>
      <vt:lpstr>Calibri</vt:lpstr>
      <vt:lpstr>Courier New</vt:lpstr>
      <vt:lpstr>幼圆</vt:lpstr>
      <vt:lpstr>Cambria Math</vt:lpstr>
      <vt:lpstr>Times New Roman</vt:lpstr>
      <vt:lpstr>楷体</vt:lpstr>
      <vt:lpstr>Arial Unicode MS</vt:lpstr>
      <vt:lpstr>黑体</vt:lpstr>
      <vt:lpstr>Perpetua</vt:lpstr>
      <vt:lpstr>Franklin Gothic Book</vt:lpstr>
      <vt:lpstr>Franklin Gothic Medium</vt:lpstr>
      <vt:lpstr>极目远眺</vt:lpstr>
      <vt:lpstr>Equity</vt:lpstr>
      <vt:lpstr>暗香扑面</vt:lpstr>
      <vt:lpstr>数学实验与数学软件 </vt:lpstr>
      <vt:lpstr>矩阵的乘除运算</vt:lpstr>
      <vt:lpstr>矩阵的幂运算与矩阵函数</vt:lpstr>
      <vt:lpstr>例3.4-1</vt:lpstr>
      <vt:lpstr>例3.4-1</vt:lpstr>
      <vt:lpstr>例3.4-1</vt:lpstr>
      <vt:lpstr>例3.4-2</vt:lpstr>
      <vt:lpstr>例3.4-2</vt:lpstr>
      <vt:lpstr>fprintf-来自C语言的屏显/写文件函数</vt:lpstr>
      <vt:lpstr>fprintf-来自C语言的屏显/写文件函数</vt:lpstr>
      <vt:lpstr>MATLAB控制流-if-else-end分支结构</vt:lpstr>
      <vt:lpstr>例6.1-1</vt:lpstr>
      <vt:lpstr>例6.1-1</vt:lpstr>
      <vt:lpstr>例6.1-1</vt:lpstr>
      <vt:lpstr>例6.1-1</vt:lpstr>
      <vt:lpstr>例6.1-1</vt:lpstr>
      <vt:lpstr>模拟退火算法解决例6.1-1</vt:lpstr>
      <vt:lpstr>模拟退火算法解决例6.1-1</vt:lpstr>
      <vt:lpstr>模拟退火算法解决例6.1-1</vt:lpstr>
      <vt:lpstr>MATLAB控制流-switch-case-多分支结构</vt:lpstr>
      <vt:lpstr>用于case的胞元数组（P411）-例A.2-1</vt:lpstr>
      <vt:lpstr>例6.1-2</vt:lpstr>
      <vt:lpstr>例6.1-2</vt:lpstr>
      <vt:lpstr>MATLAB控制流-for与while循环</vt:lpstr>
      <vt:lpstr>例6.1-3</vt:lpstr>
      <vt:lpstr>例6.1-3</vt:lpstr>
      <vt:lpstr>例6.1-4</vt:lpstr>
      <vt:lpstr>例6.1-4</vt:lpstr>
      <vt:lpstr>例6.1-4</vt:lpstr>
      <vt:lpstr>MATLAB控制流-break与continue</vt:lpstr>
      <vt:lpstr>MATLAB控制流-pause与keyboard</vt:lpstr>
      <vt:lpstr>MATLAB控制流-input与return</vt:lpstr>
      <vt:lpstr>MATLAB控制流-弹窗输入</vt:lpstr>
      <vt:lpstr>M脚本与M函数</vt:lpstr>
      <vt:lpstr>M脚本与M函数</vt:lpstr>
      <vt:lpstr>M函数的局部变量</vt:lpstr>
      <vt:lpstr>M函数的全局变量</vt:lpstr>
      <vt:lpstr>M函数的建议格式</vt:lpstr>
      <vt:lpstr>M函数复杂代码的分段</vt:lpstr>
      <vt:lpstr>第七周电子版作业（下周二晚以前提交）</vt:lpstr>
      <vt:lpstr>第七周电子版作业</vt:lpstr>
      <vt:lpstr>第七周电子版作业</vt:lpstr>
      <vt:lpstr>课后反馈</vt:lpstr>
      <vt:lpstr>感谢同学们认真听课!</vt:lpstr>
    </vt:vector>
  </TitlesOfParts>
  <Company>NUS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数学实验与数学软件 </dc:title>
  <dc:creator>JIA LI</dc:creator>
  <cp:lastModifiedBy>谭军</cp:lastModifiedBy>
  <cp:revision>926</cp:revision>
  <dcterms:created xsi:type="dcterms:W3CDTF">2014-07-04T06:51:00Z</dcterms:created>
  <dcterms:modified xsi:type="dcterms:W3CDTF">2025-09-25T02:21:20Z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9DFF9D35C10A44F8963B8C65B4641E09_12</vt:lpwstr>
  </property>
  <property fmtid="{D5CDD505-2E9C-101B-9397-08002B2CF9AE}" pid="3" name="KSOProductBuildVer">
    <vt:lpwstr>2052-12.1.0.22529</vt:lpwstr>
  </property>
</Properties>
</file>