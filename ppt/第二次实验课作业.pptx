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68" d="100"/>
          <a:sy n="68" d="100"/>
        </p:scale>
        <p:origin x="417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2656-2F51-4921-8B15-3A9AAB382CE7}" type="datetimeFigureOut">
              <a:rPr lang="zh-CN" altLang="en-US" smtClean="0"/>
              <a:t>2021/08/22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F09D0-13E9-4984-B075-27180BCE5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631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2656-2F51-4921-8B15-3A9AAB382CE7}" type="datetimeFigureOut">
              <a:rPr lang="zh-CN" altLang="en-US" smtClean="0"/>
              <a:t>2021/08/22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F09D0-13E9-4984-B075-27180BCE5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6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2656-2F51-4921-8B15-3A9AAB382CE7}" type="datetimeFigureOut">
              <a:rPr lang="zh-CN" altLang="en-US" smtClean="0"/>
              <a:t>2021/08/22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F09D0-13E9-4984-B075-27180BCE5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61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2656-2F51-4921-8B15-3A9AAB382CE7}" type="datetimeFigureOut">
              <a:rPr lang="zh-CN" altLang="en-US" smtClean="0"/>
              <a:t>2021/08/22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F09D0-13E9-4984-B075-27180BCE5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3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2656-2F51-4921-8B15-3A9AAB382CE7}" type="datetimeFigureOut">
              <a:rPr lang="zh-CN" altLang="en-US" smtClean="0"/>
              <a:t>2021/08/22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F09D0-13E9-4984-B075-27180BCE5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909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2656-2F51-4921-8B15-3A9AAB382CE7}" type="datetimeFigureOut">
              <a:rPr lang="zh-CN" altLang="en-US" smtClean="0"/>
              <a:t>2021/08/22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F09D0-13E9-4984-B075-27180BCE5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01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2656-2F51-4921-8B15-3A9AAB382CE7}" type="datetimeFigureOut">
              <a:rPr lang="zh-CN" altLang="en-US" smtClean="0"/>
              <a:t>2021/08/22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F09D0-13E9-4984-B075-27180BCE5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48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2656-2F51-4921-8B15-3A9AAB382CE7}" type="datetimeFigureOut">
              <a:rPr lang="zh-CN" altLang="en-US" smtClean="0"/>
              <a:t>2021/08/22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F09D0-13E9-4984-B075-27180BCE5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819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2656-2F51-4921-8B15-3A9AAB382CE7}" type="datetimeFigureOut">
              <a:rPr lang="zh-CN" altLang="en-US" smtClean="0"/>
              <a:t>2021/08/22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F09D0-13E9-4984-B075-27180BCE5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01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2656-2F51-4921-8B15-3A9AAB382CE7}" type="datetimeFigureOut">
              <a:rPr lang="zh-CN" altLang="en-US" smtClean="0"/>
              <a:t>2021/08/22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F09D0-13E9-4984-B075-27180BCE5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236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2656-2F51-4921-8B15-3A9AAB382CE7}" type="datetimeFigureOut">
              <a:rPr lang="zh-CN" altLang="en-US" smtClean="0"/>
              <a:t>2021/08/22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F09D0-13E9-4984-B075-27180BCE5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684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72656-2F51-4921-8B15-3A9AAB382CE7}" type="datetimeFigureOut">
              <a:rPr lang="zh-CN" altLang="en-US" smtClean="0"/>
              <a:t>2021/08/22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F09D0-13E9-4984-B075-27180BCE5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155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83628" y="808605"/>
                <a:ext cx="10131972" cy="2145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lvl="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思考问题</a:t>
                </a:r>
                <a:r>
                  <a:rPr lang="en-US" altLang="zh-CN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1</a:t>
                </a: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：计算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32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</a:rPr>
                          <m:t>𝟐</m:t>
                        </m:r>
                      </m:e>
                    </m:rad>
                  </m:oMath>
                </a14:m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时，屏幕输出的是几位有效数字（尝试使用命令</a:t>
                </a:r>
                <a:r>
                  <a:rPr lang="en-US" altLang="zh-CN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format</a:t>
                </a: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改变输出的格式），内存存储的又是几位有效数字？尝试使用</a:t>
                </a:r>
                <a:r>
                  <a:rPr lang="en-US" altLang="zh-CN" sz="3200" b="1" dirty="0" err="1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sqrt</a:t>
                </a:r>
                <a:r>
                  <a:rPr lang="en-US" altLang="zh-CN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(</a:t>
                </a:r>
                <a:r>
                  <a:rPr lang="en-US" altLang="zh-CN" sz="3200" b="1" dirty="0" err="1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sym</a:t>
                </a:r>
                <a:r>
                  <a:rPr lang="en-US" altLang="zh-CN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(2))</a:t>
                </a: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作为真实值，观察误差。</a:t>
                </a:r>
                <a:r>
                  <a:rPr lang="zh-CN" altLang="en-US" sz="3200" b="1" dirty="0">
                    <a:solidFill>
                      <a:srgbClr val="FF0000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然后考虑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</a:rPr>
                          <m:t>𝟗𝟕𝟗𝟕𝟗𝟕</m:t>
                        </m:r>
                      </m:e>
                    </m:rad>
                  </m:oMath>
                </a14:m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观察误差。</a:t>
                </a:r>
                <a:endParaRPr lang="en-US" altLang="zh-CN" sz="3200" b="1" dirty="0">
                  <a:solidFill>
                    <a:prstClr val="black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28" y="808605"/>
                <a:ext cx="10131972" cy="2145331"/>
              </a:xfrm>
              <a:prstGeom prst="rect">
                <a:avLst/>
              </a:prstGeom>
              <a:blipFill>
                <a:blip r:embed="rId2"/>
                <a:stretch>
                  <a:fillRect l="-1023" t="-2557" b="-7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383628" y="3987292"/>
            <a:ext cx="1013197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32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思考问题</a:t>
            </a:r>
            <a:r>
              <a:rPr lang="en-US" altLang="zh-CN" sz="32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32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：使用</a:t>
            </a:r>
            <a:r>
              <a:rPr lang="en-US" altLang="zh-CN" sz="3200" b="1" dirty="0" err="1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sym</a:t>
            </a:r>
            <a:r>
              <a:rPr lang="zh-CN" altLang="en-US" sz="32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函数定义符号常量的时候，不用字符串无法录入长实数，用字符串做复杂运算会产生误差。那么如何不用字符串准确录入</a:t>
            </a:r>
            <a:r>
              <a:rPr lang="en-US" altLang="zh-CN" sz="32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0.123456789012345678901</a:t>
            </a:r>
            <a:r>
              <a:rPr lang="zh-CN" altLang="en-US" sz="32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？</a:t>
            </a:r>
            <a:endParaRPr lang="en-US" altLang="zh-CN" sz="32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1299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83628" y="475715"/>
            <a:ext cx="1013197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itchFamily="2" charset="2"/>
              <a:buChar char="q"/>
            </a:pPr>
            <a:r>
              <a:rPr lang="zh-CN" altLang="en-US" sz="32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练习问题</a:t>
            </a:r>
            <a:r>
              <a:rPr lang="en-US" altLang="zh-CN" sz="32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32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：在</a:t>
            </a:r>
            <a:r>
              <a:rPr lang="en-US" altLang="zh-CN" sz="32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MATLAB</a:t>
            </a:r>
            <a:r>
              <a:rPr lang="zh-CN" altLang="en-US" sz="32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中，输入</a:t>
            </a:r>
            <a:r>
              <a:rPr lang="en-US" altLang="zh-CN" sz="32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1/0,-1/0,0/0</a:t>
            </a:r>
            <a:r>
              <a:rPr lang="zh-CN" altLang="en-US" sz="32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的结果分别是什么？</a:t>
            </a:r>
            <a:endParaRPr lang="en-US" altLang="zh-CN" sz="32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83628" y="2826252"/>
                <a:ext cx="10131972" cy="19275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练习问题</a:t>
                </a:r>
                <a:r>
                  <a:rPr lang="en-US" altLang="zh-CN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3</a:t>
                </a: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：利用</a:t>
                </a:r>
                <a:r>
                  <a:rPr lang="en-US" altLang="zh-CN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MATLAB</a:t>
                </a: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符号运算计算幂级数的和</a:t>
                </a:r>
                <a:endParaRPr lang="en-US" altLang="zh-CN" sz="3200" b="1" dirty="0">
                  <a:solidFill>
                    <a:prstClr val="black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3200" b="1" dirty="0">
                  <a:solidFill>
                    <a:prstClr val="black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28" y="2826252"/>
                <a:ext cx="10131972" cy="1927515"/>
              </a:xfrm>
              <a:prstGeom prst="rect">
                <a:avLst/>
              </a:prstGeom>
              <a:blipFill>
                <a:blip r:embed="rId2"/>
                <a:stretch>
                  <a:fillRect l="-1023" t="-4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97BBD1D-7C87-470C-8E4C-22444954495B}"/>
                  </a:ext>
                </a:extLst>
              </p:cNvPr>
              <p:cNvSpPr/>
              <p:nvPr/>
            </p:nvSpPr>
            <p:spPr>
              <a:xfrm>
                <a:off x="383628" y="1897205"/>
                <a:ext cx="1013197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lvl="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练习问题</a:t>
                </a:r>
                <a:r>
                  <a:rPr lang="en-US" altLang="zh-CN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2</a:t>
                </a: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：求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</a:rPr>
                          <m:t>arctan</m:t>
                        </m:r>
                      </m:fName>
                      <m:e>
                        <m:r>
                          <a:rPr lang="en-US" altLang="zh-CN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</a:rPr>
                          <m:t>𝑥</m:t>
                        </m:r>
                      </m:e>
                    </m:func>
                  </m:oMath>
                </a14:m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2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</a:rPr>
                      <m:t>𝒙</m:t>
                    </m:r>
                    <m:r>
                      <a:rPr lang="en-US" altLang="zh-CN" sz="32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</a:rPr>
                      <m:t>=</m:t>
                    </m:r>
                    <m:r>
                      <a:rPr lang="en-US" altLang="zh-CN" sz="32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</a:rPr>
                      <m:t>𝟎</m:t>
                    </m:r>
                  </m:oMath>
                </a14:m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处的十次泰勒展开？</a:t>
                </a:r>
                <a:endParaRPr lang="en-US" altLang="zh-CN" sz="3200" b="1" dirty="0">
                  <a:solidFill>
                    <a:prstClr val="black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97BBD1D-7C87-470C-8E4C-2244495449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28" y="1897205"/>
                <a:ext cx="10131972" cy="584775"/>
              </a:xfrm>
              <a:prstGeom prst="rect">
                <a:avLst/>
              </a:prstGeom>
              <a:blipFill>
                <a:blip r:embed="rId3"/>
                <a:stretch>
                  <a:fillRect l="-1023" t="-16667" b="-30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081022B-472D-4086-AED8-8DCBF9A704DF}"/>
                  </a:ext>
                </a:extLst>
              </p:cNvPr>
              <p:cNvSpPr/>
              <p:nvPr/>
            </p:nvSpPr>
            <p:spPr>
              <a:xfrm>
                <a:off x="383628" y="4911172"/>
                <a:ext cx="10131972" cy="16732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练习问题</a:t>
                </a:r>
                <a:r>
                  <a:rPr lang="en-US" altLang="zh-CN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4</a:t>
                </a: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：利用</a:t>
                </a:r>
                <a:r>
                  <a:rPr lang="en-US" altLang="zh-CN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MATLAB</a:t>
                </a: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符号运算计算积分</a:t>
                </a:r>
                <a:endParaRPr lang="en-US" altLang="zh-CN" sz="3200" b="1" dirty="0">
                  <a:solidFill>
                    <a:prstClr val="black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3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幼圆" panose="02010509060101010101" pitchFamily="49" charset="-122"/>
                            </a:rPr>
                          </m:ctrlPr>
                        </m:naryPr>
                        <m:sub>
                          <m:r>
                            <a:rPr lang="en-US" altLang="zh-CN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幼圆" panose="02010509060101010101" pitchFamily="49" charset="-122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幼圆" panose="02010509060101010101" pitchFamily="49" charset="-122"/>
                            </a:rPr>
                            <m:t>+∞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3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幼圆" panose="020105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幼圆" panose="02010509060101010101" pitchFamily="49" charset="-122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幼圆" panose="02010509060101010101" pitchFamily="49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32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幼圆" panose="020105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幼圆" panose="020105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幼圆" panose="020105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en-US" altLang="zh-CN" sz="3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幼圆" panose="02010509060101010101" pitchFamily="49" charset="-122"/>
                        </a:rPr>
                        <m:t>d</m:t>
                      </m:r>
                      <m:r>
                        <a:rPr lang="en-US" altLang="zh-CN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幼圆" panose="02010509060101010101" pitchFamily="49" charset="-122"/>
                        </a:rPr>
                        <m:t>𝑥</m:t>
                      </m:r>
                    </m:oMath>
                  </m:oMathPara>
                </a14:m>
                <a:endParaRPr lang="en-US" altLang="zh-CN" sz="3200" dirty="0">
                  <a:solidFill>
                    <a:prstClr val="black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081022B-472D-4086-AED8-8DCBF9A704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28" y="4911172"/>
                <a:ext cx="10131972" cy="1673279"/>
              </a:xfrm>
              <a:prstGeom prst="rect">
                <a:avLst/>
              </a:prstGeom>
              <a:blipFill>
                <a:blip r:embed="rId4"/>
                <a:stretch>
                  <a:fillRect l="-1023" t="-4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468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89E50D67-4DD4-436C-9392-7145205EB240}"/>
                  </a:ext>
                </a:extLst>
              </p:cNvPr>
              <p:cNvSpPr/>
              <p:nvPr/>
            </p:nvSpPr>
            <p:spPr>
              <a:xfrm>
                <a:off x="179512" y="498310"/>
                <a:ext cx="11243344" cy="58672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大实验：设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𝒂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𝒏</m:t>
                        </m:r>
                      </m:sub>
                    </m:sSub>
                    <m:r>
                      <a:rPr lang="en-US" altLang="zh-CN" sz="32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sSup>
                      <m:sSupPr>
                        <m:ctrlPr>
                          <a:rPr lang="en-US" altLang="zh-CN" sz="32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dPr>
                          <m:e>
                            <m:r>
                              <a:rPr lang="en-US" altLang="zh-CN" sz="32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𝟏</m:t>
                            </m:r>
                            <m:r>
                              <a:rPr lang="en-US" altLang="zh-CN" sz="32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CN" sz="32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2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𝒏</m:t>
                        </m:r>
                      </m:sup>
                    </m:sSup>
                    <m:r>
                      <a:rPr lang="en-US" altLang="zh-CN" sz="32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3200" b="1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𝐧</m:t>
                        </m:r>
                      </m:sub>
                    </m:sSub>
                    <m:r>
                      <a:rPr lang="en-US" altLang="zh-CN" sz="3200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ad>
                          <m:radPr>
                            <m:ctrlP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g>
                          <m:e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rad>
                      </m:den>
                    </m:f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f>
                          <m:fPr>
                            <m:ctrlP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a:rPr lang="en-US" altLang="zh-CN" sz="32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32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zh-CN" sz="32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.</a:t>
                </a: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:r>
                  <a:rPr lang="zh-CN" altLang="en-US" sz="32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可以证明，三个数列都是</a:t>
                </a: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收敛到常数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𝒆</m:t>
                    </m:r>
                  </m:oMath>
                </a14:m>
                <a:r>
                  <a:rPr lang="zh-CN" altLang="en-US" sz="32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的数列</a:t>
                </a:r>
                <a:r>
                  <a:rPr lang="en-US" altLang="zh-CN" sz="32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.</a:t>
                </a:r>
                <a:r>
                  <a:rPr lang="zh-CN" altLang="en-US" sz="32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利用这两次课所学知识，尝试对三个序列的前</a:t>
                </a:r>
                <a:r>
                  <a:rPr lang="en-US" altLang="zh-CN" sz="32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300</a:t>
                </a:r>
                <a:r>
                  <a:rPr lang="zh-CN" altLang="en-US" sz="32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项的取值进行绘图（</a:t>
                </a:r>
                <a:r>
                  <a:rPr lang="en-US" altLang="zh-CN" sz="32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plot</a:t>
                </a:r>
                <a:r>
                  <a:rPr lang="zh-CN" altLang="en-US" sz="32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），并通过绘图结果分析到底哪一个数列更加快速的收敛到常数</a:t>
                </a:r>
                <a14:m>
                  <m:oMath xmlns:m="http://schemas.openxmlformats.org/officeDocument/2006/math">
                    <m:r>
                      <a:rPr lang="en-US" altLang="zh-CN" sz="3200" b="1" i="0" smtClean="0">
                        <a:latin typeface="Cambria Math" panose="02040503050406030204" pitchFamily="18" charset="0"/>
                        <a:ea typeface="+mj-ea"/>
                      </a:rPr>
                      <m:t>𝐞</m:t>
                    </m:r>
                  </m:oMath>
                </a14:m>
                <a:r>
                  <a:rPr lang="zh-CN" altLang="en-US" sz="32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。</a:t>
                </a:r>
                <a:endParaRPr lang="en-US" altLang="zh-CN" sz="3200" b="1" dirty="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:endParaRPr lang="en-US" altLang="zh-CN" sz="3200" b="1" dirty="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使用双精度数据进行运算可能会出现异常结果。</a:t>
                </a:r>
                <a:endParaRPr lang="en-US" altLang="zh-CN" sz="3200" b="1" dirty="0">
                  <a:solidFill>
                    <a:prstClr val="black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endParaRPr lang="en-US" altLang="zh-CN" sz="3200" b="1" dirty="0">
                  <a:solidFill>
                    <a:prstClr val="black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endParaRPr lang="en-US" altLang="zh-CN" sz="3200" b="1" dirty="0">
                  <a:solidFill>
                    <a:prstClr val="black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itchFamily="2" charset="2"/>
                  <a:buChar char="q"/>
                </a:pP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尝试避免使用</a:t>
                </a:r>
                <a:r>
                  <a:rPr lang="en-US" altLang="zh-CN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for</a:t>
                </a: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循环，养成</a:t>
                </a:r>
                <a:r>
                  <a:rPr lang="en-US" altLang="zh-CN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MATLAB</a:t>
                </a:r>
                <a:r>
                  <a:rPr lang="zh-CN" altLang="en-US" sz="32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的数组化编程习惯。</a:t>
                </a:r>
                <a:endParaRPr lang="en-US" altLang="zh-CN" sz="3200" b="1" dirty="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:endParaRPr lang="en-US" altLang="zh-CN" sz="3200" b="1" dirty="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mc:Choice>
        <mc:Fallback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89E50D67-4DD4-436C-9392-7145205EB2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498310"/>
                <a:ext cx="11243344" cy="5867247"/>
              </a:xfrm>
              <a:prstGeom prst="rect">
                <a:avLst/>
              </a:prstGeom>
              <a:blipFill>
                <a:blip r:embed="rId2"/>
                <a:stretch>
                  <a:fillRect l="-1355" r="-4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3459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255</Words>
  <Application>Microsoft Office PowerPoint</Application>
  <PresentationFormat>宽屏</PresentationFormat>
  <Paragraphs>15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等线 Light</vt:lpstr>
      <vt:lpstr>幼圆</vt:lpstr>
      <vt:lpstr>Arial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JIA LI</cp:lastModifiedBy>
  <cp:revision>16</cp:revision>
  <dcterms:created xsi:type="dcterms:W3CDTF">2018-09-14T06:14:51Z</dcterms:created>
  <dcterms:modified xsi:type="dcterms:W3CDTF">2021-08-22T02:32:02Z</dcterms:modified>
</cp:coreProperties>
</file>