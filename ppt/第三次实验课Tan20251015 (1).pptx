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13" embedTrueTypeFonts="1" saveSubsetFonts="1">
  <p:sldMasterIdLst>
    <p:sldMasterId id="2147483648" r:id="rId1"/>
    <p:sldMasterId id="2147483660" r:id="rId3"/>
    <p:sldMasterId id="2147483673" r:id="rId4"/>
  </p:sldMasterIdLst>
  <p:notesMasterIdLst>
    <p:notesMasterId r:id="rId9"/>
  </p:notesMasterIdLst>
  <p:handoutMasterIdLst>
    <p:handoutMasterId r:id="rId50"/>
  </p:handoutMasterIdLst>
  <p:sldIdLst>
    <p:sldId id="491" r:id="rId5"/>
    <p:sldId id="256" r:id="rId6"/>
    <p:sldId id="257" r:id="rId7"/>
    <p:sldId id="493" r:id="rId8"/>
    <p:sldId id="259" r:id="rId10"/>
    <p:sldId id="494" r:id="rId11"/>
    <p:sldId id="261" r:id="rId12"/>
    <p:sldId id="262" r:id="rId13"/>
    <p:sldId id="495" r:id="rId14"/>
    <p:sldId id="264" r:id="rId15"/>
    <p:sldId id="265" r:id="rId16"/>
    <p:sldId id="496" r:id="rId17"/>
    <p:sldId id="497" r:id="rId18"/>
    <p:sldId id="268" r:id="rId19"/>
    <p:sldId id="498" r:id="rId20"/>
    <p:sldId id="499" r:id="rId21"/>
    <p:sldId id="500" r:id="rId22"/>
    <p:sldId id="501" r:id="rId23"/>
    <p:sldId id="502" r:id="rId24"/>
    <p:sldId id="503" r:id="rId25"/>
    <p:sldId id="512" r:id="rId26"/>
    <p:sldId id="504" r:id="rId27"/>
    <p:sldId id="263" r:id="rId28"/>
    <p:sldId id="273" r:id="rId29"/>
    <p:sldId id="274" r:id="rId30"/>
    <p:sldId id="275" r:id="rId31"/>
    <p:sldId id="276" r:id="rId32"/>
    <p:sldId id="277" r:id="rId33"/>
    <p:sldId id="278" r:id="rId34"/>
    <p:sldId id="272" r:id="rId35"/>
    <p:sldId id="258" r:id="rId36"/>
    <p:sldId id="266" r:id="rId37"/>
    <p:sldId id="267" r:id="rId38"/>
    <p:sldId id="260" r:id="rId39"/>
    <p:sldId id="269" r:id="rId40"/>
    <p:sldId id="270" r:id="rId41"/>
    <p:sldId id="271" r:id="rId42"/>
    <p:sldId id="513" r:id="rId43"/>
    <p:sldId id="506" r:id="rId44"/>
    <p:sldId id="508" r:id="rId45"/>
    <p:sldId id="509" r:id="rId46"/>
    <p:sldId id="510" r:id="rId47"/>
    <p:sldId id="511" r:id="rId48"/>
    <p:sldId id="489" r:id="rId49"/>
  </p:sldIdLst>
  <p:sldSz cx="9144000" cy="6858000" type="screen4x3"/>
  <p:notesSz cx="6858000" cy="9144000"/>
  <p:embeddedFontLst>
    <p:embeddedFont>
      <p:font typeface="Wingdings 2" panose="05020102010507070707"/>
      <p:regular r:id="rId54"/>
    </p:embeddedFont>
    <p:embeddedFont>
      <p:font typeface="幼圆" panose="02010509060101010101" pitchFamily="49" charset="-122"/>
      <p:regular r:id="rId55"/>
    </p:embeddedFont>
    <p:embeddedFont>
      <p:font typeface="Arial Narrow" panose="020B0606020202030204"/>
      <p:regular r:id="rId56"/>
      <p:bold r:id="rId57"/>
      <p:italic r:id="rId58"/>
      <p:boldItalic r:id="rId59"/>
    </p:embeddedFont>
    <p:embeddedFont>
      <p:font typeface="方正姚体" panose="02010601030101010101" pitchFamily="2" charset="-122"/>
      <p:regular r:id="rId60"/>
    </p:embeddedFont>
    <p:embeddedFont>
      <p:font typeface="黑体" panose="02010609060101010101" charset="-122"/>
      <p:regular r:id="rId61"/>
    </p:embeddedFont>
    <p:embeddedFont>
      <p:font typeface="微软雅黑" panose="020B0503020204020204" charset="-122"/>
      <p:regular r:id="rId62"/>
    </p:embeddedFont>
    <p:embeddedFont>
      <p:font typeface="Calibri" panose="020F0502020204030204" charset="0"/>
      <p:regular r:id="rId63"/>
      <p:bold r:id="rId64"/>
      <p:italic r:id="rId65"/>
      <p:boldItalic r:id="rId66"/>
    </p:embeddedFont>
    <p:embeddedFont>
      <p:font typeface="Perpetua" panose="02020502060401020303" charset="0"/>
      <p:regular r:id="rId67"/>
      <p:bold r:id="rId68"/>
      <p:italic r:id="rId69"/>
      <p:boldItalic r:id="rId70"/>
    </p:embeddedFont>
    <p:embeddedFont>
      <p:font typeface="Franklin Gothic Book" panose="020B0503020102020204" charset="0"/>
      <p:regular r:id="rId71"/>
      <p:italic r:id="rId72"/>
    </p:embeddedFont>
    <p:embeddedFont>
      <p:font typeface="Franklin Gothic Medium" panose="020B0603020102020204" charset="0"/>
      <p:regular r:id="rId73"/>
      <p:italic r:id="rId74"/>
    </p:embeddedFont>
  </p:embeddedFontLst>
  <p:custDataLst>
    <p:tags r:id="rId7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7" userDrawn="1">
          <p15:clr>
            <a:srgbClr val="A4A3A4"/>
          </p15:clr>
        </p15:guide>
        <p15:guide id="2" pos="2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3089" autoAdjust="0"/>
  </p:normalViewPr>
  <p:slideViewPr>
    <p:cSldViewPr showGuides="1">
      <p:cViewPr varScale="1">
        <p:scale>
          <a:sx n="76" d="100"/>
          <a:sy n="76" d="100"/>
        </p:scale>
        <p:origin x="714" y="78"/>
      </p:cViewPr>
      <p:guideLst>
        <p:guide orient="horz" pos="2207"/>
        <p:guide pos="28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4.xml"/><Relationship Id="rId75" Type="http://schemas.openxmlformats.org/officeDocument/2006/relationships/tags" Target="tags/tag1.xml"/><Relationship Id="rId74" Type="http://schemas.openxmlformats.org/officeDocument/2006/relationships/font" Target="fonts/font21.fntdata"/><Relationship Id="rId73" Type="http://schemas.openxmlformats.org/officeDocument/2006/relationships/font" Target="fonts/font20.fntdata"/><Relationship Id="rId72" Type="http://schemas.openxmlformats.org/officeDocument/2006/relationships/font" Target="fonts/font19.fntdata"/><Relationship Id="rId71" Type="http://schemas.openxmlformats.org/officeDocument/2006/relationships/font" Target="fonts/font18.fntdata"/><Relationship Id="rId70" Type="http://schemas.openxmlformats.org/officeDocument/2006/relationships/font" Target="fonts/font17.fntdata"/><Relationship Id="rId7" Type="http://schemas.openxmlformats.org/officeDocument/2006/relationships/slide" Target="slides/slide3.xml"/><Relationship Id="rId69" Type="http://schemas.openxmlformats.org/officeDocument/2006/relationships/font" Target="fonts/font16.fntdata"/><Relationship Id="rId68" Type="http://schemas.openxmlformats.org/officeDocument/2006/relationships/font" Target="fonts/font15.fntdata"/><Relationship Id="rId67" Type="http://schemas.openxmlformats.org/officeDocument/2006/relationships/font" Target="fonts/font14.fntdata"/><Relationship Id="rId66" Type="http://schemas.openxmlformats.org/officeDocument/2006/relationships/font" Target="fonts/font13.fntdata"/><Relationship Id="rId65" Type="http://schemas.openxmlformats.org/officeDocument/2006/relationships/font" Target="fonts/font12.fntdata"/><Relationship Id="rId64" Type="http://schemas.openxmlformats.org/officeDocument/2006/relationships/font" Target="fonts/font11.fntdata"/><Relationship Id="rId63" Type="http://schemas.openxmlformats.org/officeDocument/2006/relationships/font" Target="fonts/font10.fntdata"/><Relationship Id="rId62" Type="http://schemas.openxmlformats.org/officeDocument/2006/relationships/font" Target="fonts/font9.fntdata"/><Relationship Id="rId61" Type="http://schemas.openxmlformats.org/officeDocument/2006/relationships/font" Target="fonts/font8.fntdata"/><Relationship Id="rId60" Type="http://schemas.openxmlformats.org/officeDocument/2006/relationships/font" Target="fonts/font7.fntdata"/><Relationship Id="rId6" Type="http://schemas.openxmlformats.org/officeDocument/2006/relationships/slide" Target="slides/slide2.xml"/><Relationship Id="rId59" Type="http://schemas.openxmlformats.org/officeDocument/2006/relationships/font" Target="fonts/font6.fntdata"/><Relationship Id="rId58" Type="http://schemas.openxmlformats.org/officeDocument/2006/relationships/font" Target="fonts/font5.fntdata"/><Relationship Id="rId57" Type="http://schemas.openxmlformats.org/officeDocument/2006/relationships/font" Target="fonts/font4.fntdata"/><Relationship Id="rId56" Type="http://schemas.openxmlformats.org/officeDocument/2006/relationships/font" Target="fonts/font3.fntdata"/><Relationship Id="rId55" Type="http://schemas.openxmlformats.org/officeDocument/2006/relationships/font" Target="fonts/font2.fntdata"/><Relationship Id="rId54" Type="http://schemas.openxmlformats.org/officeDocument/2006/relationships/font" Target="fonts/font1.fntdata"/><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image" Target="../media/image40.e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50.emf"/><Relationship Id="rId8" Type="http://schemas.openxmlformats.org/officeDocument/2006/relationships/image" Target="../media/image49.emf"/><Relationship Id="rId7" Type="http://schemas.openxmlformats.org/officeDocument/2006/relationships/image" Target="../media/image48.emf"/><Relationship Id="rId6" Type="http://schemas.openxmlformats.org/officeDocument/2006/relationships/image" Target="../media/image47.emf"/><Relationship Id="rId5" Type="http://schemas.openxmlformats.org/officeDocument/2006/relationships/image" Target="../media/image46.emf"/><Relationship Id="rId4" Type="http://schemas.openxmlformats.org/officeDocument/2006/relationships/image" Target="../media/image45.emf"/><Relationship Id="rId3" Type="http://schemas.openxmlformats.org/officeDocument/2006/relationships/image" Target="../media/image44.emf"/><Relationship Id="rId2" Type="http://schemas.openxmlformats.org/officeDocument/2006/relationships/image" Target="../media/image43.emf"/><Relationship Id="rId18" Type="http://schemas.openxmlformats.org/officeDocument/2006/relationships/image" Target="../media/image59.emf"/><Relationship Id="rId17" Type="http://schemas.openxmlformats.org/officeDocument/2006/relationships/image" Target="../media/image58.emf"/><Relationship Id="rId16" Type="http://schemas.openxmlformats.org/officeDocument/2006/relationships/image" Target="../media/image57.wmf"/><Relationship Id="rId15" Type="http://schemas.openxmlformats.org/officeDocument/2006/relationships/image" Target="../media/image56.emf"/><Relationship Id="rId14" Type="http://schemas.openxmlformats.org/officeDocument/2006/relationships/image" Target="../media/image55.wmf"/><Relationship Id="rId13" Type="http://schemas.openxmlformats.org/officeDocument/2006/relationships/image" Target="../media/image54.wmf"/><Relationship Id="rId12" Type="http://schemas.openxmlformats.org/officeDocument/2006/relationships/image" Target="../media/image53.emf"/><Relationship Id="rId11" Type="http://schemas.openxmlformats.org/officeDocument/2006/relationships/image" Target="../media/image52.emf"/><Relationship Id="rId10" Type="http://schemas.openxmlformats.org/officeDocument/2006/relationships/image" Target="../media/image51.emf"/><Relationship Id="rId1" Type="http://schemas.openxmlformats.org/officeDocument/2006/relationships/image" Target="../media/image42.emf"/></Relationships>
</file>

<file path=ppt/drawings/_rels/vmlDrawing5.vml.rels><?xml version="1.0" encoding="UTF-8" standalone="yes"?>
<Relationships xmlns="http://schemas.openxmlformats.org/package/2006/relationships"><Relationship Id="rId9" Type="http://schemas.openxmlformats.org/officeDocument/2006/relationships/image" Target="../media/image68.emf"/><Relationship Id="rId8" Type="http://schemas.openxmlformats.org/officeDocument/2006/relationships/image" Target="../media/image67.emf"/><Relationship Id="rId7" Type="http://schemas.openxmlformats.org/officeDocument/2006/relationships/image" Target="../media/image66.wmf"/><Relationship Id="rId6" Type="http://schemas.openxmlformats.org/officeDocument/2006/relationships/image" Target="../media/image65.emf"/><Relationship Id="rId5" Type="http://schemas.openxmlformats.org/officeDocument/2006/relationships/image" Target="../media/image64.emf"/><Relationship Id="rId4" Type="http://schemas.openxmlformats.org/officeDocument/2006/relationships/image" Target="../media/image63.emf"/><Relationship Id="rId3" Type="http://schemas.openxmlformats.org/officeDocument/2006/relationships/image" Target="../media/image62.emf"/><Relationship Id="rId2" Type="http://schemas.openxmlformats.org/officeDocument/2006/relationships/image" Target="../media/image61.emf"/><Relationship Id="rId10" Type="http://schemas.openxmlformats.org/officeDocument/2006/relationships/image" Target="../media/image69.emf"/><Relationship Id="rId1" Type="http://schemas.openxmlformats.org/officeDocument/2006/relationships/image" Target="../media/image6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幼圆" panose="02010509060101010101" pitchFamily="49" charset="-122"/>
              </a:defRPr>
            </a:lvl1pPr>
          </a:lstStyle>
          <a:p>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幼圆" panose="02010509060101010101" pitchFamily="49" charset="-122"/>
              </a:defRPr>
            </a:lvl1pPr>
          </a:lstStyle>
          <a:p>
            <a:fld id="{2A0183DD-ABDB-4EB1-A726-EE72F71F6393}"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幼圆" panose="02010509060101010101" pitchFamily="49"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幼圆" panose="02010509060101010101" pitchFamily="49" charset="-122"/>
              </a:defRPr>
            </a:lvl1pPr>
          </a:lstStyle>
          <a:p>
            <a:fld id="{E5AC750A-E720-45E3-B984-FED77418FD21}"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幼圆" panose="02010509060101010101" pitchFamily="49" charset="-122"/>
        <a:cs typeface="+mn-cs"/>
      </a:defRPr>
    </a:lvl1pPr>
    <a:lvl2pPr marL="457200" algn="l" defTabSz="914400" rtl="0" eaLnBrk="1" latinLnBrk="0" hangingPunct="1">
      <a:defRPr sz="1200" kern="1200">
        <a:solidFill>
          <a:schemeClr val="tx1"/>
        </a:solidFill>
        <a:latin typeface="+mn-lt"/>
        <a:ea typeface="幼圆" panose="02010509060101010101" pitchFamily="49" charset="-122"/>
        <a:cs typeface="+mn-cs"/>
      </a:defRPr>
    </a:lvl2pPr>
    <a:lvl3pPr marL="914400" algn="l" defTabSz="914400" rtl="0" eaLnBrk="1" latinLnBrk="0" hangingPunct="1">
      <a:defRPr sz="1200" kern="1200">
        <a:solidFill>
          <a:schemeClr val="tx1"/>
        </a:solidFill>
        <a:latin typeface="+mn-lt"/>
        <a:ea typeface="幼圆" panose="02010509060101010101" pitchFamily="49" charset="-122"/>
        <a:cs typeface="+mn-cs"/>
      </a:defRPr>
    </a:lvl3pPr>
    <a:lvl4pPr marL="1371600" algn="l" defTabSz="914400" rtl="0" eaLnBrk="1" latinLnBrk="0" hangingPunct="1">
      <a:defRPr sz="1200" kern="1200">
        <a:solidFill>
          <a:schemeClr val="tx1"/>
        </a:solidFill>
        <a:latin typeface="+mn-lt"/>
        <a:ea typeface="幼圆" panose="02010509060101010101" pitchFamily="49" charset="-122"/>
        <a:cs typeface="+mn-cs"/>
      </a:defRPr>
    </a:lvl4pPr>
    <a:lvl5pPr marL="1828800" algn="l" defTabSz="914400" rtl="0" eaLnBrk="1" latinLnBrk="0" hangingPunct="1">
      <a:defRPr sz="1200" kern="1200">
        <a:solidFill>
          <a:schemeClr val="tx1"/>
        </a:solidFill>
        <a:latin typeface="+mn-lt"/>
        <a:ea typeface="幼圆" panose="020105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将要讲数据的表示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其中“日期”是一个记录标志而非度量值，而数据挖掘关心的大多是度量值</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这里我用了转置，因为习惯上使用列向量表示一条记录（后面会看到原因）</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我们后面也会遵循这个准则。我们说到向量默认都是指列向量。</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我们到底删除哪一列损失的信息才最小？</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亦或根本不是单纯删除几列，而是通过某些变换将原始数据变为更少的列但又使得丢失的信息最小？</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到底如何度量丢失信息的多少？</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如何根据原始数据决定具体的降维操作步骤？</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数学性质将成为后续导出</a:t>
            </a:r>
            <a:r>
              <a:rPr lang="en-US" altLang="zh-CN" sz="1200" b="0" i="0" kern="1200" dirty="0">
                <a:solidFill>
                  <a:schemeClr val="tx1"/>
                </a:solidFill>
                <a:effectLst/>
                <a:latin typeface="+mn-lt"/>
                <a:ea typeface="+mn-ea"/>
                <a:cs typeface="+mn-cs"/>
              </a:rPr>
              <a:t>PCA</a:t>
            </a:r>
            <a:r>
              <a:rPr lang="zh-CN" altLang="en-US" sz="1200" b="0" i="0" kern="1200" dirty="0">
                <a:solidFill>
                  <a:schemeClr val="tx1"/>
                </a:solidFill>
                <a:effectLst/>
                <a:latin typeface="+mn-lt"/>
                <a:ea typeface="+mn-ea"/>
                <a:cs typeface="+mn-cs"/>
              </a:rPr>
              <a:t>的理论基础</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也就是说我们其实隐式引入了一个定义：以</a:t>
            </a:r>
            <a:r>
              <a:rPr lang="en-US" altLang="zh-CN"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轴和</a:t>
            </a:r>
            <a:r>
              <a:rPr lang="en-US" altLang="zh-CN" sz="1200" b="0" i="0" kern="1200" dirty="0">
                <a:solidFill>
                  <a:schemeClr val="tx1"/>
                </a:solidFill>
                <a:effectLst/>
                <a:latin typeface="+mn-lt"/>
                <a:ea typeface="+mn-ea"/>
                <a:cs typeface="+mn-cs"/>
              </a:rPr>
              <a:t>y</a:t>
            </a:r>
            <a:r>
              <a:rPr lang="zh-CN" altLang="en-US" sz="1200" b="0" i="0" kern="1200" dirty="0">
                <a:solidFill>
                  <a:schemeClr val="tx1"/>
                </a:solidFill>
                <a:effectLst/>
                <a:latin typeface="+mn-lt"/>
                <a:ea typeface="+mn-ea"/>
                <a:cs typeface="+mn-cs"/>
              </a:rPr>
              <a:t>轴上正方向长度为</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的向量为标准。那么一个向量</a:t>
            </a:r>
            <a:r>
              <a:rPr lang="en-US" altLang="zh-CN" sz="1200" b="0" i="0" kern="1200" dirty="0">
                <a:solidFill>
                  <a:schemeClr val="tx1"/>
                </a:solidFill>
                <a:effectLst/>
                <a:latin typeface="+mn-lt"/>
                <a:ea typeface="+mn-ea"/>
                <a:cs typeface="+mn-cs"/>
              </a:rPr>
              <a:t>(3,2)</a:t>
            </a:r>
            <a:r>
              <a:rPr lang="zh-CN" altLang="en-US" sz="1200" b="0" i="0" kern="1200" dirty="0">
                <a:solidFill>
                  <a:schemeClr val="tx1"/>
                </a:solidFill>
                <a:effectLst/>
                <a:latin typeface="+mn-lt"/>
                <a:ea typeface="+mn-ea"/>
                <a:cs typeface="+mn-cs"/>
              </a:rPr>
              <a:t>实际是说在</a:t>
            </a:r>
            <a:r>
              <a:rPr lang="en-US" altLang="zh-CN"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轴投影为</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而</a:t>
            </a:r>
            <a:r>
              <a:rPr lang="en-US" altLang="zh-CN" sz="1200" b="0" i="0" kern="1200" dirty="0">
                <a:solidFill>
                  <a:schemeClr val="tx1"/>
                </a:solidFill>
                <a:effectLst/>
                <a:latin typeface="+mn-lt"/>
                <a:ea typeface="+mn-ea"/>
                <a:cs typeface="+mn-cs"/>
              </a:rPr>
              <a:t>y</a:t>
            </a:r>
            <a:r>
              <a:rPr lang="zh-CN" altLang="en-US" sz="1200" b="0" i="0" kern="1200" dirty="0">
                <a:solidFill>
                  <a:schemeClr val="tx1"/>
                </a:solidFill>
                <a:effectLst/>
                <a:latin typeface="+mn-lt"/>
                <a:ea typeface="+mn-ea"/>
                <a:cs typeface="+mn-cs"/>
              </a:rPr>
              <a:t>轴的投影为</a:t>
            </a:r>
            <a:r>
              <a:rPr lang="en-US" altLang="zh-CN" sz="1200" b="0" i="0" kern="1200" dirty="0">
                <a:solidFill>
                  <a:schemeClr val="tx1"/>
                </a:solidFill>
                <a:effectLst/>
                <a:latin typeface="+mn-lt"/>
                <a:ea typeface="+mn-ea"/>
                <a:cs typeface="+mn-cs"/>
              </a:rPr>
              <a:t>2</a:t>
            </a:r>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宋体" panose="02010600030101010101" pitchFamily="2" charset="-122"/>
                <a:ea typeface="+mn-ea"/>
              </a:rPr>
              <a:t>学过矩阵分析的同学</a:t>
            </a:r>
            <a:r>
              <a:rPr lang="zh-CN" altLang="en-US" sz="1200" b="0" i="0" kern="1200" dirty="0">
                <a:solidFill>
                  <a:schemeClr val="tx1"/>
                </a:solidFill>
                <a:effectLst/>
                <a:latin typeface="+mn-lt"/>
                <a:ea typeface="+mn-ea"/>
                <a:cs typeface="+mn-cs"/>
              </a:rPr>
              <a:t>知道我们其实可以通过矩阵的运算来表示基变换</a:t>
            </a:r>
            <a:endParaRPr lang="zh-CN" altLang="en-US" sz="1200" dirty="0">
              <a:latin typeface="宋体" panose="02010600030101010101" pitchFamily="2" charset="-122"/>
              <a:ea typeface="+mn-ea"/>
            </a:endParaRPr>
          </a:p>
          <a:p>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特别要注意的是，这里</a:t>
            </a:r>
            <a:r>
              <a:rPr lang="en-US" altLang="zh-CN" sz="1200" b="0" i="0" kern="1200" dirty="0">
                <a:solidFill>
                  <a:schemeClr val="tx1"/>
                </a:solidFill>
                <a:effectLst/>
                <a:latin typeface="+mn-lt"/>
                <a:ea typeface="+mn-ea"/>
                <a:cs typeface="+mn-cs"/>
              </a:rPr>
              <a:t>R</a:t>
            </a:r>
            <a:r>
              <a:rPr lang="zh-CN" altLang="en-US" sz="1200" b="0" i="0" kern="1200" dirty="0">
                <a:solidFill>
                  <a:schemeClr val="tx1"/>
                </a:solidFill>
                <a:effectLst/>
                <a:latin typeface="+mn-lt"/>
                <a:ea typeface="+mn-ea"/>
                <a:cs typeface="+mn-cs"/>
              </a:rPr>
              <a:t>可以小于</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，而</a:t>
            </a:r>
            <a:r>
              <a:rPr lang="en-US" altLang="zh-CN" sz="1200" b="0" i="0" kern="1200" dirty="0">
                <a:solidFill>
                  <a:schemeClr val="tx1"/>
                </a:solidFill>
                <a:effectLst/>
                <a:latin typeface="+mn-lt"/>
                <a:ea typeface="+mn-ea"/>
                <a:cs typeface="+mn-cs"/>
              </a:rPr>
              <a:t>R</a:t>
            </a:r>
            <a:r>
              <a:rPr lang="zh-CN" altLang="en-US" sz="1200" b="0" i="0" kern="1200" dirty="0">
                <a:solidFill>
                  <a:schemeClr val="tx1"/>
                </a:solidFill>
                <a:effectLst/>
                <a:latin typeface="+mn-lt"/>
                <a:ea typeface="+mn-ea"/>
                <a:cs typeface="+mn-cs"/>
              </a:rPr>
              <a:t>决定了变换后数据的维数。也就是说，我们可以将一</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维数据变换到更低维度的空间中去，变换后的维度取决于基的数量。因此这种矩阵相乘的表示也可以表示降维变换。</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a:t>选择不同的基可以对同样一组数据给出不同的表示，而且如果基的数量少于向量本身的维数，则可以达到降维的效果。</a:t>
            </a:r>
            <a:endParaRPr lang="en-US" altLang="zh-CN" sz="1200" dirty="0"/>
          </a:p>
          <a:p>
            <a:r>
              <a:rPr lang="zh-CN" altLang="en-US" sz="1200" b="0" i="0" kern="1200" dirty="0">
                <a:solidFill>
                  <a:schemeClr val="tx1"/>
                </a:solidFill>
                <a:effectLst/>
                <a:latin typeface="+mn-lt"/>
                <a:ea typeface="+mn-ea"/>
                <a:cs typeface="+mn-cs"/>
              </a:rPr>
              <a:t>其中每一列为一条数据记录，而一行为一个字段。为了后续处理方便，我们首先将每个字段内所有值都减去字段均值，其结果是将每个字段都变为均值为</a:t>
            </a:r>
            <a:r>
              <a:rPr lang="en-US" altLang="zh-CN" sz="1200" b="0" i="0" kern="1200" dirty="0">
                <a:solidFill>
                  <a:schemeClr val="tx1"/>
                </a:solidFill>
                <a:effectLst/>
                <a:latin typeface="+mn-lt"/>
                <a:ea typeface="+mn-ea"/>
                <a:cs typeface="+mn-cs"/>
              </a:rPr>
              <a:t>0</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然而这仅仅是对于二维降成一维的问题来说。那么不过对于更高维，还有一个问题需要解决。考虑三维降到二维问题。与之前相同，首先我们希望找到一个方向使得投影后方差最大，这样就完成了第一个方向的选择，继而我们选择第二个投影方向。如果我们还是单纯只选择方差最大的方向，很明显，这个方向与第一个方向应该是“几乎重合在一起”，显然这样的维度是没有用的，因此，应该需要其他约束条件。从直观上说，让两个字段尽可能表示更多的原始信息，我们是不希望它们之间存在（线性）相关性的，因为相关性意味着两个字段不是完全独立，必然存在重复表示的信息。</a:t>
            </a:r>
            <a:endParaRPr lang="zh-CN" altLang="en-US"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这个矩阵对角线上的两个元素分别是两个字段的方差，而其它元素是</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的协方差。两者被统一到了一个矩阵的。</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根据矩阵相乘的运算法则，这个结论很容易被推广到一般情况：</a:t>
            </a:r>
            <a:endParaRPr lang="zh-CN" altLang="en-US" sz="1200" b="0" i="0" kern="1200" dirty="0">
              <a:solidFill>
                <a:schemeClr val="tx1"/>
              </a:solidFill>
              <a:effectLst/>
              <a:latin typeface="+mn-lt"/>
              <a:ea typeface="+mn-ea"/>
              <a:cs typeface="+mn-cs"/>
            </a:endParaRPr>
          </a:p>
          <a:p>
            <a:endParaRPr lang="zh-CN" altLang="en-US"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根据上述推导，我们发现要达到优化的目的等价于将协方差矩阵对角化：即除对角线外的其它元素化为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协方差矩阵</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是一个是对称矩阵，在线性代数上，实对称矩阵有一系列非常好的性质</a:t>
            </a:r>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其中</a:t>
            </a:r>
            <a:r>
              <a:rPr lang="en-US" altLang="zh-CN" dirty="0"/>
              <a:t>E</a:t>
            </a:r>
            <a:r>
              <a:rPr lang="zh-CN" altLang="en-US" dirty="0"/>
              <a:t>表示一个</a:t>
            </a:r>
            <a:r>
              <a:rPr lang="en-US" altLang="zh-CN" dirty="0"/>
              <a:t>n</a:t>
            </a:r>
            <a:r>
              <a:rPr lang="zh-CN" altLang="en-US" dirty="0"/>
              <a:t>行</a:t>
            </a:r>
            <a:r>
              <a:rPr lang="en-US" altLang="zh-CN" dirty="0"/>
              <a:t>n</a:t>
            </a:r>
            <a:r>
              <a:rPr lang="zh-CN" altLang="en-US" dirty="0"/>
              <a:t>列的实对称矩阵的特征向量组成的矩阵</a:t>
            </a:r>
            <a:endParaRPr lang="en-US" altLang="zh-CN" dirty="0"/>
          </a:p>
          <a:p>
            <a:endParaRPr lang="en-US" altLang="zh-CN" dirty="0"/>
          </a:p>
          <a:p>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是协方差矩阵的特征向量单位化后按行排列出的矩阵，其中每一行都是</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的一个特征向量。如果设</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按照</a:t>
            </a:r>
            <a:r>
              <a:rPr lang="en-US" altLang="zh-CN" sz="1200" b="0" i="0" u="none" strike="noStrike" kern="1200" dirty="0">
                <a:solidFill>
                  <a:schemeClr val="tx1"/>
                </a:solidFill>
                <a:effectLst/>
                <a:latin typeface="+mn-lt"/>
                <a:ea typeface="+mn-ea"/>
                <a:cs typeface="+mn-cs"/>
              </a:rPr>
              <a:t>Λ</a:t>
            </a:r>
            <a:r>
              <a:rPr lang="zh-CN" altLang="en-US" sz="1200" b="0" i="0" kern="1200" dirty="0">
                <a:solidFill>
                  <a:schemeClr val="tx1"/>
                </a:solidFill>
                <a:effectLst/>
                <a:latin typeface="+mn-lt"/>
                <a:ea typeface="+mn-ea"/>
                <a:cs typeface="+mn-cs"/>
              </a:rPr>
              <a:t>中特征值的从大到小，将特征向量从上到下排列，则用</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的前</a:t>
            </a:r>
            <a:r>
              <a:rPr lang="en-US" altLang="zh-CN" sz="1200" b="0" i="0" kern="1200" dirty="0">
                <a:solidFill>
                  <a:schemeClr val="tx1"/>
                </a:solidFill>
                <a:effectLst/>
                <a:latin typeface="+mn-lt"/>
                <a:ea typeface="+mn-ea"/>
                <a:cs typeface="+mn-cs"/>
              </a:rPr>
              <a:t>K</a:t>
            </a:r>
            <a:r>
              <a:rPr lang="zh-CN" altLang="en-US" sz="1200" b="0" i="0" kern="1200" dirty="0">
                <a:solidFill>
                  <a:schemeClr val="tx1"/>
                </a:solidFill>
                <a:effectLst/>
                <a:latin typeface="+mn-lt"/>
                <a:ea typeface="+mn-ea"/>
                <a:cs typeface="+mn-cs"/>
              </a:rPr>
              <a:t>行组成的矩阵乘以原始数据矩阵</a:t>
            </a:r>
            <a:r>
              <a:rPr lang="en-US" altLang="zh-CN"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，就得到了我们需要的降维后的数据矩阵</a:t>
            </a:r>
            <a:r>
              <a:rPr lang="en-US" altLang="zh-CN" sz="1200" b="0" i="0" kern="1200" dirty="0">
                <a:solidFill>
                  <a:schemeClr val="tx1"/>
                </a:solidFill>
                <a:effectLst/>
                <a:latin typeface="+mn-lt"/>
                <a:ea typeface="+mn-ea"/>
                <a:cs typeface="+mn-cs"/>
              </a:rPr>
              <a:t>Y</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这就是</a:t>
            </a:r>
            <a:r>
              <a:rPr lang="en-US" altLang="zh-CN" sz="1200" b="0" i="0" kern="1200" dirty="0">
                <a:solidFill>
                  <a:schemeClr val="tx1"/>
                </a:solidFill>
                <a:effectLst/>
                <a:latin typeface="+mn-lt"/>
                <a:ea typeface="+mn-ea"/>
                <a:cs typeface="+mn-cs"/>
              </a:rPr>
              <a:t>PCA</a:t>
            </a:r>
            <a:r>
              <a:rPr lang="zh-CN" altLang="en-US" sz="1200" b="0" i="0" kern="1200" dirty="0">
                <a:solidFill>
                  <a:schemeClr val="tx1"/>
                </a:solidFill>
                <a:effectLst/>
                <a:latin typeface="+mn-lt"/>
                <a:ea typeface="+mn-ea"/>
                <a:cs typeface="+mn-cs"/>
              </a:rPr>
              <a:t>的推导过程</a:t>
            </a:r>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8C27C4-BADE-4E08-849B-2D3F80C18C0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fld>
            <a:endParaRPr lang="zh-CN" altLang="en-US"/>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zh-CN" altLang="en-US"/>
              <a:t>单击此处编辑母版标题样式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fld>
            <a:endParaRPr lang="zh-CN" altLang="en-US"/>
          </a:p>
        </p:txBody>
      </p:sp>
      <p:sp>
        <p:nvSpPr>
          <p:cNvPr id="8" name="Content Placeholder 7"/>
          <p:cNvSpPr>
            <a:spLocks noGrp="1"/>
          </p:cNvSpPr>
          <p:nvPr>
            <p:ph sz="quarter" idx="13"/>
          </p:nvPr>
        </p:nvSpPr>
        <p:spPr>
          <a:xfrm>
            <a:off x="609600" y="1600200"/>
            <a:ext cx="79248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zh-CN" altLang="en-US"/>
              <a:t>单击此处编辑母版标题样式</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2" name="Title 1"/>
          <p:cNvSpPr>
            <a:spLocks noGrp="1"/>
          </p:cNvSpPr>
          <p:nvPr>
            <p:ph type="title"/>
          </p:nvPr>
        </p:nvSpPr>
        <p:spPr>
          <a:xfrm>
            <a:off x="609600" y="274638"/>
            <a:ext cx="7924800" cy="1143000"/>
          </a:xfrm>
        </p:spPr>
        <p:txBody>
          <a:bodyPr/>
          <a:lstStyle/>
          <a:p>
            <a:r>
              <a:rPr lang="zh-CN" altLang="en-US"/>
              <a:t>单击此处编辑母版标题样式</a:t>
            </a:r>
            <a:endParaRPr lang="en-US" dirty="0"/>
          </a:p>
        </p:txBody>
      </p:sp>
      <p:sp>
        <p:nvSpPr>
          <p:cNvPr id="5" name="Date Placeholder 4"/>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2" name="Title 1"/>
          <p:cNvSpPr>
            <a:spLocks noGrp="1"/>
          </p:cNvSpPr>
          <p:nvPr>
            <p:ph type="title"/>
          </p:nvPr>
        </p:nvSpPr>
        <p:spPr>
          <a:xfrm>
            <a:off x="609600" y="274638"/>
            <a:ext cx="7924800" cy="1143000"/>
          </a:xfrm>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7" name="Date Placeholder 6"/>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zh-CN" altLang="en-US"/>
              <a:t>单击此处编辑母版标题样式</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17" name="Footer Placeholder 16"/>
          <p:cNvSpPr>
            <a:spLocks noGrp="1"/>
          </p:cNvSpPr>
          <p:nvPr>
            <p:ph type="ftr" sz="quarter" idx="11"/>
          </p:nvPr>
        </p:nvSpPr>
        <p:spPr/>
        <p:txBody>
          <a:bodyPr/>
          <a:lstStyle/>
          <a:p>
            <a:endParaRPr lang="en-US">
              <a:solidFill>
                <a:srgbClr val="696464"/>
              </a:solidFill>
            </a:endParaRP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5" name="Footer Placeholder 4"/>
          <p:cNvSpPr>
            <a:spLocks noGrp="1"/>
          </p:cNvSpPr>
          <p:nvPr>
            <p:ph type="ftr" sz="quarter" idx="11"/>
          </p:nvPr>
        </p:nvSpPr>
        <p:spPr>
          <a:xfrm>
            <a:off x="800100" y="6172200"/>
            <a:ext cx="4000500" cy="457200"/>
          </a:xfrm>
        </p:spPr>
        <p:txBody>
          <a:bodyPr/>
          <a:lstStyle/>
          <a:p>
            <a:endParaRPr lang="en-US">
              <a:solidFill>
                <a:srgbClr val="696464"/>
              </a:solidFill>
            </a:endParaRP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8" name="Footer Placeholder 7"/>
          <p:cNvSpPr>
            <a:spLocks noGrp="1"/>
          </p:cNvSpPr>
          <p:nvPr>
            <p:ph type="ftr" sz="quarter" idx="11"/>
          </p:nvPr>
        </p:nvSpPr>
        <p:spPr/>
        <p:txBody>
          <a:bodyPr/>
          <a:lstStyle/>
          <a:p>
            <a:endParaRPr lang="en-US">
              <a:solidFill>
                <a:srgbClr val="696464"/>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4" name="Footer Placeholder 3"/>
          <p:cNvSpPr>
            <a:spLocks noGrp="1"/>
          </p:cNvSpPr>
          <p:nvPr>
            <p:ph type="ftr" sz="quarter" idx="11"/>
          </p:nvPr>
        </p:nvSpPr>
        <p:spPr/>
        <p:txBody>
          <a:bodyPr/>
          <a:lstStyle/>
          <a:p>
            <a:endParaRPr lang="en-US">
              <a:solidFill>
                <a:srgbClr val="696464"/>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3" name="Footer Placeholder 2"/>
          <p:cNvSpPr>
            <a:spLocks noGrp="1"/>
          </p:cNvSpPr>
          <p:nvPr>
            <p:ph type="ftr" sz="quarter" idx="11"/>
          </p:nvPr>
        </p:nvSpPr>
        <p:spPr/>
        <p:txBody>
          <a:bodyPr/>
          <a:lstStyle/>
          <a:p>
            <a:endParaRPr lang="en-US">
              <a:solidFill>
                <a:srgbClr val="696464"/>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6" name="Footer Placeholder 5"/>
          <p:cNvSpPr>
            <a:spLocks noGrp="1"/>
          </p:cNvSpPr>
          <p:nvPr>
            <p:ph type="ftr" sz="quarter" idx="11"/>
          </p:nvPr>
        </p:nvSpPr>
        <p:spPr>
          <a:xfrm>
            <a:off x="914400" y="6172200"/>
            <a:ext cx="3886200" cy="457200"/>
          </a:xfrm>
        </p:spPr>
        <p:txBody>
          <a:bodyPr/>
          <a:lstStyle/>
          <a:p>
            <a:endParaRPr lang="en-US">
              <a:solidFill>
                <a:srgbClr val="696464"/>
              </a:solidFill>
            </a:endParaRPr>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609600"/>
            <a:ext cx="8540750" cy="5489575"/>
          </a:xfrm>
        </p:spPr>
        <p:txBody>
          <a:bodyPr/>
          <a:lstStyle>
            <a:lvl1pPr>
              <a:defRPr>
                <a:ea typeface="幼圆" panose="02010509060101010101" pitchFamily="49" charset="-122"/>
              </a:defRPr>
            </a:lvl1pPr>
            <a:lvl2pPr>
              <a:defRPr>
                <a:ea typeface="幼圆" panose="02010509060101010101" pitchFamily="49" charset="-122"/>
              </a:defRPr>
            </a:lvl2pPr>
            <a:lvl3pPr>
              <a:defRPr>
                <a:ea typeface="幼圆" panose="02010509060101010101" pitchFamily="49" charset="-122"/>
              </a:defRPr>
            </a:lvl3pPr>
            <a:lvl4pPr>
              <a:defRPr>
                <a:ea typeface="幼圆" panose="02010509060101010101" pitchFamily="49" charset="-122"/>
              </a:defRPr>
            </a:lvl4pPr>
            <a:lvl5pPr>
              <a:defRPr>
                <a:ea typeface="幼圆" panose="02010509060101010101" pitchFamily="49"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3" name="日期占位符 2"/>
          <p:cNvSpPr>
            <a:spLocks noGrp="1"/>
          </p:cNvSpPr>
          <p:nvPr>
            <p:ph type="dt" sz="half" idx="10"/>
          </p:nvPr>
        </p:nvSpPr>
        <p:spPr>
          <a:xfrm>
            <a:off x="301625" y="6245225"/>
            <a:ext cx="2289175" cy="476250"/>
          </a:xfrm>
        </p:spPr>
        <p:txBody>
          <a:bodyPr/>
          <a:lstStyle>
            <a:lvl1pPr>
              <a:defRPr>
                <a:ea typeface="幼圆" panose="02010509060101010101" pitchFamily="49" charset="-122"/>
              </a:defRPr>
            </a:lvl1pPr>
          </a:lstStyle>
          <a:p>
            <a:endParaRPr lang="en-US" altLang="zh-CN" dirty="0"/>
          </a:p>
        </p:txBody>
      </p:sp>
      <p:sp>
        <p:nvSpPr>
          <p:cNvPr id="4" name="页脚占位符 3"/>
          <p:cNvSpPr>
            <a:spLocks noGrp="1"/>
          </p:cNvSpPr>
          <p:nvPr>
            <p:ph type="ftr" sz="quarter" idx="11"/>
          </p:nvPr>
        </p:nvSpPr>
        <p:spPr>
          <a:xfrm>
            <a:off x="3124200" y="6245225"/>
            <a:ext cx="2895600" cy="476250"/>
          </a:xfrm>
        </p:spPr>
        <p:txBody>
          <a:bodyPr/>
          <a:lstStyle>
            <a:lvl1pPr>
              <a:defRPr>
                <a:ea typeface="幼圆" panose="02010509060101010101" pitchFamily="49" charset="-122"/>
              </a:defRPr>
            </a:lvl1pPr>
          </a:lstStyle>
          <a:p>
            <a:endParaRPr lang="en-US" altLang="zh-CN" dirty="0"/>
          </a:p>
        </p:txBody>
      </p:sp>
      <p:sp>
        <p:nvSpPr>
          <p:cNvPr id="5" name="灯片编号占位符 4"/>
          <p:cNvSpPr>
            <a:spLocks noGrp="1"/>
          </p:cNvSpPr>
          <p:nvPr>
            <p:ph type="sldNum" sz="quarter" idx="12"/>
          </p:nvPr>
        </p:nvSpPr>
        <p:spPr>
          <a:xfrm>
            <a:off x="6553200" y="6245225"/>
            <a:ext cx="2289175" cy="476250"/>
          </a:xfrm>
        </p:spPr>
        <p:txBody>
          <a:bodyPr/>
          <a:lstStyle>
            <a:lvl1pPr>
              <a:defRPr/>
            </a:lvl1pPr>
          </a:lstStyle>
          <a:p>
            <a:fld id="{3F0B950A-4F7A-4CE1-BBA5-AAF43F8E5BF2}" type="slidenum">
              <a:rPr lang="en-US" altLang="zh-CN"/>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a:xfrm>
            <a:off x="5330952" y="6400800"/>
            <a:ext cx="3733800" cy="283800"/>
          </a:xfrm>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7" name="灯片编号占位符 6"/>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8" name="页脚占位符 7"/>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9" name="灯片编号占位符 8"/>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4" name="页脚占位符 3"/>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5" name="灯片编号占位符 4"/>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3" name="页脚占位符 2"/>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4" name="灯片编号占位符 3"/>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7" name="灯片编号占位符 6"/>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7" name="灯片编号占位符 6"/>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2"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7200E83E-3DDC-4057-BD42-0C3CE9F543F4}" type="datetimeFigureOut">
              <a:rPr lang="zh-CN" altLang="en-US" smtClean="0"/>
            </a:fld>
            <a:endParaRPr lang="zh-CN" altLang="en-US"/>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zh-CN" altLang="en-US"/>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36E5C9AC-B17D-4002-9342-307711A35635}" type="slidenum">
              <a:rPr lang="zh-CN" altLang="en-US" smtClean="0"/>
            </a:fld>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solidFill>
                  <a:srgbClr val="696464"/>
                </a:solidFill>
              </a:rPr>
            </a:fld>
            <a:endParaRPr lang="en-US">
              <a:solidFill>
                <a:srgbClr val="696464"/>
              </a:solidFill>
            </a:endParaRPr>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solidFill>
                <a:srgbClr val="696464"/>
              </a:solidFill>
            </a:endParaRP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r>
              <a:rPr lang="en-US" altLang="zh-CN">
                <a:solidFill>
                  <a:srgbClr val="2F2F2F">
                    <a:lumMod val="75000"/>
                    <a:lumOff val="25000"/>
                  </a:srgbClr>
                </a:solidFill>
              </a:rPr>
              <a:t>2011/8/17</a:t>
            </a:r>
            <a:endParaRPr lang="zh-CN" altLang="en-US">
              <a:solidFill>
                <a:srgbClr val="2F2F2F">
                  <a:lumMod val="75000"/>
                  <a:lumOff val="25000"/>
                </a:srgbClr>
              </a:solidFill>
            </a:endParaRPr>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endParaRPr lang="zh-CN" altLang="en-US">
              <a:solidFill>
                <a:srgbClr val="2F2F2F">
                  <a:lumMod val="75000"/>
                  <a:lumOff val="25000"/>
                </a:srgbClr>
              </a:solidFill>
            </a:endParaRP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fld id="{1F9C30EF-BED7-4227-AEDB-FD1CDC6CCC52}" type="slidenum">
              <a:rPr lang="zh-CN" altLang="en-US" smtClean="0">
                <a:solidFill>
                  <a:srgbClr val="2F2F2F">
                    <a:lumMod val="75000"/>
                    <a:lumOff val="25000"/>
                  </a:srgbClr>
                </a:solidFill>
              </a:rPr>
            </a:fld>
            <a:endParaRPr lang="zh-CN" altLang="en-US">
              <a:solidFill>
                <a:srgbClr val="2F2F2F">
                  <a:lumMod val="75000"/>
                  <a:lumOff val="25000"/>
                </a:srgbClr>
              </a:solidFill>
            </a:endParaRPr>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panose="05020102010507070707"/>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panose="05020102010507070707"/>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xml"/><Relationship Id="rId2" Type="http://schemas.openxmlformats.org/officeDocument/2006/relationships/image" Target="../media/image7.jpeg"/><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3.xml"/><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3.xml"/><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3.xml"/><Relationship Id="rId2" Type="http://schemas.openxmlformats.org/officeDocument/2006/relationships/image" Target="../media/image21.png"/><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3.xml"/><Relationship Id="rId2" Type="http://schemas.openxmlformats.org/officeDocument/2006/relationships/image" Target="../media/image24.png"/><Relationship Id="rId1" Type="http://schemas.openxmlformats.org/officeDocument/2006/relationships/image" Target="../media/image23.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3.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3.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3.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hyperlink" Target="https://www.mathworks.com/help/releases/R2021a/stats/pca.html?searchHighlight=PCA&amp;searchResultIndex=1#bth9ibe-latent" TargetMode="External"/><Relationship Id="rId2" Type="http://schemas.openxmlformats.org/officeDocument/2006/relationships/hyperlink" Target="https://www.mathworks.com/help/releases/R2021a/stats/pca.html?searchHighlight=PCA&amp;searchResultIndex=1#bth9ibe-score" TargetMode="External"/><Relationship Id="rId1" Type="http://schemas.openxmlformats.org/officeDocument/2006/relationships/hyperlink" Target="https://www.mathworks.com/help/releases/R2021a/stats/pca.html?searchHighlight=PCA&amp;searchResultIndex=1#bth9ibe-coeff" TargetMode="Externa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3.xml"/><Relationship Id="rId4" Type="http://schemas.openxmlformats.org/officeDocument/2006/relationships/image" Target="../media/image37.emf"/><Relationship Id="rId3" Type="http://schemas.openxmlformats.org/officeDocument/2006/relationships/oleObject" Target="../embeddings/oleObject2.bin"/><Relationship Id="rId2" Type="http://schemas.openxmlformats.org/officeDocument/2006/relationships/image" Target="../media/image36.emf"/><Relationship Id="rId1"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3.xml"/><Relationship Id="rId2" Type="http://schemas.openxmlformats.org/officeDocument/2006/relationships/image" Target="../media/image38.emf"/><Relationship Id="rId1" Type="http://schemas.openxmlformats.org/officeDocument/2006/relationships/oleObject" Target="../embeddings/oleObject3.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18.xml"/><Relationship Id="rId4" Type="http://schemas.openxmlformats.org/officeDocument/2006/relationships/image" Target="../media/image41.emf"/><Relationship Id="rId3" Type="http://schemas.openxmlformats.org/officeDocument/2006/relationships/oleObject" Target="../embeddings/oleObject5.bin"/><Relationship Id="rId2" Type="http://schemas.openxmlformats.org/officeDocument/2006/relationships/image" Target="../media/image40.emf"/><Relationship Id="rId1"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image" Target="../media/image45.emf"/><Relationship Id="rId7" Type="http://schemas.openxmlformats.org/officeDocument/2006/relationships/oleObject" Target="../embeddings/oleObject9.bin"/><Relationship Id="rId6" Type="http://schemas.openxmlformats.org/officeDocument/2006/relationships/image" Target="../media/image44.emf"/><Relationship Id="rId5" Type="http://schemas.openxmlformats.org/officeDocument/2006/relationships/oleObject" Target="../embeddings/oleObject8.bin"/><Relationship Id="rId4" Type="http://schemas.openxmlformats.org/officeDocument/2006/relationships/image" Target="../media/image43.emf"/><Relationship Id="rId38" Type="http://schemas.openxmlformats.org/officeDocument/2006/relationships/vmlDrawing" Target="../drawings/vmlDrawing4.vml"/><Relationship Id="rId37" Type="http://schemas.openxmlformats.org/officeDocument/2006/relationships/slideLayout" Target="../slideLayouts/slideLayout23.xml"/><Relationship Id="rId36" Type="http://schemas.openxmlformats.org/officeDocument/2006/relationships/image" Target="../media/image59.emf"/><Relationship Id="rId35" Type="http://schemas.openxmlformats.org/officeDocument/2006/relationships/oleObject" Target="../embeddings/oleObject23.bin"/><Relationship Id="rId34" Type="http://schemas.openxmlformats.org/officeDocument/2006/relationships/image" Target="../media/image58.emf"/><Relationship Id="rId33" Type="http://schemas.openxmlformats.org/officeDocument/2006/relationships/oleObject" Target="../embeddings/oleObject22.bin"/><Relationship Id="rId32" Type="http://schemas.openxmlformats.org/officeDocument/2006/relationships/image" Target="../media/image57.wmf"/><Relationship Id="rId31" Type="http://schemas.openxmlformats.org/officeDocument/2006/relationships/oleObject" Target="../embeddings/oleObject21.bin"/><Relationship Id="rId30" Type="http://schemas.openxmlformats.org/officeDocument/2006/relationships/image" Target="../media/image56.emf"/><Relationship Id="rId3" Type="http://schemas.openxmlformats.org/officeDocument/2006/relationships/oleObject" Target="../embeddings/oleObject7.bin"/><Relationship Id="rId29" Type="http://schemas.openxmlformats.org/officeDocument/2006/relationships/oleObject" Target="../embeddings/oleObject20.bin"/><Relationship Id="rId28" Type="http://schemas.openxmlformats.org/officeDocument/2006/relationships/image" Target="../media/image55.wmf"/><Relationship Id="rId27" Type="http://schemas.openxmlformats.org/officeDocument/2006/relationships/oleObject" Target="../embeddings/oleObject19.bin"/><Relationship Id="rId26" Type="http://schemas.openxmlformats.org/officeDocument/2006/relationships/image" Target="../media/image54.wmf"/><Relationship Id="rId25" Type="http://schemas.openxmlformats.org/officeDocument/2006/relationships/oleObject" Target="../embeddings/oleObject18.bin"/><Relationship Id="rId24" Type="http://schemas.openxmlformats.org/officeDocument/2006/relationships/image" Target="../media/image53.emf"/><Relationship Id="rId23" Type="http://schemas.openxmlformats.org/officeDocument/2006/relationships/oleObject" Target="../embeddings/oleObject17.bin"/><Relationship Id="rId22" Type="http://schemas.openxmlformats.org/officeDocument/2006/relationships/image" Target="../media/image52.emf"/><Relationship Id="rId21" Type="http://schemas.openxmlformats.org/officeDocument/2006/relationships/oleObject" Target="../embeddings/oleObject16.bin"/><Relationship Id="rId20" Type="http://schemas.openxmlformats.org/officeDocument/2006/relationships/image" Target="../media/image51.emf"/><Relationship Id="rId2" Type="http://schemas.openxmlformats.org/officeDocument/2006/relationships/image" Target="../media/image42.emf"/><Relationship Id="rId19" Type="http://schemas.openxmlformats.org/officeDocument/2006/relationships/oleObject" Target="../embeddings/oleObject15.bin"/><Relationship Id="rId18" Type="http://schemas.openxmlformats.org/officeDocument/2006/relationships/image" Target="../media/image50.emf"/><Relationship Id="rId17" Type="http://schemas.openxmlformats.org/officeDocument/2006/relationships/oleObject" Target="../embeddings/oleObject14.bin"/><Relationship Id="rId16" Type="http://schemas.openxmlformats.org/officeDocument/2006/relationships/image" Target="../media/image49.emf"/><Relationship Id="rId15" Type="http://schemas.openxmlformats.org/officeDocument/2006/relationships/oleObject" Target="../embeddings/oleObject13.bin"/><Relationship Id="rId14" Type="http://schemas.openxmlformats.org/officeDocument/2006/relationships/image" Target="../media/image48.emf"/><Relationship Id="rId13" Type="http://schemas.openxmlformats.org/officeDocument/2006/relationships/oleObject" Target="../embeddings/oleObject12.bin"/><Relationship Id="rId12" Type="http://schemas.openxmlformats.org/officeDocument/2006/relationships/image" Target="../media/image47.emf"/><Relationship Id="rId11" Type="http://schemas.openxmlformats.org/officeDocument/2006/relationships/oleObject" Target="../embeddings/oleObject11.bin"/><Relationship Id="rId10" Type="http://schemas.openxmlformats.org/officeDocument/2006/relationships/image" Target="../media/image46.emf"/><Relationship Id="rId1" Type="http://schemas.openxmlformats.org/officeDocument/2006/relationships/oleObject" Target="../embeddings/oleObject6.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image" Target="../media/image63.emf"/><Relationship Id="rId7" Type="http://schemas.openxmlformats.org/officeDocument/2006/relationships/oleObject" Target="../embeddings/oleObject27.bin"/><Relationship Id="rId6" Type="http://schemas.openxmlformats.org/officeDocument/2006/relationships/image" Target="../media/image62.emf"/><Relationship Id="rId5" Type="http://schemas.openxmlformats.org/officeDocument/2006/relationships/oleObject" Target="../embeddings/oleObject26.bin"/><Relationship Id="rId4" Type="http://schemas.openxmlformats.org/officeDocument/2006/relationships/image" Target="../media/image61.emf"/><Relationship Id="rId3" Type="http://schemas.openxmlformats.org/officeDocument/2006/relationships/oleObject" Target="../embeddings/oleObject25.bin"/><Relationship Id="rId22" Type="http://schemas.openxmlformats.org/officeDocument/2006/relationships/vmlDrawing" Target="../drawings/vmlDrawing5.vml"/><Relationship Id="rId21" Type="http://schemas.openxmlformats.org/officeDocument/2006/relationships/slideLayout" Target="../slideLayouts/slideLayout18.xml"/><Relationship Id="rId20" Type="http://schemas.openxmlformats.org/officeDocument/2006/relationships/image" Target="../media/image69.emf"/><Relationship Id="rId2" Type="http://schemas.openxmlformats.org/officeDocument/2006/relationships/image" Target="../media/image60.emf"/><Relationship Id="rId19" Type="http://schemas.openxmlformats.org/officeDocument/2006/relationships/oleObject" Target="../embeddings/oleObject33.bin"/><Relationship Id="rId18" Type="http://schemas.openxmlformats.org/officeDocument/2006/relationships/image" Target="../media/image68.emf"/><Relationship Id="rId17" Type="http://schemas.openxmlformats.org/officeDocument/2006/relationships/oleObject" Target="../embeddings/oleObject32.bin"/><Relationship Id="rId16" Type="http://schemas.openxmlformats.org/officeDocument/2006/relationships/image" Target="../media/image67.emf"/><Relationship Id="rId15" Type="http://schemas.openxmlformats.org/officeDocument/2006/relationships/oleObject" Target="../embeddings/oleObject31.bin"/><Relationship Id="rId14" Type="http://schemas.openxmlformats.org/officeDocument/2006/relationships/image" Target="../media/image66.wmf"/><Relationship Id="rId13" Type="http://schemas.openxmlformats.org/officeDocument/2006/relationships/oleObject" Target="../embeddings/oleObject30.bin"/><Relationship Id="rId12" Type="http://schemas.openxmlformats.org/officeDocument/2006/relationships/image" Target="../media/image65.emf"/><Relationship Id="rId11" Type="http://schemas.openxmlformats.org/officeDocument/2006/relationships/oleObject" Target="../embeddings/oleObject29.bin"/><Relationship Id="rId10" Type="http://schemas.openxmlformats.org/officeDocument/2006/relationships/image" Target="../media/image64.emf"/><Relationship Id="rId1" Type="http://schemas.openxmlformats.org/officeDocument/2006/relationships/oleObject" Target="../embeddings/oleObject24.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hyperlink" Target="https://www.mathworks.com/help/releases/R2021a/stats/kmeans.html?searchHighlight=kmeans&amp;searchResultIndex=1#buefs04-C" TargetMode="External"/><Relationship Id="rId6" Type="http://schemas.openxmlformats.org/officeDocument/2006/relationships/hyperlink" Target="https://www.mathworks.com/help/releases/R2021a/stats/kmeans.html?searchHighlight=kmeans&amp;searchResultIndex=1#buefs04-idx" TargetMode="External"/><Relationship Id="rId5" Type="http://schemas.openxmlformats.org/officeDocument/2006/relationships/hyperlink" Target="https://www.mathworks.com/help/releases/R2021a/stats/kmeans.html?searchHighlight=kmeans&amp;searchResultIndex=1#d123e18919" TargetMode="External"/><Relationship Id="rId4" Type="http://schemas.openxmlformats.org/officeDocument/2006/relationships/hyperlink" Target="https://www.mathworks.com/help/releases/R2021a/stats/kmeans.html?searchHighlight=kmeans&amp;searchResultIndex=1#d123e18895" TargetMode="External"/><Relationship Id="rId3" Type="http://schemas.openxmlformats.org/officeDocument/2006/relationships/hyperlink" Target="https://www.mathworks.com/help/releases/R2021a/stats/kmeans.html?searchHighlight=kmeans&amp;searchResultIndex=1#d123e18869" TargetMode="External"/><Relationship Id="rId2" Type="http://schemas.openxmlformats.org/officeDocument/2006/relationships/hyperlink" Target="https://www.mathworks.com/help/releases/R2021a/stats/kmeans.html?searchHighlight=kmeans&amp;searchResultIndex=1#d123e18846" TargetMode="External"/><Relationship Id="rId1" Type="http://schemas.openxmlformats.org/officeDocument/2006/relationships/hyperlink" Target="https://www.mathworks.com/help/releases/R2021a/stats/kmeans.html?searchHighlight=kmeans&amp;searchResultIndex=1#d123e18801"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9" Type="http://schemas.openxmlformats.org/officeDocument/2006/relationships/hyperlink" Target="https://baike.baidu.com/item/%E6%95%B0%E5%AD%A6%E5%AE%B6?fromModule=lemma_inlink" TargetMode="External"/><Relationship Id="rId8" Type="http://schemas.openxmlformats.org/officeDocument/2006/relationships/hyperlink" Target="https://baike.baidu.com/item/%E8%8B%B1%E5%9B%BD?fromModule=lemma_inlink" TargetMode="External"/><Relationship Id="rId7" Type="http://schemas.openxmlformats.org/officeDocument/2006/relationships/hyperlink" Target="https://baike.baidu.com/item/%E7%90%83?fromModule=lemma_inlink" TargetMode="External"/><Relationship Id="rId6" Type="http://schemas.openxmlformats.org/officeDocument/2006/relationships/hyperlink" Target="https://baike.baidu.com/item/n%E7%BB%B4%E7%A9%BA%E9%97%B4?fromModule=lemma_inlink" TargetMode="External"/><Relationship Id="rId5" Type="http://schemas.openxmlformats.org/officeDocument/2006/relationships/hyperlink" Target="https://baike.baidu.com/item/%E5%9C%86?fromModule=lemma_inlink" TargetMode="External"/><Relationship Id="rId4" Type="http://schemas.openxmlformats.org/officeDocument/2006/relationships/hyperlink" Target="https://baike.baidu.com/item/%E7%82%B9?fromModule=lemma_inlink" TargetMode="External"/><Relationship Id="rId3" Type="http://schemas.openxmlformats.org/officeDocument/2006/relationships/hyperlink" Target="https://baike.baidu.com/item/%E4%B8%80%E7%BE%A4?fromModule=lemma_inlink" TargetMode="External"/><Relationship Id="rId2" Type="http://schemas.openxmlformats.org/officeDocument/2006/relationships/hyperlink" Target="https://baike.baidu.com/item/%E5%B9%B3%E9%9D%A2?fromModule=lemma_inlink" TargetMode="External"/><Relationship Id="rId11" Type="http://schemas.openxmlformats.org/officeDocument/2006/relationships/slideLayout" Target="../slideLayouts/slideLayout13.xml"/><Relationship Id="rId10" Type="http://schemas.openxmlformats.org/officeDocument/2006/relationships/hyperlink" Target="https://baike.baidu.com/item/%E8%A9%B9%E5%A7%86%E6%96%AF%C2%B7%E7%BA%A6%E7%91%9F%E5%A4%AB%C2%B7%E8%A5%BF%E5%B0%94%E7%BB%B4%E6%96%AF%E7%89%B9?fromModule=lemma_inlink" TargetMode="External"/><Relationship Id="rId1" Type="http://schemas.openxmlformats.org/officeDocument/2006/relationships/hyperlink" Target="https://baike.baidu.com/item/%E9%97%AE%E9%A2%98?fromModule=lemma_inlink"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0.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hyperlink" Target="mailto:sysumatlab@163.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12F22"/>
            </a:gs>
            <a:gs pos="31000">
              <a:srgbClr val="0B7B3E"/>
            </a:gs>
            <a:gs pos="100000">
              <a:srgbClr val="1E241F"/>
            </a:gs>
          </a:gsLst>
          <a:lin ang="5400000" scaled="0"/>
        </a:gra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340768"/>
            <a:ext cx="7772400" cy="1470025"/>
          </a:xfrm>
        </p:spPr>
        <p:txBody>
          <a:bodyPr/>
          <a:lstStyle/>
          <a:p>
            <a:r>
              <a:rPr lang="zh-CN" altLang="en-US" sz="4800" b="1" dirty="0">
                <a:solidFill>
                  <a:srgbClr val="FFC000"/>
                </a:solidFill>
              </a:rPr>
              <a:t>数学实验与数学软件</a:t>
            </a:r>
            <a:br>
              <a:rPr lang="zh-CN" altLang="en-US" dirty="0"/>
            </a:br>
            <a:endParaRPr lang="zh-CN" altLang="en-US" dirty="0"/>
          </a:p>
        </p:txBody>
      </p:sp>
      <p:sp>
        <p:nvSpPr>
          <p:cNvPr id="4" name="矩形 3"/>
          <p:cNvSpPr/>
          <p:nvPr/>
        </p:nvSpPr>
        <p:spPr>
          <a:xfrm>
            <a:off x="2286000" y="2643852"/>
            <a:ext cx="4572000" cy="523220"/>
          </a:xfrm>
          <a:prstGeom prst="rect">
            <a:avLst/>
          </a:prstGeom>
        </p:spPr>
        <p:txBody>
          <a:bodyPr>
            <a:spAutoFit/>
          </a:bodyPr>
          <a:lstStyle/>
          <a:p>
            <a:pPr algn="ctr"/>
            <a:r>
              <a:rPr lang="zh-CN" altLang="en-US" sz="2800" dirty="0"/>
              <a:t>第三次：补充课实验</a:t>
            </a:r>
            <a:endParaRPr lang="en-US" altLang="zh-CN" sz="2800" dirty="0"/>
          </a:p>
        </p:txBody>
      </p:sp>
      <p:pic>
        <p:nvPicPr>
          <p:cNvPr id="8"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7564" y="4581128"/>
            <a:ext cx="1616968" cy="15522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1476" y="4581817"/>
            <a:ext cx="1551600" cy="1551600"/>
          </a:xfrm>
          <a:prstGeom prst="rect">
            <a:avLst/>
          </a:prstGeom>
        </p:spPr>
      </p:pic>
      <p:sp>
        <p:nvSpPr>
          <p:cNvPr id="10" name="副标题 2"/>
          <p:cNvSpPr>
            <a:spLocks noGrp="1"/>
          </p:cNvSpPr>
          <p:nvPr>
            <p:ph type="subTitle" idx="1"/>
          </p:nvPr>
        </p:nvSpPr>
        <p:spPr>
          <a:xfrm>
            <a:off x="1219200" y="3429000"/>
            <a:ext cx="6400800" cy="1752600"/>
          </a:xfrm>
        </p:spPr>
        <p:txBody>
          <a:bodyPr/>
          <a:lstStyle/>
          <a:p>
            <a:endParaRPr lang="en-US" altLang="zh-CN" sz="2400" dirty="0"/>
          </a:p>
          <a:p>
            <a:r>
              <a:rPr lang="zh-CN" altLang="en-US" sz="2400" dirty="0"/>
              <a:t>谭军</a:t>
            </a:r>
            <a:endParaRPr lang="en-US" altLang="zh-CN" sz="2400" dirty="0"/>
          </a:p>
          <a:p>
            <a:r>
              <a:rPr lang="zh-CN" altLang="en-US" sz="2400" b="1" dirty="0">
                <a:ea typeface="PMingLiU" pitchFamily="18" charset="-120"/>
              </a:rPr>
              <a:t>中山大学数学学院</a:t>
            </a:r>
            <a:endParaRPr lang="en-US" altLang="zh-CN" sz="2400" b="1" dirty="0">
              <a:ea typeface="PMingLiU" pitchFamily="18" charset="-120"/>
            </a:endParaRPr>
          </a:p>
          <a:p>
            <a:endParaRPr lang="en-US" altLang="zh-CN" sz="1600" b="1" dirty="0">
              <a:ea typeface="PMingLiU" pitchFamily="18" charset="-120"/>
            </a:endParaRPr>
          </a:p>
          <a:p>
            <a:endParaRPr lang="zh-CN" altLang="en-US" sz="1600" dirty="0"/>
          </a:p>
          <a:p>
            <a:endParaRPr lang="zh-CN" altLang="en-US" dirty="0"/>
          </a:p>
        </p:txBody>
      </p:sp>
      <p:sp>
        <p:nvSpPr>
          <p:cNvPr id="11" name="副标题 2"/>
          <p:cNvSpPr txBox="1"/>
          <p:nvPr/>
        </p:nvSpPr>
        <p:spPr>
          <a:xfrm>
            <a:off x="1187624" y="4725144"/>
            <a:ext cx="6400800" cy="1752600"/>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spc="30" baseline="0">
                <a:solidFill>
                  <a:schemeClr val="tx2"/>
                </a:solidFill>
                <a:latin typeface="+mn-lt"/>
                <a:ea typeface="+mn-ea"/>
                <a:cs typeface="+mn-cs"/>
              </a:defRPr>
            </a:lvl1pPr>
            <a:lvl2pPr marL="4572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spc="30" baseline="0">
                <a:solidFill>
                  <a:schemeClr val="tx1">
                    <a:tint val="75000"/>
                  </a:schemeClr>
                </a:solidFill>
                <a:latin typeface="+mn-lt"/>
                <a:ea typeface="+mn-ea"/>
                <a:cs typeface="+mn-cs"/>
              </a:defRPr>
            </a:lvl2pPr>
            <a:lvl3pPr marL="9144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spc="30" baseline="0">
                <a:solidFill>
                  <a:schemeClr val="tx1">
                    <a:tint val="75000"/>
                  </a:schemeClr>
                </a:solidFill>
                <a:latin typeface="+mn-lt"/>
                <a:ea typeface="+mn-ea"/>
                <a:cs typeface="+mn-cs"/>
              </a:defRPr>
            </a:lvl3pPr>
            <a:lvl4pPr marL="13716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spc="30" baseline="0">
                <a:solidFill>
                  <a:schemeClr val="tx1">
                    <a:tint val="75000"/>
                  </a:schemeClr>
                </a:solidFill>
                <a:latin typeface="+mn-lt"/>
                <a:ea typeface="+mn-ea"/>
                <a:cs typeface="+mn-cs"/>
              </a:defRPr>
            </a:lvl4pPr>
            <a:lvl5pPr marL="18288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spc="30" baseline="0">
                <a:solidFill>
                  <a:schemeClr val="tx1">
                    <a:tint val="75000"/>
                  </a:schemeClr>
                </a:solidFill>
                <a:latin typeface="+mn-lt"/>
                <a:ea typeface="+mn-ea"/>
                <a:cs typeface="+mn-cs"/>
              </a:defRPr>
            </a:lvl5pPr>
            <a:lvl6pPr marL="22860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a:solidFill>
                  <a:schemeClr val="tx1">
                    <a:tint val="75000"/>
                  </a:schemeClr>
                </a:solidFill>
                <a:latin typeface="+mn-lt"/>
                <a:ea typeface="+mn-ea"/>
                <a:cs typeface="+mn-cs"/>
              </a:defRPr>
            </a:lvl6pPr>
            <a:lvl7pPr marL="27432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a:solidFill>
                  <a:schemeClr val="tx1">
                    <a:tint val="75000"/>
                  </a:schemeClr>
                </a:solidFill>
                <a:latin typeface="+mn-lt"/>
                <a:ea typeface="+mn-ea"/>
                <a:cs typeface="+mn-cs"/>
              </a:defRPr>
            </a:lvl7pPr>
            <a:lvl8pPr marL="32004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a:solidFill>
                  <a:schemeClr val="tx1">
                    <a:tint val="75000"/>
                  </a:schemeClr>
                </a:solidFill>
                <a:latin typeface="+mn-lt"/>
                <a:ea typeface="+mn-ea"/>
                <a:cs typeface="+mn-cs"/>
              </a:defRPr>
            </a:lvl8pPr>
            <a:lvl9pPr marL="36576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100000"/>
              </a:lnSpc>
              <a:spcBef>
                <a:spcPct val="20000"/>
              </a:spcBef>
              <a:spcAft>
                <a:spcPts val="600"/>
              </a:spcAft>
              <a:buClr>
                <a:srgbClr val="DC9E1F"/>
              </a:buClr>
              <a:buSzTx/>
              <a:buFont typeface="Arial" panose="020B0604020202020204" pitchFamily="34" charset="0"/>
              <a:buNone/>
              <a:defRPr/>
            </a:pPr>
            <a:endParaRPr kumimoji="0" lang="en-US" altLang="zh-CN" sz="1700" b="0" i="0" u="none" strike="noStrike" kern="1200" cap="none" spc="30" normalizeH="0" baseline="0" noProof="0" dirty="0">
              <a:ln>
                <a:noFill/>
              </a:ln>
              <a:solidFill>
                <a:srgbClr val="DC9E1F"/>
              </a:solidFill>
              <a:effectLst/>
              <a:uLnTx/>
              <a:uFillTx/>
              <a:latin typeface="Arial Narrow" panose="020B0606020202030204"/>
              <a:ea typeface="方正姚体" panose="02010601030101010101" pitchFamily="2" charset="-122"/>
              <a:cs typeface="+mn-cs"/>
            </a:endParaRPr>
          </a:p>
          <a:p>
            <a:pPr marL="0" marR="0" lvl="0" indent="0" algn="ctr" defTabSz="914400" rtl="0" eaLnBrk="1" fontAlgn="auto" latinLnBrk="0" hangingPunct="1">
              <a:lnSpc>
                <a:spcPct val="100000"/>
              </a:lnSpc>
              <a:spcBef>
                <a:spcPct val="20000"/>
              </a:spcBef>
              <a:spcAft>
                <a:spcPts val="600"/>
              </a:spcAft>
              <a:buClr>
                <a:srgbClr val="DC9E1F"/>
              </a:buClr>
              <a:buSzTx/>
              <a:buFont typeface="Arial" panose="020B0604020202020204" pitchFamily="34" charset="0"/>
              <a:buNone/>
              <a:defRPr/>
            </a:pPr>
            <a:r>
              <a:rPr kumimoji="0" lang="zh-CN" altLang="en-US" sz="2400" b="0" i="0" u="none" strike="noStrike" kern="1200" cap="none" spc="30" normalizeH="0" baseline="0" noProof="0" dirty="0">
                <a:ln>
                  <a:noFill/>
                </a:ln>
                <a:solidFill>
                  <a:srgbClr val="DC9E1F"/>
                </a:solidFill>
                <a:effectLst/>
                <a:uLnTx/>
                <a:uFillTx/>
                <a:latin typeface="Arial Narrow" panose="020B0606020202030204"/>
                <a:ea typeface="方正姚体" panose="02010601030101010101" pitchFamily="2" charset="-122"/>
                <a:cs typeface="+mn-cs"/>
              </a:rPr>
              <a:t>教师邮箱：</a:t>
            </a:r>
            <a:r>
              <a:rPr kumimoji="0" lang="en-US" altLang="zh-CN" sz="2400" b="0" i="0" u="none" strike="noStrike" kern="1200" cap="none" spc="30" normalizeH="0" baseline="0" noProof="0" dirty="0">
                <a:ln>
                  <a:noFill/>
                </a:ln>
                <a:solidFill>
                  <a:srgbClr val="DC9E1F"/>
                </a:solidFill>
                <a:effectLst/>
                <a:uLnTx/>
                <a:uFillTx/>
                <a:latin typeface="Arial Narrow" panose="020B0606020202030204"/>
                <a:ea typeface="方正姚体" panose="02010601030101010101" pitchFamily="2" charset="-122"/>
                <a:cs typeface="+mn-cs"/>
              </a:rPr>
              <a:t>mcstj@mail.sysu.edu.cn </a:t>
            </a:r>
            <a:endParaRPr kumimoji="0" lang="en-US" altLang="zh-CN" sz="2400" b="1" i="0" u="none" strike="noStrike" kern="1200" cap="none" spc="30" normalizeH="0" baseline="0" noProof="0" dirty="0">
              <a:ln>
                <a:noFill/>
              </a:ln>
              <a:solidFill>
                <a:srgbClr val="DC9E1F"/>
              </a:solidFill>
              <a:effectLst/>
              <a:uLnTx/>
              <a:uFillTx/>
              <a:latin typeface="Arial Narrow" panose="020B0606020202030204"/>
              <a:ea typeface="PMingLiU" pitchFamily="18" charset="-120"/>
              <a:cs typeface="+mn-cs"/>
            </a:endParaRPr>
          </a:p>
          <a:p>
            <a:pPr marL="0" marR="0" lvl="0" indent="0" algn="ctr" defTabSz="914400" rtl="0" eaLnBrk="1" fontAlgn="auto" latinLnBrk="0" hangingPunct="1">
              <a:lnSpc>
                <a:spcPct val="100000"/>
              </a:lnSpc>
              <a:spcBef>
                <a:spcPct val="20000"/>
              </a:spcBef>
              <a:spcAft>
                <a:spcPts val="600"/>
              </a:spcAft>
              <a:buClr>
                <a:srgbClr val="DC9E1F"/>
              </a:buClr>
              <a:buSzTx/>
              <a:buFont typeface="Arial" panose="020B0604020202020204" pitchFamily="34" charset="0"/>
              <a:buNone/>
              <a:defRPr/>
            </a:pPr>
            <a:endParaRPr kumimoji="0" lang="en-US" altLang="zh-CN" sz="1600" b="1" i="0" u="none" strike="noStrike" kern="1200" cap="none" spc="30" normalizeH="0" baseline="0" noProof="0" dirty="0">
              <a:ln>
                <a:noFill/>
              </a:ln>
              <a:solidFill>
                <a:srgbClr val="DC9E1F"/>
              </a:solidFill>
              <a:effectLst/>
              <a:uLnTx/>
              <a:uFillTx/>
              <a:latin typeface="Arial Narrow" panose="020B0606020202030204"/>
              <a:ea typeface="PMingLiU" pitchFamily="18" charset="-120"/>
              <a:cs typeface="+mn-cs"/>
            </a:endParaRPr>
          </a:p>
          <a:p>
            <a:pPr marL="0" marR="0" lvl="0" indent="0" algn="ctr" defTabSz="914400" rtl="0" eaLnBrk="1" fontAlgn="auto" latinLnBrk="0" hangingPunct="1">
              <a:lnSpc>
                <a:spcPct val="100000"/>
              </a:lnSpc>
              <a:spcBef>
                <a:spcPct val="20000"/>
              </a:spcBef>
              <a:spcAft>
                <a:spcPts val="600"/>
              </a:spcAft>
              <a:buClr>
                <a:srgbClr val="DC9E1F"/>
              </a:buClr>
              <a:buSzTx/>
              <a:buFont typeface="Arial" panose="020B0604020202020204" pitchFamily="34" charset="0"/>
              <a:buNone/>
              <a:defRPr/>
            </a:pPr>
            <a:endParaRPr kumimoji="0" lang="zh-CN" altLang="en-US" sz="1600" b="0" i="0" u="none" strike="noStrike" kern="1200" cap="none" spc="30" normalizeH="0" baseline="0" noProof="0" dirty="0">
              <a:ln>
                <a:noFill/>
              </a:ln>
              <a:solidFill>
                <a:srgbClr val="DC9E1F"/>
              </a:solidFill>
              <a:effectLst/>
              <a:uLnTx/>
              <a:uFillTx/>
              <a:latin typeface="Arial Narrow" panose="020B0606020202030204"/>
              <a:ea typeface="方正姚体" panose="02010601030101010101" pitchFamily="2" charset="-122"/>
              <a:cs typeface="+mn-cs"/>
            </a:endParaRPr>
          </a:p>
          <a:p>
            <a:pPr marL="0" marR="0" lvl="0" indent="0" algn="ctr" defTabSz="914400" rtl="0" eaLnBrk="1" fontAlgn="auto" latinLnBrk="0" hangingPunct="1">
              <a:lnSpc>
                <a:spcPct val="100000"/>
              </a:lnSpc>
              <a:spcBef>
                <a:spcPct val="20000"/>
              </a:spcBef>
              <a:spcAft>
                <a:spcPts val="600"/>
              </a:spcAft>
              <a:buClr>
                <a:srgbClr val="DC9E1F"/>
              </a:buClr>
              <a:buSzTx/>
              <a:buFont typeface="Arial" panose="020B0604020202020204" pitchFamily="34" charset="0"/>
              <a:buNone/>
              <a:defRPr/>
            </a:pPr>
            <a:endParaRPr kumimoji="0" lang="zh-CN" altLang="en-US" sz="1700" b="0" i="0" u="none" strike="noStrike" kern="1200" cap="none" spc="30" normalizeH="0" baseline="0" noProof="0" dirty="0">
              <a:ln>
                <a:noFill/>
              </a:ln>
              <a:solidFill>
                <a:srgbClr val="DC9E1F"/>
              </a:solidFill>
              <a:effectLst/>
              <a:uLnTx/>
              <a:uFillTx/>
              <a:latin typeface="Arial Narrow" panose="020B0606020202030204"/>
              <a:ea typeface="方正姚体" panose="02010601030101010101" pitchFamily="2" charset="-122"/>
              <a:cs typeface="+mn-cs"/>
            </a:endParaRP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1430" y="2876550"/>
            <a:ext cx="9165590" cy="19050"/>
          </a:xfrm>
          <a:prstGeom prst="line">
            <a:avLst/>
          </a:prstGeom>
          <a:ln w="50800" cmpd="sng">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467544" y="1556792"/>
            <a:ext cx="7200800" cy="1200329"/>
          </a:xfrm>
          <a:prstGeom prst="rect">
            <a:avLst/>
          </a:prstGeom>
          <a:noFill/>
        </p:spPr>
        <p:txBody>
          <a:bodyPr wrap="square" rtlCol="0">
            <a:spAutoFit/>
          </a:bodyPr>
          <a:lstStyle/>
          <a:p>
            <a:r>
              <a:rPr lang="en-US" altLang="zh-CN" sz="3600" dirty="0">
                <a:solidFill>
                  <a:schemeClr val="bg1"/>
                </a:solidFill>
                <a:latin typeface="黑体" panose="02010609060101010101" charset="-122"/>
                <a:ea typeface="黑体" panose="02010609060101010101" charset="-122"/>
                <a:sym typeface="+mn-ea"/>
              </a:rPr>
              <a:t>PCA</a:t>
            </a:r>
            <a:r>
              <a:rPr lang="zh-CN" altLang="en-US" sz="3600" dirty="0">
                <a:solidFill>
                  <a:schemeClr val="bg1"/>
                </a:solidFill>
                <a:latin typeface="黑体" panose="02010609060101010101" charset="-122"/>
                <a:ea typeface="黑体" panose="02010609060101010101" charset="-122"/>
                <a:sym typeface="+mn-ea"/>
              </a:rPr>
              <a:t>主成分分析</a:t>
            </a:r>
            <a:endParaRPr lang="zh-CN" altLang="en-US" sz="3600" dirty="0">
              <a:solidFill>
                <a:schemeClr val="bg1"/>
              </a:solidFill>
              <a:latin typeface="黑体" panose="02010609060101010101" charset="-122"/>
              <a:ea typeface="黑体" panose="02010609060101010101" charset="-122"/>
              <a:sym typeface="+mn-ea"/>
            </a:endParaRPr>
          </a:p>
          <a:p>
            <a:r>
              <a:rPr lang="en-US" altLang="zh-CN" sz="3600" dirty="0">
                <a:solidFill>
                  <a:schemeClr val="bg1"/>
                </a:solidFill>
                <a:sym typeface="+mn-ea"/>
              </a:rPr>
              <a:t>principal component analysis</a:t>
            </a:r>
            <a:endParaRPr lang="en-US" altLang="zh-CN" sz="3600" dirty="0">
              <a:solidFill>
                <a:schemeClr val="bg1"/>
              </a:solidFill>
              <a:latin typeface="黑体" panose="02010609060101010101" charset="-122"/>
              <a:ea typeface="黑体" panose="02010609060101010101"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5" y="850265"/>
            <a:ext cx="2043430"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02336" y="1020445"/>
            <a:ext cx="793115" cy="457200"/>
          </a:xfrm>
          <a:prstGeom prst="rect">
            <a:avLst/>
          </a:prstGeom>
          <a:noFill/>
        </p:spPr>
        <p:txBody>
          <a:bodyPr wrap="square" rtlCol="0">
            <a:spAutoFit/>
          </a:bodyPr>
          <a:lstStyle/>
          <a:p>
            <a:r>
              <a:rPr lang="zh-CN" altLang="en-US" sz="2400">
                <a:solidFill>
                  <a:schemeClr val="accent1">
                    <a:lumMod val="50000"/>
                  </a:schemeClr>
                </a:solidFill>
                <a:latin typeface="黑体" panose="02010609060101010101" charset="-122"/>
                <a:ea typeface="黑体" panose="02010609060101010101" charset="-122"/>
              </a:rPr>
              <a:t>目录</a:t>
            </a:r>
            <a:endParaRPr lang="zh-CN" altLang="en-US" sz="2400">
              <a:solidFill>
                <a:schemeClr val="accent1">
                  <a:lumMod val="50000"/>
                </a:schemeClr>
              </a:solidFill>
              <a:latin typeface="黑体" panose="02010609060101010101" charset="-122"/>
              <a:ea typeface="黑体" panose="02010609060101010101" charset="-122"/>
            </a:endParaRPr>
          </a:p>
        </p:txBody>
      </p:sp>
      <p:sp>
        <p:nvSpPr>
          <p:cNvPr id="6" name="文本框 5"/>
          <p:cNvSpPr txBox="1"/>
          <p:nvPr/>
        </p:nvSpPr>
        <p:spPr>
          <a:xfrm>
            <a:off x="1664336" y="1020445"/>
            <a:ext cx="1506855" cy="457200"/>
          </a:xfrm>
          <a:prstGeom prst="rect">
            <a:avLst/>
          </a:prstGeom>
          <a:noFill/>
        </p:spPr>
        <p:txBody>
          <a:bodyPr wrap="square" rtlCol="0">
            <a:spAutoFit/>
          </a:bodyPr>
          <a:lstStyle/>
          <a:p>
            <a:r>
              <a:rPr lang="en-US" altLang="zh-CN" sz="2400" dirty="0">
                <a:solidFill>
                  <a:schemeClr val="bg1">
                    <a:lumMod val="65000"/>
                  </a:schemeClr>
                </a:solidFill>
                <a:latin typeface="黑体" panose="02010609060101010101" charset="-122"/>
                <a:ea typeface="黑体" panose="02010609060101010101" charset="-122"/>
              </a:rPr>
              <a:t>Contents</a:t>
            </a:r>
            <a:endParaRPr lang="en-US" altLang="zh-CN" sz="2400" dirty="0">
              <a:solidFill>
                <a:schemeClr val="bg1">
                  <a:lumMod val="65000"/>
                </a:schemeClr>
              </a:solidFill>
              <a:latin typeface="黑体" panose="02010609060101010101" charset="-122"/>
              <a:ea typeface="黑体" panose="02010609060101010101" charset="-122"/>
            </a:endParaRPr>
          </a:p>
        </p:txBody>
      </p:sp>
      <p:sp>
        <p:nvSpPr>
          <p:cNvPr id="9" name="文本框 8"/>
          <p:cNvSpPr txBox="1"/>
          <p:nvPr/>
        </p:nvSpPr>
        <p:spPr>
          <a:xfrm>
            <a:off x="937895" y="2210435"/>
            <a:ext cx="2476424" cy="40011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01</a:t>
            </a:r>
            <a:r>
              <a:rPr lang="en-US" altLang="zh-CN" sz="2000" dirty="0">
                <a:solidFill>
                  <a:srgbClr val="000000"/>
                </a:solidFill>
                <a:latin typeface="黑体" panose="02010609060101010101" charset="-122"/>
                <a:ea typeface="黑体" panose="02010609060101010101" charset="-122"/>
                <a:sym typeface="+mn-ea"/>
              </a:rPr>
              <a:t> </a:t>
            </a:r>
            <a:r>
              <a:rPr lang="en-US" altLang="zh-CN" sz="2000" dirty="0">
                <a:solidFill>
                  <a:schemeClr val="accent1">
                    <a:lumMod val="50000"/>
                  </a:schemeClr>
                </a:solidFill>
                <a:latin typeface="黑体" panose="02010609060101010101" charset="-122"/>
                <a:ea typeface="黑体" panose="02010609060101010101" charset="-122"/>
                <a:sym typeface="+mn-ea"/>
              </a:rPr>
              <a:t>PCA</a:t>
            </a:r>
            <a:r>
              <a:rPr lang="zh-CN" altLang="en-US" sz="2000" dirty="0">
                <a:solidFill>
                  <a:schemeClr val="accent1">
                    <a:lumMod val="50000"/>
                  </a:schemeClr>
                </a:solidFill>
                <a:latin typeface="黑体" panose="02010609060101010101" charset="-122"/>
                <a:ea typeface="黑体" panose="02010609060101010101" charset="-122"/>
                <a:sym typeface="+mn-ea"/>
              </a:rPr>
              <a:t>的背景分析</a:t>
            </a:r>
            <a:endParaRPr lang="zh-CN" altLang="en-US" sz="2000" dirty="0">
              <a:solidFill>
                <a:schemeClr val="accent1">
                  <a:lumMod val="50000"/>
                </a:schemeClr>
              </a:solidFill>
              <a:latin typeface="黑体" panose="02010609060101010101" charset="-122"/>
              <a:ea typeface="黑体" panose="02010609060101010101" charset="-122"/>
              <a:sym typeface="+mn-ea"/>
            </a:endParaRPr>
          </a:p>
        </p:txBody>
      </p:sp>
      <p:sp>
        <p:nvSpPr>
          <p:cNvPr id="10" name="文本框 9"/>
          <p:cNvSpPr txBox="1"/>
          <p:nvPr/>
        </p:nvSpPr>
        <p:spPr>
          <a:xfrm>
            <a:off x="937895" y="2672080"/>
            <a:ext cx="2893060"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02</a:t>
            </a:r>
            <a:r>
              <a:rPr lang="en-US" altLang="zh-CN" sz="2000" dirty="0">
                <a:solidFill>
                  <a:srgbClr val="000000"/>
                </a:solidFill>
                <a:latin typeface="黑体" panose="02010609060101010101" charset="-122"/>
                <a:ea typeface="黑体" panose="02010609060101010101" charset="-122"/>
                <a:sym typeface="+mn-ea"/>
              </a:rPr>
              <a:t> </a:t>
            </a:r>
            <a:r>
              <a:rPr lang="en-US" altLang="zh-CN" sz="2000" b="1" dirty="0">
                <a:solidFill>
                  <a:schemeClr val="accent1">
                    <a:lumMod val="50000"/>
                  </a:schemeClr>
                </a:solidFill>
                <a:latin typeface="宋体" panose="02010600030101010101" pitchFamily="2" charset="-122"/>
                <a:ea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ea typeface="宋体" panose="02010600030101010101" pitchFamily="2" charset="-122"/>
                <a:sym typeface="+mn-ea"/>
              </a:rPr>
              <a:t>推导</a:t>
            </a:r>
            <a:endParaRPr lang="zh-CN" altLang="en-US" sz="2000" b="1" dirty="0">
              <a:solidFill>
                <a:schemeClr val="accent1">
                  <a:lumMod val="50000"/>
                </a:schemeClr>
              </a:solidFill>
              <a:latin typeface="宋体" panose="02010600030101010101" pitchFamily="2" charset="-122"/>
              <a:ea typeface="宋体" panose="02010600030101010101" pitchFamily="2" charset="-122"/>
              <a:sym typeface="+mn-ea"/>
            </a:endParaRPr>
          </a:p>
        </p:txBody>
      </p:sp>
      <p:sp>
        <p:nvSpPr>
          <p:cNvPr id="11" name="文本框 10"/>
          <p:cNvSpPr txBox="1"/>
          <p:nvPr/>
        </p:nvSpPr>
        <p:spPr>
          <a:xfrm>
            <a:off x="937895" y="3155315"/>
            <a:ext cx="2948940"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03</a:t>
            </a:r>
            <a:r>
              <a:rPr lang="en-US" altLang="zh-CN" sz="2000" dirty="0">
                <a:solidFill>
                  <a:srgbClr val="000000"/>
                </a:solidFill>
                <a:latin typeface="黑体" panose="02010609060101010101" charset="-122"/>
                <a:ea typeface="黑体" panose="02010609060101010101" charset="-122"/>
                <a:sym typeface="+mn-ea"/>
              </a:rPr>
              <a:t> </a:t>
            </a:r>
            <a:r>
              <a:rPr lang="en-US" altLang="zh-CN" sz="2000" b="1" dirty="0">
                <a:solidFill>
                  <a:schemeClr val="accent1">
                    <a:lumMod val="50000"/>
                  </a:schemeClr>
                </a:solidFill>
                <a:latin typeface="宋体" panose="02010600030101010101" pitchFamily="2" charset="-122"/>
                <a:ea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ea typeface="宋体" panose="02010600030101010101" pitchFamily="2" charset="-122"/>
                <a:sym typeface="+mn-ea"/>
              </a:rPr>
              <a:t>的算法流程</a:t>
            </a:r>
            <a:endParaRPr lang="zh-CN" altLang="en-US" sz="2000" b="1" dirty="0">
              <a:solidFill>
                <a:schemeClr val="accent1">
                  <a:lumMod val="50000"/>
                </a:schemeClr>
              </a:solidFill>
              <a:latin typeface="宋体" panose="02010600030101010101" pitchFamily="2" charset="-122"/>
              <a:ea typeface="宋体" panose="02010600030101010101" pitchFamily="2" charset="-122"/>
              <a:sym typeface="+mn-ea"/>
            </a:endParaRPr>
          </a:p>
        </p:txBody>
      </p:sp>
      <p:sp>
        <p:nvSpPr>
          <p:cNvPr id="12" name="文本框 11"/>
          <p:cNvSpPr txBox="1"/>
          <p:nvPr/>
        </p:nvSpPr>
        <p:spPr>
          <a:xfrm>
            <a:off x="937895" y="3648710"/>
            <a:ext cx="3272790"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04</a:t>
            </a:r>
            <a:r>
              <a:rPr lang="en-US" altLang="zh-CN" sz="2000" dirty="0">
                <a:solidFill>
                  <a:srgbClr val="000000"/>
                </a:solidFill>
                <a:latin typeface="黑体" panose="02010609060101010101" charset="-122"/>
                <a:ea typeface="黑体" panose="02010609060101010101" charset="-122"/>
                <a:sym typeface="+mn-ea"/>
              </a:rPr>
              <a:t> </a:t>
            </a:r>
            <a:r>
              <a:rPr lang="zh-CN" altLang="en-US" sz="2000" b="1" dirty="0">
                <a:solidFill>
                  <a:schemeClr val="accent1">
                    <a:lumMod val="50000"/>
                  </a:schemeClr>
                </a:solidFill>
                <a:latin typeface="宋体" panose="02010600030101010101" pitchFamily="2" charset="-122"/>
                <a:ea typeface="宋体" panose="02010600030101010101" pitchFamily="2" charset="-122"/>
                <a:sym typeface="+mn-ea"/>
              </a:rPr>
              <a:t>实例分析</a:t>
            </a:r>
            <a:endParaRPr lang="zh-CN" altLang="en-US" sz="2000" b="1" dirty="0">
              <a:solidFill>
                <a:schemeClr val="accent1">
                  <a:lumMod val="50000"/>
                </a:schemeClr>
              </a:solidFill>
              <a:latin typeface="宋体" panose="02010600030101010101" pitchFamily="2" charset="-122"/>
              <a:ea typeface="宋体" panose="02010600030101010101" pitchFamily="2" charset="-122"/>
              <a:sym typeface="+mn-ea"/>
            </a:endParaRPr>
          </a:p>
        </p:txBody>
      </p:sp>
      <p:sp>
        <p:nvSpPr>
          <p:cNvPr id="13" name="文本框 12"/>
          <p:cNvSpPr txBox="1"/>
          <p:nvPr/>
        </p:nvSpPr>
        <p:spPr>
          <a:xfrm>
            <a:off x="937895" y="4122420"/>
            <a:ext cx="3272790" cy="40011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05</a:t>
            </a:r>
            <a:r>
              <a:rPr lang="en-US" altLang="zh-CN" sz="2000" dirty="0">
                <a:solidFill>
                  <a:srgbClr val="000000"/>
                </a:solidFill>
                <a:latin typeface="黑体" panose="02010609060101010101" charset="-122"/>
                <a:ea typeface="黑体" panose="02010609060101010101" charset="-122"/>
                <a:sym typeface="+mn-ea"/>
              </a:rPr>
              <a:t> </a:t>
            </a:r>
            <a:r>
              <a:rPr lang="en-US" altLang="zh-CN" sz="2000" b="1" dirty="0">
                <a:solidFill>
                  <a:schemeClr val="accent1">
                    <a:lumMod val="50000"/>
                  </a:schemeClr>
                </a:solidFill>
                <a:latin typeface="宋体" panose="02010600030101010101" pitchFamily="2" charset="-122"/>
                <a:ea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ea typeface="宋体" panose="02010600030101010101" pitchFamily="2" charset="-122"/>
                <a:sym typeface="+mn-ea"/>
              </a:rPr>
              <a:t>应用到地面分割</a:t>
            </a:r>
            <a:endParaRPr lang="zh-CN" altLang="en-US" sz="2000" b="1" dirty="0">
              <a:solidFill>
                <a:schemeClr val="accent1">
                  <a:lumMod val="50000"/>
                </a:schemeClr>
              </a:solidFill>
              <a:latin typeface="宋体" panose="02010600030101010101" pitchFamily="2" charset="-122"/>
              <a:ea typeface="宋体" panose="02010600030101010101" pitchFamily="2"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937895" y="1071880"/>
            <a:ext cx="2856230" cy="40011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01</a:t>
            </a:r>
            <a:r>
              <a:rPr lang="en-US" altLang="zh-CN" sz="2000" dirty="0">
                <a:solidFill>
                  <a:srgbClr val="000000"/>
                </a:solidFill>
                <a:latin typeface="黑体" panose="02010609060101010101" charset="-122"/>
                <a:ea typeface="黑体" panose="02010609060101010101" charset="-122"/>
                <a:sym typeface="+mn-ea"/>
              </a:rPr>
              <a:t> </a:t>
            </a:r>
            <a:r>
              <a:rPr lang="en-US" altLang="zh-CN" sz="2000" dirty="0">
                <a:solidFill>
                  <a:schemeClr val="accent1">
                    <a:lumMod val="50000"/>
                  </a:schemeClr>
                </a:solidFill>
                <a:latin typeface="黑体" panose="02010609060101010101" charset="-122"/>
                <a:ea typeface="黑体" panose="02010609060101010101" charset="-122"/>
                <a:sym typeface="+mn-ea"/>
              </a:rPr>
              <a:t>PCA</a:t>
            </a:r>
            <a:r>
              <a:rPr lang="zh-CN" altLang="en-US" sz="2000" dirty="0">
                <a:solidFill>
                  <a:schemeClr val="accent1">
                    <a:lumMod val="50000"/>
                  </a:schemeClr>
                </a:solidFill>
                <a:latin typeface="黑体" panose="02010609060101010101" charset="-122"/>
                <a:ea typeface="黑体" panose="02010609060101010101" charset="-122"/>
                <a:sym typeface="+mn-ea"/>
              </a:rPr>
              <a:t>的背景分析</a:t>
            </a:r>
            <a:endParaRPr lang="zh-CN" altLang="en-US" sz="2000" dirty="0">
              <a:solidFill>
                <a:schemeClr val="accent1">
                  <a:lumMod val="50000"/>
                </a:schemeClr>
              </a:solidFill>
              <a:latin typeface="黑体" panose="02010609060101010101" charset="-122"/>
              <a:ea typeface="黑体" panose="02010609060101010101" charset="-122"/>
              <a:sym typeface="+mn-ea"/>
            </a:endParaRPr>
          </a:p>
        </p:txBody>
      </p:sp>
      <p:sp>
        <p:nvSpPr>
          <p:cNvPr id="2" name="文本框 1"/>
          <p:cNvSpPr txBox="1"/>
          <p:nvPr/>
        </p:nvSpPr>
        <p:spPr>
          <a:xfrm>
            <a:off x="903606" y="1844675"/>
            <a:ext cx="7390765" cy="1554480"/>
          </a:xfrm>
          <a:prstGeom prst="rect">
            <a:avLst/>
          </a:prstGeom>
          <a:noFill/>
        </p:spPr>
        <p:txBody>
          <a:bodyPr wrap="square" rtlCol="0">
            <a:spAutoFit/>
          </a:bodyPr>
          <a:lstStyle/>
          <a:p>
            <a:pPr algn="just">
              <a:lnSpc>
                <a:spcPct val="150000"/>
              </a:lnSpc>
            </a:pPr>
            <a:r>
              <a:rPr lang="en-US" altLang="zh-CN" sz="1600" dirty="0">
                <a:latin typeface="黑体" panose="02010609060101010101" charset="-122"/>
                <a:ea typeface="黑体" panose="02010609060101010101" charset="-122"/>
                <a:sym typeface="+mn-ea"/>
              </a:rPr>
              <a:t>PCA</a:t>
            </a:r>
            <a:r>
              <a:rPr lang="zh-CN" altLang="en-US" sz="1600" dirty="0">
                <a:latin typeface="黑体" panose="02010609060101010101" charset="-122"/>
                <a:ea typeface="黑体" panose="02010609060101010101" charset="-122"/>
                <a:sym typeface="+mn-ea"/>
              </a:rPr>
              <a:t>（</a:t>
            </a:r>
            <a:r>
              <a:rPr lang="en-US" altLang="zh-CN" sz="1600" dirty="0">
                <a:latin typeface="黑体" panose="02010609060101010101" charset="-122"/>
                <a:ea typeface="黑体" panose="02010609060101010101" charset="-122"/>
                <a:sym typeface="+mn-ea"/>
              </a:rPr>
              <a:t>Principal Component Analysis</a:t>
            </a:r>
            <a:r>
              <a:rPr lang="zh-CN" altLang="en-US" sz="1600" dirty="0">
                <a:latin typeface="黑体" panose="02010609060101010101" charset="-122"/>
                <a:ea typeface="黑体" panose="02010609060101010101" charset="-122"/>
                <a:sym typeface="+mn-ea"/>
              </a:rPr>
              <a:t>）是一种常用的数据分析方法。</a:t>
            </a:r>
            <a:r>
              <a:rPr lang="en-US" altLang="zh-CN" sz="1600" dirty="0">
                <a:latin typeface="黑体" panose="02010609060101010101" charset="-122"/>
                <a:ea typeface="黑体" panose="02010609060101010101" charset="-122"/>
                <a:sym typeface="+mn-ea"/>
              </a:rPr>
              <a:t>PCA</a:t>
            </a:r>
            <a:r>
              <a:rPr lang="zh-CN" altLang="en-US" sz="1600" dirty="0">
                <a:latin typeface="黑体" panose="02010609060101010101" charset="-122"/>
                <a:ea typeface="黑体" panose="02010609060101010101" charset="-122"/>
                <a:sym typeface="+mn-ea"/>
              </a:rPr>
              <a:t>通过线性变换将原始数据变换为一组各维度线性无关的表示，可用于提取数据的主要特征分量，常用于高维数据的降维。</a:t>
            </a:r>
            <a:r>
              <a:rPr lang="en-US" altLang="zh-CN" sz="1600" dirty="0">
                <a:solidFill>
                  <a:srgbClr val="FF0000"/>
                </a:solidFill>
                <a:latin typeface="黑体" panose="02010609060101010101" charset="-122"/>
                <a:ea typeface="黑体" panose="02010609060101010101" charset="-122"/>
                <a:sym typeface="+mn-ea"/>
              </a:rPr>
              <a:t> PCA</a:t>
            </a:r>
            <a:r>
              <a:rPr lang="zh-CN" altLang="en-US" sz="1600" dirty="0">
                <a:solidFill>
                  <a:srgbClr val="FF0000"/>
                </a:solidFill>
                <a:latin typeface="黑体" panose="02010609060101010101" charset="-122"/>
                <a:ea typeface="黑体" panose="02010609060101010101" charset="-122"/>
                <a:sym typeface="+mn-ea"/>
              </a:rPr>
              <a:t>的优点</a:t>
            </a:r>
            <a:r>
              <a:rPr lang="zh-CN" altLang="en-US" sz="1600" dirty="0">
                <a:latin typeface="黑体" panose="02010609060101010101" charset="-122"/>
                <a:ea typeface="黑体" panose="02010609060101010101" charset="-122"/>
                <a:sym typeface="+mn-ea"/>
              </a:rPr>
              <a:t>是简单，而且无参数限制，可以方便的应用与各个场合。</a:t>
            </a:r>
            <a:endParaRPr lang="zh-CN" altLang="en-US" sz="1600" dirty="0">
              <a:latin typeface="黑体" panose="02010609060101010101" charset="-122"/>
              <a:ea typeface="黑体" panose="02010609060101010101" charset="-122"/>
            </a:endParaRPr>
          </a:p>
        </p:txBody>
      </p:sp>
      <p:sp>
        <p:nvSpPr>
          <p:cNvPr id="7" name="矩形 6"/>
          <p:cNvSpPr/>
          <p:nvPr/>
        </p:nvSpPr>
        <p:spPr>
          <a:xfrm>
            <a:off x="993776" y="838835"/>
            <a:ext cx="244919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44919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5" y="1071880"/>
            <a:ext cx="2650490"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01 PCA</a:t>
            </a:r>
            <a:r>
              <a:rPr lang="zh-CN" altLang="en-US" sz="2000" dirty="0">
                <a:solidFill>
                  <a:schemeClr val="accent1">
                    <a:lumMod val="50000"/>
                  </a:schemeClr>
                </a:solidFill>
                <a:latin typeface="黑体" panose="02010609060101010101" charset="-122"/>
                <a:ea typeface="黑体" panose="02010609060101010101" charset="-122"/>
                <a:sym typeface="+mn-ea"/>
              </a:rPr>
              <a:t>的背景分析</a:t>
            </a:r>
            <a:endParaRPr lang="zh-CN" altLang="en-US" sz="2000" dirty="0">
              <a:solidFill>
                <a:schemeClr val="accent1">
                  <a:lumMod val="50000"/>
                </a:schemeClr>
              </a:solidFill>
              <a:latin typeface="黑体" panose="02010609060101010101" charset="-122"/>
              <a:ea typeface="黑体" panose="02010609060101010101" charset="-122"/>
              <a:sym typeface="+mn-ea"/>
            </a:endParaRPr>
          </a:p>
        </p:txBody>
      </p:sp>
      <mc:AlternateContent xmlns:mc="http://schemas.openxmlformats.org/markup-compatibility/2006">
        <mc:Choice xmlns:a14="http://schemas.microsoft.com/office/drawing/2010/main" Requires="a14">
          <p:sp>
            <p:nvSpPr>
              <p:cNvPr id="2" name="文本框 1"/>
              <p:cNvSpPr txBox="1"/>
              <p:nvPr/>
            </p:nvSpPr>
            <p:spPr>
              <a:xfrm>
                <a:off x="937896" y="1557021"/>
                <a:ext cx="7390765" cy="3170099"/>
              </a:xfrm>
              <a:prstGeom prst="rect">
                <a:avLst/>
              </a:prstGeom>
              <a:noFill/>
            </p:spPr>
            <p:txBody>
              <a:bodyPr wrap="square" rtlCol="0">
                <a:spAutoFit/>
              </a:bodyPr>
              <a:lstStyle/>
              <a:p>
                <a:pPr indent="457200"/>
                <a:r>
                  <a:rPr lang="zh-CN" altLang="en-US" sz="2000" dirty="0">
                    <a:latin typeface="宋体" panose="02010600030101010101" pitchFamily="2" charset="-122"/>
                  </a:rPr>
                  <a:t>一般情况下，在数据挖掘和机器学习中，数据被表示为向量。例如某个淘宝店</a:t>
                </a:r>
                <a:r>
                  <a:rPr lang="en-US" altLang="zh-CN" sz="2000" dirty="0">
                    <a:latin typeface="宋体" panose="02010600030101010101" pitchFamily="2" charset="-122"/>
                  </a:rPr>
                  <a:t>2012</a:t>
                </a:r>
                <a:r>
                  <a:rPr lang="zh-CN" altLang="en-US" sz="2000" dirty="0">
                    <a:latin typeface="宋体" panose="02010600030101010101" pitchFamily="2" charset="-122"/>
                  </a:rPr>
                  <a:t>年全年的流量及交易情况可以看成一组记录的集合，其中每一天的数据是一条记录，格式如下：</a:t>
                </a:r>
                <a:endParaRPr lang="en-US" altLang="zh-CN" sz="2000" dirty="0">
                  <a:latin typeface="宋体" panose="02010600030101010101" pitchFamily="2" charset="-122"/>
                </a:endParaRPr>
              </a:p>
              <a:p>
                <a:pPr indent="457200"/>
                <a:endParaRPr lang="en-US" altLang="zh-CN" sz="2000" dirty="0">
                  <a:latin typeface="宋体" panose="02010600030101010101" pitchFamily="2" charset="-122"/>
                </a:endParaRPr>
              </a:p>
              <a:p>
                <a:r>
                  <a:rPr lang="en-US" altLang="zh-CN" sz="2000" dirty="0">
                    <a:latin typeface="黑体" panose="02010609060101010101" charset="-122"/>
                    <a:ea typeface="黑体" panose="02010609060101010101" charset="-122"/>
                  </a:rPr>
                  <a:t>(</a:t>
                </a:r>
                <a:r>
                  <a:rPr lang="zh-CN" altLang="en-US" sz="2000" dirty="0">
                    <a:latin typeface="黑体" panose="02010609060101010101" charset="-122"/>
                    <a:ea typeface="黑体" panose="02010609060101010101" charset="-122"/>
                  </a:rPr>
                  <a:t>日期</a:t>
                </a:r>
                <a:r>
                  <a:rPr lang="en-US" altLang="zh-CN" sz="2000" dirty="0">
                    <a:latin typeface="黑体" panose="02010609060101010101" charset="-122"/>
                    <a:ea typeface="黑体" panose="02010609060101010101" charset="-122"/>
                  </a:rPr>
                  <a:t>, </a:t>
                </a:r>
                <a:r>
                  <a:rPr lang="zh-CN" altLang="en-US" sz="2000" dirty="0">
                    <a:latin typeface="黑体" panose="02010609060101010101" charset="-122"/>
                    <a:ea typeface="黑体" panose="02010609060101010101" charset="-122"/>
                  </a:rPr>
                  <a:t>浏览量</a:t>
                </a:r>
                <a:r>
                  <a:rPr lang="en-US" altLang="zh-CN" sz="2000" dirty="0">
                    <a:latin typeface="黑体" panose="02010609060101010101" charset="-122"/>
                    <a:ea typeface="黑体" panose="02010609060101010101" charset="-122"/>
                  </a:rPr>
                  <a:t>, </a:t>
                </a:r>
                <a:r>
                  <a:rPr lang="zh-CN" altLang="en-US" sz="2000" dirty="0">
                    <a:latin typeface="黑体" panose="02010609060101010101" charset="-122"/>
                    <a:ea typeface="黑体" panose="02010609060101010101" charset="-122"/>
                  </a:rPr>
                  <a:t>访客数</a:t>
                </a:r>
                <a:r>
                  <a:rPr lang="en-US" altLang="zh-CN" sz="2000" dirty="0">
                    <a:latin typeface="黑体" panose="02010609060101010101" charset="-122"/>
                    <a:ea typeface="黑体" panose="02010609060101010101" charset="-122"/>
                  </a:rPr>
                  <a:t>, </a:t>
                </a:r>
                <a:r>
                  <a:rPr lang="zh-CN" altLang="en-US" sz="2000" dirty="0">
                    <a:latin typeface="黑体" panose="02010609060101010101" charset="-122"/>
                    <a:ea typeface="黑体" panose="02010609060101010101" charset="-122"/>
                  </a:rPr>
                  <a:t>下单数</a:t>
                </a:r>
                <a:r>
                  <a:rPr lang="en-US" altLang="zh-CN" sz="2000" dirty="0">
                    <a:latin typeface="黑体" panose="02010609060101010101" charset="-122"/>
                    <a:ea typeface="黑体" panose="02010609060101010101" charset="-122"/>
                  </a:rPr>
                  <a:t>, </a:t>
                </a:r>
                <a:r>
                  <a:rPr lang="zh-CN" altLang="en-US" sz="2000" dirty="0">
                    <a:latin typeface="黑体" panose="02010609060101010101" charset="-122"/>
                    <a:ea typeface="黑体" panose="02010609060101010101" charset="-122"/>
                  </a:rPr>
                  <a:t>成交数</a:t>
                </a:r>
                <a:r>
                  <a:rPr lang="en-US" altLang="zh-CN" sz="2000" dirty="0">
                    <a:latin typeface="黑体" panose="02010609060101010101" charset="-122"/>
                    <a:ea typeface="黑体" panose="02010609060101010101" charset="-122"/>
                  </a:rPr>
                  <a:t>, </a:t>
                </a:r>
                <a:r>
                  <a:rPr lang="zh-CN" altLang="en-US" sz="2000" dirty="0">
                    <a:latin typeface="黑体" panose="02010609060101010101" charset="-122"/>
                    <a:ea typeface="黑体" panose="02010609060101010101" charset="-122"/>
                  </a:rPr>
                  <a:t>成交金额</a:t>
                </a:r>
                <a:r>
                  <a:rPr lang="en-US" altLang="zh-CN" sz="2000" dirty="0">
                    <a:latin typeface="黑体" panose="02010609060101010101" charset="-122"/>
                    <a:ea typeface="黑体" panose="02010609060101010101" charset="-122"/>
                  </a:rPr>
                  <a:t>)</a:t>
                </a:r>
                <a:endParaRPr lang="en-US" altLang="zh-CN" sz="2000" dirty="0">
                  <a:latin typeface="黑体" panose="02010609060101010101" charset="-122"/>
                  <a:ea typeface="黑体" panose="02010609060101010101" charset="-122"/>
                </a:endParaRPr>
              </a:p>
              <a:p>
                <a:endParaRPr lang="en-US" altLang="zh-CN" sz="2000" dirty="0"/>
              </a:p>
              <a:p>
                <a:r>
                  <a:rPr lang="zh-CN" altLang="en-US" sz="2000" dirty="0"/>
                  <a:t>每条记录可以被表示为一个五维向量，其中一条看起来大约是这个样子：</a:t>
                </a:r>
                <a:endParaRPr lang="en-US" altLang="zh-CN" sz="2000" dirty="0"/>
              </a:p>
              <a:p>
                <a:endParaRPr lang="en-US" altLang="zh-CN" sz="2000" dirty="0"/>
              </a:p>
              <a:p>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m:t>
                          </m:r>
                          <m:r>
                            <a:rPr lang="en-US" altLang="zh-CN" sz="2000" i="1">
                              <a:latin typeface="Cambria Math" panose="02040503050406030204" pitchFamily="18" charset="0"/>
                            </a:rPr>
                            <m:t>500</m:t>
                          </m:r>
                          <m:r>
                            <a:rPr lang="en-US" altLang="zh-CN" sz="2000" i="1">
                              <a:latin typeface="Cambria Math" panose="02040503050406030204" pitchFamily="18" charset="0"/>
                            </a:rPr>
                            <m:t>,</m:t>
                          </m:r>
                          <m:r>
                            <a:rPr lang="en-US" altLang="zh-CN" sz="2000" i="1">
                              <a:latin typeface="Cambria Math" panose="02040503050406030204" pitchFamily="18" charset="0"/>
                            </a:rPr>
                            <m:t>240</m:t>
                          </m:r>
                          <m:r>
                            <a:rPr lang="en-US" altLang="zh-CN" sz="2000" i="1">
                              <a:latin typeface="Cambria Math" panose="02040503050406030204" pitchFamily="18" charset="0"/>
                            </a:rPr>
                            <m:t>,</m:t>
                          </m:r>
                          <m:r>
                            <a:rPr lang="en-US" altLang="zh-CN" sz="2000" i="1">
                              <a:latin typeface="Cambria Math" panose="02040503050406030204" pitchFamily="18" charset="0"/>
                            </a:rPr>
                            <m:t>25</m:t>
                          </m:r>
                          <m:r>
                            <a:rPr lang="en-US" altLang="zh-CN" sz="2000" i="1">
                              <a:latin typeface="Cambria Math" panose="02040503050406030204" pitchFamily="18" charset="0"/>
                            </a:rPr>
                            <m:t>,</m:t>
                          </m:r>
                          <m:r>
                            <a:rPr lang="en-US" altLang="zh-CN" sz="2000" i="1">
                              <a:latin typeface="Cambria Math" panose="02040503050406030204" pitchFamily="18" charset="0"/>
                            </a:rPr>
                            <m:t>13</m:t>
                          </m:r>
                          <m:r>
                            <a:rPr lang="en-US" altLang="zh-CN" sz="2000" i="1">
                              <a:latin typeface="Cambria Math" panose="02040503050406030204" pitchFamily="18" charset="0"/>
                            </a:rPr>
                            <m:t>,</m:t>
                          </m:r>
                          <m:r>
                            <a:rPr lang="en-US" altLang="zh-CN" sz="2000" i="1">
                              <a:latin typeface="Cambria Math" panose="02040503050406030204" pitchFamily="18" charset="0"/>
                            </a:rPr>
                            <m:t>2312</m:t>
                          </m:r>
                          <m:r>
                            <a:rPr lang="en-US" altLang="zh-CN" sz="2000" i="1">
                              <a:latin typeface="Cambria Math" panose="02040503050406030204" pitchFamily="18" charset="0"/>
                            </a:rPr>
                            <m:t>.</m:t>
                          </m:r>
                          <m:r>
                            <a:rPr lang="en-US" altLang="zh-CN" sz="2000" i="1">
                              <a:latin typeface="Cambria Math" panose="02040503050406030204" pitchFamily="18" charset="0"/>
                            </a:rPr>
                            <m:t>15</m:t>
                          </m:r>
                          <m:r>
                            <a:rPr lang="en-US" altLang="zh-CN" sz="2000" i="1">
                              <a:latin typeface="Cambria Math" panose="02040503050406030204" pitchFamily="18" charset="0"/>
                            </a:rPr>
                            <m:t>)</m:t>
                          </m:r>
                        </m:e>
                        <m:sup>
                          <m:r>
                            <a:rPr lang="en-US" altLang="zh-CN" sz="2000" i="1">
                              <a:latin typeface="Cambria Math" panose="02040503050406030204" pitchFamily="18" charset="0"/>
                            </a:rPr>
                            <m:t>𝑇</m:t>
                          </m:r>
                        </m:sup>
                      </m:sSup>
                    </m:oMath>
                  </m:oMathPara>
                </a14:m>
                <a:endParaRPr lang="zh-CN" altLang="en-US" sz="2000" dirty="0">
                  <a:latin typeface="黑体" panose="02010609060101010101" charset="-122"/>
                  <a:ea typeface="黑体" panose="02010609060101010101"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937896" y="1557021"/>
                <a:ext cx="7390765" cy="3170099"/>
              </a:xfrm>
              <a:prstGeom prst="rect">
                <a:avLst/>
              </a:prstGeom>
              <a:blipFill rotWithShape="1">
                <a:blip r:embed="rId1"/>
                <a:stretch>
                  <a:fillRect r="-215" b="6"/>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1" y="1628775"/>
            <a:ext cx="7390765" cy="2651760"/>
          </a:xfrm>
          <a:prstGeom prst="rect">
            <a:avLst/>
          </a:prstGeom>
          <a:noFill/>
        </p:spPr>
        <p:txBody>
          <a:bodyPr wrap="square" rtlCol="0">
            <a:spAutoFit/>
          </a:bodyPr>
          <a:lstStyle/>
          <a:p>
            <a:pPr algn="just">
              <a:lnSpc>
                <a:spcPct val="150000"/>
              </a:lnSpc>
            </a:pPr>
            <a:r>
              <a:rPr lang="zh-CN" altLang="en-US" sz="1600" dirty="0">
                <a:latin typeface="黑体" panose="02010609060101010101" charset="-122"/>
                <a:ea typeface="黑体" panose="02010609060101010101" charset="-122"/>
                <a:sym typeface="+mn-ea"/>
              </a:rPr>
              <a:t>机器学习算法的复杂度和数据的维数有着密切关系，甚至与维数呈指数级关联，在这种情况下，机器学习的资源消耗是不可接受的，因此我们必须对数据进行降维。降维当然意味着信息的丢失，不过鉴于实际数据本身常常存在的相关性，我们可以想办法在降维的同时将信息的损失尽量降低。</a:t>
            </a:r>
            <a:endParaRPr lang="zh-CN" altLang="en-US" sz="1600" dirty="0">
              <a:latin typeface="黑体" panose="02010609060101010101" charset="-122"/>
              <a:ea typeface="黑体" panose="02010609060101010101" charset="-122"/>
              <a:sym typeface="+mn-ea"/>
            </a:endParaRPr>
          </a:p>
          <a:p>
            <a:pPr algn="just">
              <a:lnSpc>
                <a:spcPct val="150000"/>
              </a:lnSpc>
            </a:pPr>
            <a:endParaRPr lang="en-US" altLang="zh-CN" sz="1600" dirty="0">
              <a:latin typeface="黑体" panose="02010609060101010101" charset="-122"/>
              <a:ea typeface="黑体" panose="02010609060101010101" charset="-122"/>
            </a:endParaRPr>
          </a:p>
          <a:p>
            <a:pPr algn="just">
              <a:lnSpc>
                <a:spcPct val="150000"/>
              </a:lnSpc>
            </a:pPr>
            <a:r>
              <a:rPr lang="zh-CN" altLang="en-US" sz="1600" dirty="0">
                <a:latin typeface="黑体" panose="02010609060101010101" charset="-122"/>
                <a:ea typeface="黑体" panose="02010609060101010101" charset="-122"/>
                <a:sym typeface="+mn-ea"/>
              </a:rPr>
              <a:t>降维的朴素思想描述：</a:t>
            </a:r>
            <a:r>
              <a:rPr lang="zh-CN" altLang="en-US" sz="1600" b="1" dirty="0">
                <a:solidFill>
                  <a:schemeClr val="accent1">
                    <a:lumMod val="50000"/>
                  </a:schemeClr>
                </a:solidFill>
                <a:latin typeface="黑体" panose="02010609060101010101" charset="-122"/>
                <a:ea typeface="黑体" panose="02010609060101010101" charset="-122"/>
                <a:sym typeface="+mn-ea"/>
              </a:rPr>
              <a:t>如果我们删除数据中的一个指标，并不会丢失太多原本信息。因此我们可以删除一个，以降低机器学习算法的复杂度。</a:t>
            </a:r>
            <a:endParaRPr lang="zh-CN" altLang="en-US" sz="1600" b="1" dirty="0">
              <a:solidFill>
                <a:schemeClr val="accent1">
                  <a:lumMod val="50000"/>
                </a:schemeClr>
              </a:solidFill>
              <a:latin typeface="黑体" panose="02010609060101010101" charset="-122"/>
              <a:ea typeface="黑体" panose="02010609060101010101" charset="-122"/>
              <a:sym typeface="+mn-ea"/>
            </a:endParaRPr>
          </a:p>
        </p:txBody>
      </p:sp>
      <p:sp>
        <p:nvSpPr>
          <p:cNvPr id="3" name="矩形 2"/>
          <p:cNvSpPr/>
          <p:nvPr/>
        </p:nvSpPr>
        <p:spPr>
          <a:xfrm>
            <a:off x="993776" y="838835"/>
            <a:ext cx="244919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37895" y="1071880"/>
            <a:ext cx="2650490"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01 PCA</a:t>
            </a:r>
            <a:r>
              <a:rPr lang="zh-CN" altLang="en-US" sz="2000" dirty="0">
                <a:solidFill>
                  <a:schemeClr val="accent1">
                    <a:lumMod val="50000"/>
                  </a:schemeClr>
                </a:solidFill>
                <a:latin typeface="黑体" panose="02010609060101010101" charset="-122"/>
                <a:ea typeface="黑体" panose="02010609060101010101" charset="-122"/>
                <a:sym typeface="+mn-ea"/>
              </a:rPr>
              <a:t>的背景分析</a:t>
            </a:r>
            <a:endParaRPr lang="zh-CN" altLang="en-US" sz="2000" dirty="0">
              <a:solidFill>
                <a:schemeClr val="accent1">
                  <a:lumMod val="50000"/>
                </a:schemeClr>
              </a:solidFill>
              <a:latin typeface="黑体" panose="02010609060101010101" charset="-122"/>
              <a:ea typeface="黑体" panose="02010609060101010101"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02</a:t>
            </a:r>
            <a:r>
              <a:rPr lang="en-US" altLang="zh-CN" sz="2000" dirty="0">
                <a:solidFill>
                  <a:srgbClr val="000000"/>
                </a:solidFill>
                <a:latin typeface="黑体" panose="02010609060101010101" charset="-122"/>
                <a:ea typeface="黑体" panose="02010609060101010101" charset="-122"/>
                <a:sym typeface="+mn-ea"/>
              </a:rPr>
              <a:t>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推导</a:t>
            </a:r>
            <a:endParaRPr lang="zh-CN" altLang="en-US" sz="2000" b="1" dirty="0">
              <a:solidFill>
                <a:schemeClr val="accent1">
                  <a:lumMod val="50000"/>
                </a:schemeClr>
              </a:solidFill>
              <a:latin typeface="宋体" panose="02010600030101010101" pitchFamily="2" charset="-122"/>
              <a:sym typeface="+mn-ea"/>
            </a:endParaRPr>
          </a:p>
        </p:txBody>
      </p:sp>
      <mc:AlternateContent xmlns:mc="http://schemas.openxmlformats.org/markup-compatibility/2006">
        <mc:Choice xmlns:a14="http://schemas.microsoft.com/office/drawing/2010/main" Requires="a14">
          <p:sp>
            <p:nvSpPr>
              <p:cNvPr id="2" name="文本框 1"/>
              <p:cNvSpPr txBox="1"/>
              <p:nvPr/>
            </p:nvSpPr>
            <p:spPr>
              <a:xfrm>
                <a:off x="5840730" y="1468121"/>
                <a:ext cx="2366010" cy="4401205"/>
              </a:xfrm>
              <a:prstGeom prst="rect">
                <a:avLst/>
              </a:prstGeom>
              <a:noFill/>
            </p:spPr>
            <p:txBody>
              <a:bodyPr wrap="square" rtlCol="0">
                <a:spAutoFit/>
              </a:bodyPr>
              <a:lstStyle/>
              <a:p>
                <a:pPr indent="457200" algn="just"/>
                <a:r>
                  <a:rPr lang="zh-CN" altLang="en-US" sz="2000" dirty="0"/>
                  <a:t>图中的向量可以表示为</a:t>
                </a:r>
                <a:r>
                  <a:rPr lang="en-US" altLang="zh-CN" sz="2000" dirty="0"/>
                  <a:t>(3,2)</a:t>
                </a:r>
                <a:r>
                  <a:rPr lang="zh-CN" altLang="en-US" sz="2000" dirty="0"/>
                  <a:t>。而我们常常忽略</a:t>
                </a:r>
                <a:r>
                  <a:rPr lang="zh-CN" altLang="en-US" sz="2000" b="1" dirty="0"/>
                  <a:t>只有一个</a:t>
                </a:r>
                <a:r>
                  <a:rPr lang="en-US" altLang="zh-CN" sz="2000" b="1" dirty="0"/>
                  <a:t>(3,2)</a:t>
                </a:r>
                <a:r>
                  <a:rPr lang="zh-CN" altLang="en-US" sz="2000" b="1" dirty="0"/>
                  <a:t>本身是不能够精确表示一个向量的。</a:t>
                </a:r>
                <a:r>
                  <a:rPr lang="zh-CN" altLang="en-US" sz="2000" dirty="0"/>
                  <a:t>这里的</a:t>
                </a:r>
                <a:r>
                  <a:rPr lang="en-US" altLang="zh-CN" sz="2000" dirty="0"/>
                  <a:t>3</a:t>
                </a:r>
                <a:r>
                  <a:rPr lang="zh-CN" altLang="en-US" sz="2000" dirty="0"/>
                  <a:t>实际表示的是向量在</a:t>
                </a:r>
                <a:r>
                  <a:rPr lang="en-US" altLang="zh-CN" sz="2000" dirty="0"/>
                  <a:t>x</a:t>
                </a:r>
                <a:r>
                  <a:rPr lang="zh-CN" altLang="en-US" sz="2000" dirty="0"/>
                  <a:t>轴上的投影值是</a:t>
                </a:r>
                <a:r>
                  <a:rPr lang="en-US" altLang="zh-CN" sz="2000" dirty="0"/>
                  <a:t>3</a:t>
                </a:r>
                <a:r>
                  <a:rPr lang="zh-CN" altLang="en-US" sz="2000" dirty="0"/>
                  <a:t>，在</a:t>
                </a:r>
                <a:r>
                  <a:rPr lang="en-US" altLang="zh-CN" sz="2000" dirty="0"/>
                  <a:t>y</a:t>
                </a:r>
                <a:r>
                  <a:rPr lang="zh-CN" altLang="en-US" sz="2000" dirty="0"/>
                  <a:t>轴上的投影值是</a:t>
                </a:r>
                <a:r>
                  <a:rPr lang="en-US" altLang="zh-CN" sz="2000" dirty="0"/>
                  <a:t>2</a:t>
                </a:r>
                <a:r>
                  <a:rPr lang="zh-CN" altLang="en-US" sz="2000" dirty="0"/>
                  <a:t>。</a:t>
                </a:r>
                <a:endParaRPr lang="en-US" altLang="zh-CN" sz="2000" dirty="0"/>
              </a:p>
              <a:p>
                <a:pPr indent="457200" algn="just"/>
                <a:r>
                  <a:rPr lang="zh-CN" altLang="en-US" sz="2000" dirty="0"/>
                  <a:t>更正式的说，向量</a:t>
                </a:r>
                <a:r>
                  <a:rPr lang="en-US" altLang="zh-CN" sz="2000" dirty="0"/>
                  <a:t>(</a:t>
                </a:r>
                <a:r>
                  <a:rPr lang="en-US" altLang="zh-CN" sz="2000" dirty="0" err="1"/>
                  <a:t>x,y</a:t>
                </a:r>
                <a:r>
                  <a:rPr lang="en-US" altLang="zh-CN" sz="2000" dirty="0"/>
                  <a:t>)</a:t>
                </a:r>
                <a:r>
                  <a:rPr lang="zh-CN" altLang="en-US" sz="2000" dirty="0"/>
                  <a:t>实际上表示线性组合：</a:t>
                </a:r>
                <a14:m>
                  <m:oMath xmlns:m="http://schemas.openxmlformats.org/officeDocument/2006/math">
                    <m:r>
                      <a:rPr lang="en-US" altLang="zh-CN" sz="2000" i="1">
                        <a:latin typeface="Cambria Math" panose="02040503050406030204" pitchFamily="18" charset="0"/>
                      </a:rPr>
                      <m:t>𝑥</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m:t>
                        </m:r>
                        <m:r>
                          <a:rPr lang="en-US" altLang="zh-CN" sz="2000" i="1">
                            <a:latin typeface="Cambria Math" panose="02040503050406030204" pitchFamily="18" charset="0"/>
                          </a:rPr>
                          <m:t>1</m:t>
                        </m:r>
                        <m:r>
                          <a:rPr lang="en-US" altLang="zh-CN" sz="2000" i="1">
                            <a:latin typeface="Cambria Math" panose="02040503050406030204" pitchFamily="18" charset="0"/>
                          </a:rPr>
                          <m:t>,</m:t>
                        </m:r>
                        <m:r>
                          <a:rPr lang="en-US" altLang="zh-CN" sz="2000" i="1">
                            <a:latin typeface="Cambria Math" panose="02040503050406030204" pitchFamily="18" charset="0"/>
                          </a:rPr>
                          <m:t>0</m:t>
                        </m:r>
                        <m:r>
                          <a:rPr lang="en-US" altLang="zh-CN" sz="2000" i="1">
                            <a:latin typeface="Cambria Math" panose="02040503050406030204" pitchFamily="18" charset="0"/>
                          </a:rPr>
                          <m:t>)</m:t>
                        </m:r>
                      </m:e>
                      <m:sup>
                        <m:r>
                          <a:rPr lang="en-US" altLang="zh-CN" sz="2000" i="1">
                            <a:latin typeface="Cambria Math" panose="02040503050406030204" pitchFamily="18" charset="0"/>
                          </a:rPr>
                          <m:t>𝑇</m:t>
                        </m:r>
                      </m:sup>
                    </m:sSup>
                    <m:r>
                      <a:rPr lang="en-US" altLang="zh-CN" sz="2000" i="1">
                        <a:latin typeface="Cambria Math" panose="02040503050406030204" pitchFamily="18" charset="0"/>
                      </a:rPr>
                      <m:t>+</m:t>
                    </m:r>
                    <m:r>
                      <a:rPr lang="en-US" altLang="zh-CN" sz="2000" i="1">
                        <a:latin typeface="Cambria Math" panose="02040503050406030204" pitchFamily="18" charset="0"/>
                      </a:rPr>
                      <m:t>𝑦</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m:t>
                        </m:r>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1</m:t>
                        </m:r>
                        <m:r>
                          <a:rPr lang="en-US" altLang="zh-CN" sz="2000" i="1">
                            <a:latin typeface="Cambria Math" panose="02040503050406030204" pitchFamily="18" charset="0"/>
                          </a:rPr>
                          <m:t>)</m:t>
                        </m:r>
                      </m:e>
                      <m:sup>
                        <m:r>
                          <a:rPr lang="en-US" altLang="zh-CN" sz="2000" i="1">
                            <a:latin typeface="Cambria Math" panose="02040503050406030204" pitchFamily="18" charset="0"/>
                          </a:rPr>
                          <m:t>𝑇</m:t>
                        </m:r>
                      </m:sup>
                    </m:sSup>
                  </m:oMath>
                </a14:m>
                <a:endParaRPr lang="zh-CN" altLang="en-US" sz="2000" dirty="0">
                  <a:latin typeface="黑体" panose="02010609060101010101" charset="-122"/>
                  <a:ea typeface="黑体" panose="02010609060101010101"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5840730" y="1468121"/>
                <a:ext cx="2366010" cy="4401205"/>
              </a:xfrm>
              <a:prstGeom prst="rect">
                <a:avLst/>
              </a:prstGeom>
              <a:blipFill rotWithShape="1">
                <a:blip r:embed="rId1"/>
                <a:stretch>
                  <a:fillRect/>
                </a:stretch>
              </a:blipFill>
            </p:spPr>
            <p:txBody>
              <a:bodyPr/>
              <a:lstStyle/>
              <a:p>
                <a:r>
                  <a:rPr lang="zh-CN" altLang="en-US">
                    <a:noFill/>
                  </a:rPr>
                  <a:t> </a:t>
                </a:r>
              </a:p>
            </p:txBody>
          </p:sp>
        </mc:Fallback>
      </mc:AlternateContent>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776" y="1624966"/>
            <a:ext cx="4469765" cy="4244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02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推导</a:t>
            </a:r>
            <a:endParaRPr lang="zh-CN" altLang="en-US" sz="2000" b="1" dirty="0">
              <a:solidFill>
                <a:schemeClr val="accent1">
                  <a:lumMod val="50000"/>
                </a:schemeClr>
              </a:solidFill>
              <a:latin typeface="宋体" panose="02010600030101010101" pitchFamily="2" charset="-122"/>
              <a:sym typeface="+mn-ea"/>
            </a:endParaRPr>
          </a:p>
        </p:txBody>
      </p:sp>
      <mc:AlternateContent xmlns:mc="http://schemas.openxmlformats.org/markup-compatibility/2006">
        <mc:Choice xmlns:a14="http://schemas.microsoft.com/office/drawing/2010/main" Requires="a14">
          <p:sp>
            <p:nvSpPr>
              <p:cNvPr id="2" name="文本框 1"/>
              <p:cNvSpPr txBox="1"/>
              <p:nvPr/>
            </p:nvSpPr>
            <p:spPr>
              <a:xfrm>
                <a:off x="5600700" y="1453376"/>
                <a:ext cx="2548890" cy="4402615"/>
              </a:xfrm>
              <a:prstGeom prst="rect">
                <a:avLst/>
              </a:prstGeom>
              <a:noFill/>
            </p:spPr>
            <p:txBody>
              <a:bodyPr wrap="square" rtlCol="0">
                <a:spAutoFit/>
              </a:bodyPr>
              <a:lstStyle/>
              <a:p>
                <a:pPr indent="457200" algn="just"/>
                <a:r>
                  <a:rPr lang="zh-CN" altLang="en-US" dirty="0">
                    <a:latin typeface="宋体" panose="02010600030101010101" pitchFamily="2" charset="-122"/>
                  </a:rPr>
                  <a:t>所以，</a:t>
                </a:r>
                <a:r>
                  <a:rPr lang="zh-CN" altLang="en-US" b="1" dirty="0">
                    <a:latin typeface="宋体" panose="02010600030101010101" pitchFamily="2" charset="-122"/>
                  </a:rPr>
                  <a:t>要准确描述向量，首先要确定一组基，然后给出在基所在的各个直线上的投影值，就可以了</a:t>
                </a:r>
                <a:r>
                  <a:rPr lang="zh-CN" altLang="en-US" b="1" i="1" dirty="0">
                    <a:latin typeface="宋体" panose="02010600030101010101" pitchFamily="2" charset="-122"/>
                  </a:rPr>
                  <a:t>。</a:t>
                </a:r>
                <a:endParaRPr lang="zh-CN" altLang="en-US" b="1" i="1" dirty="0">
                  <a:latin typeface="宋体" panose="02010600030101010101" pitchFamily="2" charset="-122"/>
                </a:endParaRPr>
              </a:p>
              <a:p>
                <a:pPr indent="457200" algn="just"/>
                <a:r>
                  <a:rPr lang="zh-CN" altLang="en-US" dirty="0">
                    <a:latin typeface="宋体" panose="02010600030101010101" pitchFamily="2" charset="-122"/>
                  </a:rPr>
                  <a:t>我们也可以选择其他的一对正交的向量作为基来描述其他的向量。例如我们使用</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r>
                          <a:rPr lang="en-US" altLang="zh-CN" i="1">
                            <a:latin typeface="Cambria Math" panose="02040503050406030204" pitchFamily="18" charset="0"/>
                          </a:rPr>
                          <m:t>)</m:t>
                        </m:r>
                      </m:e>
                      <m:sup>
                        <m:r>
                          <a:rPr lang="en-US" altLang="zh-CN" i="1">
                            <a:latin typeface="Cambria Math" panose="02040503050406030204" pitchFamily="18" charset="0"/>
                          </a:rPr>
                          <m:t>𝑇</m:t>
                        </m:r>
                      </m:sup>
                    </m:sSup>
                  </m:oMath>
                </a14:m>
                <a:r>
                  <a:rPr lang="zh-CN" altLang="en-US" dirty="0">
                    <a:latin typeface="宋体" panose="02010600030101010101" pitchFamily="2" charset="-122"/>
                  </a:rPr>
                  <a:t>和</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r>
                          <a:rPr lang="en-US" altLang="zh-CN" i="1">
                            <a:latin typeface="Cambria Math" panose="02040503050406030204" pitchFamily="18" charset="0"/>
                          </a:rPr>
                          <m:t>)</m:t>
                        </m:r>
                      </m:e>
                      <m:sup>
                        <m:r>
                          <a:rPr lang="en-US" altLang="zh-CN" i="1">
                            <a:latin typeface="Cambria Math" panose="02040503050406030204" pitchFamily="18" charset="0"/>
                          </a:rPr>
                          <m:t>𝑇</m:t>
                        </m:r>
                      </m:sup>
                    </m:sSup>
                  </m:oMath>
                </a14:m>
                <a:r>
                  <a:rPr lang="zh-CN" altLang="en-US" dirty="0">
                    <a:latin typeface="宋体" panose="02010600030101010101" pitchFamily="2" charset="-122"/>
                  </a:rPr>
                  <a:t>。</a:t>
                </a:r>
                <a:endParaRPr lang="en-US" altLang="zh-CN" dirty="0">
                  <a:latin typeface="宋体" panose="02010600030101010101" pitchFamily="2" charset="-122"/>
                </a:endParaRPr>
              </a:p>
              <a:p>
                <a:pPr indent="457200" algn="just"/>
                <a:r>
                  <a:rPr lang="zh-CN" altLang="en-US" dirty="0">
                    <a:latin typeface="宋体" panose="02010600030101010101" pitchFamily="2" charset="-122"/>
                  </a:rPr>
                  <a:t>此时向量</a:t>
                </a:r>
                <a:r>
                  <a:rPr lang="en-US" altLang="zh-CN" dirty="0"/>
                  <a:t>(3,2)</a:t>
                </a:r>
                <a:r>
                  <a:rPr lang="zh-CN" altLang="en-US" dirty="0"/>
                  <a:t>在该基下的新坐标为</a:t>
                </a:r>
                <a14:m>
                  <m:oMath xmlns:m="http://schemas.openxmlformats.org/officeDocument/2006/math">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5</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r>
                      <a:rPr lang="en-US" altLang="zh-CN" i="1">
                        <a:latin typeface="Cambria Math" panose="02040503050406030204" pitchFamily="18" charset="0"/>
                      </a:rPr>
                      <m:t>)</m:t>
                    </m:r>
                  </m:oMath>
                </a14:m>
                <a:endParaRPr lang="zh-CN" altLang="en-US" dirty="0">
                  <a:latin typeface="宋体" panose="02010600030101010101" pitchFamily="2" charset="-122"/>
                </a:endParaRPr>
              </a:p>
              <a:p>
                <a:pPr algn="just">
                  <a:lnSpc>
                    <a:spcPct val="150000"/>
                  </a:lnSpc>
                </a:pPr>
                <a:endParaRPr lang="zh-CN" altLang="en-US" sz="1600" dirty="0">
                  <a:latin typeface="黑体" panose="02010609060101010101" charset="-122"/>
                  <a:ea typeface="黑体" panose="02010609060101010101"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5600700" y="1453376"/>
                <a:ext cx="2548890" cy="4402615"/>
              </a:xfrm>
              <a:prstGeom prst="rect">
                <a:avLst/>
              </a:prstGeom>
              <a:blipFill rotWithShape="1">
                <a:blip r:embed="rId1"/>
                <a:stretch>
                  <a:fillRect t="-11" r="-2790" b="-1903"/>
                </a:stretch>
              </a:blipFill>
            </p:spPr>
            <p:txBody>
              <a:bodyPr/>
              <a:lstStyle/>
              <a:p>
                <a:r>
                  <a:rPr lang="zh-CN" altLang="en-US">
                    <a:noFill/>
                  </a:rPr>
                  <a:t> </a:t>
                </a:r>
              </a:p>
            </p:txBody>
          </p:sp>
        </mc:Fallback>
      </mc:AlternateContent>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895" y="1624966"/>
            <a:ext cx="3526348" cy="38614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02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推导</a:t>
            </a:r>
            <a:endParaRPr lang="zh-CN" altLang="en-US" sz="2000" b="1" dirty="0">
              <a:solidFill>
                <a:schemeClr val="accent1">
                  <a:lumMod val="50000"/>
                </a:schemeClr>
              </a:solidFill>
              <a:latin typeface="宋体" panose="02010600030101010101" pitchFamily="2" charset="-122"/>
              <a:sym typeface="+mn-ea"/>
            </a:endParaRPr>
          </a:p>
        </p:txBody>
      </p:sp>
      <mc:AlternateContent xmlns:mc="http://schemas.openxmlformats.org/markup-compatibility/2006">
        <mc:Choice xmlns:a14="http://schemas.microsoft.com/office/drawing/2010/main" Requires="a14">
          <p:sp>
            <p:nvSpPr>
              <p:cNvPr id="2" name="文本框 1"/>
              <p:cNvSpPr txBox="1"/>
              <p:nvPr/>
            </p:nvSpPr>
            <p:spPr>
              <a:xfrm>
                <a:off x="937896" y="1624966"/>
                <a:ext cx="7390765" cy="3239770"/>
              </a:xfrm>
              <a:prstGeom prst="rect">
                <a:avLst/>
              </a:prstGeom>
              <a:noFill/>
            </p:spPr>
            <p:txBody>
              <a:bodyPr wrap="square" rtlCol="0">
                <a:spAutoFit/>
              </a:bodyPr>
              <a:lstStyle/>
              <a:p>
                <a:pPr indent="457200" algn="just"/>
                <a:r>
                  <a:rPr lang="zh-CN" altLang="en-US" dirty="0">
                    <a:latin typeface="宋体" panose="02010600030101010101" pitchFamily="2" charset="-122"/>
                  </a:rPr>
                  <a:t>向量</a:t>
                </a:r>
                <a:r>
                  <a:rPr lang="en-US" altLang="zh-CN" dirty="0"/>
                  <a:t>(3,2)</a:t>
                </a:r>
                <a:r>
                  <a:rPr lang="zh-CN" altLang="en-US" dirty="0"/>
                  <a:t>可以通过下面的矩阵运算来获得新的坐标</a:t>
                </a:r>
                <a:endParaRPr lang="zh-CN" altLang="en-US" dirty="0">
                  <a:latin typeface="宋体" panose="02010600030101010101" pitchFamily="2" charset="-122"/>
                </a:endParaRPr>
              </a:p>
              <a:p>
                <a14:m>
                  <m:oMathPara xmlns:m="http://schemas.openxmlformats.org/officeDocument/2006/math">
                    <m:oMathParaPr>
                      <m:jc m:val="centerGroup"/>
                    </m:oMathParaPr>
                    <m:oMath xmlns:m="http://schemas.openxmlformats.org/officeDocument/2006/math">
                      <m:d>
                        <m:dPr>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e>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e>
                            </m:mr>
                            <m:m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e>
                              <m:e>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e>
                            </m:mr>
                          </m:m>
                        </m:e>
                      </m:d>
                      <m:d>
                        <m:dPr>
                          <m:ctrlPr>
                            <a:rPr lang="en-US" altLang="zh-CN" i="1">
                              <a:latin typeface="Cambria Math" panose="02040503050406030204" pitchFamily="18" charset="0"/>
                            </a:rPr>
                          </m:ctrlPr>
                        </m:dPr>
                        <m:e>
                          <m:f>
                            <m:fPr>
                              <m:type m:val="noBar"/>
                              <m:ctrlPr>
                                <a:rPr lang="en-US" altLang="zh-CN" i="1">
                                  <a:latin typeface="Cambria Math" panose="02040503050406030204" pitchFamily="18" charset="0"/>
                                </a:rPr>
                              </m:ctrlPr>
                            </m:fPr>
                            <m:num>
                              <m:r>
                                <a:rPr lang="en-US" altLang="zh-CN" i="1">
                                  <a:latin typeface="Cambria Math" panose="02040503050406030204" pitchFamily="18" charset="0"/>
                                </a:rPr>
                                <m:t>3</m:t>
                              </m:r>
                            </m:num>
                            <m:den>
                              <m:r>
                                <a:rPr lang="en-US" altLang="zh-CN" i="1">
                                  <a:latin typeface="Cambria Math" panose="02040503050406030204" pitchFamily="18" charset="0"/>
                                </a:rPr>
                                <m:t>2</m:t>
                              </m:r>
                            </m:den>
                          </m:f>
                        </m:e>
                      </m:d>
                      <m:r>
                        <a:rPr lang="en-US" altLang="zh-CN" i="1">
                          <a:latin typeface="Cambria Math" panose="02040503050406030204" pitchFamily="18" charset="0"/>
                        </a:rPr>
                        <m:t>= </m:t>
                      </m:r>
                      <m:d>
                        <m:dPr>
                          <m:ctrlPr>
                            <a:rPr lang="en-US" altLang="zh-CN" i="1">
                              <a:latin typeface="Cambria Math" panose="02040503050406030204" pitchFamily="18" charset="0"/>
                            </a:rPr>
                          </m:ctrlPr>
                        </m:dPr>
                        <m:e>
                          <m:f>
                            <m:fPr>
                              <m:type m:val="noBar"/>
                              <m:ctrlPr>
                                <a:rPr lang="en-US" altLang="zh-CN" i="1">
                                  <a:latin typeface="Cambria Math" panose="02040503050406030204" pitchFamily="18" charset="0"/>
                                </a:rPr>
                              </m:ctrlPr>
                            </m:fPr>
                            <m:num>
                              <m:f>
                                <m:fPr>
                                  <m:ctrlPr>
                                    <a:rPr lang="en-US" altLang="zh-CN" i="1">
                                      <a:latin typeface="Cambria Math" panose="02040503050406030204" pitchFamily="18" charset="0"/>
                                    </a:rPr>
                                  </m:ctrlPr>
                                </m:fPr>
                                <m:num>
                                  <m:r>
                                    <a:rPr lang="en-US" altLang="zh-CN" i="1">
                                      <a:latin typeface="Cambria Math" panose="02040503050406030204" pitchFamily="18" charset="0"/>
                                    </a:rPr>
                                    <m:t>5</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num>
                            <m:den>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2</m:t>
                                      </m:r>
                                    </m:e>
                                  </m:rad>
                                </m:den>
                              </m:f>
                            </m:den>
                          </m:f>
                        </m:e>
                      </m:d>
                    </m:oMath>
                  </m:oMathPara>
                </a14:m>
                <a:endParaRPr lang="en-US" altLang="zh-CN" dirty="0">
                  <a:latin typeface="宋体" panose="02010600030101010101" pitchFamily="2" charset="-122"/>
                </a:endParaRPr>
              </a:p>
              <a:p>
                <a:r>
                  <a:rPr lang="zh-CN" altLang="en-US" sz="2000" dirty="0">
                    <a:latin typeface="幼圆" panose="02010509060101010101" pitchFamily="49" charset="-122"/>
                    <a:ea typeface="幼圆" panose="02010509060101010101" pitchFamily="49" charset="-122"/>
                    <a:cs typeface="幼圆" panose="02010509060101010101" pitchFamily="49" charset="-122"/>
                  </a:rPr>
                  <a:t>一般的，如果我们有</a:t>
                </a:r>
                <a:r>
                  <a:rPr lang="en-US" altLang="zh-CN" sz="2000" dirty="0">
                    <a:latin typeface="幼圆" panose="02010509060101010101" pitchFamily="49" charset="-122"/>
                    <a:ea typeface="幼圆" panose="02010509060101010101" pitchFamily="49" charset="-122"/>
                    <a:cs typeface="幼圆" panose="02010509060101010101" pitchFamily="49" charset="-122"/>
                  </a:rPr>
                  <a:t>M</a:t>
                </a:r>
                <a:r>
                  <a:rPr lang="zh-CN" altLang="en-US" sz="2000" dirty="0">
                    <a:latin typeface="幼圆" panose="02010509060101010101" pitchFamily="49" charset="-122"/>
                    <a:ea typeface="幼圆" panose="02010509060101010101" pitchFamily="49" charset="-122"/>
                    <a:cs typeface="幼圆" panose="02010509060101010101" pitchFamily="49" charset="-122"/>
                  </a:rPr>
                  <a:t>个</a:t>
                </a:r>
                <a:r>
                  <a:rPr lang="en-US" altLang="zh-CN" sz="2000" dirty="0">
                    <a:latin typeface="幼圆" panose="02010509060101010101" pitchFamily="49" charset="-122"/>
                    <a:ea typeface="幼圆" panose="02010509060101010101" pitchFamily="49" charset="-122"/>
                    <a:cs typeface="幼圆" panose="02010509060101010101" pitchFamily="49" charset="-122"/>
                  </a:rPr>
                  <a:t>N</a:t>
                </a:r>
                <a:r>
                  <a:rPr lang="zh-CN" altLang="en-US" sz="2000" dirty="0">
                    <a:latin typeface="幼圆" panose="02010509060101010101" pitchFamily="49" charset="-122"/>
                    <a:ea typeface="幼圆" panose="02010509060101010101" pitchFamily="49" charset="-122"/>
                    <a:cs typeface="幼圆" panose="02010509060101010101" pitchFamily="49" charset="-122"/>
                  </a:rPr>
                  <a:t>维向量，想将其变换为由</a:t>
                </a:r>
                <a:r>
                  <a:rPr lang="en-US" altLang="zh-CN" sz="2000" dirty="0">
                    <a:latin typeface="幼圆" panose="02010509060101010101" pitchFamily="49" charset="-122"/>
                    <a:ea typeface="幼圆" panose="02010509060101010101" pitchFamily="49" charset="-122"/>
                    <a:cs typeface="幼圆" panose="02010509060101010101" pitchFamily="49" charset="-122"/>
                  </a:rPr>
                  <a:t>R</a:t>
                </a:r>
                <a:r>
                  <a:rPr lang="zh-CN" altLang="en-US" sz="2000" dirty="0">
                    <a:latin typeface="幼圆" panose="02010509060101010101" pitchFamily="49" charset="-122"/>
                    <a:ea typeface="幼圆" panose="02010509060101010101" pitchFamily="49" charset="-122"/>
                    <a:cs typeface="幼圆" panose="02010509060101010101" pitchFamily="49" charset="-122"/>
                  </a:rPr>
                  <a:t>个</a:t>
                </a:r>
                <a:r>
                  <a:rPr lang="en-US" altLang="zh-CN" sz="2000" dirty="0">
                    <a:latin typeface="幼圆" panose="02010509060101010101" pitchFamily="49" charset="-122"/>
                    <a:ea typeface="幼圆" panose="02010509060101010101" pitchFamily="49" charset="-122"/>
                    <a:cs typeface="幼圆" panose="02010509060101010101" pitchFamily="49" charset="-122"/>
                  </a:rPr>
                  <a:t>N</a:t>
                </a:r>
                <a:r>
                  <a:rPr lang="zh-CN" altLang="en-US" sz="2000" dirty="0">
                    <a:latin typeface="幼圆" panose="02010509060101010101" pitchFamily="49" charset="-122"/>
                    <a:ea typeface="幼圆" panose="02010509060101010101" pitchFamily="49" charset="-122"/>
                    <a:cs typeface="幼圆" panose="02010509060101010101" pitchFamily="49" charset="-122"/>
                  </a:rPr>
                  <a:t>维向量表示的新空间中，那么首先将</a:t>
                </a:r>
                <a:r>
                  <a:rPr lang="en-US" altLang="zh-CN" sz="2000" dirty="0">
                    <a:latin typeface="幼圆" panose="02010509060101010101" pitchFamily="49" charset="-122"/>
                    <a:ea typeface="幼圆" panose="02010509060101010101" pitchFamily="49" charset="-122"/>
                    <a:cs typeface="幼圆" panose="02010509060101010101" pitchFamily="49" charset="-122"/>
                  </a:rPr>
                  <a:t>R</a:t>
                </a:r>
                <a:r>
                  <a:rPr lang="zh-CN" altLang="en-US" sz="2000" dirty="0">
                    <a:latin typeface="幼圆" panose="02010509060101010101" pitchFamily="49" charset="-122"/>
                    <a:ea typeface="幼圆" panose="02010509060101010101" pitchFamily="49" charset="-122"/>
                    <a:cs typeface="幼圆" panose="02010509060101010101" pitchFamily="49" charset="-122"/>
                  </a:rPr>
                  <a:t>个基按行组成矩阵</a:t>
                </a:r>
                <a:r>
                  <a:rPr lang="en-US" altLang="zh-CN" sz="2000" dirty="0">
                    <a:latin typeface="幼圆" panose="02010509060101010101" pitchFamily="49" charset="-122"/>
                    <a:ea typeface="幼圆" panose="02010509060101010101" pitchFamily="49" charset="-122"/>
                    <a:cs typeface="幼圆" panose="02010509060101010101" pitchFamily="49" charset="-122"/>
                  </a:rPr>
                  <a:t>A</a:t>
                </a:r>
                <a:r>
                  <a:rPr lang="zh-CN" altLang="en-US" sz="2000" dirty="0">
                    <a:latin typeface="幼圆" panose="02010509060101010101" pitchFamily="49" charset="-122"/>
                    <a:ea typeface="幼圆" panose="02010509060101010101" pitchFamily="49" charset="-122"/>
                    <a:cs typeface="幼圆" panose="02010509060101010101" pitchFamily="49" charset="-122"/>
                  </a:rPr>
                  <a:t>，然后将向量按列组成矩阵</a:t>
                </a:r>
                <a:r>
                  <a:rPr lang="en-US" altLang="zh-CN" sz="2000" dirty="0">
                    <a:latin typeface="幼圆" panose="02010509060101010101" pitchFamily="49" charset="-122"/>
                    <a:ea typeface="幼圆" panose="02010509060101010101" pitchFamily="49" charset="-122"/>
                    <a:cs typeface="幼圆" panose="02010509060101010101" pitchFamily="49" charset="-122"/>
                  </a:rPr>
                  <a:t>B</a:t>
                </a:r>
                <a:r>
                  <a:rPr lang="zh-CN" altLang="en-US" sz="2000" dirty="0">
                    <a:latin typeface="幼圆" panose="02010509060101010101" pitchFamily="49" charset="-122"/>
                    <a:ea typeface="幼圆" panose="02010509060101010101" pitchFamily="49" charset="-122"/>
                    <a:cs typeface="幼圆" panose="02010509060101010101" pitchFamily="49" charset="-122"/>
                  </a:rPr>
                  <a:t>，那么两矩阵的乘积</a:t>
                </a:r>
                <a:r>
                  <a:rPr lang="en-US" altLang="zh-CN" sz="2000" dirty="0">
                    <a:latin typeface="幼圆" panose="02010509060101010101" pitchFamily="49" charset="-122"/>
                    <a:ea typeface="幼圆" panose="02010509060101010101" pitchFamily="49" charset="-122"/>
                    <a:cs typeface="幼圆" panose="02010509060101010101" pitchFamily="49" charset="-122"/>
                  </a:rPr>
                  <a:t>AB</a:t>
                </a:r>
                <a:r>
                  <a:rPr lang="zh-CN" altLang="en-US" sz="2000" dirty="0">
                    <a:latin typeface="幼圆" panose="02010509060101010101" pitchFamily="49" charset="-122"/>
                    <a:ea typeface="幼圆" panose="02010509060101010101" pitchFamily="49" charset="-122"/>
                    <a:cs typeface="幼圆" panose="02010509060101010101" pitchFamily="49" charset="-122"/>
                  </a:rPr>
                  <a:t>就是变换结果，其中</a:t>
                </a:r>
                <a:r>
                  <a:rPr lang="en-US" altLang="zh-CN" sz="2000" dirty="0">
                    <a:latin typeface="幼圆" panose="02010509060101010101" pitchFamily="49" charset="-122"/>
                    <a:ea typeface="幼圆" panose="02010509060101010101" pitchFamily="49" charset="-122"/>
                    <a:cs typeface="幼圆" panose="02010509060101010101" pitchFamily="49" charset="-122"/>
                  </a:rPr>
                  <a:t>AB</a:t>
                </a:r>
                <a:r>
                  <a:rPr lang="zh-CN" altLang="en-US" sz="2000" dirty="0">
                    <a:latin typeface="幼圆" panose="02010509060101010101" pitchFamily="49" charset="-122"/>
                    <a:ea typeface="幼圆" panose="02010509060101010101" pitchFamily="49" charset="-122"/>
                    <a:cs typeface="幼圆" panose="02010509060101010101" pitchFamily="49" charset="-122"/>
                  </a:rPr>
                  <a:t>的第</a:t>
                </a:r>
                <a:r>
                  <a:rPr lang="en-US" altLang="zh-CN" sz="2000" dirty="0">
                    <a:latin typeface="幼圆" panose="02010509060101010101" pitchFamily="49" charset="-122"/>
                    <a:ea typeface="幼圆" panose="02010509060101010101" pitchFamily="49" charset="-122"/>
                    <a:cs typeface="幼圆" panose="02010509060101010101" pitchFamily="49" charset="-122"/>
                  </a:rPr>
                  <a:t>m</a:t>
                </a:r>
                <a:r>
                  <a:rPr lang="zh-CN" altLang="en-US" sz="2000" dirty="0">
                    <a:latin typeface="幼圆" panose="02010509060101010101" pitchFamily="49" charset="-122"/>
                    <a:ea typeface="幼圆" panose="02010509060101010101" pitchFamily="49" charset="-122"/>
                    <a:cs typeface="幼圆" panose="02010509060101010101" pitchFamily="49" charset="-122"/>
                  </a:rPr>
                  <a:t>列为</a:t>
                </a:r>
                <a:r>
                  <a:rPr lang="en-US" altLang="zh-CN" sz="2000" dirty="0">
                    <a:latin typeface="幼圆" panose="02010509060101010101" pitchFamily="49" charset="-122"/>
                    <a:ea typeface="幼圆" panose="02010509060101010101" pitchFamily="49" charset="-122"/>
                    <a:cs typeface="幼圆" panose="02010509060101010101" pitchFamily="49" charset="-122"/>
                  </a:rPr>
                  <a:t>A</a:t>
                </a:r>
                <a:r>
                  <a:rPr lang="zh-CN" altLang="en-US" sz="2000" dirty="0">
                    <a:latin typeface="幼圆" panose="02010509060101010101" pitchFamily="49" charset="-122"/>
                    <a:ea typeface="幼圆" panose="02010509060101010101" pitchFamily="49" charset="-122"/>
                    <a:cs typeface="幼圆" panose="02010509060101010101" pitchFamily="49" charset="-122"/>
                  </a:rPr>
                  <a:t>中第</a:t>
                </a:r>
                <a:r>
                  <a:rPr lang="en-US" altLang="zh-CN" sz="2000" dirty="0">
                    <a:latin typeface="幼圆" panose="02010509060101010101" pitchFamily="49" charset="-122"/>
                    <a:ea typeface="幼圆" panose="02010509060101010101" pitchFamily="49" charset="-122"/>
                    <a:cs typeface="幼圆" panose="02010509060101010101" pitchFamily="49" charset="-122"/>
                  </a:rPr>
                  <a:t>m</a:t>
                </a:r>
                <a:r>
                  <a:rPr lang="zh-CN" altLang="en-US" sz="2000" dirty="0">
                    <a:latin typeface="幼圆" panose="02010509060101010101" pitchFamily="49" charset="-122"/>
                    <a:ea typeface="幼圆" panose="02010509060101010101" pitchFamily="49" charset="-122"/>
                    <a:cs typeface="幼圆" panose="02010509060101010101" pitchFamily="49" charset="-122"/>
                  </a:rPr>
                  <a:t>列变换后的结果</a:t>
                </a:r>
                <a:endParaRPr lang="en-US" altLang="zh-CN" sz="2000" dirty="0">
                  <a:latin typeface="幼圆" panose="02010509060101010101" pitchFamily="49" charset="-122"/>
                  <a:ea typeface="幼圆" panose="02010509060101010101" pitchFamily="49" charset="-122"/>
                  <a:cs typeface="幼圆" panose="02010509060101010101" pitchFamily="49" charset="-122"/>
                </a:endParaRPr>
              </a:p>
              <a:p>
                <a:pPr algn="just">
                  <a:lnSpc>
                    <a:spcPct val="150000"/>
                  </a:lnSpc>
                </a:pPr>
                <a:endParaRPr lang="zh-CN" altLang="en-US" sz="2000" dirty="0">
                  <a:latin typeface="幼圆" panose="02010509060101010101" pitchFamily="49" charset="-122"/>
                  <a:ea typeface="幼圆" panose="02010509060101010101" pitchFamily="49" charset="-122"/>
                  <a:cs typeface="幼圆" panose="020105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937896" y="1624966"/>
                <a:ext cx="7390765" cy="3239770"/>
              </a:xfrm>
              <a:prstGeom prst="rect">
                <a:avLst/>
              </a:prstGeom>
              <a:blipFill rotWithShape="1">
                <a:blip r:embed="rId1"/>
                <a:stretch>
                  <a:fillRect/>
                </a:stretch>
              </a:blipFill>
            </p:spPr>
            <p:txBody>
              <a:bodyPr/>
              <a:lstStyle/>
              <a:p>
                <a:r>
                  <a:rPr lang="zh-CN" altLang="en-US">
                    <a:noFill/>
                  </a:rPr>
                  <a:t> </a:t>
                </a:r>
              </a:p>
            </p:txBody>
          </p:sp>
        </mc:Fallback>
      </mc:AlternateContent>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896" y="4368696"/>
            <a:ext cx="7390765" cy="1483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02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推导</a:t>
            </a:r>
            <a:endParaRPr lang="zh-CN" altLang="en-US" sz="2000" b="1" dirty="0">
              <a:solidFill>
                <a:schemeClr val="accent1">
                  <a:lumMod val="50000"/>
                </a:schemeClr>
              </a:solidFill>
              <a:latin typeface="宋体" panose="02010600030101010101" pitchFamily="2" charset="-122"/>
              <a:sym typeface="+mn-ea"/>
            </a:endParaRPr>
          </a:p>
        </p:txBody>
      </p:sp>
      <mc:AlternateContent xmlns:mc="http://schemas.openxmlformats.org/markup-compatibility/2006">
        <mc:Choice xmlns:a14="http://schemas.microsoft.com/office/drawing/2010/main" Requires="a14">
          <p:sp>
            <p:nvSpPr>
              <p:cNvPr id="2" name="文本框 1"/>
              <p:cNvSpPr txBox="1"/>
              <p:nvPr/>
            </p:nvSpPr>
            <p:spPr>
              <a:xfrm>
                <a:off x="937896" y="1774191"/>
                <a:ext cx="7390765" cy="2965427"/>
              </a:xfrm>
              <a:prstGeom prst="rect">
                <a:avLst/>
              </a:prstGeom>
              <a:noFill/>
            </p:spPr>
            <p:txBody>
              <a:bodyPr wrap="square" rtlCol="0">
                <a:spAutoFit/>
              </a:bodyPr>
              <a:lstStyle/>
              <a:p>
                <a:pPr indent="457200">
                  <a:defRPr/>
                </a:pPr>
                <a:r>
                  <a:rPr lang="zh-CN" altLang="en-US" sz="2000" dirty="0"/>
                  <a:t>那么问题来了：如何选择基才是最优的</a:t>
                </a:r>
                <a:r>
                  <a:rPr lang="en-US" altLang="zh-CN" sz="2000" dirty="0"/>
                  <a:t>?</a:t>
                </a:r>
                <a:r>
                  <a:rPr lang="zh-CN" altLang="en-US" sz="2000" dirty="0"/>
                  <a:t>或者说，如果我们有一组</a:t>
                </a:r>
                <a:r>
                  <a:rPr lang="en-US" altLang="zh-CN" sz="2000" dirty="0"/>
                  <a:t>N</a:t>
                </a:r>
                <a:r>
                  <a:rPr lang="zh-CN" altLang="en-US" sz="2000" dirty="0"/>
                  <a:t>维向量，现在要将其降到</a:t>
                </a:r>
                <a:r>
                  <a:rPr lang="en-US" altLang="zh-CN" sz="2000" dirty="0"/>
                  <a:t>K</a:t>
                </a:r>
                <a:r>
                  <a:rPr lang="zh-CN" altLang="en-US" sz="2000" dirty="0"/>
                  <a:t>维（</a:t>
                </a:r>
                <a:r>
                  <a:rPr lang="en-US" altLang="zh-CN" sz="2000" dirty="0"/>
                  <a:t>K</a:t>
                </a:r>
                <a:r>
                  <a:rPr lang="zh-CN" altLang="en-US" sz="2000" dirty="0"/>
                  <a:t>小于</a:t>
                </a:r>
                <a:r>
                  <a:rPr lang="en-US" altLang="zh-CN" sz="2000" dirty="0"/>
                  <a:t>N</a:t>
                </a:r>
                <a:r>
                  <a:rPr lang="zh-CN" altLang="en-US" sz="2000" dirty="0"/>
                  <a:t>），那么我们应该如何选择</a:t>
                </a:r>
                <a:r>
                  <a:rPr lang="en-US" altLang="zh-CN" sz="2000" dirty="0"/>
                  <a:t>K</a:t>
                </a:r>
                <a:r>
                  <a:rPr lang="zh-CN" altLang="en-US" sz="2000" dirty="0"/>
                  <a:t>个基才能最大程度保留原有的信息？</a:t>
                </a:r>
                <a:endParaRPr lang="zh-CN" altLang="en-US" sz="2000" dirty="0"/>
              </a:p>
              <a:p>
                <a:pPr indent="457200" algn="just"/>
                <a:r>
                  <a:rPr lang="zh-CN" altLang="en-US" sz="2000" dirty="0"/>
                  <a:t>例：假设我们的数据由五条记录组成，将它们表示成矩阵形式：</a:t>
                </a:r>
                <a:endParaRPr lang="en-US" altLang="zh-CN" sz="2000" dirty="0"/>
              </a:p>
              <a:p>
                <a:pPr indent="457200" algn="just"/>
                <a14:m>
                  <m:oMathPara xmlns:m="http://schemas.openxmlformats.org/officeDocument/2006/math">
                    <m:oMathParaPr>
                      <m:jc m:val="centerGroup"/>
                    </m:oMathParaPr>
                    <m:oMath xmlns:m="http://schemas.openxmlformats.org/officeDocument/2006/math">
                      <m:d>
                        <m:dPr>
                          <m:ctrlPr>
                            <a:rPr lang="en-US" altLang="zh-CN" sz="2000" i="1">
                              <a:latin typeface="Cambria Math" panose="02040503050406030204" pitchFamily="18" charset="0"/>
                            </a:rPr>
                          </m:ctrlPr>
                        </m:dPr>
                        <m:e>
                          <m:m>
                            <m:mPr>
                              <m:mcs>
                                <m:mc>
                                  <m:mcPr>
                                    <m:count m:val="3"/>
                                    <m:mcJc m:val="center"/>
                                  </m:mcPr>
                                </m:mc>
                              </m:mcs>
                              <m:ctrlPr>
                                <a:rPr lang="en-US" altLang="zh-CN" sz="2000" i="1">
                                  <a:latin typeface="Cambria Math" panose="02040503050406030204" pitchFamily="18" charset="0"/>
                                </a:rPr>
                              </m:ctrlPr>
                            </m:mPr>
                            <m:mr>
                              <m:e>
                                <m:r>
                                  <m:rPr>
                                    <m:brk m:alnAt="7"/>
                                  </m:rPr>
                                  <a:rPr lang="en-US" altLang="zh-CN" sz="2000" i="1">
                                    <a:latin typeface="Cambria Math" panose="02040503050406030204" pitchFamily="18" charset="0"/>
                                  </a:rPr>
                                  <m:t>1</m:t>
                                </m:r>
                              </m:e>
                              <m:e>
                                <m:r>
                                  <a:rPr lang="en-US" altLang="zh-CN" sz="2000" i="1">
                                    <a:latin typeface="Cambria Math" panose="02040503050406030204" pitchFamily="18" charset="0"/>
                                  </a:rPr>
                                  <m:t>1</m:t>
                                </m:r>
                              </m:e>
                              <m:e>
                                <m:r>
                                  <a:rPr lang="en-US" altLang="zh-CN" sz="2000" i="1">
                                    <a:latin typeface="Cambria Math" panose="02040503050406030204" pitchFamily="18" charset="0"/>
                                  </a:rPr>
                                  <m:t>2</m:t>
                                </m:r>
                              </m:e>
                            </m:mr>
                            <m:mr>
                              <m:e>
                                <m:r>
                                  <a:rPr lang="en-US" altLang="zh-CN" sz="2000" i="1">
                                    <a:latin typeface="Cambria Math" panose="02040503050406030204" pitchFamily="18" charset="0"/>
                                  </a:rPr>
                                  <m:t>1</m:t>
                                </m:r>
                              </m:e>
                              <m:e>
                                <m:r>
                                  <a:rPr lang="en-US" altLang="zh-CN" sz="2000" i="1">
                                    <a:latin typeface="Cambria Math" panose="02040503050406030204" pitchFamily="18" charset="0"/>
                                  </a:rPr>
                                  <m:t>3</m:t>
                                </m:r>
                              </m:e>
                              <m:e>
                                <m:r>
                                  <a:rPr lang="en-US" altLang="zh-CN" sz="2000" i="1">
                                    <a:latin typeface="Cambria Math" panose="02040503050406030204" pitchFamily="18" charset="0"/>
                                  </a:rPr>
                                  <m:t>3</m:t>
                                </m:r>
                              </m:e>
                            </m:mr>
                          </m:m>
                          <m:r>
                            <a:rPr lang="en-US" altLang="zh-CN" sz="2000" i="1">
                              <a:latin typeface="Cambria Math" panose="02040503050406030204" pitchFamily="18" charset="0"/>
                            </a:rPr>
                            <m:t>    </m:t>
                          </m:r>
                          <m:m>
                            <m:mPr>
                              <m:mcs>
                                <m:mc>
                                  <m:mcPr>
                                    <m:count m:val="2"/>
                                    <m:mcJc m:val="center"/>
                                  </m:mcPr>
                                </m:mc>
                              </m:mcs>
                              <m:ctrlPr>
                                <a:rPr lang="en-US" altLang="zh-CN" sz="2000" i="1">
                                  <a:latin typeface="Cambria Math" panose="02040503050406030204" pitchFamily="18" charset="0"/>
                                </a:rPr>
                              </m:ctrlPr>
                            </m:mPr>
                            <m:mr>
                              <m:e>
                                <m:r>
                                  <m:rPr>
                                    <m:brk m:alnAt="7"/>
                                  </m:rPr>
                                  <a:rPr lang="en-US" altLang="zh-CN" sz="2000" i="1">
                                    <a:latin typeface="Cambria Math" panose="02040503050406030204" pitchFamily="18" charset="0"/>
                                  </a:rPr>
                                  <m:t>4</m:t>
                                </m:r>
                              </m:e>
                              <m:e>
                                <m:r>
                                  <a:rPr lang="en-US" altLang="zh-CN" sz="2000" i="1">
                                    <a:latin typeface="Cambria Math" panose="02040503050406030204" pitchFamily="18" charset="0"/>
                                  </a:rPr>
                                  <m:t>2</m:t>
                                </m:r>
                              </m:e>
                            </m:mr>
                            <m:mr>
                              <m:e>
                                <m:r>
                                  <a:rPr lang="en-US" altLang="zh-CN" sz="2000" i="1">
                                    <a:latin typeface="Cambria Math" panose="02040503050406030204" pitchFamily="18" charset="0"/>
                                  </a:rPr>
                                  <m:t>4</m:t>
                                </m:r>
                              </m:e>
                              <m:e>
                                <m:r>
                                  <a:rPr lang="en-US" altLang="zh-CN" sz="2000" i="1">
                                    <a:latin typeface="Cambria Math" panose="02040503050406030204" pitchFamily="18" charset="0"/>
                                  </a:rPr>
                                  <m:t>4</m:t>
                                </m:r>
                              </m:e>
                            </m:mr>
                          </m:m>
                        </m:e>
                      </m:d>
                    </m:oMath>
                  </m:oMathPara>
                </a14:m>
                <a:endParaRPr lang="en-US" altLang="zh-CN" sz="2000" dirty="0">
                  <a:latin typeface="宋体" panose="02010600030101010101" pitchFamily="2" charset="-122"/>
                </a:endParaRPr>
              </a:p>
              <a:p>
                <a:pPr indent="457200" algn="just"/>
                <a:r>
                  <a:rPr lang="zh-CN" altLang="en-US" sz="2000" dirty="0">
                    <a:latin typeface="宋体" panose="02010600030101010101" pitchFamily="2" charset="-122"/>
                  </a:rPr>
                  <a:t>减去每个字段的均值</a:t>
                </a:r>
                <a:endParaRPr lang="en-US" altLang="zh-CN" sz="2000" dirty="0">
                  <a:latin typeface="宋体" panose="02010600030101010101" pitchFamily="2" charset="-122"/>
                </a:endParaRPr>
              </a:p>
              <a:p>
                <a:pPr indent="457200" algn="just"/>
                <a14:m>
                  <m:oMathPara xmlns:m="http://schemas.openxmlformats.org/officeDocument/2006/math">
                    <m:oMathParaPr>
                      <m:jc m:val="centerGroup"/>
                    </m:oMathParaPr>
                    <m:oMath xmlns:m="http://schemas.openxmlformats.org/officeDocument/2006/math">
                      <m:d>
                        <m:dPr>
                          <m:ctrlPr>
                            <a:rPr lang="en-US" altLang="zh-CN" sz="2000" i="1">
                              <a:latin typeface="Cambria Math" panose="02040503050406030204" pitchFamily="18" charset="0"/>
                            </a:rPr>
                          </m:ctrlPr>
                        </m:dPr>
                        <m:e>
                          <m:m>
                            <m:mPr>
                              <m:mcs>
                                <m:mc>
                                  <m:mcPr>
                                    <m:count m:val="3"/>
                                    <m:mcJc m:val="center"/>
                                  </m:mcPr>
                                </m:mc>
                              </m:mcs>
                              <m:ctrlPr>
                                <a:rPr lang="en-US" altLang="zh-CN" sz="2000" i="1">
                                  <a:latin typeface="Cambria Math" panose="02040503050406030204" pitchFamily="18" charset="0"/>
                                </a:rPr>
                              </m:ctrlPr>
                            </m:mPr>
                            <m:mr>
                              <m:e>
                                <m:r>
                                  <m:rPr>
                                    <m:brk m:alnAt="7"/>
                                  </m:rPr>
                                  <a:rPr lang="en-US" altLang="zh-CN" sz="2000" i="1">
                                    <a:latin typeface="Cambria Math" panose="02040503050406030204" pitchFamily="18" charset="0"/>
                                  </a:rPr>
                                  <m:t>−</m:t>
                                </m:r>
                                <m:r>
                                  <a:rPr lang="en-US" altLang="zh-CN" sz="2000" i="1">
                                    <a:latin typeface="Cambria Math" panose="02040503050406030204" pitchFamily="18" charset="0"/>
                                  </a:rPr>
                                  <m:t>1</m:t>
                                </m:r>
                              </m:e>
                              <m:e>
                                <m:r>
                                  <a:rPr lang="en-US" altLang="zh-CN" sz="2000" i="1">
                                    <a:latin typeface="Cambria Math" panose="02040503050406030204" pitchFamily="18" charset="0"/>
                                  </a:rPr>
                                  <m:t>−</m:t>
                                </m:r>
                                <m:r>
                                  <a:rPr lang="en-US" altLang="zh-CN" sz="2000" i="1">
                                    <a:latin typeface="Cambria Math" panose="02040503050406030204" pitchFamily="18" charset="0"/>
                                  </a:rPr>
                                  <m:t>1</m:t>
                                </m:r>
                              </m:e>
                              <m:e>
                                <m:r>
                                  <a:rPr lang="en-US" altLang="zh-CN" sz="2000" i="1">
                                    <a:latin typeface="Cambria Math" panose="02040503050406030204" pitchFamily="18" charset="0"/>
                                  </a:rPr>
                                  <m:t>0</m:t>
                                </m:r>
                              </m:e>
                            </m:mr>
                            <m:mr>
                              <m:e>
                                <m:r>
                                  <a:rPr lang="en-US" altLang="zh-CN" sz="2000" i="1">
                                    <a:latin typeface="Cambria Math" panose="02040503050406030204" pitchFamily="18" charset="0"/>
                                  </a:rPr>
                                  <m:t>−</m:t>
                                </m:r>
                                <m:r>
                                  <a:rPr lang="en-US" altLang="zh-CN" sz="2000" i="1">
                                    <a:latin typeface="Cambria Math" panose="02040503050406030204" pitchFamily="18" charset="0"/>
                                  </a:rPr>
                                  <m:t>2</m:t>
                                </m:r>
                              </m:e>
                              <m:e>
                                <m:r>
                                  <a:rPr lang="en-US" altLang="zh-CN" sz="2000" i="1">
                                    <a:latin typeface="Cambria Math" panose="02040503050406030204" pitchFamily="18" charset="0"/>
                                  </a:rPr>
                                  <m:t>0</m:t>
                                </m:r>
                              </m:e>
                              <m:e>
                                <m:r>
                                  <a:rPr lang="en-US" altLang="zh-CN" sz="2000" i="1">
                                    <a:latin typeface="Cambria Math" panose="02040503050406030204" pitchFamily="18" charset="0"/>
                                  </a:rPr>
                                  <m:t>0</m:t>
                                </m:r>
                              </m:e>
                            </m:mr>
                          </m:m>
                          <m:r>
                            <a:rPr lang="en-US" altLang="zh-CN" sz="2000" i="1">
                              <a:latin typeface="Cambria Math" panose="02040503050406030204" pitchFamily="18" charset="0"/>
                            </a:rPr>
                            <m:t>    </m:t>
                          </m:r>
                          <m:m>
                            <m:mPr>
                              <m:mcs>
                                <m:mc>
                                  <m:mcPr>
                                    <m:count m:val="2"/>
                                    <m:mcJc m:val="center"/>
                                  </m:mcPr>
                                </m:mc>
                              </m:mcs>
                              <m:ctrlPr>
                                <a:rPr lang="en-US" altLang="zh-CN" sz="2000" i="1">
                                  <a:latin typeface="Cambria Math" panose="02040503050406030204" pitchFamily="18" charset="0"/>
                                </a:rPr>
                              </m:ctrlPr>
                            </m:mPr>
                            <m:mr>
                              <m:e>
                                <m:r>
                                  <m:rPr>
                                    <m:brk m:alnAt="7"/>
                                  </m:rPr>
                                  <a:rPr lang="en-US" altLang="zh-CN" sz="2000" i="1">
                                    <a:latin typeface="Cambria Math" panose="02040503050406030204" pitchFamily="18" charset="0"/>
                                  </a:rPr>
                                  <m:t>2</m:t>
                                </m:r>
                              </m:e>
                              <m:e>
                                <m:r>
                                  <a:rPr lang="en-US" altLang="zh-CN" sz="2000" i="1">
                                    <a:latin typeface="Cambria Math" panose="02040503050406030204" pitchFamily="18" charset="0"/>
                                  </a:rPr>
                                  <m:t>0</m:t>
                                </m:r>
                              </m:e>
                            </m:mr>
                            <m:mr>
                              <m:e>
                                <m:r>
                                  <a:rPr lang="en-US" altLang="zh-CN" sz="2000" i="1">
                                    <a:latin typeface="Cambria Math" panose="02040503050406030204" pitchFamily="18" charset="0"/>
                                  </a:rPr>
                                  <m:t>1</m:t>
                                </m:r>
                              </m:e>
                              <m:e>
                                <m:r>
                                  <a:rPr lang="en-US" altLang="zh-CN" sz="2000" i="1">
                                    <a:latin typeface="Cambria Math" panose="02040503050406030204" pitchFamily="18" charset="0"/>
                                  </a:rPr>
                                  <m:t>1</m:t>
                                </m:r>
                              </m:e>
                            </m:mr>
                          </m:m>
                        </m:e>
                      </m:d>
                    </m:oMath>
                  </m:oMathPara>
                </a14:m>
                <a:endParaRPr lang="zh-CN" altLang="en-US" sz="2000" dirty="0">
                  <a:latin typeface="黑体" panose="02010609060101010101" charset="-122"/>
                  <a:ea typeface="黑体" panose="02010609060101010101"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937896" y="1774191"/>
                <a:ext cx="7390765" cy="2965427"/>
              </a:xfrm>
              <a:prstGeom prst="rect">
                <a:avLst/>
              </a:prstGeom>
              <a:blipFill rotWithShape="1">
                <a:blip r:embed="rId1"/>
                <a:stretch>
                  <a:fillRect b="21"/>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02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推导</a:t>
            </a:r>
            <a:endParaRPr lang="zh-CN" altLang="en-US" sz="2000" b="1" dirty="0">
              <a:solidFill>
                <a:schemeClr val="accent1">
                  <a:lumMod val="50000"/>
                </a:schemeClr>
              </a:solidFill>
              <a:latin typeface="宋体" panose="02010600030101010101" pitchFamily="2" charset="-122"/>
              <a:sym typeface="+mn-ea"/>
            </a:endParaRPr>
          </a:p>
        </p:txBody>
      </p:sp>
      <p:sp>
        <p:nvSpPr>
          <p:cNvPr id="2" name="文本框 1"/>
          <p:cNvSpPr txBox="1"/>
          <p:nvPr/>
        </p:nvSpPr>
        <p:spPr>
          <a:xfrm>
            <a:off x="4579809" y="1531794"/>
            <a:ext cx="3458845" cy="2308324"/>
          </a:xfrm>
          <a:prstGeom prst="rect">
            <a:avLst/>
          </a:prstGeom>
          <a:noFill/>
        </p:spPr>
        <p:txBody>
          <a:bodyPr wrap="square" rtlCol="0">
            <a:spAutoFit/>
          </a:bodyPr>
          <a:lstStyle/>
          <a:p>
            <a:pPr indent="457200" algn="just">
              <a:lnSpc>
                <a:spcPct val="150000"/>
              </a:lnSpc>
              <a:defRPr/>
            </a:pPr>
            <a:r>
              <a:rPr lang="zh-CN" altLang="en-US" sz="1600" dirty="0"/>
              <a:t>如果我们必须使用一维来表示这些数据，又希望尽量保留原始的信息，应如何选择？</a:t>
            </a:r>
            <a:endParaRPr lang="en-US" altLang="zh-CN" sz="1600" dirty="0"/>
          </a:p>
          <a:p>
            <a:pPr indent="457200" algn="just">
              <a:lnSpc>
                <a:spcPct val="150000"/>
              </a:lnSpc>
              <a:defRPr/>
            </a:pPr>
            <a:r>
              <a:rPr lang="zh-CN" altLang="en-US" sz="1600" dirty="0">
                <a:latin typeface="黑体" panose="02010609060101010101" charset="-122"/>
                <a:ea typeface="黑体" panose="02010609060101010101" charset="-122"/>
                <a:sym typeface="+mn-ea"/>
              </a:rPr>
              <a:t>一种直观的看法是：</a:t>
            </a:r>
            <a:r>
              <a:rPr lang="zh-CN" altLang="en-US" sz="1600" b="1" dirty="0">
                <a:solidFill>
                  <a:schemeClr val="accent1">
                    <a:lumMod val="50000"/>
                  </a:schemeClr>
                </a:solidFill>
                <a:latin typeface="黑体" panose="02010609060101010101" charset="-122"/>
                <a:ea typeface="黑体" panose="02010609060101010101" charset="-122"/>
                <a:sym typeface="+mn-ea"/>
              </a:rPr>
              <a:t>希望投影后的投影值尽可能分散</a:t>
            </a:r>
            <a:r>
              <a:rPr lang="zh-CN" altLang="en-US" sz="1600" b="1" dirty="0">
                <a:latin typeface="黑体" panose="02010609060101010101" charset="-122"/>
                <a:ea typeface="黑体" panose="02010609060101010101" charset="-122"/>
                <a:sym typeface="+mn-ea"/>
              </a:rPr>
              <a:t>。</a:t>
            </a:r>
            <a:r>
              <a:rPr lang="zh-CN" altLang="en-US" sz="1600" dirty="0">
                <a:latin typeface="黑体" panose="02010609060101010101" charset="-122"/>
                <a:ea typeface="黑体" panose="02010609060101010101" charset="-122"/>
                <a:sym typeface="+mn-ea"/>
              </a:rPr>
              <a:t>这种分散程度，可以用数学上的</a:t>
            </a:r>
            <a:r>
              <a:rPr lang="zh-CN" altLang="en-US" sz="1600" b="1" dirty="0">
                <a:latin typeface="黑体" panose="02010609060101010101" charset="-122"/>
                <a:ea typeface="黑体" panose="02010609060101010101" charset="-122"/>
                <a:sym typeface="+mn-ea"/>
              </a:rPr>
              <a:t>方差</a:t>
            </a:r>
            <a:r>
              <a:rPr lang="zh-CN" altLang="en-US" sz="1600" dirty="0">
                <a:latin typeface="黑体" panose="02010609060101010101" charset="-122"/>
                <a:ea typeface="黑体" panose="02010609060101010101" charset="-122"/>
                <a:sym typeface="+mn-ea"/>
              </a:rPr>
              <a:t>来表述：</a:t>
            </a:r>
            <a:endParaRPr lang="zh-CN" altLang="en-US" sz="1600" dirty="0">
              <a:latin typeface="黑体" panose="02010609060101010101" charset="-122"/>
              <a:ea typeface="黑体" panose="02010609060101010101"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42048" y="3840119"/>
            <a:ext cx="3134369" cy="885825"/>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316" y="1772920"/>
            <a:ext cx="3029585" cy="34251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02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推导</a:t>
            </a:r>
            <a:endParaRPr lang="zh-CN" altLang="en-US" sz="2000" b="1" dirty="0">
              <a:solidFill>
                <a:schemeClr val="accent1">
                  <a:lumMod val="50000"/>
                </a:schemeClr>
              </a:solidFill>
              <a:latin typeface="宋体" panose="02010600030101010101" pitchFamily="2" charset="-122"/>
              <a:sym typeface="+mn-ea"/>
            </a:endParaRPr>
          </a:p>
        </p:txBody>
      </p:sp>
      <p:sp>
        <p:nvSpPr>
          <p:cNvPr id="6" name="文本框 5"/>
          <p:cNvSpPr txBox="1"/>
          <p:nvPr/>
        </p:nvSpPr>
        <p:spPr>
          <a:xfrm>
            <a:off x="970281" y="2105661"/>
            <a:ext cx="7390765" cy="773289"/>
          </a:xfrm>
          <a:prstGeom prst="rect">
            <a:avLst/>
          </a:prstGeom>
          <a:noFill/>
        </p:spPr>
        <p:txBody>
          <a:bodyPr wrap="square" rtlCol="0">
            <a:spAutoFit/>
          </a:bodyPr>
          <a:lstStyle/>
          <a:p>
            <a:pPr algn="just">
              <a:lnSpc>
                <a:spcPct val="150000"/>
              </a:lnSpc>
            </a:pPr>
            <a:r>
              <a:rPr lang="zh-CN" altLang="en-US" sz="1600" dirty="0">
                <a:latin typeface="黑体" panose="02010609060101010101" charset="-122"/>
                <a:ea typeface="黑体" panose="02010609060101010101" charset="-122"/>
                <a:sym typeface="+mn-ea"/>
              </a:rPr>
              <a:t>由于我们已经将每个字段的均值都化为</a:t>
            </a:r>
            <a:r>
              <a:rPr lang="en-US" altLang="zh-CN" sz="1600" dirty="0">
                <a:latin typeface="黑体" panose="02010609060101010101" charset="-122"/>
                <a:ea typeface="黑体" panose="02010609060101010101" charset="-122"/>
                <a:sym typeface="+mn-ea"/>
              </a:rPr>
              <a:t>0</a:t>
            </a:r>
            <a:r>
              <a:rPr lang="zh-CN" altLang="en-US" sz="1600" dirty="0">
                <a:latin typeface="黑体" panose="02010609060101010101" charset="-122"/>
                <a:ea typeface="黑体" panose="02010609060101010101" charset="-122"/>
                <a:sym typeface="+mn-ea"/>
              </a:rPr>
              <a:t>了，因此方差可以直接用每个元素的平方和除以元素个数表示：</a:t>
            </a:r>
            <a:endParaRPr lang="zh-CN" altLang="en-US" sz="1600" b="1" dirty="0">
              <a:solidFill>
                <a:schemeClr val="accent1">
                  <a:lumMod val="50000"/>
                </a:schemeClr>
              </a:solidFill>
              <a:latin typeface="黑体" panose="02010609060101010101" charset="-122"/>
              <a:ea typeface="黑体" panose="02010609060101010101" charset="-122"/>
              <a:sym typeface="+mn-ea"/>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97460" y="2946669"/>
            <a:ext cx="4099892" cy="904875"/>
          </a:xfrm>
          <a:prstGeom prst="rect">
            <a:avLst/>
          </a:prstGeom>
        </p:spPr>
      </p:pic>
      <p:sp>
        <p:nvSpPr>
          <p:cNvPr id="8" name="文本框 7"/>
          <p:cNvSpPr txBox="1"/>
          <p:nvPr/>
        </p:nvSpPr>
        <p:spPr>
          <a:xfrm>
            <a:off x="1097281" y="3901441"/>
            <a:ext cx="7390765" cy="773289"/>
          </a:xfrm>
          <a:prstGeom prst="rect">
            <a:avLst/>
          </a:prstGeom>
          <a:noFill/>
        </p:spPr>
        <p:txBody>
          <a:bodyPr wrap="square" rtlCol="0">
            <a:spAutoFit/>
          </a:bodyPr>
          <a:lstStyle/>
          <a:p>
            <a:pPr>
              <a:lnSpc>
                <a:spcPct val="150000"/>
              </a:lnSpc>
              <a:defRPr/>
            </a:pPr>
            <a:r>
              <a:rPr lang="zh-CN" altLang="en-US" sz="1600" dirty="0">
                <a:latin typeface="黑体" panose="02010609060101010101" charset="-122"/>
                <a:ea typeface="黑体" panose="02010609060101010101" charset="-122"/>
                <a:sym typeface="+mn-ea"/>
              </a:rPr>
              <a:t>于是上面的问题被形式化表述为：寻找一个一维基，使得所有数据变换为这个基上的坐标表示后，方差值最大</a:t>
            </a:r>
            <a:r>
              <a:rPr lang="zh-CN" altLang="en-US" sz="1600" dirty="0">
                <a:sym typeface="+mn-ea"/>
              </a:rPr>
              <a:t>。</a:t>
            </a:r>
            <a:endParaRPr lang="zh-CN" altLang="en-US" sz="1600" b="1" dirty="0">
              <a:solidFill>
                <a:schemeClr val="accent1">
                  <a:lumMod val="50000"/>
                </a:schemeClr>
              </a:solidFill>
              <a:latin typeface="黑体" panose="02010609060101010101" charset="-122"/>
              <a:ea typeface="黑体" panose="02010609060101010101"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02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推导</a:t>
            </a:r>
            <a:endParaRPr lang="zh-CN" altLang="en-US" sz="2000" b="1" dirty="0">
              <a:solidFill>
                <a:schemeClr val="accent1">
                  <a:lumMod val="50000"/>
                </a:schemeClr>
              </a:solidFill>
              <a:latin typeface="宋体" panose="02010600030101010101" pitchFamily="2" charset="-122"/>
              <a:sym typeface="+mn-ea"/>
            </a:endParaRPr>
          </a:p>
        </p:txBody>
      </p:sp>
      <p:sp>
        <p:nvSpPr>
          <p:cNvPr id="6" name="文本框 5"/>
          <p:cNvSpPr txBox="1"/>
          <p:nvPr/>
        </p:nvSpPr>
        <p:spPr>
          <a:xfrm>
            <a:off x="942554" y="1897402"/>
            <a:ext cx="7390765" cy="943528"/>
          </a:xfrm>
          <a:prstGeom prst="rect">
            <a:avLst/>
          </a:prstGeom>
          <a:noFill/>
        </p:spPr>
        <p:txBody>
          <a:bodyPr wrap="square" rtlCol="0">
            <a:spAutoFit/>
          </a:bodyPr>
          <a:lstStyle/>
          <a:p>
            <a:pPr indent="457200" algn="just">
              <a:lnSpc>
                <a:spcPct val="150000"/>
              </a:lnSpc>
              <a:defRPr/>
            </a:pPr>
            <a:r>
              <a:rPr lang="zh-CN" altLang="en-US" sz="2000" dirty="0">
                <a:latin typeface="黑体" panose="02010609060101010101" charset="-122"/>
                <a:ea typeface="黑体" panose="02010609060101010101" charset="-122"/>
                <a:sym typeface="+mn-ea"/>
              </a:rPr>
              <a:t>数学上可以用两个字段的协方差表示其相关性，由于已经让每个字段均值为</a:t>
            </a:r>
            <a:r>
              <a:rPr lang="en-US" altLang="zh-CN" sz="2000" dirty="0">
                <a:latin typeface="黑体" panose="02010609060101010101" charset="-122"/>
                <a:ea typeface="黑体" panose="02010609060101010101" charset="-122"/>
                <a:sym typeface="+mn-ea"/>
              </a:rPr>
              <a:t>0</a:t>
            </a:r>
            <a:r>
              <a:rPr lang="zh-CN" altLang="en-US" sz="2000" dirty="0">
                <a:latin typeface="黑体" panose="02010609060101010101" charset="-122"/>
                <a:ea typeface="黑体" panose="02010609060101010101" charset="-122"/>
                <a:sym typeface="+mn-ea"/>
              </a:rPr>
              <a:t>，则：</a:t>
            </a:r>
            <a:endParaRPr lang="zh-CN" altLang="en-US" sz="2000" b="1" dirty="0">
              <a:solidFill>
                <a:schemeClr val="accent1">
                  <a:lumMod val="50000"/>
                </a:schemeClr>
              </a:solidFill>
              <a:latin typeface="黑体" panose="02010609060101010101" charset="-122"/>
              <a:ea typeface="黑体" panose="02010609060101010101" charset="-122"/>
              <a:sym typeface="+mn-ea"/>
            </a:endParaRPr>
          </a:p>
        </p:txBody>
      </p:sp>
      <p:sp>
        <p:nvSpPr>
          <p:cNvPr id="8" name="文本框 7"/>
          <p:cNvSpPr txBox="1"/>
          <p:nvPr/>
        </p:nvSpPr>
        <p:spPr>
          <a:xfrm>
            <a:off x="942554" y="3901441"/>
            <a:ext cx="7390765" cy="1405193"/>
          </a:xfrm>
          <a:prstGeom prst="rect">
            <a:avLst/>
          </a:prstGeom>
          <a:noFill/>
        </p:spPr>
        <p:txBody>
          <a:bodyPr wrap="square" rtlCol="0">
            <a:spAutoFit/>
          </a:bodyPr>
          <a:lstStyle/>
          <a:p>
            <a:pPr indent="457200" algn="just">
              <a:lnSpc>
                <a:spcPct val="150000"/>
              </a:lnSpc>
              <a:defRPr/>
            </a:pPr>
            <a:r>
              <a:rPr lang="zh-CN" altLang="en-US" sz="2000" dirty="0">
                <a:latin typeface="黑体" panose="02010609060101010101" charset="-122"/>
                <a:ea typeface="黑体" panose="02010609060101010101" charset="-122"/>
                <a:sym typeface="+mn-ea"/>
              </a:rPr>
              <a:t>当协方差为</a:t>
            </a:r>
            <a:r>
              <a:rPr lang="en-US" altLang="zh-CN" sz="2000" dirty="0">
                <a:latin typeface="黑体" panose="02010609060101010101" charset="-122"/>
                <a:ea typeface="黑体" panose="02010609060101010101" charset="-122"/>
                <a:sym typeface="+mn-ea"/>
              </a:rPr>
              <a:t>0</a:t>
            </a:r>
            <a:r>
              <a:rPr lang="zh-CN" altLang="en-US" sz="2000" dirty="0">
                <a:latin typeface="黑体" panose="02010609060101010101" charset="-122"/>
                <a:ea typeface="黑体" panose="02010609060101010101" charset="-122"/>
                <a:sym typeface="+mn-ea"/>
              </a:rPr>
              <a:t>时，表示两个字段完全独立。为了让协方差为</a:t>
            </a:r>
            <a:r>
              <a:rPr lang="en-US" altLang="zh-CN" sz="2000" dirty="0">
                <a:latin typeface="黑体" panose="02010609060101010101" charset="-122"/>
                <a:ea typeface="黑体" panose="02010609060101010101" charset="-122"/>
                <a:sym typeface="+mn-ea"/>
              </a:rPr>
              <a:t>0</a:t>
            </a:r>
            <a:r>
              <a:rPr lang="zh-CN" altLang="en-US" sz="2000" dirty="0">
                <a:latin typeface="黑体" panose="02010609060101010101" charset="-122"/>
                <a:ea typeface="黑体" panose="02010609060101010101" charset="-122"/>
                <a:sym typeface="+mn-ea"/>
              </a:rPr>
              <a:t>，我们选择第二个基时只能在与第一个基正交的方向上选择。因此最终选择的两个方向一定是正交的。</a:t>
            </a:r>
            <a:endParaRPr lang="zh-CN" altLang="en-US" sz="2000" b="1" dirty="0">
              <a:solidFill>
                <a:schemeClr val="accent1">
                  <a:lumMod val="50000"/>
                </a:schemeClr>
              </a:solidFill>
              <a:latin typeface="黑体" panose="02010609060101010101" charset="-122"/>
              <a:ea typeface="黑体" panose="02010609060101010101" charset="-122"/>
              <a:sym typeface="+mn-ea"/>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75836" y="2840930"/>
            <a:ext cx="3124200" cy="8572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02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推导</a:t>
            </a:r>
            <a:endParaRPr lang="zh-CN" altLang="en-US" sz="2000" b="1" dirty="0">
              <a:solidFill>
                <a:schemeClr val="accent1">
                  <a:lumMod val="50000"/>
                </a:schemeClr>
              </a:solidFill>
              <a:latin typeface="宋体" panose="02010600030101010101" pitchFamily="2" charset="-122"/>
              <a:sym typeface="+mn-ea"/>
            </a:endParaRPr>
          </a:p>
        </p:txBody>
      </p:sp>
      <p:sp>
        <p:nvSpPr>
          <p:cNvPr id="6" name="文本框 5"/>
          <p:cNvSpPr txBox="1"/>
          <p:nvPr/>
        </p:nvSpPr>
        <p:spPr>
          <a:xfrm>
            <a:off x="942554" y="1579880"/>
            <a:ext cx="7390765" cy="1920240"/>
          </a:xfrm>
          <a:prstGeom prst="rect">
            <a:avLst/>
          </a:prstGeom>
          <a:noFill/>
        </p:spPr>
        <p:txBody>
          <a:bodyPr wrap="square" rtlCol="0">
            <a:spAutoFit/>
          </a:bodyPr>
          <a:lstStyle/>
          <a:p>
            <a:pPr indent="457200" algn="just">
              <a:lnSpc>
                <a:spcPct val="150000"/>
              </a:lnSpc>
            </a:pPr>
            <a:r>
              <a:rPr lang="zh-CN" altLang="en-US" sz="1600" dirty="0">
                <a:latin typeface="黑体" panose="02010609060101010101" charset="-122"/>
                <a:ea typeface="黑体" panose="02010609060101010101" charset="-122"/>
                <a:sym typeface="+mn-ea"/>
              </a:rPr>
              <a:t>至此，我们得到了降维问题的优化目标：</a:t>
            </a:r>
            <a:r>
              <a:rPr lang="zh-CN" altLang="en-US" sz="1600" b="1" dirty="0">
                <a:solidFill>
                  <a:schemeClr val="accent1">
                    <a:lumMod val="50000"/>
                  </a:schemeClr>
                </a:solidFill>
                <a:latin typeface="黑体" panose="02010609060101010101" charset="-122"/>
                <a:ea typeface="黑体" panose="02010609060101010101" charset="-122"/>
                <a:sym typeface="+mn-ea"/>
              </a:rPr>
              <a:t>将一组</a:t>
            </a:r>
            <a:r>
              <a:rPr lang="en-US" altLang="zh-CN" sz="1600" b="1" dirty="0">
                <a:solidFill>
                  <a:schemeClr val="accent1">
                    <a:lumMod val="50000"/>
                  </a:schemeClr>
                </a:solidFill>
                <a:latin typeface="黑体" panose="02010609060101010101" charset="-122"/>
                <a:ea typeface="黑体" panose="02010609060101010101" charset="-122"/>
                <a:sym typeface="+mn-ea"/>
              </a:rPr>
              <a:t>N</a:t>
            </a:r>
            <a:r>
              <a:rPr lang="zh-CN" altLang="en-US" sz="1600" b="1" dirty="0">
                <a:solidFill>
                  <a:schemeClr val="accent1">
                    <a:lumMod val="50000"/>
                  </a:schemeClr>
                </a:solidFill>
                <a:latin typeface="黑体" panose="02010609060101010101" charset="-122"/>
                <a:ea typeface="黑体" panose="02010609060101010101" charset="-122"/>
                <a:sym typeface="+mn-ea"/>
              </a:rPr>
              <a:t>维向量降为</a:t>
            </a:r>
            <a:r>
              <a:rPr lang="en-US" altLang="zh-CN" sz="1600" b="1" dirty="0">
                <a:solidFill>
                  <a:schemeClr val="accent1">
                    <a:lumMod val="50000"/>
                  </a:schemeClr>
                </a:solidFill>
                <a:latin typeface="黑体" panose="02010609060101010101" charset="-122"/>
                <a:ea typeface="黑体" panose="02010609060101010101" charset="-122"/>
                <a:sym typeface="+mn-ea"/>
              </a:rPr>
              <a:t>K</a:t>
            </a:r>
            <a:r>
              <a:rPr lang="zh-CN" altLang="en-US" sz="1600" b="1" dirty="0">
                <a:solidFill>
                  <a:schemeClr val="accent1">
                    <a:lumMod val="50000"/>
                  </a:schemeClr>
                </a:solidFill>
                <a:latin typeface="黑体" panose="02010609060101010101" charset="-122"/>
                <a:ea typeface="黑体" panose="02010609060101010101" charset="-122"/>
                <a:sym typeface="+mn-ea"/>
              </a:rPr>
              <a:t>维（</a:t>
            </a:r>
            <a:r>
              <a:rPr lang="en-US" altLang="zh-CN" sz="1600" b="1" dirty="0">
                <a:solidFill>
                  <a:schemeClr val="accent1">
                    <a:lumMod val="50000"/>
                  </a:schemeClr>
                </a:solidFill>
                <a:latin typeface="黑体" panose="02010609060101010101" charset="-122"/>
                <a:ea typeface="黑体" panose="02010609060101010101" charset="-122"/>
                <a:sym typeface="+mn-ea"/>
              </a:rPr>
              <a:t>K</a:t>
            </a:r>
            <a:r>
              <a:rPr lang="zh-CN" altLang="en-US" sz="1600" b="1" dirty="0">
                <a:solidFill>
                  <a:schemeClr val="accent1">
                    <a:lumMod val="50000"/>
                  </a:schemeClr>
                </a:solidFill>
                <a:latin typeface="黑体" panose="02010609060101010101" charset="-122"/>
                <a:ea typeface="黑体" panose="02010609060101010101" charset="-122"/>
                <a:sym typeface="+mn-ea"/>
              </a:rPr>
              <a:t>大于</a:t>
            </a:r>
            <a:r>
              <a:rPr lang="en-US" altLang="zh-CN" sz="1600" b="1" dirty="0">
                <a:solidFill>
                  <a:schemeClr val="accent1">
                    <a:lumMod val="50000"/>
                  </a:schemeClr>
                </a:solidFill>
                <a:latin typeface="黑体" panose="02010609060101010101" charset="-122"/>
                <a:ea typeface="黑体" panose="02010609060101010101" charset="-122"/>
                <a:sym typeface="+mn-ea"/>
              </a:rPr>
              <a:t>0</a:t>
            </a:r>
            <a:r>
              <a:rPr lang="zh-CN" altLang="en-US" sz="1600" b="1" dirty="0">
                <a:solidFill>
                  <a:schemeClr val="accent1">
                    <a:lumMod val="50000"/>
                  </a:schemeClr>
                </a:solidFill>
                <a:latin typeface="黑体" panose="02010609060101010101" charset="-122"/>
                <a:ea typeface="黑体" panose="02010609060101010101" charset="-122"/>
                <a:sym typeface="+mn-ea"/>
              </a:rPr>
              <a:t>，小于</a:t>
            </a:r>
            <a:r>
              <a:rPr lang="en-US" altLang="zh-CN" sz="1600" b="1" dirty="0">
                <a:solidFill>
                  <a:schemeClr val="accent1">
                    <a:lumMod val="50000"/>
                  </a:schemeClr>
                </a:solidFill>
                <a:latin typeface="黑体" panose="02010609060101010101" charset="-122"/>
                <a:ea typeface="黑体" panose="02010609060101010101" charset="-122"/>
                <a:sym typeface="+mn-ea"/>
              </a:rPr>
              <a:t>N</a:t>
            </a:r>
            <a:r>
              <a:rPr lang="zh-CN" altLang="en-US" sz="1600" b="1" dirty="0">
                <a:solidFill>
                  <a:schemeClr val="accent1">
                    <a:lumMod val="50000"/>
                  </a:schemeClr>
                </a:solidFill>
                <a:latin typeface="黑体" panose="02010609060101010101" charset="-122"/>
                <a:ea typeface="黑体" panose="02010609060101010101" charset="-122"/>
                <a:sym typeface="+mn-ea"/>
              </a:rPr>
              <a:t>），其目标是选择</a:t>
            </a:r>
            <a:r>
              <a:rPr lang="en-US" altLang="zh-CN" sz="1600" b="1" dirty="0">
                <a:solidFill>
                  <a:schemeClr val="accent1">
                    <a:lumMod val="50000"/>
                  </a:schemeClr>
                </a:solidFill>
                <a:latin typeface="黑体" panose="02010609060101010101" charset="-122"/>
                <a:ea typeface="黑体" panose="02010609060101010101" charset="-122"/>
                <a:sym typeface="+mn-ea"/>
              </a:rPr>
              <a:t>K</a:t>
            </a:r>
            <a:r>
              <a:rPr lang="zh-CN" altLang="en-US" sz="1600" b="1" dirty="0">
                <a:solidFill>
                  <a:schemeClr val="accent1">
                    <a:lumMod val="50000"/>
                  </a:schemeClr>
                </a:solidFill>
                <a:latin typeface="黑体" panose="02010609060101010101" charset="-122"/>
                <a:ea typeface="黑体" panose="02010609060101010101" charset="-122"/>
                <a:sym typeface="+mn-ea"/>
              </a:rPr>
              <a:t>个单位（模为</a:t>
            </a:r>
            <a:r>
              <a:rPr lang="en-US" altLang="zh-CN" sz="1600" b="1" dirty="0">
                <a:solidFill>
                  <a:schemeClr val="accent1">
                    <a:lumMod val="50000"/>
                  </a:schemeClr>
                </a:solidFill>
                <a:latin typeface="黑体" panose="02010609060101010101" charset="-122"/>
                <a:ea typeface="黑体" panose="02010609060101010101" charset="-122"/>
                <a:sym typeface="+mn-ea"/>
              </a:rPr>
              <a:t>1</a:t>
            </a:r>
            <a:r>
              <a:rPr lang="zh-CN" altLang="en-US" sz="1600" b="1" dirty="0">
                <a:solidFill>
                  <a:schemeClr val="accent1">
                    <a:lumMod val="50000"/>
                  </a:schemeClr>
                </a:solidFill>
                <a:latin typeface="黑体" panose="02010609060101010101" charset="-122"/>
                <a:ea typeface="黑体" panose="02010609060101010101" charset="-122"/>
                <a:sym typeface="+mn-ea"/>
              </a:rPr>
              <a:t>）正交基，使得原始数据变换到这组基上后，各字段两两间协方差为</a:t>
            </a:r>
            <a:r>
              <a:rPr lang="en-US" altLang="zh-CN" sz="1600" b="1" dirty="0">
                <a:solidFill>
                  <a:schemeClr val="accent1">
                    <a:lumMod val="50000"/>
                  </a:schemeClr>
                </a:solidFill>
                <a:latin typeface="黑体" panose="02010609060101010101" charset="-122"/>
                <a:ea typeface="黑体" panose="02010609060101010101" charset="-122"/>
                <a:sym typeface="+mn-ea"/>
              </a:rPr>
              <a:t>0</a:t>
            </a:r>
            <a:r>
              <a:rPr lang="zh-CN" altLang="en-US" sz="1600" b="1" dirty="0">
                <a:solidFill>
                  <a:schemeClr val="accent1">
                    <a:lumMod val="50000"/>
                  </a:schemeClr>
                </a:solidFill>
                <a:latin typeface="黑体" panose="02010609060101010101" charset="-122"/>
                <a:ea typeface="黑体" panose="02010609060101010101" charset="-122"/>
                <a:sym typeface="+mn-ea"/>
              </a:rPr>
              <a:t>，而字段的方差则尽可能大（在正交的约束下，取最大的</a:t>
            </a:r>
            <a:r>
              <a:rPr lang="en-US" altLang="zh-CN" sz="1600" b="1" dirty="0">
                <a:solidFill>
                  <a:schemeClr val="accent1">
                    <a:lumMod val="50000"/>
                  </a:schemeClr>
                </a:solidFill>
                <a:latin typeface="黑体" panose="02010609060101010101" charset="-122"/>
                <a:ea typeface="黑体" panose="02010609060101010101" charset="-122"/>
                <a:sym typeface="+mn-ea"/>
              </a:rPr>
              <a:t>K</a:t>
            </a:r>
            <a:r>
              <a:rPr lang="zh-CN" altLang="en-US" sz="1600" b="1" dirty="0">
                <a:solidFill>
                  <a:schemeClr val="accent1">
                    <a:lumMod val="50000"/>
                  </a:schemeClr>
                </a:solidFill>
                <a:latin typeface="黑体" panose="02010609060101010101" charset="-122"/>
                <a:ea typeface="黑体" panose="02010609060101010101" charset="-122"/>
                <a:sym typeface="+mn-ea"/>
              </a:rPr>
              <a:t>个方差）</a:t>
            </a:r>
            <a:r>
              <a:rPr lang="zh-CN" altLang="en-US" sz="1600" dirty="0">
                <a:latin typeface="黑体" panose="02010609060101010101" charset="-122"/>
                <a:ea typeface="黑体" panose="02010609060101010101" charset="-122"/>
                <a:sym typeface="+mn-ea"/>
              </a:rPr>
              <a:t>。</a:t>
            </a:r>
            <a:endParaRPr lang="en-US" altLang="zh-CN" sz="1600" dirty="0">
              <a:latin typeface="黑体" panose="02010609060101010101" charset="-122"/>
              <a:ea typeface="黑体" panose="02010609060101010101" charset="-122"/>
            </a:endParaRPr>
          </a:p>
          <a:p>
            <a:pPr indent="457200" algn="just">
              <a:lnSpc>
                <a:spcPct val="150000"/>
              </a:lnSpc>
            </a:pPr>
            <a:r>
              <a:rPr lang="zh-CN" altLang="en-US" sz="1600" dirty="0">
                <a:latin typeface="黑体" panose="02010609060101010101" charset="-122"/>
                <a:ea typeface="黑体" panose="02010609060101010101" charset="-122"/>
                <a:sym typeface="+mn-ea"/>
              </a:rPr>
              <a:t>假设我们只有</a:t>
            </a:r>
            <a:r>
              <a:rPr lang="en-US" altLang="zh-CN" sz="1600" dirty="0">
                <a:latin typeface="黑体" panose="02010609060101010101" charset="-122"/>
                <a:ea typeface="黑体" panose="02010609060101010101" charset="-122"/>
                <a:sym typeface="+mn-ea"/>
              </a:rPr>
              <a:t>a</a:t>
            </a:r>
            <a:r>
              <a:rPr lang="zh-CN" altLang="en-US" sz="1600" dirty="0">
                <a:latin typeface="黑体" panose="02010609060101010101" charset="-122"/>
                <a:ea typeface="黑体" panose="02010609060101010101" charset="-122"/>
                <a:sym typeface="+mn-ea"/>
              </a:rPr>
              <a:t>和</a:t>
            </a:r>
            <a:r>
              <a:rPr lang="en-US" altLang="zh-CN" sz="1600" dirty="0">
                <a:latin typeface="黑体" panose="02010609060101010101" charset="-122"/>
                <a:ea typeface="黑体" panose="02010609060101010101" charset="-122"/>
                <a:sym typeface="+mn-ea"/>
              </a:rPr>
              <a:t>b</a:t>
            </a:r>
            <a:r>
              <a:rPr lang="zh-CN" altLang="en-US" sz="1600" dirty="0">
                <a:latin typeface="黑体" panose="02010609060101010101" charset="-122"/>
                <a:ea typeface="黑体" panose="02010609060101010101" charset="-122"/>
                <a:sym typeface="+mn-ea"/>
              </a:rPr>
              <a:t>两个字段，那么我们将它们按行组成矩阵</a:t>
            </a:r>
            <a:r>
              <a:rPr lang="en-US" altLang="zh-CN" sz="1600" dirty="0">
                <a:latin typeface="黑体" panose="02010609060101010101" charset="-122"/>
                <a:ea typeface="黑体" panose="02010609060101010101" charset="-122"/>
                <a:sym typeface="+mn-ea"/>
              </a:rPr>
              <a:t>X</a:t>
            </a:r>
            <a:r>
              <a:rPr lang="zh-CN" altLang="en-US" sz="1600" dirty="0">
                <a:latin typeface="黑体" panose="02010609060101010101" charset="-122"/>
                <a:ea typeface="黑体" panose="02010609060101010101" charset="-122"/>
                <a:sym typeface="+mn-ea"/>
              </a:rPr>
              <a:t>：</a:t>
            </a:r>
            <a:endParaRPr lang="zh-CN" altLang="en-US" sz="1600" b="1" dirty="0">
              <a:solidFill>
                <a:schemeClr val="accent1">
                  <a:lumMod val="50000"/>
                </a:schemeClr>
              </a:solidFill>
              <a:latin typeface="黑体" panose="02010609060101010101" charset="-122"/>
              <a:ea typeface="黑体" panose="02010609060101010101" charset="-122"/>
              <a:sym typeface="+mn-ea"/>
            </a:endParaRPr>
          </a:p>
        </p:txBody>
      </p:sp>
      <p:sp>
        <p:nvSpPr>
          <p:cNvPr id="8" name="文本框 7"/>
          <p:cNvSpPr txBox="1"/>
          <p:nvPr/>
        </p:nvSpPr>
        <p:spPr>
          <a:xfrm>
            <a:off x="942554" y="4255770"/>
            <a:ext cx="7390765" cy="335280"/>
          </a:xfrm>
          <a:prstGeom prst="rect">
            <a:avLst/>
          </a:prstGeom>
          <a:noFill/>
        </p:spPr>
        <p:txBody>
          <a:bodyPr wrap="square" rtlCol="0">
            <a:spAutoFit/>
          </a:bodyPr>
          <a:lstStyle/>
          <a:p>
            <a:pPr indent="457200" algn="just"/>
            <a:r>
              <a:rPr lang="zh-CN" altLang="en-US" sz="1600" dirty="0">
                <a:latin typeface="黑体" panose="02010609060101010101" charset="-122"/>
                <a:ea typeface="黑体" panose="02010609060101010101" charset="-122"/>
                <a:sym typeface="+mn-ea"/>
              </a:rPr>
              <a:t>然后我们用</a:t>
            </a:r>
            <a:r>
              <a:rPr lang="en-US" altLang="zh-CN" sz="1600" dirty="0">
                <a:latin typeface="黑体" panose="02010609060101010101" charset="-122"/>
                <a:ea typeface="黑体" panose="02010609060101010101" charset="-122"/>
                <a:sym typeface="+mn-ea"/>
              </a:rPr>
              <a:t>X</a:t>
            </a:r>
            <a:r>
              <a:rPr lang="zh-CN" altLang="en-US" sz="1600" dirty="0">
                <a:latin typeface="黑体" panose="02010609060101010101" charset="-122"/>
                <a:ea typeface="黑体" panose="02010609060101010101" charset="-122"/>
                <a:sym typeface="+mn-ea"/>
              </a:rPr>
              <a:t>乘以</a:t>
            </a:r>
            <a:r>
              <a:rPr lang="en-US" altLang="zh-CN" sz="1600" dirty="0">
                <a:latin typeface="黑体" panose="02010609060101010101" charset="-122"/>
                <a:ea typeface="黑体" panose="02010609060101010101" charset="-122"/>
                <a:sym typeface="+mn-ea"/>
              </a:rPr>
              <a:t>X</a:t>
            </a:r>
            <a:r>
              <a:rPr lang="zh-CN" altLang="en-US" sz="1600" dirty="0">
                <a:latin typeface="黑体" panose="02010609060101010101" charset="-122"/>
                <a:ea typeface="黑体" panose="02010609060101010101" charset="-122"/>
                <a:sym typeface="+mn-ea"/>
              </a:rPr>
              <a:t>的转置，并乘上系数</a:t>
            </a:r>
            <a:r>
              <a:rPr lang="en-US" altLang="zh-CN" sz="1600" dirty="0">
                <a:latin typeface="黑体" panose="02010609060101010101" charset="-122"/>
                <a:ea typeface="黑体" panose="02010609060101010101" charset="-122"/>
                <a:sym typeface="+mn-ea"/>
              </a:rPr>
              <a:t>1/m</a:t>
            </a:r>
            <a:r>
              <a:rPr lang="zh-CN" altLang="en-US" sz="1600" dirty="0">
                <a:latin typeface="黑体" panose="02010609060101010101" charset="-122"/>
                <a:ea typeface="黑体" panose="02010609060101010101" charset="-122"/>
                <a:sym typeface="+mn-ea"/>
              </a:rPr>
              <a:t>：</a:t>
            </a:r>
            <a:endParaRPr lang="zh-CN" altLang="en-US" sz="1600" b="1" dirty="0">
              <a:solidFill>
                <a:schemeClr val="accent1">
                  <a:lumMod val="50000"/>
                </a:schemeClr>
              </a:solidFill>
              <a:latin typeface="黑体" panose="02010609060101010101" charset="-122"/>
              <a:ea typeface="黑体" panose="02010609060101010101" charset="-122"/>
              <a:sym typeface="+mn-ea"/>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27230" y="3400018"/>
            <a:ext cx="3486150" cy="923925"/>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1894" y="4677612"/>
            <a:ext cx="5076825" cy="10763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02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推导</a:t>
            </a:r>
            <a:endParaRPr lang="zh-CN" altLang="en-US" sz="2000" b="1" dirty="0">
              <a:solidFill>
                <a:schemeClr val="accent1">
                  <a:lumMod val="50000"/>
                </a:schemeClr>
              </a:solidFill>
              <a:latin typeface="宋体" panose="02010600030101010101" pitchFamily="2" charset="-122"/>
              <a:sym typeface="+mn-ea"/>
            </a:endParaRPr>
          </a:p>
        </p:txBody>
      </p:sp>
      <mc:AlternateContent xmlns:mc="http://schemas.openxmlformats.org/markup-compatibility/2006">
        <mc:Choice xmlns:a14="http://schemas.microsoft.com/office/drawing/2010/main" Requires="a14">
          <p:sp>
            <p:nvSpPr>
              <p:cNvPr id="6" name="文本框 5"/>
              <p:cNvSpPr txBox="1"/>
              <p:nvPr/>
            </p:nvSpPr>
            <p:spPr>
              <a:xfrm>
                <a:off x="1073792" y="1764438"/>
                <a:ext cx="5766287" cy="2130425"/>
              </a:xfrm>
              <a:prstGeom prst="rect">
                <a:avLst/>
              </a:prstGeom>
              <a:noFill/>
            </p:spPr>
            <p:txBody>
              <a:bodyPr wrap="square" rtlCol="0">
                <a:spAutoFit/>
              </a:bodyPr>
              <a:lstStyle/>
              <a:p>
                <a:pPr indent="457200" algn="just"/>
                <a:r>
                  <a:rPr lang="zh-CN" altLang="en-US" sz="2000" dirty="0">
                    <a:latin typeface="幼圆" panose="02010509060101010101" pitchFamily="49" charset="-122"/>
                    <a:ea typeface="幼圆" panose="02010509060101010101" pitchFamily="49" charset="-122"/>
                    <a:cs typeface="幼圆" panose="02010509060101010101" pitchFamily="49" charset="-122"/>
                  </a:rPr>
                  <a:t>推广：</a:t>
                </a:r>
                <a:endParaRPr lang="en-US" altLang="zh-CN" sz="2000" dirty="0">
                  <a:latin typeface="幼圆" panose="02010509060101010101" pitchFamily="49" charset="-122"/>
                  <a:ea typeface="幼圆" panose="02010509060101010101" pitchFamily="49" charset="-122"/>
                  <a:cs typeface="幼圆" panose="02010509060101010101" pitchFamily="49" charset="-122"/>
                </a:endParaRPr>
              </a:p>
              <a:p>
                <a:pPr indent="457200" algn="just"/>
                <a:r>
                  <a:rPr lang="zh-CN" altLang="en-US" sz="2000" dirty="0">
                    <a:latin typeface="幼圆" panose="02010509060101010101" pitchFamily="49" charset="-122"/>
                    <a:ea typeface="幼圆" panose="02010509060101010101" pitchFamily="49" charset="-122"/>
                    <a:cs typeface="幼圆" panose="02010509060101010101" pitchFamily="49" charset="-122"/>
                  </a:rPr>
                  <a:t>设我们有</a:t>
                </a:r>
                <a:r>
                  <a:rPr lang="en-US" altLang="zh-CN" sz="2000" dirty="0">
                    <a:latin typeface="幼圆" panose="02010509060101010101" pitchFamily="49" charset="-122"/>
                    <a:ea typeface="幼圆" panose="02010509060101010101" pitchFamily="49" charset="-122"/>
                    <a:cs typeface="幼圆" panose="02010509060101010101" pitchFamily="49" charset="-122"/>
                  </a:rPr>
                  <a:t>m</a:t>
                </a:r>
                <a:r>
                  <a:rPr lang="zh-CN" altLang="en-US" sz="2000" dirty="0">
                    <a:latin typeface="幼圆" panose="02010509060101010101" pitchFamily="49" charset="-122"/>
                    <a:ea typeface="幼圆" panose="02010509060101010101" pitchFamily="49" charset="-122"/>
                    <a:cs typeface="幼圆" panose="02010509060101010101" pitchFamily="49" charset="-122"/>
                  </a:rPr>
                  <a:t>个</a:t>
                </a:r>
                <a:r>
                  <a:rPr lang="en-US" altLang="zh-CN" sz="2000" dirty="0">
                    <a:latin typeface="幼圆" panose="02010509060101010101" pitchFamily="49" charset="-122"/>
                    <a:ea typeface="幼圆" panose="02010509060101010101" pitchFamily="49" charset="-122"/>
                    <a:cs typeface="幼圆" panose="02010509060101010101" pitchFamily="49" charset="-122"/>
                  </a:rPr>
                  <a:t>n</a:t>
                </a:r>
                <a:r>
                  <a:rPr lang="zh-CN" altLang="en-US" sz="2000" dirty="0">
                    <a:latin typeface="幼圆" panose="02010509060101010101" pitchFamily="49" charset="-122"/>
                    <a:ea typeface="幼圆" panose="02010509060101010101" pitchFamily="49" charset="-122"/>
                    <a:cs typeface="幼圆" panose="02010509060101010101" pitchFamily="49" charset="-122"/>
                  </a:rPr>
                  <a:t>维数据记录，将其按列排成</a:t>
                </a:r>
                <a:r>
                  <a:rPr lang="en-US" altLang="zh-CN" sz="2000" dirty="0">
                    <a:latin typeface="幼圆" panose="02010509060101010101" pitchFamily="49" charset="-122"/>
                    <a:ea typeface="幼圆" panose="02010509060101010101" pitchFamily="49" charset="-122"/>
                    <a:cs typeface="幼圆" panose="02010509060101010101" pitchFamily="49" charset="-122"/>
                  </a:rPr>
                  <a:t>n</a:t>
                </a:r>
                <a:r>
                  <a:rPr lang="zh-CN" altLang="en-US" sz="2000" dirty="0">
                    <a:latin typeface="幼圆" panose="02010509060101010101" pitchFamily="49" charset="-122"/>
                    <a:ea typeface="幼圆" panose="02010509060101010101" pitchFamily="49" charset="-122"/>
                    <a:cs typeface="幼圆" panose="02010509060101010101" pitchFamily="49" charset="-122"/>
                  </a:rPr>
                  <a:t>乘</a:t>
                </a:r>
                <a:r>
                  <a:rPr lang="en-US" altLang="zh-CN" sz="2000" dirty="0">
                    <a:latin typeface="幼圆" panose="02010509060101010101" pitchFamily="49" charset="-122"/>
                    <a:ea typeface="幼圆" panose="02010509060101010101" pitchFamily="49" charset="-122"/>
                    <a:cs typeface="幼圆" panose="02010509060101010101" pitchFamily="49" charset="-122"/>
                  </a:rPr>
                  <a:t>m</a:t>
                </a:r>
                <a:r>
                  <a:rPr lang="zh-CN" altLang="en-US" sz="2000" dirty="0">
                    <a:latin typeface="幼圆" panose="02010509060101010101" pitchFamily="49" charset="-122"/>
                    <a:ea typeface="幼圆" panose="02010509060101010101" pitchFamily="49" charset="-122"/>
                    <a:cs typeface="幼圆" panose="02010509060101010101" pitchFamily="49" charset="-122"/>
                  </a:rPr>
                  <a:t>的矩阵</a:t>
                </a:r>
                <a:r>
                  <a:rPr lang="en-US" altLang="zh-CN" sz="2000" dirty="0">
                    <a:latin typeface="幼圆" panose="02010509060101010101" pitchFamily="49" charset="-122"/>
                    <a:ea typeface="幼圆" panose="02010509060101010101" pitchFamily="49" charset="-122"/>
                    <a:cs typeface="幼圆" panose="02010509060101010101" pitchFamily="49" charset="-122"/>
                  </a:rPr>
                  <a:t>X</a:t>
                </a:r>
                <a:r>
                  <a:rPr lang="zh-CN" altLang="en-US" sz="2000" dirty="0">
                    <a:latin typeface="幼圆" panose="02010509060101010101" pitchFamily="49" charset="-122"/>
                    <a:ea typeface="幼圆" panose="02010509060101010101" pitchFamily="49" charset="-122"/>
                    <a:cs typeface="幼圆" panose="02010509060101010101" pitchFamily="49" charset="-122"/>
                  </a:rPr>
                  <a:t>，设</a:t>
                </a:r>
                <a14:m>
                  <m:oMath xmlns:m="http://schemas.openxmlformats.org/officeDocument/2006/math">
                    <m:r>
                      <a:rPr lang="en-US" altLang="zh-CN" sz="2000" i="1">
                        <a:latin typeface="Cambria Math" panose="02040503050406030204" pitchFamily="18" charset="0"/>
                        <a:ea typeface="幼圆" panose="02010509060101010101" pitchFamily="49" charset="-122"/>
                        <a:cs typeface="Cambria Math" panose="02040503050406030204" pitchFamily="18" charset="0"/>
                      </a:rPr>
                      <m:t>𝐶</m:t>
                    </m:r>
                    <m:r>
                      <a:rPr lang="en-US" altLang="zh-CN" sz="2000" i="1">
                        <a:latin typeface="Cambria Math" panose="02040503050406030204" pitchFamily="18" charset="0"/>
                        <a:ea typeface="MS Mincho" charset="0"/>
                        <a:cs typeface="Cambria Math" panose="02040503050406030204" pitchFamily="18" charset="0"/>
                      </a:rPr>
                      <m:t>=</m:t>
                    </m:r>
                    <m:f>
                      <m:fPr>
                        <m:ctrlPr>
                          <a:rPr lang="en-US" altLang="zh-CN" sz="2000" i="1">
                            <a:latin typeface="Cambria Math" panose="02040503050406030204" pitchFamily="18" charset="0"/>
                            <a:ea typeface="幼圆" panose="02010509060101010101" pitchFamily="49" charset="-122"/>
                            <a:cs typeface="Cambria Math" panose="02040503050406030204" pitchFamily="18" charset="0"/>
                          </a:rPr>
                        </m:ctrlPr>
                      </m:fPr>
                      <m:num>
                        <m:r>
                          <a:rPr lang="en-US" altLang="zh-CN" sz="2000" i="1">
                            <a:latin typeface="Cambria Math" panose="02040503050406030204" pitchFamily="18" charset="0"/>
                            <a:ea typeface="幼圆" panose="02010509060101010101" pitchFamily="49" charset="-122"/>
                            <a:cs typeface="Cambria Math" panose="02040503050406030204" pitchFamily="18" charset="0"/>
                          </a:rPr>
                          <m:t>1</m:t>
                        </m:r>
                      </m:num>
                      <m:den>
                        <m:r>
                          <a:rPr lang="en-US" altLang="zh-CN" sz="2000" i="1">
                            <a:latin typeface="Cambria Math" panose="02040503050406030204" pitchFamily="18" charset="0"/>
                            <a:ea typeface="幼圆" panose="02010509060101010101" pitchFamily="49" charset="-122"/>
                            <a:cs typeface="Cambria Math" panose="02040503050406030204" pitchFamily="18" charset="0"/>
                          </a:rPr>
                          <m:t>𝑚</m:t>
                        </m:r>
                      </m:den>
                    </m:f>
                    <m:r>
                      <a:rPr lang="en-US" altLang="zh-CN" sz="2000" i="1">
                        <a:latin typeface="Cambria Math" panose="02040503050406030204" pitchFamily="18" charset="0"/>
                        <a:ea typeface="幼圆" panose="02010509060101010101" pitchFamily="49" charset="-122"/>
                        <a:cs typeface="Cambria Math" panose="02040503050406030204" pitchFamily="18" charset="0"/>
                      </a:rPr>
                      <m:t>𝑋</m:t>
                    </m:r>
                    <m:sSup>
                      <m:sSupPr>
                        <m:ctrlPr>
                          <a:rPr lang="en-US" altLang="zh-CN" sz="2000" i="1">
                            <a:latin typeface="Cambria Math" panose="02040503050406030204" pitchFamily="18" charset="0"/>
                            <a:ea typeface="幼圆" panose="02010509060101010101" pitchFamily="49" charset="-122"/>
                            <a:cs typeface="Cambria Math" panose="02040503050406030204" pitchFamily="18" charset="0"/>
                          </a:rPr>
                        </m:ctrlPr>
                      </m:sSupPr>
                      <m:e>
                        <m:r>
                          <a:rPr lang="en-US" altLang="zh-CN" sz="2000" i="1">
                            <a:latin typeface="Cambria Math" panose="02040503050406030204" pitchFamily="18" charset="0"/>
                            <a:ea typeface="幼圆" panose="02010509060101010101" pitchFamily="49" charset="-122"/>
                            <a:cs typeface="Cambria Math" panose="02040503050406030204" pitchFamily="18" charset="0"/>
                          </a:rPr>
                          <m:t>𝑋</m:t>
                        </m:r>
                      </m:e>
                      <m:sup>
                        <m:r>
                          <a:rPr lang="en-US" altLang="zh-CN" sz="2000" i="1">
                            <a:latin typeface="Cambria Math" panose="02040503050406030204" pitchFamily="18" charset="0"/>
                            <a:ea typeface="幼圆" panose="02010509060101010101" pitchFamily="49" charset="-122"/>
                            <a:cs typeface="Cambria Math" panose="02040503050406030204" pitchFamily="18" charset="0"/>
                          </a:rPr>
                          <m:t>𝑇</m:t>
                        </m:r>
                      </m:sup>
                    </m:sSup>
                  </m:oMath>
                </a14:m>
                <a:r>
                  <a:rPr lang="en-US" altLang="zh-CN" sz="2000" dirty="0">
                    <a:latin typeface="幼圆" panose="02010509060101010101" pitchFamily="49" charset="-122"/>
                    <a:ea typeface="幼圆" panose="02010509060101010101" pitchFamily="49" charset="-122"/>
                    <a:cs typeface="幼圆" panose="02010509060101010101" pitchFamily="49" charset="-122"/>
                  </a:rPr>
                  <a:t>,</a:t>
                </a:r>
                <a:r>
                  <a:rPr lang="zh-CN" altLang="en-US" sz="2000" dirty="0">
                    <a:latin typeface="幼圆" panose="02010509060101010101" pitchFamily="49" charset="-122"/>
                    <a:ea typeface="幼圆" panose="02010509060101010101" pitchFamily="49" charset="-122"/>
                    <a:cs typeface="幼圆" panose="02010509060101010101" pitchFamily="49" charset="-122"/>
                  </a:rPr>
                  <a:t>则</a:t>
                </a:r>
                <a:r>
                  <a:rPr lang="en-US" altLang="zh-CN" sz="2000" dirty="0">
                    <a:latin typeface="幼圆" panose="02010509060101010101" pitchFamily="49" charset="-122"/>
                    <a:ea typeface="幼圆" panose="02010509060101010101" pitchFamily="49" charset="-122"/>
                    <a:cs typeface="幼圆" panose="02010509060101010101" pitchFamily="49" charset="-122"/>
                  </a:rPr>
                  <a:t>C</a:t>
                </a:r>
                <a:r>
                  <a:rPr lang="zh-CN" altLang="en-US" sz="2000" dirty="0">
                    <a:latin typeface="幼圆" panose="02010509060101010101" pitchFamily="49" charset="-122"/>
                    <a:ea typeface="幼圆" panose="02010509060101010101" pitchFamily="49" charset="-122"/>
                    <a:cs typeface="幼圆" panose="02010509060101010101" pitchFamily="49" charset="-122"/>
                  </a:rPr>
                  <a:t>是一个对称矩阵，其对角线分别个各个字段的方差，而第</a:t>
                </a:r>
                <a:r>
                  <a:rPr lang="en-US" altLang="zh-CN" sz="2000" dirty="0" err="1">
                    <a:latin typeface="幼圆" panose="02010509060101010101" pitchFamily="49" charset="-122"/>
                    <a:ea typeface="幼圆" panose="02010509060101010101" pitchFamily="49" charset="-122"/>
                    <a:cs typeface="幼圆" panose="02010509060101010101" pitchFamily="49" charset="-122"/>
                  </a:rPr>
                  <a:t>i</a:t>
                </a:r>
                <a:r>
                  <a:rPr lang="zh-CN" altLang="en-US" sz="2000" dirty="0">
                    <a:latin typeface="幼圆" panose="02010509060101010101" pitchFamily="49" charset="-122"/>
                    <a:ea typeface="幼圆" panose="02010509060101010101" pitchFamily="49" charset="-122"/>
                    <a:cs typeface="幼圆" panose="02010509060101010101" pitchFamily="49" charset="-122"/>
                  </a:rPr>
                  <a:t>行</a:t>
                </a:r>
                <a:r>
                  <a:rPr lang="en-US" altLang="zh-CN" sz="2000" dirty="0">
                    <a:latin typeface="幼圆" panose="02010509060101010101" pitchFamily="49" charset="-122"/>
                    <a:ea typeface="幼圆" panose="02010509060101010101" pitchFamily="49" charset="-122"/>
                    <a:cs typeface="幼圆" panose="02010509060101010101" pitchFamily="49" charset="-122"/>
                  </a:rPr>
                  <a:t>j</a:t>
                </a:r>
                <a:r>
                  <a:rPr lang="zh-CN" altLang="en-US" sz="2000" dirty="0">
                    <a:latin typeface="幼圆" panose="02010509060101010101" pitchFamily="49" charset="-122"/>
                    <a:ea typeface="幼圆" panose="02010509060101010101" pitchFamily="49" charset="-122"/>
                    <a:cs typeface="幼圆" panose="02010509060101010101" pitchFamily="49" charset="-122"/>
                  </a:rPr>
                  <a:t>列和</a:t>
                </a:r>
                <a:r>
                  <a:rPr lang="en-US" altLang="zh-CN" sz="2000" dirty="0">
                    <a:latin typeface="幼圆" panose="02010509060101010101" pitchFamily="49" charset="-122"/>
                    <a:ea typeface="幼圆" panose="02010509060101010101" pitchFamily="49" charset="-122"/>
                    <a:cs typeface="幼圆" panose="02010509060101010101" pitchFamily="49" charset="-122"/>
                  </a:rPr>
                  <a:t>j</a:t>
                </a:r>
                <a:r>
                  <a:rPr lang="zh-CN" altLang="en-US" sz="2000" dirty="0">
                    <a:latin typeface="幼圆" panose="02010509060101010101" pitchFamily="49" charset="-122"/>
                    <a:ea typeface="幼圆" panose="02010509060101010101" pitchFamily="49" charset="-122"/>
                    <a:cs typeface="幼圆" panose="02010509060101010101" pitchFamily="49" charset="-122"/>
                  </a:rPr>
                  <a:t>行</a:t>
                </a:r>
                <a:r>
                  <a:rPr lang="en-US" altLang="zh-CN" sz="2000" dirty="0" err="1">
                    <a:latin typeface="幼圆" panose="02010509060101010101" pitchFamily="49" charset="-122"/>
                    <a:ea typeface="幼圆" panose="02010509060101010101" pitchFamily="49" charset="-122"/>
                    <a:cs typeface="幼圆" panose="02010509060101010101" pitchFamily="49" charset="-122"/>
                  </a:rPr>
                  <a:t>i</a:t>
                </a:r>
                <a:r>
                  <a:rPr lang="zh-CN" altLang="en-US" sz="2000" dirty="0">
                    <a:latin typeface="幼圆" panose="02010509060101010101" pitchFamily="49" charset="-122"/>
                    <a:ea typeface="幼圆" panose="02010509060101010101" pitchFamily="49" charset="-122"/>
                    <a:cs typeface="幼圆" panose="02010509060101010101" pitchFamily="49" charset="-122"/>
                  </a:rPr>
                  <a:t>列元素相同，表示</a:t>
                </a:r>
                <a:r>
                  <a:rPr lang="en-US" altLang="zh-CN" sz="2000" dirty="0" err="1">
                    <a:latin typeface="幼圆" panose="02010509060101010101" pitchFamily="49" charset="-122"/>
                    <a:ea typeface="幼圆" panose="02010509060101010101" pitchFamily="49" charset="-122"/>
                    <a:cs typeface="幼圆" panose="02010509060101010101" pitchFamily="49" charset="-122"/>
                  </a:rPr>
                  <a:t>i</a:t>
                </a:r>
                <a:r>
                  <a:rPr lang="zh-CN" altLang="en-US" sz="2000" dirty="0">
                    <a:latin typeface="幼圆" panose="02010509060101010101" pitchFamily="49" charset="-122"/>
                    <a:ea typeface="幼圆" panose="02010509060101010101" pitchFamily="49" charset="-122"/>
                    <a:cs typeface="幼圆" panose="02010509060101010101" pitchFamily="49" charset="-122"/>
                  </a:rPr>
                  <a:t>和</a:t>
                </a:r>
                <a:r>
                  <a:rPr lang="en-US" altLang="zh-CN" sz="2000" dirty="0">
                    <a:latin typeface="幼圆" panose="02010509060101010101" pitchFamily="49" charset="-122"/>
                    <a:ea typeface="幼圆" panose="02010509060101010101" pitchFamily="49" charset="-122"/>
                    <a:cs typeface="幼圆" panose="02010509060101010101" pitchFamily="49" charset="-122"/>
                  </a:rPr>
                  <a:t>j</a:t>
                </a:r>
                <a:r>
                  <a:rPr lang="zh-CN" altLang="en-US" sz="2000" dirty="0">
                    <a:latin typeface="幼圆" panose="02010509060101010101" pitchFamily="49" charset="-122"/>
                    <a:ea typeface="幼圆" panose="02010509060101010101" pitchFamily="49" charset="-122"/>
                    <a:cs typeface="幼圆" panose="02010509060101010101" pitchFamily="49" charset="-122"/>
                  </a:rPr>
                  <a:t>两个字段的协方差</a:t>
                </a:r>
                <a:endParaRPr lang="zh-CN" altLang="en-US" sz="2000" dirty="0">
                  <a:latin typeface="幼圆" panose="02010509060101010101" pitchFamily="49" charset="-122"/>
                  <a:ea typeface="幼圆" panose="02010509060101010101" pitchFamily="49" charset="-122"/>
                  <a:cs typeface="幼圆" panose="02010509060101010101" pitchFamily="49" charset="-122"/>
                </a:endParaRPr>
              </a:p>
              <a:p>
                <a:pPr algn="just">
                  <a:lnSpc>
                    <a:spcPct val="150000"/>
                  </a:lnSpc>
                </a:pPr>
                <a:endParaRPr lang="zh-CN" altLang="en-US" sz="1600" dirty="0">
                  <a:solidFill>
                    <a:schemeClr val="accent1">
                      <a:lumMod val="50000"/>
                    </a:schemeClr>
                  </a:solidFill>
                  <a:latin typeface="幼圆" panose="02010509060101010101" pitchFamily="49" charset="-122"/>
                  <a:ea typeface="幼圆" panose="02010509060101010101" pitchFamily="49" charset="-122"/>
                  <a:cs typeface="幼圆" panose="02010509060101010101" pitchFamily="49" charset="-122"/>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1073792" y="1764438"/>
                <a:ext cx="5766287" cy="2130425"/>
              </a:xfrm>
              <a:prstGeom prst="rect">
                <a:avLst/>
              </a:prstGeom>
              <a:blipFill rotWithShape="1">
                <a:blip r:embed="rId1"/>
                <a:stretch>
                  <a:fillRect t="-19" r="9" b="19"/>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02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推导</a:t>
            </a:r>
            <a:endParaRPr lang="zh-CN" altLang="en-US" sz="2000" b="1" dirty="0">
              <a:solidFill>
                <a:schemeClr val="accent1">
                  <a:lumMod val="50000"/>
                </a:schemeClr>
              </a:solidFill>
              <a:latin typeface="宋体" panose="02010600030101010101" pitchFamily="2" charset="-122"/>
              <a:sym typeface="+mn-ea"/>
            </a:endParaRPr>
          </a:p>
        </p:txBody>
      </p:sp>
      <p:sp>
        <p:nvSpPr>
          <p:cNvPr id="6" name="文本框 5"/>
          <p:cNvSpPr txBox="1"/>
          <p:nvPr/>
        </p:nvSpPr>
        <p:spPr>
          <a:xfrm>
            <a:off x="942554" y="1579881"/>
            <a:ext cx="7390765" cy="1015663"/>
          </a:xfrm>
          <a:prstGeom prst="rect">
            <a:avLst/>
          </a:prstGeom>
          <a:noFill/>
        </p:spPr>
        <p:txBody>
          <a:bodyPr wrap="square" rtlCol="0">
            <a:spAutoFit/>
          </a:bodyPr>
          <a:lstStyle/>
          <a:p>
            <a:pPr indent="457200" algn="just"/>
            <a:r>
              <a:rPr lang="zh-CN" altLang="en-US" sz="2000" dirty="0"/>
              <a:t>假设原始数据矩阵</a:t>
            </a:r>
            <a:r>
              <a:rPr lang="en-US" altLang="zh-CN" sz="2000" dirty="0"/>
              <a:t>X</a:t>
            </a:r>
            <a:r>
              <a:rPr lang="zh-CN" altLang="en-US" sz="2000" dirty="0"/>
              <a:t>对应的协方差矩阵为</a:t>
            </a:r>
            <a:r>
              <a:rPr lang="en-US" altLang="zh-CN" sz="2000" dirty="0"/>
              <a:t>C</a:t>
            </a:r>
            <a:r>
              <a:rPr lang="zh-CN" altLang="en-US" sz="2000" dirty="0"/>
              <a:t>，而</a:t>
            </a:r>
            <a:r>
              <a:rPr lang="en-US" altLang="zh-CN" sz="2000" dirty="0"/>
              <a:t>P</a:t>
            </a:r>
            <a:r>
              <a:rPr lang="zh-CN" altLang="en-US" sz="2000" dirty="0"/>
              <a:t>是一组基按行组成的矩阵，设</a:t>
            </a:r>
            <a:r>
              <a:rPr lang="en-US" altLang="zh-CN" sz="2000" dirty="0"/>
              <a:t>Y=PX</a:t>
            </a:r>
            <a:r>
              <a:rPr lang="zh-CN" altLang="en-US" sz="2000" dirty="0"/>
              <a:t>，则</a:t>
            </a:r>
            <a:r>
              <a:rPr lang="en-US" altLang="zh-CN" sz="2000" dirty="0"/>
              <a:t>Y</a:t>
            </a:r>
            <a:r>
              <a:rPr lang="zh-CN" altLang="en-US" sz="2000" dirty="0"/>
              <a:t>为</a:t>
            </a:r>
            <a:r>
              <a:rPr lang="en-US" altLang="zh-CN" sz="2000" dirty="0"/>
              <a:t>X</a:t>
            </a:r>
            <a:r>
              <a:rPr lang="zh-CN" altLang="en-US" sz="2000" dirty="0"/>
              <a:t>对</a:t>
            </a:r>
            <a:r>
              <a:rPr lang="en-US" altLang="zh-CN" sz="2000" dirty="0"/>
              <a:t>P</a:t>
            </a:r>
            <a:r>
              <a:rPr lang="zh-CN" altLang="en-US" sz="2000" dirty="0"/>
              <a:t>做基变换后的数据。设</a:t>
            </a:r>
            <a:r>
              <a:rPr lang="en-US" altLang="zh-CN" sz="2000" dirty="0"/>
              <a:t>Y</a:t>
            </a:r>
            <a:r>
              <a:rPr lang="zh-CN" altLang="en-US" sz="2000" dirty="0"/>
              <a:t>的协方差矩阵为</a:t>
            </a:r>
            <a:r>
              <a:rPr lang="en-US" altLang="zh-CN" sz="2000" dirty="0"/>
              <a:t>D</a:t>
            </a:r>
            <a:r>
              <a:rPr lang="zh-CN" altLang="en-US" sz="2000" dirty="0"/>
              <a:t>，我们推导一下</a:t>
            </a:r>
            <a:r>
              <a:rPr lang="en-US" altLang="zh-CN" sz="2000" dirty="0"/>
              <a:t>D</a:t>
            </a:r>
            <a:r>
              <a:rPr lang="zh-CN" altLang="en-US" sz="2000" dirty="0"/>
              <a:t>与</a:t>
            </a:r>
            <a:r>
              <a:rPr lang="en-US" altLang="zh-CN" sz="2000" dirty="0"/>
              <a:t>C</a:t>
            </a:r>
            <a:r>
              <a:rPr lang="zh-CN" altLang="en-US" sz="2000" dirty="0"/>
              <a:t>的关系：</a:t>
            </a:r>
            <a:endParaRPr lang="zh-CN" altLang="en-US" sz="1600" b="1" dirty="0">
              <a:solidFill>
                <a:schemeClr val="accent1">
                  <a:lumMod val="50000"/>
                </a:schemeClr>
              </a:solidFill>
              <a:latin typeface="黑体" panose="02010609060101010101" charset="-122"/>
              <a:ea typeface="黑体" panose="02010609060101010101" charset="-122"/>
              <a:sym typeface="+mn-ea"/>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56798" y="2707304"/>
            <a:ext cx="2824553" cy="1975327"/>
          </a:xfrm>
          <a:prstGeom prst="rect">
            <a:avLst/>
          </a:prstGeom>
        </p:spPr>
      </p:pic>
      <mc:AlternateContent xmlns:mc="http://schemas.openxmlformats.org/markup-compatibility/2006">
        <mc:Choice xmlns:a14="http://schemas.microsoft.com/office/drawing/2010/main" Requires="a14">
          <p:sp>
            <p:nvSpPr>
              <p:cNvPr id="10" name="文本框 9"/>
              <p:cNvSpPr txBox="1"/>
              <p:nvPr/>
            </p:nvSpPr>
            <p:spPr>
              <a:xfrm>
                <a:off x="683894" y="4769095"/>
                <a:ext cx="7390765" cy="835422"/>
              </a:xfrm>
              <a:prstGeom prst="rect">
                <a:avLst/>
              </a:prstGeom>
              <a:noFill/>
            </p:spPr>
            <p:txBody>
              <a:bodyPr wrap="square" rtlCol="0">
                <a:spAutoFit/>
              </a:bodyPr>
              <a:lstStyle/>
              <a:p>
                <a:pPr indent="457200" algn="just"/>
                <a:r>
                  <a:rPr lang="zh-CN" altLang="en-US" sz="1600" dirty="0"/>
                  <a:t>优化目标变成了</a:t>
                </a:r>
                <a:r>
                  <a:rPr lang="zh-CN" altLang="en-US" sz="1600" b="1" dirty="0"/>
                  <a:t>寻找一个矩阵</a:t>
                </a:r>
                <a:r>
                  <a:rPr lang="en-US" altLang="zh-CN" sz="1600" b="1" dirty="0"/>
                  <a:t>P</a:t>
                </a:r>
                <a:r>
                  <a:rPr lang="zh-CN" altLang="en-US" sz="1600" b="1" dirty="0"/>
                  <a:t>，满足</a:t>
                </a:r>
                <a14:m>
                  <m:oMath xmlns:m="http://schemas.openxmlformats.org/officeDocument/2006/math">
                    <m:r>
                      <a:rPr lang="en-US" altLang="zh-CN" sz="1600" b="1" i="1">
                        <a:latin typeface="Cambria Math" panose="02040503050406030204" pitchFamily="18" charset="0"/>
                      </a:rPr>
                      <m:t>𝑷𝑪</m:t>
                    </m:r>
                    <m:sSup>
                      <m:sSupPr>
                        <m:ctrlPr>
                          <a:rPr lang="en-US" altLang="zh-CN" sz="1600" b="1" i="1">
                            <a:latin typeface="Cambria Math" panose="02040503050406030204" pitchFamily="18" charset="0"/>
                          </a:rPr>
                        </m:ctrlPr>
                      </m:sSupPr>
                      <m:e>
                        <m:r>
                          <a:rPr lang="en-US" altLang="zh-CN" sz="1600" b="1" i="1">
                            <a:latin typeface="Cambria Math" panose="02040503050406030204" pitchFamily="18" charset="0"/>
                          </a:rPr>
                          <m:t>𝑷</m:t>
                        </m:r>
                      </m:e>
                      <m:sup>
                        <m:r>
                          <a:rPr lang="en-US" altLang="zh-CN" sz="1600" b="1" i="1">
                            <a:latin typeface="Cambria Math" panose="02040503050406030204" pitchFamily="18" charset="0"/>
                          </a:rPr>
                          <m:t>𝑻</m:t>
                        </m:r>
                      </m:sup>
                    </m:sSup>
                  </m:oMath>
                </a14:m>
                <a:r>
                  <a:rPr lang="zh-CN" altLang="en-US" sz="1600" b="1" dirty="0"/>
                  <a:t>是一个对角矩阵，并且对角元素按从大到小依次排列，那么</a:t>
                </a:r>
                <a:r>
                  <a:rPr lang="en-US" altLang="zh-CN" sz="1600" b="1" dirty="0"/>
                  <a:t>P</a:t>
                </a:r>
                <a:r>
                  <a:rPr lang="zh-CN" altLang="en-US" sz="1600" b="1" dirty="0"/>
                  <a:t>的前</a:t>
                </a:r>
                <a:r>
                  <a:rPr lang="en-US" altLang="zh-CN" sz="1600" b="1" dirty="0"/>
                  <a:t>K</a:t>
                </a:r>
                <a:r>
                  <a:rPr lang="zh-CN" altLang="en-US" sz="1600" b="1" dirty="0"/>
                  <a:t>行就是要寻找的基，用</a:t>
                </a:r>
                <a:r>
                  <a:rPr lang="en-US" altLang="zh-CN" sz="1600" b="1" dirty="0"/>
                  <a:t>P</a:t>
                </a:r>
                <a:r>
                  <a:rPr lang="zh-CN" altLang="en-US" sz="1600" b="1" dirty="0"/>
                  <a:t>的前</a:t>
                </a:r>
                <a:r>
                  <a:rPr lang="en-US" altLang="zh-CN" sz="1600" b="1" dirty="0"/>
                  <a:t>K</a:t>
                </a:r>
                <a:r>
                  <a:rPr lang="zh-CN" altLang="en-US" sz="1600" b="1" dirty="0"/>
                  <a:t>行组成的矩阵乘以</a:t>
                </a:r>
                <a:r>
                  <a:rPr lang="en-US" altLang="zh-CN" sz="1600" b="1" dirty="0"/>
                  <a:t>X</a:t>
                </a:r>
                <a:r>
                  <a:rPr lang="zh-CN" altLang="en-US" sz="1600" b="1" dirty="0"/>
                  <a:t>就使得</a:t>
                </a:r>
                <a:r>
                  <a:rPr lang="en-US" altLang="zh-CN" sz="1600" b="1" dirty="0"/>
                  <a:t>X</a:t>
                </a:r>
                <a:r>
                  <a:rPr lang="zh-CN" altLang="en-US" sz="1600" b="1" dirty="0"/>
                  <a:t>从</a:t>
                </a:r>
                <a:r>
                  <a:rPr lang="en-US" altLang="zh-CN" sz="1600" b="1" dirty="0"/>
                  <a:t>N</a:t>
                </a:r>
                <a:r>
                  <a:rPr lang="zh-CN" altLang="en-US" sz="1600" b="1" dirty="0"/>
                  <a:t>维降到了</a:t>
                </a:r>
                <a:r>
                  <a:rPr lang="en-US" altLang="zh-CN" sz="1600" b="1" dirty="0"/>
                  <a:t>K</a:t>
                </a:r>
                <a:r>
                  <a:rPr lang="zh-CN" altLang="en-US" sz="1600" b="1" dirty="0"/>
                  <a:t>维并满足上述优化条件</a:t>
                </a:r>
                <a:r>
                  <a:rPr lang="zh-CN" altLang="en-US" sz="1600" dirty="0"/>
                  <a:t>。</a:t>
                </a:r>
                <a:endParaRPr lang="zh-CN" altLang="en-US" sz="1600" b="1" dirty="0">
                  <a:solidFill>
                    <a:schemeClr val="accent1">
                      <a:lumMod val="50000"/>
                    </a:schemeClr>
                  </a:solidFill>
                  <a:latin typeface="黑体" panose="02010609060101010101" charset="-122"/>
                  <a:ea typeface="黑体" panose="02010609060101010101" charset="-122"/>
                  <a:sym typeface="+mn-ea"/>
                </a:endParaRPr>
              </a:p>
            </p:txBody>
          </p:sp>
        </mc:Choice>
        <mc:Fallback>
          <p:sp>
            <p:nvSpPr>
              <p:cNvPr id="10" name="文本框 9"/>
              <p:cNvSpPr txBox="1">
                <a:spLocks noRot="1" noChangeAspect="1" noMove="1" noResize="1" noEditPoints="1" noAdjustHandles="1" noChangeArrowheads="1" noChangeShapeType="1" noTextEdit="1"/>
              </p:cNvSpPr>
              <p:nvPr/>
            </p:nvSpPr>
            <p:spPr>
              <a:xfrm>
                <a:off x="683894" y="4769095"/>
                <a:ext cx="7390765" cy="835422"/>
              </a:xfrm>
              <a:prstGeom prst="rect">
                <a:avLst/>
              </a:prstGeom>
              <a:blipFill rotWithShape="1">
                <a:blip r:embed="rId2"/>
                <a:stretch>
                  <a:fillRect l="-9" t="-29" r="9" b="1"/>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39624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02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推导</a:t>
            </a:r>
            <a:endParaRPr lang="zh-CN" altLang="en-US" sz="2000" b="1" dirty="0">
              <a:solidFill>
                <a:schemeClr val="accent1">
                  <a:lumMod val="50000"/>
                </a:schemeClr>
              </a:solidFill>
              <a:latin typeface="宋体" panose="02010600030101010101" pitchFamily="2" charset="-122"/>
              <a:sym typeface="+mn-ea"/>
            </a:endParaRPr>
          </a:p>
        </p:txBody>
      </p:sp>
      <mc:AlternateContent xmlns:mc="http://schemas.openxmlformats.org/markup-compatibility/2006">
        <mc:Choice xmlns:a14="http://schemas.microsoft.com/office/drawing/2010/main" Requires="a14">
          <p:sp>
            <p:nvSpPr>
              <p:cNvPr id="6" name="文本框 5"/>
              <p:cNvSpPr txBox="1"/>
              <p:nvPr/>
            </p:nvSpPr>
            <p:spPr>
              <a:xfrm>
                <a:off x="942554" y="1579880"/>
                <a:ext cx="7390765" cy="1415772"/>
              </a:xfrm>
              <a:prstGeom prst="rect">
                <a:avLst/>
              </a:prstGeom>
              <a:noFill/>
            </p:spPr>
            <p:txBody>
              <a:bodyPr wrap="square" rtlCol="0">
                <a:spAutoFit/>
              </a:bodyPr>
              <a:lstStyle/>
              <a:p>
                <a:pPr indent="457200" algn="just"/>
                <a:r>
                  <a:rPr lang="zh-CN" altLang="en-US" sz="2000" dirty="0">
                    <a:latin typeface="黑体" panose="02010609060101010101" charset="-122"/>
                    <a:ea typeface="黑体" panose="02010609060101010101" charset="-122"/>
                    <a:sym typeface="+mn-ea"/>
                  </a:rPr>
                  <a:t>实对称矩阵的两个性质：</a:t>
                </a:r>
                <a:endParaRPr lang="en-US" altLang="zh-CN" sz="2000" dirty="0">
                  <a:latin typeface="黑体" panose="02010609060101010101" charset="-122"/>
                  <a:ea typeface="黑体" panose="02010609060101010101" charset="-122"/>
                  <a:sym typeface="+mn-ea"/>
                </a:endParaRPr>
              </a:p>
              <a:p>
                <a:pPr indent="457200" algn="just"/>
                <a:r>
                  <a:rPr lang="en-US" altLang="zh-CN" sz="1600" dirty="0">
                    <a:latin typeface="黑体" panose="02010609060101010101" charset="-122"/>
                    <a:ea typeface="黑体" panose="02010609060101010101" charset="-122"/>
                  </a:rPr>
                  <a:t>1</a:t>
                </a:r>
                <a:r>
                  <a:rPr lang="zh-CN" altLang="en-US" sz="1600" dirty="0">
                    <a:latin typeface="黑体" panose="02010609060101010101" charset="-122"/>
                    <a:ea typeface="黑体" panose="02010609060101010101" charset="-122"/>
                  </a:rPr>
                  <a:t>）实对称矩阵不同特征值对应的特征向量必然正交。</a:t>
                </a:r>
                <a:endParaRPr lang="en-US" altLang="zh-CN" sz="1600" dirty="0">
                  <a:latin typeface="黑体" panose="02010609060101010101" charset="-122"/>
                  <a:ea typeface="黑体" panose="02010609060101010101" charset="-122"/>
                </a:endParaRPr>
              </a:p>
              <a:p>
                <a:pPr indent="457200" algn="just"/>
                <a:r>
                  <a:rPr lang="en-US" altLang="zh-CN" sz="1600" dirty="0">
                    <a:latin typeface="黑体" panose="02010609060101010101" charset="-122"/>
                    <a:ea typeface="黑体" panose="02010609060101010101" charset="-122"/>
                  </a:rPr>
                  <a:t>2</a:t>
                </a:r>
                <a:r>
                  <a:rPr lang="zh-CN" altLang="en-US" sz="1600" dirty="0">
                    <a:latin typeface="黑体" panose="02010609060101010101" charset="-122"/>
                    <a:ea typeface="黑体" panose="02010609060101010101" charset="-122"/>
                  </a:rPr>
                  <a:t>）设特征向量</a:t>
                </a:r>
                <a14:m>
                  <m:oMath xmlns:m="http://schemas.openxmlformats.org/officeDocument/2006/math">
                    <m:r>
                      <a:rPr lang="zh-CN" altLang="en-US" sz="1600" i="1">
                        <a:latin typeface="Cambria Math" panose="02040503050406030204" pitchFamily="18" charset="0"/>
                      </a:rPr>
                      <m:t>𝜆</m:t>
                    </m:r>
                    <m:r>
                      <m:rPr>
                        <m:nor/>
                      </m:rPr>
                      <a:rPr lang="zh-CN" altLang="en-US" sz="1600">
                        <a:latin typeface="黑体" panose="02010609060101010101" charset="-122"/>
                        <a:ea typeface="黑体" panose="02010609060101010101" charset="-122"/>
                      </a:rPr>
                      <m:t>重数为</m:t>
                    </m:r>
                    <m:r>
                      <m:rPr>
                        <m:nor/>
                      </m:rPr>
                      <a:rPr lang="en-US" altLang="zh-CN" sz="1600">
                        <a:latin typeface="黑体" panose="02010609060101010101" charset="-122"/>
                        <a:ea typeface="黑体" panose="02010609060101010101" charset="-122"/>
                      </a:rPr>
                      <m:t>r</m:t>
                    </m:r>
                    <m:r>
                      <a:rPr lang="zh-CN" altLang="en-US" sz="1600" i="1">
                        <a:latin typeface="Cambria Math" panose="02040503050406030204" pitchFamily="18" charset="0"/>
                      </a:rPr>
                      <m:t>，</m:t>
                    </m:r>
                    <m:r>
                      <m:rPr>
                        <m:nor/>
                      </m:rPr>
                      <a:rPr lang="zh-CN" altLang="en-US" sz="1600">
                        <a:latin typeface="黑体" panose="02010609060101010101" charset="-122"/>
                        <a:ea typeface="黑体" panose="02010609060101010101" charset="-122"/>
                      </a:rPr>
                      <m:t>则必然存在</m:t>
                    </m:r>
                    <m:r>
                      <m:rPr>
                        <m:nor/>
                      </m:rPr>
                      <a:rPr lang="en-US" altLang="zh-CN" sz="1600">
                        <a:latin typeface="黑体" panose="02010609060101010101" charset="-122"/>
                        <a:ea typeface="黑体" panose="02010609060101010101" charset="-122"/>
                      </a:rPr>
                      <m:t>r</m:t>
                    </m:r>
                    <m:r>
                      <m:rPr>
                        <m:nor/>
                      </m:rPr>
                      <a:rPr lang="zh-CN" altLang="en-US" sz="1600">
                        <a:latin typeface="黑体" panose="02010609060101010101" charset="-122"/>
                        <a:ea typeface="黑体" panose="02010609060101010101" charset="-122"/>
                      </a:rPr>
                      <m:t>个线性无关的特征向量对应于</m:t>
                    </m:r>
                    <m:r>
                      <a:rPr lang="zh-CN" altLang="en-US" sz="1600" i="1">
                        <a:latin typeface="Cambria Math" panose="02040503050406030204" pitchFamily="18" charset="0"/>
                      </a:rPr>
                      <m:t>𝜆</m:t>
                    </m:r>
                  </m:oMath>
                </a14:m>
                <a:r>
                  <a:rPr lang="zh-CN" altLang="en-US" sz="1600" b="1" dirty="0">
                    <a:solidFill>
                      <a:schemeClr val="accent1">
                        <a:lumMod val="50000"/>
                      </a:schemeClr>
                    </a:solidFill>
                    <a:latin typeface="黑体" panose="02010609060101010101" charset="-122"/>
                    <a:ea typeface="黑体" panose="02010609060101010101" charset="-122"/>
                    <a:sym typeface="+mn-ea"/>
                  </a:rPr>
                  <a:t>，</a:t>
                </a:r>
                <a:r>
                  <a:rPr lang="zh-CN" altLang="en-US" sz="1600" dirty="0">
                    <a:latin typeface="黑体" panose="02010609060101010101" charset="-122"/>
                    <a:ea typeface="黑体" panose="02010609060101010101" charset="-122"/>
                  </a:rPr>
                  <a:t>因此可以将这</a:t>
                </a:r>
                <a:r>
                  <a:rPr lang="en-US" altLang="zh-CN" sz="1600" dirty="0">
                    <a:latin typeface="黑体" panose="02010609060101010101" charset="-122"/>
                    <a:ea typeface="黑体" panose="02010609060101010101" charset="-122"/>
                  </a:rPr>
                  <a:t>r</a:t>
                </a:r>
                <a:r>
                  <a:rPr lang="zh-CN" altLang="en-US" sz="1600" dirty="0">
                    <a:latin typeface="黑体" panose="02010609060101010101" charset="-122"/>
                    <a:ea typeface="黑体" panose="02010609060101010101" charset="-122"/>
                  </a:rPr>
                  <a:t>个特征向量单位正交化。</a:t>
                </a:r>
                <a:endParaRPr lang="en-US" altLang="zh-CN" sz="1600" dirty="0">
                  <a:latin typeface="黑体" panose="02010609060101010101" charset="-122"/>
                  <a:ea typeface="黑体" panose="02010609060101010101" charset="-122"/>
                </a:endParaRPr>
              </a:p>
              <a:p>
                <a:pPr indent="457200" algn="just"/>
                <a:r>
                  <a:rPr lang="zh-CN" altLang="en-US" sz="1600" dirty="0">
                    <a:latin typeface="黑体" panose="02010609060101010101" charset="-122"/>
                    <a:ea typeface="黑体" panose="02010609060101010101" charset="-122"/>
                  </a:rPr>
                  <a:t>对协方差矩阵</a:t>
                </a:r>
                <a:r>
                  <a:rPr lang="en-US" altLang="zh-CN" sz="1600" dirty="0">
                    <a:latin typeface="黑体" panose="02010609060101010101" charset="-122"/>
                    <a:ea typeface="黑体" panose="02010609060101010101" charset="-122"/>
                  </a:rPr>
                  <a:t>C</a:t>
                </a:r>
                <a:r>
                  <a:rPr lang="zh-CN" altLang="en-US" sz="1600" dirty="0">
                    <a:latin typeface="黑体" panose="02010609060101010101" charset="-122"/>
                    <a:ea typeface="黑体" panose="02010609060101010101" charset="-122"/>
                  </a:rPr>
                  <a:t>有如下结论：</a:t>
                </a:r>
                <a:endParaRPr lang="zh-CN" altLang="en-US" sz="1600" b="1" dirty="0">
                  <a:solidFill>
                    <a:schemeClr val="accent1">
                      <a:lumMod val="50000"/>
                    </a:schemeClr>
                  </a:solidFill>
                  <a:latin typeface="黑体" panose="02010609060101010101" charset="-122"/>
                  <a:ea typeface="黑体" panose="02010609060101010101" charset="-122"/>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942554" y="1579880"/>
                <a:ext cx="7390765" cy="1415772"/>
              </a:xfrm>
              <a:prstGeom prst="rect">
                <a:avLst/>
              </a:prstGeom>
              <a:blipFill rotWithShape="1">
                <a:blip r:embed="rId1"/>
                <a:stretch>
                  <a:fillRect l="-3" r="3"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683894" y="4769096"/>
                <a:ext cx="7390765" cy="646331"/>
              </a:xfrm>
              <a:prstGeom prst="rect">
                <a:avLst/>
              </a:prstGeom>
              <a:noFill/>
            </p:spPr>
            <p:txBody>
              <a:bodyPr wrap="square" rtlCol="0">
                <a:spAutoFit/>
              </a:bodyPr>
              <a:lstStyle/>
              <a:p>
                <a:pPr indent="457200" algn="just"/>
                <a:r>
                  <a:rPr lang="zh-CN" altLang="en-US" dirty="0">
                    <a:latin typeface="黑体" panose="02010609060101010101" charset="-122"/>
                    <a:ea typeface="黑体" panose="02010609060101010101" charset="-122"/>
                  </a:rPr>
                  <a:t>其中</a:t>
                </a:r>
                <a14:m>
                  <m:oMath xmlns:m="http://schemas.openxmlformats.org/officeDocument/2006/math">
                    <m:r>
                      <a:rPr lang="en-US" altLang="zh-CN" i="1">
                        <a:latin typeface="Cambria Math" panose="02040503050406030204" pitchFamily="18" charset="0"/>
                      </a:rPr>
                      <m:t>𝐸</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𝑛</m:t>
                        </m:r>
                      </m:sub>
                    </m:sSub>
                    <m:r>
                      <a:rPr lang="en-US" altLang="zh-CN" i="1">
                        <a:latin typeface="Cambria Math" panose="02040503050406030204" pitchFamily="18" charset="0"/>
                      </a:rPr>
                      <m:t>)</m:t>
                    </m:r>
                  </m:oMath>
                </a14:m>
                <a:r>
                  <a:rPr lang="en-US" altLang="zh-CN" dirty="0">
                    <a:latin typeface="黑体" panose="02010609060101010101" charset="-122"/>
                    <a:ea typeface="黑体" panose="02010609060101010101" charset="-122"/>
                  </a:rPr>
                  <a:t>.</a:t>
                </a:r>
                <a:endParaRPr lang="en-US" altLang="zh-CN" dirty="0">
                  <a:latin typeface="黑体" panose="02010609060101010101" charset="-122"/>
                  <a:ea typeface="黑体" panose="02010609060101010101" charset="-122"/>
                </a:endParaRPr>
              </a:p>
              <a:p>
                <a:pPr indent="457200" algn="just"/>
                <a:r>
                  <a:rPr lang="zh-CN" altLang="en-US" dirty="0">
                    <a:latin typeface="黑体" panose="02010609060101010101" charset="-122"/>
                    <a:ea typeface="黑体" panose="02010609060101010101" charset="-122"/>
                  </a:rPr>
                  <a:t>因此我们前面需要的矩阵</a:t>
                </a:r>
                <a14:m>
                  <m:oMath xmlns:m="http://schemas.openxmlformats.org/officeDocument/2006/math">
                    <m:r>
                      <a:rPr lang="en-US" altLang="zh-CN" i="1">
                        <a:latin typeface="Cambria Math" panose="02040503050406030204" pitchFamily="18" charset="0"/>
                      </a:rPr>
                      <m:t>𝑃</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𝐸</m:t>
                        </m:r>
                      </m:e>
                      <m:sup>
                        <m:r>
                          <a:rPr lang="en-US" altLang="zh-CN" i="1">
                            <a:latin typeface="Cambria Math" panose="02040503050406030204" pitchFamily="18" charset="0"/>
                          </a:rPr>
                          <m:t>𝑇</m:t>
                        </m:r>
                      </m:sup>
                    </m:sSup>
                  </m:oMath>
                </a14:m>
                <a:endParaRPr lang="zh-CN" altLang="en-US" b="1" dirty="0">
                  <a:solidFill>
                    <a:schemeClr val="accent1">
                      <a:lumMod val="50000"/>
                    </a:schemeClr>
                  </a:solidFill>
                  <a:latin typeface="黑体" panose="02010609060101010101" charset="-122"/>
                  <a:ea typeface="黑体" panose="02010609060101010101" charset="-122"/>
                  <a:sym typeface="+mn-ea"/>
                </a:endParaRPr>
              </a:p>
            </p:txBody>
          </p:sp>
        </mc:Choice>
        <mc:Fallback>
          <p:sp>
            <p:nvSpPr>
              <p:cNvPr id="10" name="文本框 9"/>
              <p:cNvSpPr txBox="1">
                <a:spLocks noRot="1" noChangeAspect="1" noMove="1" noResize="1" noEditPoints="1" noAdjustHandles="1" noChangeArrowheads="1" noChangeShapeType="1" noTextEdit="1"/>
              </p:cNvSpPr>
              <p:nvPr/>
            </p:nvSpPr>
            <p:spPr>
              <a:xfrm>
                <a:off x="683894" y="4769096"/>
                <a:ext cx="7390765" cy="646331"/>
              </a:xfrm>
              <a:prstGeom prst="rect">
                <a:avLst/>
              </a:prstGeom>
              <a:blipFill rotWithShape="1">
                <a:blip r:embed="rId2"/>
                <a:stretch>
                  <a:fillRect l="-9" t="-38" r="9" b="23"/>
                </a:stretch>
              </a:blipFill>
            </p:spPr>
            <p:txBody>
              <a:bodyPr/>
              <a:lstStyle/>
              <a:p>
                <a:r>
                  <a:rPr lang="zh-CN" altLang="en-US">
                    <a:noFill/>
                  </a:rPr>
                  <a:t> </a:t>
                </a:r>
              </a:p>
            </p:txBody>
          </p:sp>
        </mc:Fallback>
      </mc:AlternateContent>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1225" y="3000425"/>
            <a:ext cx="4227964" cy="17686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40011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03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的算法流程</a:t>
            </a:r>
            <a:endParaRPr lang="zh-CN" altLang="en-US" sz="2000" b="1" dirty="0">
              <a:solidFill>
                <a:schemeClr val="accent1">
                  <a:lumMod val="50000"/>
                </a:schemeClr>
              </a:solidFill>
              <a:latin typeface="宋体" panose="02010600030101010101" pitchFamily="2" charset="-122"/>
              <a:sym typeface="+mn-ea"/>
            </a:endParaRPr>
          </a:p>
        </p:txBody>
      </p:sp>
      <mc:AlternateContent xmlns:mc="http://schemas.openxmlformats.org/markup-compatibility/2006">
        <mc:Choice xmlns:a14="http://schemas.microsoft.com/office/drawing/2010/main" Requires="a14">
          <p:sp>
            <p:nvSpPr>
              <p:cNvPr id="6" name="文本框 5"/>
              <p:cNvSpPr txBox="1"/>
              <p:nvPr/>
            </p:nvSpPr>
            <p:spPr>
              <a:xfrm>
                <a:off x="942554" y="1579881"/>
                <a:ext cx="7390765" cy="3306931"/>
              </a:xfrm>
              <a:prstGeom prst="rect">
                <a:avLst/>
              </a:prstGeom>
              <a:noFill/>
            </p:spPr>
            <p:txBody>
              <a:bodyPr wrap="square" rtlCol="0">
                <a:spAutoFit/>
              </a:bodyPr>
              <a:lstStyle/>
              <a:p>
                <a:r>
                  <a:rPr lang="zh-CN" altLang="en-US" sz="2000" dirty="0"/>
                  <a:t>总结一下</a:t>
                </a:r>
                <a:r>
                  <a:rPr lang="en-US" altLang="zh-CN" sz="2000" dirty="0"/>
                  <a:t>PCA</a:t>
                </a:r>
                <a:r>
                  <a:rPr lang="zh-CN" altLang="en-US" sz="2000" dirty="0"/>
                  <a:t>的算法步骤：</a:t>
                </a:r>
                <a:endParaRPr lang="zh-CN" altLang="en-US" sz="2000" dirty="0"/>
              </a:p>
              <a:p>
                <a:r>
                  <a:rPr lang="zh-CN" altLang="en-US" sz="2000" dirty="0"/>
                  <a:t>设有</a:t>
                </a:r>
                <a:r>
                  <a:rPr lang="en-US" altLang="zh-CN" sz="2000" dirty="0"/>
                  <a:t>m</a:t>
                </a:r>
                <a:r>
                  <a:rPr lang="zh-CN" altLang="en-US" sz="2000" dirty="0"/>
                  <a:t>条</a:t>
                </a:r>
                <a:r>
                  <a:rPr lang="en-US" altLang="zh-CN" sz="2000" dirty="0"/>
                  <a:t>n</a:t>
                </a:r>
                <a:r>
                  <a:rPr lang="zh-CN" altLang="en-US" sz="2000" dirty="0"/>
                  <a:t>维数据。</a:t>
                </a:r>
                <a:endParaRPr lang="zh-CN" altLang="en-US" sz="2000" dirty="0"/>
              </a:p>
              <a:p>
                <a:r>
                  <a:rPr lang="en-US" altLang="zh-CN" sz="2000" dirty="0"/>
                  <a:t>1</a:t>
                </a:r>
                <a:r>
                  <a:rPr lang="zh-CN" altLang="en-US" sz="2000" dirty="0"/>
                  <a:t>）将原始数据按列组成</a:t>
                </a:r>
                <a:r>
                  <a:rPr lang="en-US" altLang="zh-CN" sz="2000" dirty="0"/>
                  <a:t>n</a:t>
                </a:r>
                <a:r>
                  <a:rPr lang="zh-CN" altLang="en-US" sz="2000" dirty="0"/>
                  <a:t>行</a:t>
                </a:r>
                <a:r>
                  <a:rPr lang="en-US" altLang="zh-CN" sz="2000" dirty="0"/>
                  <a:t>m</a:t>
                </a:r>
                <a:r>
                  <a:rPr lang="zh-CN" altLang="en-US" sz="2000" dirty="0"/>
                  <a:t>列矩阵</a:t>
                </a:r>
                <a:r>
                  <a:rPr lang="en-US" altLang="zh-CN" sz="2000" dirty="0"/>
                  <a:t>X</a:t>
                </a:r>
                <a:endParaRPr lang="en-US" altLang="zh-CN" sz="2000" dirty="0"/>
              </a:p>
              <a:p>
                <a:r>
                  <a:rPr lang="en-US" altLang="zh-CN" sz="2000" dirty="0"/>
                  <a:t>2</a:t>
                </a:r>
                <a:r>
                  <a:rPr lang="zh-CN" altLang="en-US" sz="2000" dirty="0"/>
                  <a:t>）将</a:t>
                </a:r>
                <a:r>
                  <a:rPr lang="en-US" altLang="zh-CN" sz="2000" dirty="0"/>
                  <a:t>X</a:t>
                </a:r>
                <a:r>
                  <a:rPr lang="zh-CN" altLang="en-US" sz="2000" dirty="0"/>
                  <a:t>的每一行（代表一个属性字段）进行零均值化，即减去这一行的均值</a:t>
                </a:r>
                <a:endParaRPr lang="zh-CN" altLang="en-US" sz="2000" dirty="0"/>
              </a:p>
              <a:p>
                <a:r>
                  <a:rPr lang="en-US" altLang="zh-CN" sz="2000" dirty="0"/>
                  <a:t>3</a:t>
                </a:r>
                <a:r>
                  <a:rPr lang="zh-CN" altLang="en-US" sz="2000" dirty="0"/>
                  <a:t>）求出协方差矩阵</a:t>
                </a:r>
                <a14:m>
                  <m:oMath xmlns:m="http://schemas.openxmlformats.org/officeDocument/2006/math">
                    <m:r>
                      <a:rPr lang="en-US" altLang="zh-CN" sz="2000" b="1" i="1">
                        <a:latin typeface="Cambria Math" panose="02040503050406030204" pitchFamily="18" charset="0"/>
                      </a:rPr>
                      <m:t>𝑪</m:t>
                    </m:r>
                    <m:r>
                      <a:rPr lang="en-US" altLang="zh-CN" sz="2000" b="1" i="1">
                        <a:latin typeface="Cambria Math" panose="02040503050406030204" pitchFamily="18" charset="0"/>
                      </a:rPr>
                      <m:t>=</m:t>
                    </m:r>
                    <m:f>
                      <m:fPr>
                        <m:ctrlPr>
                          <a:rPr lang="en-US" altLang="zh-CN" sz="2000" b="1" i="1">
                            <a:latin typeface="Cambria Math" panose="02040503050406030204" pitchFamily="18" charset="0"/>
                          </a:rPr>
                        </m:ctrlPr>
                      </m:fPr>
                      <m:num>
                        <m:r>
                          <a:rPr lang="en-US" altLang="zh-CN" sz="2000" b="1" i="1">
                            <a:latin typeface="Cambria Math" panose="02040503050406030204" pitchFamily="18" charset="0"/>
                          </a:rPr>
                          <m:t>𝟏</m:t>
                        </m:r>
                      </m:num>
                      <m:den>
                        <m:r>
                          <a:rPr lang="en-US" altLang="zh-CN" sz="2000" b="1" i="1">
                            <a:latin typeface="Cambria Math" panose="02040503050406030204" pitchFamily="18" charset="0"/>
                          </a:rPr>
                          <m:t>𝒎</m:t>
                        </m:r>
                      </m:den>
                    </m:f>
                    <m:r>
                      <a:rPr lang="en-US" altLang="zh-CN" sz="2000" b="1" i="1">
                        <a:latin typeface="Cambria Math" panose="02040503050406030204" pitchFamily="18" charset="0"/>
                      </a:rPr>
                      <m:t>𝑿</m:t>
                    </m:r>
                    <m:sSup>
                      <m:sSupPr>
                        <m:ctrlPr>
                          <a:rPr lang="en-US" altLang="zh-CN" sz="2000" b="1" i="1">
                            <a:latin typeface="Cambria Math" panose="02040503050406030204" pitchFamily="18" charset="0"/>
                          </a:rPr>
                        </m:ctrlPr>
                      </m:sSupPr>
                      <m:e>
                        <m:r>
                          <a:rPr lang="en-US" altLang="zh-CN" sz="2000" b="1" i="1">
                            <a:latin typeface="Cambria Math" panose="02040503050406030204" pitchFamily="18" charset="0"/>
                          </a:rPr>
                          <m:t>𝑿</m:t>
                        </m:r>
                      </m:e>
                      <m:sup>
                        <m:r>
                          <a:rPr lang="en-US" altLang="zh-CN" sz="2000" b="1" i="1">
                            <a:latin typeface="Cambria Math" panose="02040503050406030204" pitchFamily="18" charset="0"/>
                          </a:rPr>
                          <m:t>𝑻</m:t>
                        </m:r>
                      </m:sup>
                    </m:sSup>
                  </m:oMath>
                </a14:m>
                <a:endParaRPr lang="en-US" altLang="zh-CN" sz="2000" dirty="0"/>
              </a:p>
              <a:p>
                <a:r>
                  <a:rPr lang="en-US" altLang="zh-CN" sz="2000" dirty="0"/>
                  <a:t>4</a:t>
                </a:r>
                <a:r>
                  <a:rPr lang="zh-CN" altLang="en-US" sz="2000" dirty="0"/>
                  <a:t>）求出协方差矩阵的特征值及对应的特征向量</a:t>
                </a:r>
                <a:endParaRPr lang="zh-CN" altLang="en-US" sz="2000" dirty="0"/>
              </a:p>
              <a:p>
                <a:r>
                  <a:rPr lang="en-US" altLang="zh-CN" sz="2000" dirty="0"/>
                  <a:t>5</a:t>
                </a:r>
                <a:r>
                  <a:rPr lang="zh-CN" altLang="en-US" sz="2000" dirty="0"/>
                  <a:t>）将特征向量按对应特征值大小从上到下按行排列成矩阵，取前</a:t>
                </a:r>
                <a:r>
                  <a:rPr lang="en-US" altLang="zh-CN" sz="2000" dirty="0"/>
                  <a:t>k</a:t>
                </a:r>
                <a:r>
                  <a:rPr lang="zh-CN" altLang="en-US" sz="2000" dirty="0"/>
                  <a:t>行组成矩阵</a:t>
                </a:r>
                <a:r>
                  <a:rPr lang="en-US" altLang="zh-CN" sz="2000" dirty="0"/>
                  <a:t>P</a:t>
                </a:r>
                <a:endParaRPr lang="en-US" altLang="zh-CN" sz="2000" dirty="0"/>
              </a:p>
              <a:p>
                <a:r>
                  <a:rPr lang="en-US" altLang="zh-CN" sz="2000" dirty="0"/>
                  <a:t>6</a:t>
                </a:r>
                <a:r>
                  <a:rPr lang="zh-CN" altLang="en-US" sz="2000" dirty="0"/>
                  <a:t>）</a:t>
                </a:r>
                <a14:m>
                  <m:oMath xmlns:m="http://schemas.openxmlformats.org/officeDocument/2006/math">
                    <m:r>
                      <a:rPr lang="en-US" altLang="zh-CN" sz="2000" i="1">
                        <a:latin typeface="Cambria Math" panose="02040503050406030204" pitchFamily="18" charset="0"/>
                      </a:rPr>
                      <m:t>𝑌</m:t>
                    </m:r>
                    <m:r>
                      <a:rPr lang="en-US" altLang="zh-CN" sz="2000" i="1">
                        <a:latin typeface="Cambria Math" panose="02040503050406030204" pitchFamily="18" charset="0"/>
                      </a:rPr>
                      <m:t>=</m:t>
                    </m:r>
                    <m:r>
                      <a:rPr lang="en-US" altLang="zh-CN" sz="2000" i="1">
                        <a:latin typeface="Cambria Math" panose="02040503050406030204" pitchFamily="18" charset="0"/>
                      </a:rPr>
                      <m:t>𝑃𝑋</m:t>
                    </m:r>
                    <m:r>
                      <m:rPr>
                        <m:nor/>
                      </m:rPr>
                      <a:rPr lang="zh-CN" altLang="en-US" sz="2000">
                        <a:latin typeface="Cambria Math" panose="02040503050406030204" pitchFamily="18" charset="0"/>
                      </a:rPr>
                      <m:t>即为降维到</m:t>
                    </m:r>
                    <m:r>
                      <m:rPr>
                        <m:nor/>
                      </m:rPr>
                      <a:rPr lang="en-US" altLang="zh-CN" sz="2000">
                        <a:latin typeface="Cambria Math" panose="02040503050406030204" pitchFamily="18" charset="0"/>
                      </a:rPr>
                      <m:t>k</m:t>
                    </m:r>
                    <m:r>
                      <m:rPr>
                        <m:nor/>
                      </m:rPr>
                      <a:rPr lang="zh-CN" altLang="en-US" sz="2000">
                        <a:latin typeface="Cambria Math" panose="02040503050406030204" pitchFamily="18" charset="0"/>
                      </a:rPr>
                      <m:t>维后的数据</m:t>
                    </m:r>
                  </m:oMath>
                </a14:m>
                <a:endParaRPr lang="zh-CN" altLang="en-US" sz="2000" dirty="0"/>
              </a:p>
            </p:txBody>
          </p:sp>
        </mc:Choice>
        <mc:Fallback>
          <p:sp>
            <p:nvSpPr>
              <p:cNvPr id="6" name="文本框 5"/>
              <p:cNvSpPr txBox="1">
                <a:spLocks noRot="1" noChangeAspect="1" noMove="1" noResize="1" noEditPoints="1" noAdjustHandles="1" noChangeArrowheads="1" noChangeShapeType="1" noTextEdit="1"/>
              </p:cNvSpPr>
              <p:nvPr/>
            </p:nvSpPr>
            <p:spPr>
              <a:xfrm>
                <a:off x="942554" y="1579881"/>
                <a:ext cx="7390765" cy="3306931"/>
              </a:xfrm>
              <a:prstGeom prst="rect">
                <a:avLst/>
              </a:prstGeom>
              <a:blipFill rotWithShape="1">
                <a:blip r:embed="rId1"/>
                <a:stretch>
                  <a:fillRect l="-3" r="3" b="15"/>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40011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04 </a:t>
            </a:r>
            <a:r>
              <a:rPr lang="zh-CN" altLang="en-US" sz="2000" b="1" dirty="0">
                <a:solidFill>
                  <a:schemeClr val="accent1">
                    <a:lumMod val="50000"/>
                  </a:schemeClr>
                </a:solidFill>
                <a:latin typeface="宋体" panose="02010600030101010101" pitchFamily="2" charset="-122"/>
                <a:sym typeface="+mn-ea"/>
              </a:rPr>
              <a:t>实例分析</a:t>
            </a:r>
            <a:endParaRPr lang="zh-CN" altLang="en-US" sz="2000" b="1" dirty="0">
              <a:solidFill>
                <a:schemeClr val="accent1">
                  <a:lumMod val="50000"/>
                </a:schemeClr>
              </a:solidFill>
              <a:latin typeface="宋体" panose="02010600030101010101" pitchFamily="2" charset="-122"/>
              <a:sym typeface="+mn-ea"/>
            </a:endParaRPr>
          </a:p>
        </p:txBody>
      </p:sp>
      <p:sp>
        <p:nvSpPr>
          <p:cNvPr id="6" name="文本框 5"/>
          <p:cNvSpPr txBox="1"/>
          <p:nvPr/>
        </p:nvSpPr>
        <p:spPr>
          <a:xfrm>
            <a:off x="942554" y="1579880"/>
            <a:ext cx="7390765" cy="400110"/>
          </a:xfrm>
          <a:prstGeom prst="rect">
            <a:avLst/>
          </a:prstGeom>
          <a:noFill/>
        </p:spPr>
        <p:txBody>
          <a:bodyPr wrap="square" rtlCol="0">
            <a:spAutoFit/>
          </a:bodyPr>
          <a:lstStyle/>
          <a:p>
            <a:r>
              <a:rPr lang="zh-CN" altLang="en-US" sz="2000" dirty="0"/>
              <a:t>我们以之前的数据为例，用</a:t>
            </a:r>
            <a:r>
              <a:rPr lang="en-US" altLang="zh-CN" sz="2000" dirty="0"/>
              <a:t>PCA</a:t>
            </a:r>
            <a:r>
              <a:rPr lang="zh-CN" altLang="en-US" sz="2000" dirty="0"/>
              <a:t>方法将这组二维数据其降到一维。</a:t>
            </a:r>
            <a:endParaRPr lang="zh-CN" altLang="en-US" sz="2000"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3775" y="2087881"/>
            <a:ext cx="7339543" cy="1818445"/>
          </a:xfrm>
          <a:prstGeom prst="rect">
            <a:avLst/>
          </a:prstGeom>
        </p:spPr>
      </p:pic>
      <p:sp>
        <p:nvSpPr>
          <p:cNvPr id="7" name="文本框 6"/>
          <p:cNvSpPr txBox="1"/>
          <p:nvPr/>
        </p:nvSpPr>
        <p:spPr>
          <a:xfrm>
            <a:off x="993775" y="3814160"/>
            <a:ext cx="7390765" cy="400110"/>
          </a:xfrm>
          <a:prstGeom prst="rect">
            <a:avLst/>
          </a:prstGeom>
          <a:noFill/>
        </p:spPr>
        <p:txBody>
          <a:bodyPr wrap="square" rtlCol="0">
            <a:spAutoFit/>
          </a:bodyPr>
          <a:lstStyle/>
          <a:p>
            <a:r>
              <a:rPr lang="zh-CN" altLang="en-US" sz="2000" dirty="0"/>
              <a:t>计算该协方差矩阵的特征值和特征向量：</a:t>
            </a:r>
            <a:endParaRPr lang="zh-CN" altLang="en-US" sz="2000" dirty="0"/>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105" y="4323826"/>
            <a:ext cx="2257425" cy="609600"/>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5860" y="4214270"/>
            <a:ext cx="2552700" cy="86214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40011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04 </a:t>
            </a:r>
            <a:r>
              <a:rPr lang="zh-CN" altLang="en-US" sz="2000" b="1" dirty="0">
                <a:solidFill>
                  <a:schemeClr val="accent1">
                    <a:lumMod val="50000"/>
                  </a:schemeClr>
                </a:solidFill>
                <a:latin typeface="宋体" panose="02010600030101010101" pitchFamily="2" charset="-122"/>
                <a:sym typeface="+mn-ea"/>
              </a:rPr>
              <a:t>实例分析</a:t>
            </a:r>
            <a:endParaRPr lang="zh-CN" altLang="en-US" sz="2000" b="1" dirty="0">
              <a:solidFill>
                <a:schemeClr val="accent1">
                  <a:lumMod val="50000"/>
                </a:schemeClr>
              </a:solidFill>
              <a:latin typeface="宋体" panose="02010600030101010101" pitchFamily="2" charset="-122"/>
              <a:sym typeface="+mn-ea"/>
            </a:endParaRPr>
          </a:p>
        </p:txBody>
      </p:sp>
      <p:sp>
        <p:nvSpPr>
          <p:cNvPr id="6" name="文本框 5"/>
          <p:cNvSpPr txBox="1"/>
          <p:nvPr/>
        </p:nvSpPr>
        <p:spPr>
          <a:xfrm>
            <a:off x="937895" y="1820475"/>
            <a:ext cx="3085465" cy="400110"/>
          </a:xfrm>
          <a:prstGeom prst="rect">
            <a:avLst/>
          </a:prstGeom>
          <a:noFill/>
        </p:spPr>
        <p:txBody>
          <a:bodyPr wrap="square" rtlCol="0">
            <a:spAutoFit/>
          </a:bodyPr>
          <a:lstStyle/>
          <a:p>
            <a:r>
              <a:rPr lang="zh-CN" altLang="en-US" sz="2000" dirty="0"/>
              <a:t>我们将特征向量标准化：</a:t>
            </a:r>
            <a:endParaRPr lang="zh-CN" altLang="en-US" sz="2000" dirty="0"/>
          </a:p>
        </p:txBody>
      </p:sp>
      <p:sp>
        <p:nvSpPr>
          <p:cNvPr id="7" name="文本框 6"/>
          <p:cNvSpPr txBox="1"/>
          <p:nvPr/>
        </p:nvSpPr>
        <p:spPr>
          <a:xfrm>
            <a:off x="937895" y="3957649"/>
            <a:ext cx="7390765" cy="400110"/>
          </a:xfrm>
          <a:prstGeom prst="rect">
            <a:avLst/>
          </a:prstGeom>
          <a:noFill/>
        </p:spPr>
        <p:txBody>
          <a:bodyPr wrap="square" rtlCol="0">
            <a:spAutoFit/>
          </a:bodyPr>
          <a:lstStyle/>
          <a:p>
            <a:r>
              <a:rPr lang="zh-CN" altLang="en-US" sz="2000" dirty="0"/>
              <a:t>最后我们用</a:t>
            </a:r>
            <a:r>
              <a:rPr lang="en-US" altLang="zh-CN" sz="2000" dirty="0"/>
              <a:t>P</a:t>
            </a:r>
            <a:r>
              <a:rPr lang="zh-CN" altLang="en-US" sz="2000" dirty="0"/>
              <a:t>的第一行乘以数据矩阵，就得到了降维后的表示：</a:t>
            </a:r>
            <a:endParaRPr lang="zh-CN" altLang="en-US" sz="2000" dirty="0"/>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3776" y="2574767"/>
            <a:ext cx="3190875" cy="1028700"/>
          </a:xfrm>
          <a:prstGeom prst="rect">
            <a:avLst/>
          </a:prstGeom>
        </p:spPr>
      </p:pic>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264" y="4514897"/>
            <a:ext cx="6905810" cy="834276"/>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5977" y="1071880"/>
            <a:ext cx="3762097" cy="279701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274955"/>
            <a:ext cx="4119880" cy="1143000"/>
          </a:xfrm>
        </p:spPr>
        <p:txBody>
          <a:bodyPr/>
          <a:p>
            <a:r>
              <a:rPr lang="en-US" altLang="zh-CN" b="1">
                <a:solidFill>
                  <a:srgbClr val="C00000"/>
                </a:solidFill>
                <a:latin typeface="微软雅黑" panose="020B0503020204020204" charset="-122"/>
                <a:ea typeface="微软雅黑" panose="020B0503020204020204" charset="-122"/>
                <a:cs typeface="微软雅黑" panose="020B0503020204020204" charset="-122"/>
              </a:rPr>
              <a:t>MATLAB</a:t>
            </a:r>
            <a:r>
              <a:rPr lang="zh-CN" altLang="en-US" b="1">
                <a:solidFill>
                  <a:srgbClr val="C00000"/>
                </a:solidFill>
                <a:latin typeface="微软雅黑" panose="020B0503020204020204" charset="-122"/>
                <a:ea typeface="微软雅黑" panose="020B0503020204020204" charset="-122"/>
                <a:cs typeface="微软雅黑" panose="020B0503020204020204" charset="-122"/>
              </a:rPr>
              <a:t>操作</a:t>
            </a:r>
            <a:endParaRPr lang="zh-CN" altLang="en-US"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3" name="内容占位符 2"/>
          <p:cNvSpPr>
            <a:spLocks noGrp="1"/>
          </p:cNvSpPr>
          <p:nvPr>
            <p:ph sz="quarter" idx="1"/>
          </p:nvPr>
        </p:nvSpPr>
        <p:spPr/>
        <p:txBody>
          <a:bodyPr>
            <a:normAutofit/>
          </a:bodyPr>
          <a:p>
            <a:pPr marL="0" indent="0">
              <a:buNone/>
            </a:pPr>
            <a:r>
              <a:rPr lang="en-US" altLang="zh-CN"/>
              <a:t>X=[-1,-1,0,2,0;-2,0,0,1,1]</a:t>
            </a:r>
            <a:endParaRPr lang="en-US" altLang="zh-CN"/>
          </a:p>
          <a:p>
            <a:pPr marL="0" indent="0">
              <a:buNone/>
            </a:pPr>
            <a:r>
              <a:rPr lang="en-US" altLang="zh-CN"/>
              <a:t>X =  [  -1    -1     0     2     0</a:t>
            </a:r>
            <a:endParaRPr lang="en-US" altLang="zh-CN"/>
          </a:p>
          <a:p>
            <a:pPr marL="0" indent="0">
              <a:buNone/>
            </a:pPr>
            <a:r>
              <a:rPr lang="en-US" altLang="zh-CN"/>
              <a:t>          -2     0     0     1     1]</a:t>
            </a:r>
            <a:endParaRPr lang="en-US" altLang="zh-CN"/>
          </a:p>
          <a:p>
            <a:pPr marL="0" indent="0">
              <a:buNone/>
            </a:pPr>
            <a:r>
              <a:rPr lang="en-US" altLang="zh-CN"/>
              <a:t>[c,s,l]=pca(X')</a:t>
            </a:r>
            <a:endParaRPr lang="en-US" altLang="zh-CN"/>
          </a:p>
          <a:p>
            <a:pPr marL="0" indent="0">
              <a:buNone/>
            </a:pPr>
            <a:endParaRPr lang="en-US" altLang="zh-CN"/>
          </a:p>
          <a:p>
            <a:pPr marL="0" indent="0">
              <a:buNone/>
            </a:pPr>
            <a:endParaRPr lang="en-US" altLang="zh-CN"/>
          </a:p>
        </p:txBody>
      </p:sp>
      <p:sp>
        <p:nvSpPr>
          <p:cNvPr id="4" name="文本框 3"/>
          <p:cNvSpPr txBox="1"/>
          <p:nvPr/>
        </p:nvSpPr>
        <p:spPr>
          <a:xfrm>
            <a:off x="5148580" y="1859915"/>
            <a:ext cx="2172335" cy="3138170"/>
          </a:xfrm>
          <a:prstGeom prst="rect">
            <a:avLst/>
          </a:prstGeom>
          <a:noFill/>
          <a:ln>
            <a:solidFill>
              <a:srgbClr val="0070C0"/>
            </a:solidFill>
          </a:ln>
        </p:spPr>
        <p:txBody>
          <a:bodyPr wrap="square" rtlCol="0">
            <a:spAutoFit/>
          </a:bodyPr>
          <a:p>
            <a:pPr marL="0" indent="0">
              <a:buNone/>
            </a:pPr>
            <a:r>
              <a:rPr lang="en-US" altLang="zh-CN">
                <a:ln>
                  <a:solidFill>
                    <a:sysClr val="windowText" lastClr="000000"/>
                  </a:solidFill>
                </a:ln>
                <a:sym typeface="+mn-ea"/>
              </a:rPr>
              <a:t>c =    0.7071    0.7071</a:t>
            </a:r>
            <a:endParaRPr lang="en-US" altLang="zh-CN">
              <a:ln>
                <a:solidFill>
                  <a:sysClr val="windowText" lastClr="000000"/>
                </a:solidFill>
              </a:ln>
            </a:endParaRPr>
          </a:p>
          <a:p>
            <a:pPr marL="0" indent="0">
              <a:buNone/>
            </a:pPr>
            <a:r>
              <a:rPr lang="en-US" altLang="zh-CN">
                <a:ln>
                  <a:solidFill>
                    <a:sysClr val="windowText" lastClr="000000"/>
                  </a:solidFill>
                </a:ln>
                <a:sym typeface="+mn-ea"/>
              </a:rPr>
              <a:t>    0.7071   -0.7071</a:t>
            </a:r>
            <a:endParaRPr lang="en-US" altLang="zh-CN">
              <a:ln>
                <a:solidFill>
                  <a:sysClr val="windowText" lastClr="000000"/>
                </a:solidFill>
              </a:ln>
            </a:endParaRPr>
          </a:p>
          <a:p>
            <a:pPr marL="0" indent="0">
              <a:buNone/>
            </a:pPr>
            <a:endParaRPr lang="en-US" altLang="zh-CN">
              <a:ln>
                <a:solidFill>
                  <a:sysClr val="windowText" lastClr="000000"/>
                </a:solidFill>
              </a:ln>
            </a:endParaRPr>
          </a:p>
          <a:p>
            <a:pPr marL="0" indent="0">
              <a:buNone/>
            </a:pPr>
            <a:r>
              <a:rPr lang="en-US" altLang="zh-CN">
                <a:ln>
                  <a:solidFill>
                    <a:sysClr val="windowText" lastClr="000000"/>
                  </a:solidFill>
                </a:ln>
                <a:sym typeface="+mn-ea"/>
              </a:rPr>
              <a:t>s =   -2.1213    0.7071</a:t>
            </a:r>
            <a:endParaRPr lang="en-US" altLang="zh-CN">
              <a:ln>
                <a:solidFill>
                  <a:sysClr val="windowText" lastClr="000000"/>
                </a:solidFill>
              </a:ln>
            </a:endParaRPr>
          </a:p>
          <a:p>
            <a:pPr marL="0" indent="0">
              <a:buNone/>
            </a:pPr>
            <a:r>
              <a:rPr lang="en-US" altLang="zh-CN">
                <a:ln>
                  <a:solidFill>
                    <a:sysClr val="windowText" lastClr="000000"/>
                  </a:solidFill>
                </a:ln>
                <a:sym typeface="+mn-ea"/>
              </a:rPr>
              <a:t>   -0.7071   -0.7071</a:t>
            </a:r>
            <a:endParaRPr lang="en-US" altLang="zh-CN">
              <a:ln>
                <a:solidFill>
                  <a:sysClr val="windowText" lastClr="000000"/>
                </a:solidFill>
              </a:ln>
            </a:endParaRPr>
          </a:p>
          <a:p>
            <a:pPr marL="0" indent="0">
              <a:buNone/>
            </a:pPr>
            <a:r>
              <a:rPr lang="en-US" altLang="zh-CN">
                <a:ln>
                  <a:solidFill>
                    <a:sysClr val="windowText" lastClr="000000"/>
                  </a:solidFill>
                </a:ln>
                <a:sym typeface="+mn-ea"/>
              </a:rPr>
              <a:t>         0         0</a:t>
            </a:r>
            <a:endParaRPr lang="en-US" altLang="zh-CN">
              <a:ln>
                <a:solidFill>
                  <a:sysClr val="windowText" lastClr="000000"/>
                </a:solidFill>
              </a:ln>
            </a:endParaRPr>
          </a:p>
          <a:p>
            <a:pPr marL="0" indent="0">
              <a:buNone/>
            </a:pPr>
            <a:r>
              <a:rPr lang="en-US" altLang="zh-CN">
                <a:ln>
                  <a:solidFill>
                    <a:sysClr val="windowText" lastClr="000000"/>
                  </a:solidFill>
                </a:ln>
                <a:sym typeface="+mn-ea"/>
              </a:rPr>
              <a:t>    2.1213    0.7071</a:t>
            </a:r>
            <a:endParaRPr lang="en-US" altLang="zh-CN">
              <a:ln>
                <a:solidFill>
                  <a:sysClr val="windowText" lastClr="000000"/>
                </a:solidFill>
              </a:ln>
            </a:endParaRPr>
          </a:p>
          <a:p>
            <a:pPr marL="0" indent="0">
              <a:buNone/>
            </a:pPr>
            <a:r>
              <a:rPr lang="en-US" altLang="zh-CN">
                <a:ln>
                  <a:solidFill>
                    <a:sysClr val="windowText" lastClr="000000"/>
                  </a:solidFill>
                </a:ln>
                <a:sym typeface="+mn-ea"/>
              </a:rPr>
              <a:t>    0.7071   -0.7071</a:t>
            </a:r>
            <a:endParaRPr lang="en-US" altLang="zh-CN">
              <a:ln>
                <a:solidFill>
                  <a:sysClr val="windowText" lastClr="000000"/>
                </a:solidFill>
              </a:ln>
            </a:endParaRPr>
          </a:p>
          <a:p>
            <a:pPr marL="0" indent="0">
              <a:buNone/>
            </a:pPr>
            <a:r>
              <a:rPr lang="en-US" altLang="zh-CN">
                <a:ln>
                  <a:solidFill>
                    <a:sysClr val="windowText" lastClr="000000"/>
                  </a:solidFill>
                </a:ln>
                <a:sym typeface="+mn-ea"/>
              </a:rPr>
              <a:t>l =    2.5000</a:t>
            </a:r>
            <a:endParaRPr lang="en-US" altLang="zh-CN">
              <a:ln>
                <a:solidFill>
                  <a:sysClr val="windowText" lastClr="000000"/>
                </a:solidFill>
              </a:ln>
            </a:endParaRPr>
          </a:p>
          <a:p>
            <a:pPr marL="0" indent="0">
              <a:buNone/>
            </a:pPr>
            <a:r>
              <a:rPr lang="en-US" altLang="zh-CN">
                <a:ln>
                  <a:solidFill>
                    <a:sysClr val="windowText" lastClr="000000"/>
                  </a:solidFill>
                </a:ln>
                <a:sym typeface="+mn-ea"/>
              </a:rPr>
              <a:t>    0.5000</a:t>
            </a:r>
            <a:endParaRPr lang="en-US" altLang="zh-CN">
              <a:ln>
                <a:solidFill>
                  <a:sysClr val="windowText" lastClr="000000"/>
                </a:solidFill>
              </a:ln>
            </a:endParaRPr>
          </a:p>
          <a:p>
            <a:endParaRPr lang="en-US" altLang="zh-CN">
              <a:ln>
                <a:solidFill>
                  <a:sysClr val="windowText" lastClr="000000"/>
                </a:solidFill>
              </a:ln>
            </a:endParaRPr>
          </a:p>
        </p:txBody>
      </p:sp>
      <p:sp>
        <p:nvSpPr>
          <p:cNvPr id="5" name="文本框 4"/>
          <p:cNvSpPr txBox="1"/>
          <p:nvPr/>
        </p:nvSpPr>
        <p:spPr>
          <a:xfrm>
            <a:off x="704215" y="3461385"/>
            <a:ext cx="3729990" cy="2631440"/>
          </a:xfrm>
          <a:prstGeom prst="rect">
            <a:avLst/>
          </a:prstGeom>
        </p:spPr>
        <p:txBody>
          <a:bodyPr wrap="square">
            <a:noAutofit/>
          </a:bodyPr>
          <a:p>
            <a:pPr marL="0" indent="0">
              <a:spcBef>
                <a:spcPts val="300"/>
              </a:spcBef>
              <a:spcAft>
                <a:spcPts val="300"/>
              </a:spcAft>
            </a:pPr>
            <a:r>
              <a:rPr lang="en-US" altLang="zh-CN" sz="1600" b="0" i="0">
                <a:solidFill>
                  <a:srgbClr val="404040"/>
                </a:solidFill>
                <a:latin typeface="Times New Roman" panose="02020603050405020304" pitchFamily="18" charset="0"/>
                <a:ea typeface="Menlo"/>
                <a:cs typeface="Times New Roman" panose="02020603050405020304" pitchFamily="18" charset="0"/>
              </a:rPr>
              <a:t>[</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1"/>
              </a:rPr>
              <a:t>coeff</a:t>
            </a:r>
            <a:r>
              <a:rPr lang="en-US" altLang="zh-CN" sz="1600" b="0" i="0">
                <a:solidFill>
                  <a:srgbClr val="404040"/>
                </a:solidFill>
                <a:latin typeface="Times New Roman" panose="02020603050405020304" pitchFamily="18" charset="0"/>
                <a:ea typeface="Menlo"/>
                <a:cs typeface="Times New Roman" panose="02020603050405020304" pitchFamily="18" charset="0"/>
              </a:rPr>
              <a:t>,</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2"/>
              </a:rPr>
              <a:t>score</a:t>
            </a:r>
            <a:r>
              <a:rPr lang="en-US" altLang="zh-CN" sz="1600" b="0" i="0">
                <a:solidFill>
                  <a:srgbClr val="404040"/>
                </a:solidFill>
                <a:latin typeface="Times New Roman" panose="02020603050405020304" pitchFamily="18" charset="0"/>
                <a:ea typeface="Menlo"/>
                <a:cs typeface="Times New Roman" panose="02020603050405020304" pitchFamily="18" charset="0"/>
              </a:rPr>
              <a:t>,</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3"/>
              </a:rPr>
              <a:t>latent</a:t>
            </a:r>
            <a:r>
              <a:rPr lang="en-US" altLang="zh-CN" sz="1600" b="0" i="0">
                <a:solidFill>
                  <a:srgbClr val="404040"/>
                </a:solidFill>
                <a:latin typeface="Times New Roman" panose="02020603050405020304" pitchFamily="18" charset="0"/>
                <a:ea typeface="Menlo"/>
                <a:cs typeface="Times New Roman" panose="02020603050405020304" pitchFamily="18" charset="0"/>
              </a:rPr>
              <a:t>] = pca(</a:t>
            </a:r>
            <a:r>
              <a:rPr lang="en-US" altLang="zh-CN" sz="1600" b="1" i="0">
                <a:solidFill>
                  <a:srgbClr val="404040"/>
                </a:solidFill>
                <a:latin typeface="Times New Roman" panose="02020603050405020304" pitchFamily="18" charset="0"/>
                <a:ea typeface="Menlo"/>
                <a:cs typeface="Times New Roman" panose="02020603050405020304" pitchFamily="18" charset="0"/>
              </a:rPr>
              <a:t>___</a:t>
            </a:r>
            <a:r>
              <a:rPr lang="en-US" altLang="zh-CN" sz="1600" b="0" i="0">
                <a:solidFill>
                  <a:srgbClr val="404040"/>
                </a:solidFill>
                <a:latin typeface="Times New Roman" panose="02020603050405020304" pitchFamily="18" charset="0"/>
                <a:ea typeface="Menlo"/>
                <a:cs typeface="Times New Roman" panose="02020603050405020304" pitchFamily="18" charset="0"/>
              </a:rPr>
              <a:t>)</a:t>
            </a:r>
            <a:r>
              <a:rPr lang="en-US" altLang="zh-CN"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 </a:t>
            </a:r>
            <a:r>
              <a:rPr lang="zh-CN" altLang="en-US"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还在</a:t>
            </a:r>
            <a:r>
              <a:rPr lang="en-US" altLang="zh-CN"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1600" b="0" i="0">
                <a:solidFill>
                  <a:srgbClr val="404040"/>
                </a:solidFill>
                <a:latin typeface="Times New Roman" panose="02020603050405020304" pitchFamily="18" charset="0"/>
                <a:ea typeface="Menlo"/>
                <a:cs typeface="Times New Roman" panose="02020603050405020304" pitchFamily="18" charset="0"/>
              </a:rPr>
              <a:t>score</a:t>
            </a:r>
            <a:r>
              <a:rPr lang="en-US" altLang="zh-CN"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 </a:t>
            </a:r>
            <a:r>
              <a:rPr lang="zh-CN" altLang="en-US"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中返回主成分分数，在</a:t>
            </a:r>
            <a:r>
              <a:rPr lang="en-US" altLang="zh-CN"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1600" b="0" i="0">
                <a:solidFill>
                  <a:srgbClr val="404040"/>
                </a:solidFill>
                <a:latin typeface="Times New Roman" panose="02020603050405020304" pitchFamily="18" charset="0"/>
                <a:ea typeface="Menlo"/>
                <a:cs typeface="Times New Roman" panose="02020603050405020304" pitchFamily="18" charset="0"/>
              </a:rPr>
              <a:t>latent</a:t>
            </a:r>
            <a:r>
              <a:rPr lang="en-US" altLang="zh-CN"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 </a:t>
            </a:r>
            <a:r>
              <a:rPr lang="zh-CN" altLang="en-US"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中返回主成分方差。您可以使用上述语法中的任何输入参数。</a:t>
            </a:r>
            <a:endParaRPr lang="zh-CN" altLang="en-US" sz="1600" b="0" i="0">
              <a:solidFill>
                <a:srgbClr val="404040"/>
              </a:solidFill>
              <a:latin typeface="Times New Roman" panose="02020603050405020304" pitchFamily="18" charset="0"/>
              <a:ea typeface="微软雅黑" panose="020B0503020204020204" charset="-122"/>
              <a:cs typeface="Times New Roman" panose="02020603050405020304" pitchFamily="18" charset="0"/>
            </a:endParaRPr>
          </a:p>
          <a:p>
            <a:pPr marL="0" indent="0">
              <a:spcBef>
                <a:spcPts val="300"/>
              </a:spcBef>
              <a:spcAft>
                <a:spcPts val="300"/>
              </a:spcAft>
            </a:pPr>
            <a:r>
              <a:rPr lang="zh-CN" altLang="en-US"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主成分分数是</a:t>
            </a:r>
            <a:r>
              <a:rPr lang="en-US" altLang="zh-CN"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1600" b="0" i="0">
                <a:solidFill>
                  <a:srgbClr val="404040"/>
                </a:solidFill>
                <a:latin typeface="Times New Roman" panose="02020603050405020304" pitchFamily="18" charset="0"/>
                <a:ea typeface="Menlo"/>
                <a:cs typeface="Times New Roman" panose="02020603050405020304" pitchFamily="18" charset="0"/>
              </a:rPr>
              <a:t>X</a:t>
            </a:r>
            <a:r>
              <a:rPr lang="en-US" altLang="zh-CN"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 </a:t>
            </a:r>
            <a:r>
              <a:rPr lang="zh-CN" altLang="en-US"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在主成分空间中的表示。</a:t>
            </a:r>
            <a:r>
              <a:rPr lang="en-US" altLang="zh-CN" sz="1600" b="0" i="0">
                <a:solidFill>
                  <a:srgbClr val="404040"/>
                </a:solidFill>
                <a:latin typeface="Times New Roman" panose="02020603050405020304" pitchFamily="18" charset="0"/>
                <a:ea typeface="Menlo"/>
                <a:cs typeface="Times New Roman" panose="02020603050405020304" pitchFamily="18" charset="0"/>
              </a:rPr>
              <a:t>score</a:t>
            </a:r>
            <a:r>
              <a:rPr lang="en-US" altLang="zh-CN"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 </a:t>
            </a:r>
            <a:r>
              <a:rPr lang="zh-CN" altLang="en-US"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的行对应于观测值，列对应于成分。</a:t>
            </a:r>
            <a:endParaRPr lang="zh-CN" altLang="en-US" sz="1600" b="0" i="0">
              <a:solidFill>
                <a:srgbClr val="404040"/>
              </a:solidFill>
              <a:latin typeface="Times New Roman" panose="02020603050405020304" pitchFamily="18" charset="0"/>
              <a:ea typeface="微软雅黑" panose="020B0503020204020204" charset="-122"/>
              <a:cs typeface="Times New Roman" panose="02020603050405020304" pitchFamily="18" charset="0"/>
            </a:endParaRPr>
          </a:p>
          <a:p>
            <a:pPr marL="0" indent="0">
              <a:spcBef>
                <a:spcPts val="300"/>
              </a:spcBef>
              <a:spcAft>
                <a:spcPts val="300"/>
              </a:spcAft>
            </a:pPr>
            <a:r>
              <a:rPr lang="zh-CN" altLang="en-US"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主成分方差是</a:t>
            </a:r>
            <a:r>
              <a:rPr lang="en-US" altLang="zh-CN"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1600" b="0" i="0">
                <a:solidFill>
                  <a:srgbClr val="404040"/>
                </a:solidFill>
                <a:latin typeface="Times New Roman" panose="02020603050405020304" pitchFamily="18" charset="0"/>
                <a:ea typeface="Menlo"/>
                <a:cs typeface="Times New Roman" panose="02020603050405020304" pitchFamily="18" charset="0"/>
              </a:rPr>
              <a:t>X</a:t>
            </a:r>
            <a:r>
              <a:rPr lang="en-US" altLang="zh-CN"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 </a:t>
            </a:r>
            <a:r>
              <a:rPr lang="zh-CN" altLang="en-US" sz="1600" b="0" i="0">
                <a:solidFill>
                  <a:srgbClr val="404040"/>
                </a:solidFill>
                <a:latin typeface="Times New Roman" panose="02020603050405020304" pitchFamily="18" charset="0"/>
                <a:ea typeface="微软雅黑" panose="020B0503020204020204" charset="-122"/>
                <a:cs typeface="Times New Roman" panose="02020603050405020304" pitchFamily="18" charset="0"/>
              </a:rPr>
              <a:t>的协方差矩阵的特征值。</a:t>
            </a:r>
            <a:endParaRPr lang="zh-CN" altLang="en-US" sz="1600" b="0" i="0">
              <a:solidFill>
                <a:srgbClr val="404040"/>
              </a:solidFill>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3776" y="838835"/>
            <a:ext cx="2712085" cy="762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37896" y="1071880"/>
            <a:ext cx="3085465" cy="400110"/>
          </a:xfrm>
          <a:prstGeom prst="rect">
            <a:avLst/>
          </a:prstGeom>
          <a:noFill/>
        </p:spPr>
        <p:txBody>
          <a:bodyPr wrap="square" rtlCol="0">
            <a:spAutoFit/>
          </a:bodyPr>
          <a:lstStyle/>
          <a:p>
            <a:r>
              <a:rPr lang="en-US" altLang="zh-CN" sz="2000" dirty="0">
                <a:solidFill>
                  <a:schemeClr val="accent1">
                    <a:lumMod val="50000"/>
                  </a:schemeClr>
                </a:solidFill>
                <a:latin typeface="黑体" panose="02010609060101010101" charset="-122"/>
                <a:ea typeface="黑体" panose="02010609060101010101" charset="-122"/>
                <a:sym typeface="+mn-ea"/>
              </a:rPr>
              <a:t>05 </a:t>
            </a:r>
            <a:r>
              <a:rPr lang="en-US" altLang="zh-CN" sz="2000" b="1" dirty="0">
                <a:solidFill>
                  <a:schemeClr val="accent1">
                    <a:lumMod val="50000"/>
                  </a:schemeClr>
                </a:solidFill>
                <a:latin typeface="宋体" panose="02010600030101010101" pitchFamily="2" charset="-122"/>
                <a:sym typeface="+mn-ea"/>
              </a:rPr>
              <a:t>PCA</a:t>
            </a:r>
            <a:r>
              <a:rPr lang="zh-CN" altLang="en-US" sz="2000" b="1" dirty="0">
                <a:solidFill>
                  <a:schemeClr val="accent1">
                    <a:lumMod val="50000"/>
                  </a:schemeClr>
                </a:solidFill>
                <a:latin typeface="宋体" panose="02010600030101010101" pitchFamily="2" charset="-122"/>
                <a:sym typeface="+mn-ea"/>
              </a:rPr>
              <a:t>应用到地面分割</a:t>
            </a:r>
            <a:endParaRPr lang="zh-CN" altLang="en-US" sz="2000" b="1" dirty="0">
              <a:solidFill>
                <a:schemeClr val="accent1">
                  <a:lumMod val="50000"/>
                </a:schemeClr>
              </a:solidFill>
              <a:latin typeface="宋体" panose="02010600030101010101" pitchFamily="2" charset="-122"/>
              <a:sym typeface="+mn-ea"/>
            </a:endParaRPr>
          </a:p>
        </p:txBody>
      </p:sp>
      <p:sp>
        <p:nvSpPr>
          <p:cNvPr id="6" name="文本框 5"/>
          <p:cNvSpPr txBox="1"/>
          <p:nvPr/>
        </p:nvSpPr>
        <p:spPr>
          <a:xfrm>
            <a:off x="937895" y="1820475"/>
            <a:ext cx="7266539" cy="1938992"/>
          </a:xfrm>
          <a:prstGeom prst="rect">
            <a:avLst/>
          </a:prstGeom>
          <a:noFill/>
        </p:spPr>
        <p:txBody>
          <a:bodyPr wrap="square" rtlCol="0">
            <a:spAutoFit/>
          </a:bodyPr>
          <a:lstStyle/>
          <a:p>
            <a:r>
              <a:rPr lang="en-US" altLang="zh-CN" sz="2000" dirty="0"/>
              <a:t>1</a:t>
            </a:r>
            <a:r>
              <a:rPr lang="zh-CN" altLang="en-US" sz="2000" dirty="0"/>
              <a:t>）如果三个特征值近似相同，则当前的栅格中的坐标是没有主方向的，是非结构化环境。</a:t>
            </a:r>
            <a:endParaRPr lang="en-US" altLang="zh-CN" sz="2000" dirty="0"/>
          </a:p>
          <a:p>
            <a:r>
              <a:rPr lang="en-US" altLang="zh-CN" sz="2000" dirty="0"/>
              <a:t>2</a:t>
            </a:r>
            <a:r>
              <a:rPr lang="zh-CN" altLang="en-US" sz="2000" dirty="0"/>
              <a:t>）如果其中一个特征值</a:t>
            </a:r>
            <a:r>
              <a:rPr lang="zh-CN" altLang="en-US" sz="2000"/>
              <a:t>远大于另外两</a:t>
            </a:r>
            <a:r>
              <a:rPr lang="zh-CN" altLang="en-US" sz="2000" dirty="0"/>
              <a:t>个特征值，那么点云形状为柱状，大的特征值为该柱状点云的主方向</a:t>
            </a:r>
            <a:endParaRPr lang="en-US" altLang="zh-CN" sz="2000" dirty="0"/>
          </a:p>
          <a:p>
            <a:r>
              <a:rPr lang="en-US" altLang="zh-CN" sz="2000" dirty="0"/>
              <a:t>3</a:t>
            </a:r>
            <a:r>
              <a:rPr lang="zh-CN" altLang="en-US" sz="2000" dirty="0"/>
              <a:t>）如果其中一个特征值远小于另外两个特征值，则该点云为平面点云。</a:t>
            </a:r>
            <a:endParaRPr lang="en-US" altLang="zh-CN" sz="2000"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7895" y="3759468"/>
            <a:ext cx="7266539" cy="204489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bg>
      <p:bgPr>
        <a:solidFill>
          <a:schemeClr val="accent1"/>
        </a:solidFill>
        <a:effectLst/>
      </p:bgPr>
    </p:bg>
    <p:spTree>
      <p:nvGrpSpPr>
        <p:cNvPr id="1" name=""/>
        <p:cNvGrpSpPr/>
        <p:nvPr/>
      </p:nvGrpSpPr>
      <p:grpSpPr>
        <a:xfrm>
          <a:off x="0" y="0"/>
          <a:ext cx="0" cy="0"/>
          <a:chOff x="0" y="0"/>
          <a:chExt cx="0" cy="0"/>
        </a:xfrm>
      </p:grpSpPr>
      <p:sp>
        <p:nvSpPr>
          <p:cNvPr id="35842" name="Rectangle 2"/>
          <p:cNvSpPr>
            <a:spLocks noGrp="1" noRot="1" noChangeArrowheads="1"/>
          </p:cNvSpPr>
          <p:nvPr>
            <p:ph type="ctrTitle"/>
          </p:nvPr>
        </p:nvSpPr>
        <p:spPr/>
        <p:txBody>
          <a:bodyPr/>
          <a:lstStyle/>
          <a:p>
            <a:r>
              <a:rPr lang="en-US" altLang="zh-CN" sz="5400" b="1" i="1" dirty="0"/>
              <a:t>K-means</a:t>
            </a:r>
            <a:r>
              <a:rPr lang="zh-CN" altLang="en-US" sz="5400" b="1" i="1" dirty="0"/>
              <a:t>聚类算法</a:t>
            </a:r>
            <a:endParaRPr lang="zh-CN" altLang="en-US" sz="5400" b="1" i="1"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fade">
                                      <p:cBhvr>
                                        <p:cTn id="7" dur="2000"/>
                                        <p:tgtEl>
                                          <p:spTgt spid="3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rrowheads="1"/>
          </p:cNvSpPr>
          <p:nvPr>
            <p:ph type="body" idx="1"/>
          </p:nvPr>
        </p:nvSpPr>
        <p:spPr>
          <a:xfrm>
            <a:off x="301625" y="1143000"/>
            <a:ext cx="8540750" cy="4956175"/>
          </a:xfrm>
        </p:spPr>
        <p:txBody>
          <a:bodyPr/>
          <a:lstStyle/>
          <a:p>
            <a:pPr algn="just">
              <a:lnSpc>
                <a:spcPct val="110000"/>
              </a:lnSpc>
              <a:spcBef>
                <a:spcPct val="10000"/>
              </a:spcBef>
              <a:buClr>
                <a:schemeClr val="tx1"/>
              </a:buClr>
              <a:buSzPct val="60000"/>
              <a:buFont typeface="Wingdings" panose="05000000000000000000" pitchFamily="2" charset="2"/>
              <a:buNone/>
            </a:pPr>
            <a:r>
              <a:rPr lang="en-US" altLang="zh-CN" b="1" dirty="0">
                <a:ea typeface="幼圆" panose="02010509060101010101" pitchFamily="49" charset="-122"/>
              </a:rPr>
              <a:t>         </a:t>
            </a:r>
            <a:r>
              <a:rPr lang="en-US" altLang="zh-CN" sz="2400" b="1" dirty="0">
                <a:solidFill>
                  <a:srgbClr val="C00000"/>
                </a:solidFill>
                <a:latin typeface="微软雅黑" panose="020B0503020204020204" charset="-122"/>
                <a:ea typeface="微软雅黑" panose="020B0503020204020204" charset="-122"/>
                <a:cs typeface="微软雅黑" panose="020B0503020204020204" charset="-122"/>
              </a:rPr>
              <a:t> </a:t>
            </a:r>
            <a:r>
              <a:rPr lang="en-US" altLang="zh-CN" sz="2400" b="1" i="1" dirty="0">
                <a:solidFill>
                  <a:srgbClr val="C00000"/>
                </a:solidFill>
                <a:latin typeface="微软雅黑" panose="020B0503020204020204" charset="-122"/>
                <a:ea typeface="微软雅黑" panose="020B0503020204020204" charset="-122"/>
                <a:cs typeface="微软雅黑" panose="020B0503020204020204" charset="-122"/>
              </a:rPr>
              <a:t>k</a:t>
            </a:r>
            <a:r>
              <a:rPr lang="en-US" altLang="zh-CN" sz="2400" b="1" dirty="0">
                <a:solidFill>
                  <a:srgbClr val="C00000"/>
                </a:solidFill>
                <a:latin typeface="微软雅黑" panose="020B0503020204020204" charset="-122"/>
                <a:ea typeface="微软雅黑" panose="020B0503020204020204" charset="-122"/>
                <a:cs typeface="微软雅黑" panose="020B0503020204020204" charset="-122"/>
              </a:rPr>
              <a:t>-means</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算法</a:t>
            </a:r>
            <a:r>
              <a:rPr lang="zh-CN" altLang="en-US" sz="2800" b="1" dirty="0">
                <a:ea typeface="幼圆" panose="02010509060101010101" pitchFamily="49" charset="-122"/>
              </a:rPr>
              <a:t>，</a:t>
            </a:r>
            <a:r>
              <a:rPr lang="zh-CN" altLang="en-US" sz="2400" dirty="0">
                <a:ea typeface="幼圆" panose="02010509060101010101" pitchFamily="49" charset="-122"/>
              </a:rPr>
              <a:t>也被称为</a:t>
            </a:r>
            <a:r>
              <a:rPr lang="en-US" altLang="zh-CN" sz="2400" i="1" dirty="0">
                <a:ea typeface="幼圆" panose="02010509060101010101" pitchFamily="49" charset="-122"/>
              </a:rPr>
              <a:t>k</a:t>
            </a:r>
            <a:r>
              <a:rPr lang="en-US" altLang="zh-CN" sz="2400" dirty="0">
                <a:ea typeface="幼圆" panose="02010509060101010101" pitchFamily="49" charset="-122"/>
              </a:rPr>
              <a:t>-</a:t>
            </a:r>
            <a:r>
              <a:rPr lang="zh-CN" altLang="en-US" sz="2400" dirty="0">
                <a:ea typeface="幼圆" panose="02010509060101010101" pitchFamily="49" charset="-122"/>
              </a:rPr>
              <a:t>平均或</a:t>
            </a:r>
            <a:r>
              <a:rPr lang="en-US" altLang="zh-CN" sz="2400" i="1" dirty="0">
                <a:ea typeface="幼圆" panose="02010509060101010101" pitchFamily="49" charset="-122"/>
              </a:rPr>
              <a:t>k</a:t>
            </a:r>
            <a:r>
              <a:rPr lang="en-US" altLang="zh-CN" sz="2400" dirty="0">
                <a:ea typeface="幼圆" panose="02010509060101010101" pitchFamily="49" charset="-122"/>
              </a:rPr>
              <a:t>-</a:t>
            </a:r>
            <a:r>
              <a:rPr lang="zh-CN" altLang="en-US" sz="2400" dirty="0">
                <a:ea typeface="幼圆" panose="02010509060101010101" pitchFamily="49" charset="-122"/>
              </a:rPr>
              <a:t>均值，是一种得到最广泛使用的聚类算法。 它</a:t>
            </a:r>
            <a:r>
              <a:rPr lang="zh-CN" altLang="en-US" sz="2400" dirty="0">
                <a:latin typeface="幼圆" panose="02010509060101010101" pitchFamily="49" charset="-122"/>
                <a:ea typeface="幼圆" panose="02010509060101010101" pitchFamily="49" charset="-122"/>
              </a:rPr>
              <a:t>是将各个聚类子集内的所有数据样本的均值作为该聚类的代表点，算法的主要思想是通过迭代过程把数据集划分为不同的类别，使得评价聚类性能的准则函数达到最优，从而使生成的每个聚类内紧凑，类间独立。这一算法不适合处理离散型属性，但是对于连续型具有较好的聚类效果。</a:t>
            </a:r>
            <a:endParaRPr kumimoji="1" lang="zh-CN" altLang="en-US" sz="2400" dirty="0">
              <a:latin typeface="幼圆" panose="02010509060101010101" pitchFamily="49" charset="-122"/>
              <a:ea typeface="幼圆" panose="02010509060101010101" pitchFamily="49" charset="-122"/>
            </a:endParaRPr>
          </a:p>
          <a:p>
            <a:endParaRPr lang="en-US" altLang="zh-CN" sz="2400" dirty="0">
              <a:latin typeface="幼圆" panose="02010509060101010101" pitchFamily="49" charset="-122"/>
              <a:ea typeface="幼圆" panose="020105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Rot="1" noChangeArrowheads="1"/>
          </p:cNvSpPr>
          <p:nvPr>
            <p:ph type="body" idx="1"/>
          </p:nvPr>
        </p:nvSpPr>
        <p:spPr>
          <a:xfrm>
            <a:off x="301625" y="685800"/>
            <a:ext cx="8540750" cy="5413375"/>
          </a:xfrm>
        </p:spPr>
        <p:txBody>
          <a:bodyPr/>
          <a:lstStyle/>
          <a:p>
            <a:pPr>
              <a:buFont typeface="Wingdings" panose="05000000000000000000" pitchFamily="2" charset="2"/>
              <a:buNone/>
            </a:pPr>
            <a:r>
              <a:rPr lang="en-US" altLang="zh-CN" dirty="0">
                <a:ea typeface="幼圆" panose="02010509060101010101" pitchFamily="49" charset="-122"/>
              </a:rPr>
              <a:t>        </a:t>
            </a:r>
            <a:r>
              <a:rPr lang="zh-CN" altLang="en-US" sz="2800" b="1" dirty="0">
                <a:solidFill>
                  <a:srgbClr val="C00000"/>
                </a:solidFill>
                <a:latin typeface="微软雅黑" panose="020B0503020204020204" charset="-122"/>
                <a:ea typeface="微软雅黑" panose="020B0503020204020204" charset="-122"/>
              </a:rPr>
              <a:t>划分聚类方法对数据集进行聚类时包括如下</a:t>
            </a:r>
            <a:endParaRPr lang="zh-CN" altLang="en-US" sz="2800" b="1" dirty="0">
              <a:solidFill>
                <a:schemeClr val="tx2"/>
              </a:solidFill>
              <a:latin typeface="幼圆" panose="02010509060101010101" pitchFamily="49" charset="-122"/>
              <a:ea typeface="幼圆" panose="02010509060101010101" pitchFamily="49" charset="-122"/>
            </a:endParaRPr>
          </a:p>
          <a:p>
            <a:pPr>
              <a:buFont typeface="Wingdings" panose="05000000000000000000" pitchFamily="2" charset="2"/>
              <a:buNone/>
            </a:pPr>
            <a:r>
              <a:rPr lang="zh-CN" altLang="en-US" sz="2800" b="1" dirty="0">
                <a:latin typeface="幼圆" panose="02010509060101010101" pitchFamily="49" charset="-122"/>
                <a:ea typeface="幼圆" panose="02010509060101010101" pitchFamily="49" charset="-122"/>
              </a:rPr>
              <a:t>  三个要点：</a:t>
            </a:r>
            <a:endParaRPr lang="zh-CN" altLang="en-US" sz="2800" b="1" dirty="0">
              <a:latin typeface="幼圆" panose="02010509060101010101" pitchFamily="49" charset="-122"/>
              <a:ea typeface="幼圆" panose="02010509060101010101" pitchFamily="49" charset="-122"/>
            </a:endParaRPr>
          </a:p>
          <a:p>
            <a:r>
              <a:rPr lang="zh-CN" altLang="en-US" sz="2800" b="1" dirty="0">
                <a:latin typeface="幼圆" panose="02010509060101010101" pitchFamily="49" charset="-122"/>
                <a:ea typeface="幼圆" panose="02010509060101010101" pitchFamily="49" charset="-122"/>
              </a:rPr>
              <a:t>  （</a:t>
            </a:r>
            <a:r>
              <a:rPr lang="en-US" altLang="zh-CN" sz="2800" b="1" dirty="0">
                <a:latin typeface="幼圆" panose="02010509060101010101" pitchFamily="49" charset="-122"/>
                <a:ea typeface="幼圆" panose="02010509060101010101" pitchFamily="49" charset="-122"/>
              </a:rPr>
              <a:t>1</a:t>
            </a:r>
            <a:r>
              <a:rPr lang="zh-CN" altLang="en-US" sz="2800" b="1" dirty="0">
                <a:latin typeface="幼圆" panose="02010509060101010101" pitchFamily="49" charset="-122"/>
                <a:ea typeface="幼圆" panose="02010509060101010101" pitchFamily="49" charset="-122"/>
              </a:rPr>
              <a:t>）</a:t>
            </a:r>
            <a:r>
              <a:rPr lang="zh-CN" altLang="en-US" sz="2800" b="1" dirty="0">
                <a:solidFill>
                  <a:srgbClr val="002060"/>
                </a:solidFill>
                <a:latin typeface="微软雅黑" panose="020B0503020204020204" charset="-122"/>
                <a:ea typeface="微软雅黑" panose="020B0503020204020204" charset="-122"/>
              </a:rPr>
              <a:t>选定某种距离作为数据样本间的相似性度量</a:t>
            </a:r>
            <a:endParaRPr lang="zh-CN" altLang="en-US" sz="2800" dirty="0">
              <a:latin typeface="幼圆" panose="02010509060101010101" pitchFamily="49" charset="-122"/>
              <a:ea typeface="幼圆" panose="02010509060101010101" pitchFamily="49" charset="-122"/>
            </a:endParaRPr>
          </a:p>
          <a:p>
            <a:pPr marL="918845" indent="0">
              <a:buNone/>
            </a:pPr>
            <a:r>
              <a:rPr lang="zh-CN" altLang="en-US" sz="2800" dirty="0">
                <a:latin typeface="幼圆" panose="02010509060101010101" pitchFamily="49" charset="-122"/>
                <a:ea typeface="幼圆" panose="02010509060101010101" pitchFamily="49" charset="-122"/>
              </a:rPr>
              <a:t>上面讲到，</a:t>
            </a:r>
            <a:r>
              <a:rPr lang="en-US" altLang="zh-CN" sz="2800" dirty="0">
                <a:latin typeface="幼圆" panose="02010509060101010101" pitchFamily="49" charset="-122"/>
                <a:ea typeface="幼圆" panose="02010509060101010101" pitchFamily="49" charset="-122"/>
              </a:rPr>
              <a:t>k-means</a:t>
            </a:r>
            <a:r>
              <a:rPr lang="zh-CN" altLang="en-US" sz="2800" dirty="0">
                <a:latin typeface="幼圆" panose="02010509060101010101" pitchFamily="49" charset="-122"/>
                <a:ea typeface="幼圆" panose="02010509060101010101" pitchFamily="49" charset="-122"/>
              </a:rPr>
              <a:t>聚类算法不适合处理离散型属性，对连续型属性比较适合。因此在计算数据样本之间的距离时，可以根据实际需要选择欧式距离、曼哈顿距离或者明考斯距离中的一种来作为算法的相似性度量，其中最常用的是欧式距离。下面具体介绍一下欧式距离。</a:t>
            </a:r>
            <a:endParaRPr lang="zh-CN" altLang="en-US" sz="2800" b="1" dirty="0">
              <a:latin typeface="幼圆" panose="02010509060101010101" pitchFamily="49" charset="-122"/>
              <a:ea typeface="幼圆" panose="02010509060101010101" pitchFamily="49" charset="-122"/>
            </a:endParaRPr>
          </a:p>
          <a:p>
            <a:pPr>
              <a:buFont typeface="Wingdings" panose="05000000000000000000" pitchFamily="2" charset="2"/>
              <a:buNone/>
            </a:pPr>
            <a:endParaRPr lang="zh-CN" altLang="en-US" sz="2800" b="1" dirty="0">
              <a:latin typeface="幼圆" panose="02010509060101010101" pitchFamily="49" charset="-122"/>
              <a:ea typeface="幼圆" panose="02010509060101010101" pitchFamily="49" charset="-122"/>
            </a:endParaRPr>
          </a:p>
          <a:p>
            <a:pPr>
              <a:buFont typeface="Wingdings" panose="05000000000000000000" pitchFamily="2" charset="2"/>
              <a:buNone/>
            </a:pPr>
            <a:endParaRPr lang="en-US" altLang="zh-CN" sz="2800" b="1" dirty="0">
              <a:latin typeface="幼圆" panose="02010509060101010101" pitchFamily="49" charset="-122"/>
              <a:ea typeface="幼圆" panose="020105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rrowheads="1"/>
          </p:cNvSpPr>
          <p:nvPr>
            <p:ph type="body" idx="1"/>
          </p:nvPr>
        </p:nvSpPr>
        <p:spPr>
          <a:xfrm>
            <a:off x="301625" y="685800"/>
            <a:ext cx="8540750" cy="5413375"/>
          </a:xfrm>
        </p:spPr>
        <p:txBody>
          <a:bodyPr/>
          <a:lstStyle/>
          <a:p>
            <a:pPr>
              <a:buFont typeface="Wingdings" panose="05000000000000000000" pitchFamily="2" charset="2"/>
              <a:buNone/>
            </a:pPr>
            <a:r>
              <a:rPr lang="en-US" altLang="zh-CN" dirty="0">
                <a:latin typeface="幼圆" panose="02010509060101010101" pitchFamily="49" charset="-122"/>
                <a:ea typeface="幼圆" panose="02010509060101010101" pitchFamily="49" charset="-122"/>
              </a:rPr>
              <a:t>  </a:t>
            </a:r>
            <a:r>
              <a:rPr lang="zh-CN" altLang="en-US" sz="2000" dirty="0">
                <a:latin typeface="幼圆" panose="02010509060101010101" pitchFamily="49" charset="-122"/>
                <a:ea typeface="幼圆" panose="02010509060101010101" pitchFamily="49" charset="-122"/>
              </a:rPr>
              <a:t>假设给定的数据集</a:t>
            </a:r>
            <a:r>
              <a:rPr lang="en-US" altLang="zh-CN" sz="2000" dirty="0">
                <a:latin typeface="幼圆" panose="02010509060101010101" pitchFamily="49" charset="-122"/>
                <a:ea typeface="幼圆" panose="02010509060101010101" pitchFamily="49" charset="-122"/>
              </a:rPr>
              <a:t>        </a:t>
            </a:r>
            <a:r>
              <a:rPr lang="zh-CN" altLang="en-US" sz="2000" dirty="0">
                <a:latin typeface="幼圆" panose="02010509060101010101" pitchFamily="49" charset="-122"/>
                <a:ea typeface="幼圆" panose="02010509060101010101" pitchFamily="49" charset="-122"/>
              </a:rPr>
              <a:t>                 ，</a:t>
            </a:r>
            <a:r>
              <a:rPr lang="en-US" altLang="zh-CN" sz="2000" dirty="0">
                <a:latin typeface="幼圆" panose="02010509060101010101" pitchFamily="49" charset="-122"/>
                <a:ea typeface="幼圆" panose="02010509060101010101" pitchFamily="49" charset="-122"/>
              </a:rPr>
              <a:t>X</a:t>
            </a:r>
            <a:r>
              <a:rPr lang="zh-CN" altLang="en-US" sz="2000" dirty="0">
                <a:latin typeface="幼圆" panose="02010509060101010101" pitchFamily="49" charset="-122"/>
                <a:ea typeface="幼圆" panose="02010509060101010101" pitchFamily="49" charset="-122"/>
              </a:rPr>
              <a:t>中的样本用</a:t>
            </a:r>
            <a:r>
              <a:rPr lang="en-US" altLang="zh-CN" sz="2000" dirty="0">
                <a:latin typeface="幼圆" panose="02010509060101010101" pitchFamily="49" charset="-122"/>
                <a:ea typeface="幼圆" panose="02010509060101010101" pitchFamily="49" charset="-122"/>
              </a:rPr>
              <a:t>d</a:t>
            </a:r>
            <a:r>
              <a:rPr lang="zh-CN" altLang="en-US" sz="2000" dirty="0">
                <a:latin typeface="幼圆" panose="02010509060101010101" pitchFamily="49" charset="-122"/>
                <a:ea typeface="幼圆" panose="02010509060101010101" pitchFamily="49" charset="-122"/>
              </a:rPr>
              <a:t>个描述属性</a:t>
            </a:r>
            <a:r>
              <a:rPr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a:t>
            </a:r>
            <a:r>
              <a:rPr lang="en-US" altLang="zh-CN" sz="2000"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r>
              <a:rPr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a:t>
            </a:r>
            <a:r>
              <a:rPr lang="en-US" altLang="zh-CN" sz="2000"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a:t>
            </a:r>
            <a:r>
              <a:rPr lang="en-US" altLang="zh-CN" sz="2000"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d</a:t>
            </a:r>
            <a:r>
              <a:rPr lang="zh-CN" altLang="en-US" sz="2000" dirty="0">
                <a:latin typeface="幼圆" panose="02010509060101010101" pitchFamily="49" charset="-122"/>
                <a:ea typeface="幼圆" panose="02010509060101010101" pitchFamily="49" charset="-122"/>
              </a:rPr>
              <a:t>来表示，并且</a:t>
            </a:r>
            <a:r>
              <a:rPr lang="en-US" altLang="zh-CN" sz="2000" dirty="0">
                <a:latin typeface="幼圆" panose="02010509060101010101" pitchFamily="49" charset="-122"/>
                <a:ea typeface="幼圆" panose="02010509060101010101" pitchFamily="49" charset="-122"/>
              </a:rPr>
              <a:t>d</a:t>
            </a:r>
            <a:r>
              <a:rPr lang="zh-CN" altLang="en-US" sz="2000" dirty="0">
                <a:latin typeface="幼圆" panose="02010509060101010101" pitchFamily="49" charset="-122"/>
                <a:ea typeface="幼圆" panose="02010509060101010101" pitchFamily="49" charset="-122"/>
              </a:rPr>
              <a:t>个描述属性都是连续型属性。</a:t>
            </a:r>
            <a:endParaRPr lang="zh-CN" altLang="en-US" sz="2000" b="1" dirty="0">
              <a:latin typeface="幼圆" panose="02010509060101010101" pitchFamily="49" charset="-122"/>
              <a:ea typeface="幼圆" panose="02010509060101010101" pitchFamily="49" charset="-122"/>
            </a:endParaRPr>
          </a:p>
          <a:p>
            <a:pPr>
              <a:buFont typeface="Wingdings" panose="05000000000000000000" pitchFamily="2" charset="2"/>
              <a:buNone/>
            </a:pPr>
            <a:r>
              <a:rPr lang="zh-CN" altLang="en-US" sz="2800" b="1" dirty="0">
                <a:latin typeface="幼圆" panose="02010509060101010101" pitchFamily="49" charset="-122"/>
                <a:ea typeface="幼圆" panose="02010509060101010101" pitchFamily="49" charset="-122"/>
              </a:rPr>
              <a:t> </a:t>
            </a:r>
            <a:r>
              <a:rPr lang="zh-CN" altLang="en-US" sz="2400" dirty="0">
                <a:latin typeface="幼圆" panose="02010509060101010101" pitchFamily="49" charset="-122"/>
                <a:ea typeface="幼圆" panose="02010509060101010101" pitchFamily="49" charset="-122"/>
              </a:rPr>
              <a:t>数据样本</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i1</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i2</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i="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id</a:t>
            </a:r>
            <a:r>
              <a:rPr lang="en-US" altLang="zh-CN" sz="24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dirty="0">
                <a:latin typeface="幼圆" panose="02010509060101010101" pitchFamily="49" charset="-122"/>
                <a:ea typeface="幼圆" panose="02010509060101010101" pitchFamily="49" charset="-122"/>
              </a:rPr>
              <a:t>, </a:t>
            </a:r>
            <a:r>
              <a:rPr lang="en-US" altLang="zh-CN" sz="2400" i="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j</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j1</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j2</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i="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jd</a:t>
            </a:r>
            <a:r>
              <a:rPr lang="en-US" altLang="zh-CN" sz="24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400" dirty="0">
                <a:latin typeface="幼圆" panose="02010509060101010101" pitchFamily="49" charset="-122"/>
                <a:ea typeface="幼圆" panose="02010509060101010101" pitchFamily="49" charset="-122"/>
              </a:rPr>
              <a:t>其中， </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i1</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i2</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i="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id</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和</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j1</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j2</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i="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jd</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分别是样本</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和</a:t>
            </a:r>
            <a:r>
              <a:rPr lang="en-US" altLang="zh-CN" sz="2400" i="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j</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对应</a:t>
            </a:r>
            <a:r>
              <a:rPr lang="en-US" altLang="zh-CN" sz="2400" dirty="0">
                <a:latin typeface="Times New Roman" panose="02020603050405020304" pitchFamily="18" charset="0"/>
                <a:ea typeface="幼圆" panose="02010509060101010101" pitchFamily="49" charset="-122"/>
                <a:cs typeface="Times New Roman" panose="02020603050405020304" pitchFamily="18" charset="0"/>
              </a:rPr>
              <a:t>d</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个描述属性</a:t>
            </a:r>
            <a:r>
              <a:rPr lang="en-US" altLang="zh-CN" sz="24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a:t>
            </a:r>
            <a:r>
              <a:rPr lang="en-US" altLang="zh-CN" sz="2400"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r>
              <a:rPr lang="en-US" altLang="zh-CN" sz="24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a:t>
            </a:r>
            <a:r>
              <a:rPr lang="en-US" altLang="zh-CN" sz="2400"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lang="en-US" altLang="zh-CN" sz="24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a:t>
            </a:r>
            <a:r>
              <a:rPr lang="en-US" altLang="zh-CN" sz="2400"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d</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的具体取值</a:t>
            </a:r>
            <a:r>
              <a:rPr lang="zh-CN" altLang="en-US" sz="2400" dirty="0">
                <a:latin typeface="幼圆" panose="02010509060101010101" pitchFamily="49" charset="-122"/>
                <a:ea typeface="幼圆" panose="02010509060101010101" pitchFamily="49" charset="-122"/>
              </a:rPr>
              <a:t>。</a:t>
            </a:r>
            <a:endParaRPr lang="zh-CN" altLang="en-US" sz="2400" dirty="0">
              <a:latin typeface="幼圆" panose="02010509060101010101" pitchFamily="49" charset="-122"/>
              <a:ea typeface="幼圆" panose="02010509060101010101" pitchFamily="49" charset="-122"/>
            </a:endParaRPr>
          </a:p>
          <a:p>
            <a:pPr marL="0" indent="0">
              <a:buFont typeface="Wingdings" panose="05000000000000000000" charset="0"/>
              <a:buNone/>
            </a:pPr>
            <a:r>
              <a:rPr lang="en-US" altLang="zh-CN" sz="2400" dirty="0">
                <a:latin typeface="幼圆" panose="02010509060101010101" pitchFamily="49" charset="-122"/>
                <a:ea typeface="幼圆" panose="02010509060101010101" pitchFamily="49" charset="-122"/>
              </a:rPr>
              <a:t> </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样本</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xi</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和</a:t>
            </a:r>
            <a:r>
              <a:rPr lang="en-US" altLang="zh-CN" sz="2400" i="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xj</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之间的相似度通常用它们之间的距离</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d</a:t>
            </a:r>
            <a:r>
              <a:rPr lang="en-US" altLang="zh-CN" sz="24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i="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400" i="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j</a:t>
            </a:r>
            <a:r>
              <a:rPr lang="en-US" altLang="zh-CN" sz="24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来表示，</a:t>
            </a:r>
            <a:endParaRPr lang="zh-CN" altLang="en-US" sz="2400" dirty="0">
              <a:latin typeface="Times New Roman" panose="02020603050405020304" pitchFamily="18" charset="0"/>
              <a:ea typeface="幼圆" panose="02010509060101010101" pitchFamily="49" charset="-122"/>
              <a:cs typeface="Times New Roman" panose="02020603050405020304" pitchFamily="18" charset="0"/>
            </a:endParaRPr>
          </a:p>
          <a:p>
            <a:pPr>
              <a:buFont typeface="Wingdings" panose="05000000000000000000" charset="0"/>
              <a:buChar char="n"/>
            </a:pP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距离越小，样本</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a:t>
            </a:r>
            <a:r>
              <a:rPr lang="zh-CN" altLang="en-US" sz="24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和</a:t>
            </a:r>
            <a:r>
              <a:rPr lang="en-US" altLang="zh-CN" sz="2400" i="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j</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越相似，差异度越小；</a:t>
            </a:r>
            <a:endParaRPr lang="zh-CN" altLang="en-US" sz="2400" dirty="0">
              <a:latin typeface="Times New Roman" panose="02020603050405020304" pitchFamily="18" charset="0"/>
              <a:ea typeface="幼圆" panose="02010509060101010101" pitchFamily="49" charset="-122"/>
              <a:cs typeface="Times New Roman" panose="02020603050405020304" pitchFamily="18" charset="0"/>
            </a:endParaRPr>
          </a:p>
          <a:p>
            <a:pPr>
              <a:buFont typeface="Wingdings" panose="05000000000000000000" charset="0"/>
              <a:buChar char="n"/>
            </a:pPr>
            <a:r>
              <a:rPr lang="en-US" altLang="zh-CN" sz="2400" dirty="0">
                <a:latin typeface="Times New Roman" panose="02020603050405020304" pitchFamily="18" charset="0"/>
                <a:ea typeface="幼圆" panose="02010509060101010101" pitchFamily="49" charset="-122"/>
                <a:cs typeface="Times New Roman" panose="02020603050405020304" pitchFamily="18" charset="0"/>
              </a:rPr>
              <a:t> </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距离越大，样本</a:t>
            </a:r>
            <a:r>
              <a:rPr lang="en-US" altLang="zh-CN" sz="2400"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a:t>
            </a:r>
            <a:r>
              <a:rPr lang="zh-CN" altLang="en-US" sz="2400"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和</a:t>
            </a:r>
            <a:r>
              <a:rPr lang="en-US" altLang="zh-CN" sz="2400" i="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400" i="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j</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越不相似，差异度越大。</a:t>
            </a:r>
            <a:endParaRPr lang="zh-CN" altLang="en-US" sz="2400" dirty="0">
              <a:latin typeface="幼圆" panose="02010509060101010101" pitchFamily="49" charset="-122"/>
              <a:ea typeface="幼圆" panose="02010509060101010101" pitchFamily="49" charset="-122"/>
            </a:endParaRPr>
          </a:p>
          <a:p>
            <a:pPr>
              <a:buFont typeface="Wingdings" panose="05000000000000000000" pitchFamily="2" charset="2"/>
              <a:buNone/>
            </a:pPr>
            <a:r>
              <a:rPr lang="zh-CN" altLang="en-US" sz="2400" dirty="0">
                <a:latin typeface="幼圆" panose="02010509060101010101" pitchFamily="49" charset="-122"/>
                <a:ea typeface="幼圆" panose="02010509060101010101" pitchFamily="49" charset="-122"/>
              </a:rPr>
              <a:t>      欧式距离公式如下：</a:t>
            </a:r>
            <a:endParaRPr lang="zh-CN" altLang="en-US" sz="2400" dirty="0">
              <a:latin typeface="幼圆" panose="02010509060101010101" pitchFamily="49" charset="-122"/>
              <a:ea typeface="幼圆" panose="02010509060101010101" pitchFamily="49" charset="-122"/>
            </a:endParaRPr>
          </a:p>
        </p:txBody>
      </p:sp>
      <p:sp>
        <p:nvSpPr>
          <p:cNvPr id="60419" name="Rectangle 3"/>
          <p:cNvSpPr>
            <a:spLocks noChangeArrowheads="1"/>
          </p:cNvSpPr>
          <p:nvPr/>
        </p:nvSpPr>
        <p:spPr bwMode="auto">
          <a:xfrm>
            <a:off x="0" y="30014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60420" name="Object 4"/>
          <p:cNvGraphicFramePr>
            <a:graphicFrameLocks noChangeAspect="1"/>
          </p:cNvGraphicFramePr>
          <p:nvPr/>
        </p:nvGraphicFramePr>
        <p:xfrm>
          <a:off x="2267585" y="4509135"/>
          <a:ext cx="3810000" cy="1219200"/>
        </p:xfrm>
        <a:graphic>
          <a:graphicData uri="http://schemas.openxmlformats.org/presentationml/2006/ole">
            <mc:AlternateContent xmlns:mc="http://schemas.openxmlformats.org/markup-compatibility/2006">
              <mc:Choice xmlns:v="urn:schemas-microsoft-com:vml" Requires="v">
                <p:oleObj spid="_x0000_s2056" name="公式" r:id="rId1" imgW="1730375" imgH="501650" progId="Equation.3">
                  <p:embed/>
                </p:oleObj>
              </mc:Choice>
              <mc:Fallback>
                <p:oleObj name="公式" r:id="rId1" imgW="1730375" imgH="50165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585" y="4509135"/>
                        <a:ext cx="3810000" cy="1219200"/>
                      </a:xfrm>
                      <a:prstGeom prst="rect">
                        <a:avLst/>
                      </a:prstGeom>
                      <a:noFill/>
                    </p:spPr>
                  </p:pic>
                </p:oleObj>
              </mc:Fallback>
            </mc:AlternateContent>
          </a:graphicData>
        </a:graphic>
      </p:graphicFrame>
      <p:sp>
        <p:nvSpPr>
          <p:cNvPr id="60421" name="Rectangle 5"/>
          <p:cNvSpPr>
            <a:spLocks noChangeArrowheads="1"/>
          </p:cNvSpPr>
          <p:nvPr/>
        </p:nvSpPr>
        <p:spPr bwMode="auto">
          <a:xfrm>
            <a:off x="0" y="3130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60422" name="Object 6"/>
          <p:cNvGraphicFramePr>
            <a:graphicFrameLocks noChangeAspect="1"/>
          </p:cNvGraphicFramePr>
          <p:nvPr/>
        </p:nvGraphicFramePr>
        <p:xfrm>
          <a:off x="2700020" y="692785"/>
          <a:ext cx="3048000" cy="457200"/>
        </p:xfrm>
        <a:graphic>
          <a:graphicData uri="http://schemas.openxmlformats.org/presentationml/2006/ole">
            <mc:AlternateContent xmlns:mc="http://schemas.openxmlformats.org/markup-compatibility/2006">
              <mc:Choice xmlns:v="urn:schemas-microsoft-com:vml" Requires="v">
                <p:oleObj spid="_x0000_s2057" name="公式" r:id="rId3" imgW="1681480" imgH="236220" progId="Equation.3">
                  <p:embed/>
                </p:oleObj>
              </mc:Choice>
              <mc:Fallback>
                <p:oleObj name="公式" r:id="rId3" imgW="1681480" imgH="23622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020" y="692785"/>
                        <a:ext cx="3048000" cy="457200"/>
                      </a:xfrm>
                      <a:prstGeom prst="rect">
                        <a:avLst/>
                      </a:prstGeom>
                      <a:noFill/>
                      <a:ln>
                        <a:noFill/>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Grp="1" noRot="1" noChangeArrowheads="1"/>
          </p:cNvSpPr>
          <p:nvPr>
            <p:ph type="body" idx="1"/>
          </p:nvPr>
        </p:nvSpPr>
        <p:spPr>
          <a:xfrm>
            <a:off x="304800" y="762000"/>
            <a:ext cx="8540750" cy="5489575"/>
          </a:xfrm>
        </p:spPr>
        <p:txBody>
          <a:bodyPr/>
          <a:lstStyle/>
          <a:p>
            <a:r>
              <a:rPr lang="zh-CN" altLang="en-US" sz="2800" b="1" dirty="0">
                <a:solidFill>
                  <a:srgbClr val="00206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2060"/>
                </a:solidFill>
                <a:latin typeface="微软雅黑" panose="020B0503020204020204" charset="-122"/>
                <a:ea typeface="微软雅黑" panose="020B0503020204020204" charset="-122"/>
                <a:cs typeface="微软雅黑" panose="020B0503020204020204" charset="-122"/>
              </a:rPr>
              <a:t>2</a:t>
            </a:r>
            <a:r>
              <a:rPr lang="zh-CN" altLang="en-US" sz="2800" b="1" dirty="0">
                <a:solidFill>
                  <a:srgbClr val="002060"/>
                </a:solidFill>
                <a:latin typeface="微软雅黑" panose="020B0503020204020204" charset="-122"/>
                <a:ea typeface="微软雅黑" panose="020B0503020204020204" charset="-122"/>
                <a:cs typeface="微软雅黑" panose="020B0503020204020204" charset="-122"/>
              </a:rPr>
              <a:t>）选择评价聚类性能的准则函数</a:t>
            </a:r>
            <a:endParaRPr lang="zh-CN" altLang="en-US" sz="2800" b="1" dirty="0">
              <a:latin typeface="幼圆" panose="02010509060101010101" pitchFamily="49" charset="-122"/>
              <a:ea typeface="幼圆" panose="02010509060101010101" pitchFamily="49" charset="-122"/>
            </a:endParaRPr>
          </a:p>
          <a:p>
            <a:pPr>
              <a:buFont typeface="Wingdings" panose="05000000000000000000" pitchFamily="2" charset="2"/>
              <a:buNone/>
            </a:pPr>
            <a:r>
              <a:rPr lang="zh-CN" altLang="en-US" sz="2800" b="1" dirty="0">
                <a:latin typeface="幼圆" panose="02010509060101010101" pitchFamily="49" charset="-122"/>
                <a:ea typeface="幼圆" panose="02010509060101010101" pitchFamily="49" charset="-122"/>
              </a:rPr>
              <a:t>       </a:t>
            </a:r>
            <a:r>
              <a:rPr lang="en-US" altLang="zh-CN" sz="2800" dirty="0">
                <a:latin typeface="幼圆" panose="02010509060101010101" pitchFamily="49" charset="-122"/>
                <a:ea typeface="幼圆" panose="02010509060101010101" pitchFamily="49" charset="-122"/>
              </a:rPr>
              <a:t>k-means</a:t>
            </a:r>
            <a:r>
              <a:rPr lang="zh-CN" altLang="en-US" sz="2800" dirty="0">
                <a:latin typeface="幼圆" panose="02010509060101010101" pitchFamily="49" charset="-122"/>
                <a:ea typeface="幼圆" panose="02010509060101010101" pitchFamily="49" charset="-122"/>
              </a:rPr>
              <a:t>聚类算法使用误差平方和准则函数来 评价聚类性能。给定数据集</a:t>
            </a:r>
            <a:r>
              <a:rPr lang="en-US" altLang="zh-CN" sz="2800" dirty="0">
                <a:latin typeface="幼圆" panose="02010509060101010101" pitchFamily="49" charset="-122"/>
                <a:ea typeface="幼圆" panose="02010509060101010101" pitchFamily="49" charset="-122"/>
              </a:rPr>
              <a:t>X</a:t>
            </a:r>
            <a:r>
              <a:rPr lang="zh-CN" altLang="en-US" sz="2800" dirty="0">
                <a:latin typeface="幼圆" panose="02010509060101010101" pitchFamily="49" charset="-122"/>
                <a:ea typeface="幼圆" panose="02010509060101010101" pitchFamily="49" charset="-122"/>
              </a:rPr>
              <a:t>，其中只包含描述属性，不包含类别属性。假设</a:t>
            </a:r>
            <a:r>
              <a:rPr lang="en-US" altLang="zh-CN" sz="2800" dirty="0">
                <a:latin typeface="幼圆" panose="02010509060101010101" pitchFamily="49" charset="-122"/>
                <a:ea typeface="幼圆" panose="02010509060101010101" pitchFamily="49" charset="-122"/>
              </a:rPr>
              <a:t>X</a:t>
            </a:r>
            <a:r>
              <a:rPr lang="zh-CN" altLang="en-US" sz="2800" dirty="0">
                <a:latin typeface="幼圆" panose="02010509060101010101" pitchFamily="49" charset="-122"/>
                <a:ea typeface="幼圆" panose="02010509060101010101" pitchFamily="49" charset="-122"/>
              </a:rPr>
              <a:t>包含</a:t>
            </a:r>
            <a:r>
              <a:rPr lang="en-US" altLang="zh-CN" sz="2800" dirty="0">
                <a:latin typeface="幼圆" panose="02010509060101010101" pitchFamily="49" charset="-122"/>
                <a:ea typeface="幼圆" panose="02010509060101010101" pitchFamily="49" charset="-122"/>
              </a:rPr>
              <a:t>k</a:t>
            </a:r>
            <a:r>
              <a:rPr lang="zh-CN" altLang="en-US" sz="2800" dirty="0">
                <a:latin typeface="幼圆" panose="02010509060101010101" pitchFamily="49" charset="-122"/>
                <a:ea typeface="幼圆" panose="02010509060101010101" pitchFamily="49" charset="-122"/>
              </a:rPr>
              <a:t>个聚类子集</a:t>
            </a:r>
            <a:r>
              <a:rPr lang="en-US" altLang="zh-CN" sz="2800" dirty="0">
                <a:latin typeface="幼圆" panose="02010509060101010101" pitchFamily="49" charset="-122"/>
                <a:ea typeface="幼圆" panose="02010509060101010101" pitchFamily="49" charset="-122"/>
              </a:rPr>
              <a:t>X</a:t>
            </a:r>
            <a:r>
              <a:rPr lang="en-US" altLang="zh-CN" sz="2800" baseline="-25000" dirty="0">
                <a:latin typeface="幼圆" panose="02010509060101010101" pitchFamily="49" charset="-122"/>
                <a:ea typeface="幼圆" panose="02010509060101010101" pitchFamily="49" charset="-122"/>
              </a:rPr>
              <a:t>1</a:t>
            </a:r>
            <a:r>
              <a:rPr lang="en-US" altLang="zh-CN" sz="2800" dirty="0">
                <a:latin typeface="幼圆" panose="02010509060101010101" pitchFamily="49" charset="-122"/>
                <a:ea typeface="幼圆" panose="02010509060101010101" pitchFamily="49" charset="-122"/>
              </a:rPr>
              <a:t>,X</a:t>
            </a:r>
            <a:r>
              <a:rPr lang="en-US" altLang="zh-CN" sz="2800" baseline="-25000" dirty="0">
                <a:latin typeface="幼圆" panose="02010509060101010101" pitchFamily="49" charset="-122"/>
                <a:ea typeface="幼圆" panose="02010509060101010101" pitchFamily="49" charset="-122"/>
              </a:rPr>
              <a:t>2</a:t>
            </a:r>
            <a:r>
              <a:rPr lang="en-US" altLang="zh-CN" sz="2800" dirty="0">
                <a:latin typeface="幼圆" panose="02010509060101010101" pitchFamily="49" charset="-122"/>
                <a:ea typeface="幼圆" panose="02010509060101010101" pitchFamily="49" charset="-122"/>
              </a:rPr>
              <a:t>,…X</a:t>
            </a:r>
            <a:r>
              <a:rPr lang="en-US" altLang="zh-CN" sz="2800" baseline="-25000" dirty="0">
                <a:latin typeface="幼圆" panose="02010509060101010101" pitchFamily="49" charset="-122"/>
                <a:ea typeface="幼圆" panose="02010509060101010101" pitchFamily="49" charset="-122"/>
              </a:rPr>
              <a:t>K</a:t>
            </a:r>
            <a:r>
              <a:rPr lang="zh-CN" altLang="en-US" sz="2800" dirty="0">
                <a:latin typeface="幼圆" panose="02010509060101010101" pitchFamily="49" charset="-122"/>
                <a:ea typeface="幼圆" panose="02010509060101010101" pitchFamily="49" charset="-122"/>
              </a:rPr>
              <a:t>；各个聚类子集中的样本数量分别为</a:t>
            </a:r>
            <a:r>
              <a:rPr lang="en-US" altLang="zh-CN" sz="2800" dirty="0">
                <a:latin typeface="幼圆" panose="02010509060101010101" pitchFamily="49" charset="-122"/>
                <a:ea typeface="幼圆" panose="02010509060101010101" pitchFamily="49" charset="-122"/>
              </a:rPr>
              <a:t>n</a:t>
            </a:r>
            <a:r>
              <a:rPr lang="en-US" altLang="zh-CN" sz="2800" baseline="-25000" dirty="0">
                <a:latin typeface="幼圆" panose="02010509060101010101" pitchFamily="49" charset="-122"/>
                <a:ea typeface="幼圆" panose="02010509060101010101" pitchFamily="49" charset="-122"/>
              </a:rPr>
              <a:t>1</a:t>
            </a:r>
            <a:r>
              <a:rPr lang="zh-CN" altLang="en-US" sz="2800" dirty="0">
                <a:latin typeface="幼圆" panose="02010509060101010101" pitchFamily="49" charset="-122"/>
                <a:ea typeface="幼圆" panose="02010509060101010101" pitchFamily="49" charset="-122"/>
              </a:rPr>
              <a:t>，</a:t>
            </a:r>
            <a:r>
              <a:rPr lang="en-US" altLang="zh-CN" sz="2800" dirty="0">
                <a:latin typeface="幼圆" panose="02010509060101010101" pitchFamily="49" charset="-122"/>
                <a:ea typeface="幼圆" panose="02010509060101010101" pitchFamily="49" charset="-122"/>
              </a:rPr>
              <a:t>n</a:t>
            </a:r>
            <a:r>
              <a:rPr lang="en-US" altLang="zh-CN" sz="2800" baseline="-25000" dirty="0">
                <a:latin typeface="幼圆" panose="02010509060101010101" pitchFamily="49" charset="-122"/>
                <a:ea typeface="幼圆" panose="02010509060101010101" pitchFamily="49" charset="-122"/>
              </a:rPr>
              <a:t>2</a:t>
            </a:r>
            <a:r>
              <a:rPr lang="en-US" altLang="zh-CN" sz="2800" dirty="0">
                <a:latin typeface="幼圆" panose="02010509060101010101" pitchFamily="49" charset="-122"/>
                <a:ea typeface="幼圆" panose="02010509060101010101" pitchFamily="49" charset="-122"/>
              </a:rPr>
              <a:t>,…,</a:t>
            </a:r>
            <a:r>
              <a:rPr lang="en-US" altLang="zh-CN" sz="2800" dirty="0" err="1">
                <a:latin typeface="幼圆" panose="02010509060101010101" pitchFamily="49" charset="-122"/>
                <a:ea typeface="幼圆" panose="02010509060101010101" pitchFamily="49" charset="-122"/>
              </a:rPr>
              <a:t>n</a:t>
            </a:r>
            <a:r>
              <a:rPr lang="en-US" altLang="zh-CN" sz="2800" baseline="-25000" dirty="0" err="1">
                <a:latin typeface="幼圆" panose="02010509060101010101" pitchFamily="49" charset="-122"/>
                <a:ea typeface="幼圆" panose="02010509060101010101" pitchFamily="49" charset="-122"/>
              </a:rPr>
              <a:t>k</a:t>
            </a:r>
            <a:r>
              <a:rPr lang="en-US" altLang="zh-CN" sz="2800" dirty="0">
                <a:latin typeface="幼圆" panose="02010509060101010101" pitchFamily="49" charset="-122"/>
                <a:ea typeface="幼圆" panose="02010509060101010101" pitchFamily="49" charset="-122"/>
              </a:rPr>
              <a:t>;</a:t>
            </a:r>
            <a:r>
              <a:rPr lang="zh-CN" altLang="en-US" sz="2800" dirty="0">
                <a:latin typeface="幼圆" panose="02010509060101010101" pitchFamily="49" charset="-122"/>
                <a:ea typeface="幼圆" panose="02010509060101010101" pitchFamily="49" charset="-122"/>
              </a:rPr>
              <a:t>各个聚类子集的均值代表点（也称聚类中心）分别为</a:t>
            </a:r>
            <a:r>
              <a:rPr lang="en-US" altLang="zh-CN" sz="2800" dirty="0">
                <a:latin typeface="幼圆" panose="02010509060101010101" pitchFamily="49" charset="-122"/>
                <a:ea typeface="幼圆" panose="02010509060101010101" pitchFamily="49" charset="-122"/>
              </a:rPr>
              <a:t>m</a:t>
            </a:r>
            <a:r>
              <a:rPr lang="en-US" altLang="zh-CN" sz="2800" baseline="-25000" dirty="0">
                <a:latin typeface="幼圆" panose="02010509060101010101" pitchFamily="49" charset="-122"/>
                <a:ea typeface="幼圆" panose="02010509060101010101" pitchFamily="49" charset="-122"/>
              </a:rPr>
              <a:t>1</a:t>
            </a:r>
            <a:r>
              <a:rPr lang="zh-CN" altLang="en-US" sz="2800" dirty="0">
                <a:latin typeface="幼圆" panose="02010509060101010101" pitchFamily="49" charset="-122"/>
                <a:ea typeface="幼圆" panose="02010509060101010101" pitchFamily="49" charset="-122"/>
              </a:rPr>
              <a:t>，</a:t>
            </a:r>
            <a:r>
              <a:rPr lang="en-US" altLang="zh-CN" sz="2800" dirty="0">
                <a:latin typeface="幼圆" panose="02010509060101010101" pitchFamily="49" charset="-122"/>
                <a:ea typeface="幼圆" panose="02010509060101010101" pitchFamily="49" charset="-122"/>
              </a:rPr>
              <a:t>m</a:t>
            </a:r>
            <a:r>
              <a:rPr lang="en-US" altLang="zh-CN" sz="2800" baseline="-25000" dirty="0">
                <a:latin typeface="幼圆" panose="02010509060101010101" pitchFamily="49" charset="-122"/>
                <a:ea typeface="幼圆" panose="02010509060101010101" pitchFamily="49" charset="-122"/>
              </a:rPr>
              <a:t>2</a:t>
            </a:r>
            <a:r>
              <a:rPr lang="en-US" altLang="zh-CN" sz="2800" dirty="0">
                <a:latin typeface="幼圆" panose="02010509060101010101" pitchFamily="49" charset="-122"/>
                <a:ea typeface="幼圆" panose="02010509060101010101" pitchFamily="49" charset="-122"/>
              </a:rPr>
              <a:t>,…,</a:t>
            </a:r>
            <a:r>
              <a:rPr lang="en-US" altLang="zh-CN" sz="2800" dirty="0" err="1">
                <a:latin typeface="幼圆" panose="02010509060101010101" pitchFamily="49" charset="-122"/>
                <a:ea typeface="幼圆" panose="02010509060101010101" pitchFamily="49" charset="-122"/>
              </a:rPr>
              <a:t>m</a:t>
            </a:r>
            <a:r>
              <a:rPr lang="en-US" altLang="zh-CN" sz="2800" baseline="-25000" dirty="0" err="1">
                <a:latin typeface="幼圆" panose="02010509060101010101" pitchFamily="49" charset="-122"/>
                <a:ea typeface="幼圆" panose="02010509060101010101" pitchFamily="49" charset="-122"/>
              </a:rPr>
              <a:t>k</a:t>
            </a:r>
            <a:r>
              <a:rPr lang="zh-CN" altLang="en-US" sz="2800" dirty="0">
                <a:latin typeface="幼圆" panose="02010509060101010101" pitchFamily="49" charset="-122"/>
                <a:ea typeface="幼圆" panose="02010509060101010101" pitchFamily="49" charset="-122"/>
              </a:rPr>
              <a:t>。则误差平方和准则函数公式为：</a:t>
            </a:r>
            <a:endParaRPr lang="zh-CN" altLang="en-US" sz="2800" b="1" dirty="0">
              <a:latin typeface="幼圆" panose="02010509060101010101" pitchFamily="49" charset="-122"/>
              <a:ea typeface="幼圆" panose="02010509060101010101" pitchFamily="49" charset="-122"/>
            </a:endParaRPr>
          </a:p>
          <a:p>
            <a:pPr>
              <a:buFont typeface="Wingdings" panose="05000000000000000000" pitchFamily="2" charset="2"/>
              <a:buNone/>
            </a:pPr>
            <a:endParaRPr lang="zh-CN" altLang="en-US" sz="2800" b="1" dirty="0">
              <a:latin typeface="幼圆" panose="02010509060101010101" pitchFamily="49" charset="-122"/>
              <a:ea typeface="幼圆" panose="02010509060101010101" pitchFamily="49" charset="-122"/>
            </a:endParaRPr>
          </a:p>
          <a:p>
            <a:pPr>
              <a:buFont typeface="Wingdings" panose="05000000000000000000" pitchFamily="2" charset="2"/>
              <a:buNone/>
            </a:pPr>
            <a:endParaRPr lang="en-US" altLang="zh-CN" sz="2800" b="1" dirty="0">
              <a:latin typeface="幼圆" panose="02010509060101010101" pitchFamily="49" charset="-122"/>
              <a:ea typeface="幼圆" panose="02010509060101010101" pitchFamily="49" charset="-122"/>
            </a:endParaRPr>
          </a:p>
        </p:txBody>
      </p:sp>
      <p:sp>
        <p:nvSpPr>
          <p:cNvPr id="61443" name="Rectangle 3"/>
          <p:cNvSpPr>
            <a:spLocks noChangeArrowheads="1"/>
          </p:cNvSpPr>
          <p:nvPr/>
        </p:nvSpPr>
        <p:spPr bwMode="auto">
          <a:xfrm>
            <a:off x="0" y="28252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61444" name="Object 4"/>
          <p:cNvGraphicFramePr>
            <a:graphicFrameLocks noChangeAspect="1"/>
          </p:cNvGraphicFramePr>
          <p:nvPr/>
        </p:nvGraphicFramePr>
        <p:xfrm>
          <a:off x="3124200" y="4191000"/>
          <a:ext cx="2819400" cy="1112838"/>
        </p:xfrm>
        <a:graphic>
          <a:graphicData uri="http://schemas.openxmlformats.org/presentationml/2006/ole">
            <mc:AlternateContent xmlns:mc="http://schemas.openxmlformats.org/markup-compatibility/2006">
              <mc:Choice xmlns:v="urn:schemas-microsoft-com:vml" Requires="v">
                <p:oleObj spid="_x0000_s3077" name="公式" r:id="rId1" imgW="1268095" imgH="501650" progId="Equation.3">
                  <p:embed/>
                </p:oleObj>
              </mc:Choice>
              <mc:Fallback>
                <p:oleObj name="公式" r:id="rId1" imgW="1268095" imgH="50165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4191000"/>
                        <a:ext cx="2819400" cy="1112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45" name="Rectangle 5"/>
          <p:cNvSpPr>
            <a:spLocks noChangeArrowheads="1"/>
          </p:cNvSpPr>
          <p:nvPr/>
        </p:nvSpPr>
        <p:spPr bwMode="auto">
          <a:xfrm>
            <a:off x="0" y="30204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p:cNvSpPr>
            <a:spLocks noGrp="1" noRot="1" noChangeArrowheads="1"/>
          </p:cNvSpPr>
          <p:nvPr>
            <p:ph type="body" idx="1"/>
          </p:nvPr>
        </p:nvSpPr>
        <p:spPr>
          <a:xfrm>
            <a:off x="152400" y="838200"/>
            <a:ext cx="8804275" cy="5867400"/>
          </a:xfrm>
        </p:spPr>
        <p:txBody>
          <a:bodyPr/>
          <a:lstStyle/>
          <a:p>
            <a:pPr marL="0" indent="0">
              <a:buNone/>
            </a:pPr>
            <a:r>
              <a:rPr lang="zh-CN" altLang="en-US" b="1" dirty="0">
                <a:solidFill>
                  <a:srgbClr val="002060"/>
                </a:solidFill>
                <a:latin typeface="微软雅黑" panose="020B0503020204020204" charset="-122"/>
                <a:ea typeface="微软雅黑" panose="020B0503020204020204" charset="-122"/>
                <a:cs typeface="微软雅黑" panose="020B0503020204020204" charset="-122"/>
              </a:rPr>
              <a:t>（</a:t>
            </a:r>
            <a:r>
              <a:rPr lang="en-US" altLang="zh-CN" b="1" dirty="0">
                <a:solidFill>
                  <a:srgbClr val="002060"/>
                </a:solidFill>
                <a:latin typeface="微软雅黑" panose="020B0503020204020204" charset="-122"/>
                <a:ea typeface="微软雅黑" panose="020B0503020204020204" charset="-122"/>
                <a:cs typeface="微软雅黑" panose="020B0503020204020204" charset="-122"/>
              </a:rPr>
              <a:t>3</a:t>
            </a:r>
            <a:r>
              <a:rPr lang="zh-CN" altLang="en-US" b="1" dirty="0">
                <a:solidFill>
                  <a:srgbClr val="002060"/>
                </a:solidFill>
                <a:latin typeface="微软雅黑" panose="020B0503020204020204" charset="-122"/>
                <a:ea typeface="微软雅黑" panose="020B0503020204020204" charset="-122"/>
                <a:cs typeface="微软雅黑" panose="020B0503020204020204" charset="-122"/>
              </a:rPr>
              <a:t>）</a:t>
            </a:r>
            <a:r>
              <a:rPr lang="zh-CN" altLang="en-US" sz="2800" b="1" dirty="0">
                <a:solidFill>
                  <a:srgbClr val="002060"/>
                </a:solidFill>
                <a:latin typeface="微软雅黑" panose="020B0503020204020204" charset="-122"/>
                <a:ea typeface="微软雅黑" panose="020B0503020204020204" charset="-122"/>
                <a:cs typeface="微软雅黑" panose="020B0503020204020204" charset="-122"/>
              </a:rPr>
              <a:t>相似度的计算根据一个簇中对象的平均值来进行。</a:t>
            </a:r>
            <a:endParaRPr lang="zh-CN" altLang="en-US" sz="2800" b="1" dirty="0">
              <a:solidFill>
                <a:srgbClr val="002060"/>
              </a:solidFill>
              <a:latin typeface="微软雅黑" panose="020B0503020204020204" charset="-122"/>
              <a:ea typeface="微软雅黑" panose="020B0503020204020204" charset="-122"/>
              <a:cs typeface="微软雅黑" panose="020B0503020204020204" charset="-122"/>
            </a:endParaRPr>
          </a:p>
          <a:p>
            <a:pPr marL="609600" indent="-609600"/>
            <a:r>
              <a:rPr kumimoji="1" lang="en-US" altLang="zh-CN" sz="2400" dirty="0">
                <a:latin typeface="幼圆" panose="02010509060101010101" pitchFamily="49" charset="-122"/>
                <a:ea typeface="幼圆" panose="02010509060101010101" pitchFamily="49" charset="-122"/>
              </a:rPr>
              <a:t>1</a:t>
            </a:r>
            <a:r>
              <a:rPr kumimoji="1" lang="zh-CN" altLang="en-US" sz="2400" dirty="0">
                <a:latin typeface="幼圆" panose="02010509060101010101" pitchFamily="49" charset="-122"/>
                <a:ea typeface="幼圆" panose="02010509060101010101" pitchFamily="49" charset="-122"/>
              </a:rPr>
              <a:t>）将所有对象随机分配到</a:t>
            </a:r>
            <a:r>
              <a:rPr kumimoji="1" lang="en-US" altLang="zh-CN" sz="2400" dirty="0">
                <a:latin typeface="幼圆" panose="02010509060101010101" pitchFamily="49" charset="-122"/>
                <a:ea typeface="幼圆" panose="02010509060101010101" pitchFamily="49" charset="-122"/>
              </a:rPr>
              <a:t>k</a:t>
            </a:r>
            <a:r>
              <a:rPr kumimoji="1" lang="zh-CN" altLang="en-US" sz="2400" dirty="0">
                <a:latin typeface="幼圆" panose="02010509060101010101" pitchFamily="49" charset="-122"/>
                <a:ea typeface="幼圆" panose="02010509060101010101" pitchFamily="49" charset="-122"/>
              </a:rPr>
              <a:t>个非空的簇中。</a:t>
            </a:r>
            <a:endParaRPr kumimoji="1" lang="zh-CN" altLang="en-US" sz="2400" dirty="0">
              <a:latin typeface="幼圆" panose="02010509060101010101" pitchFamily="49" charset="-122"/>
              <a:ea typeface="幼圆" panose="02010509060101010101" pitchFamily="49" charset="-122"/>
            </a:endParaRPr>
          </a:p>
          <a:p>
            <a:pPr marL="609600" indent="-609600"/>
            <a:r>
              <a:rPr kumimoji="1" lang="en-US" altLang="zh-CN" sz="2400" dirty="0">
                <a:latin typeface="幼圆" panose="02010509060101010101" pitchFamily="49" charset="-122"/>
                <a:ea typeface="幼圆" panose="02010509060101010101" pitchFamily="49" charset="-122"/>
              </a:rPr>
              <a:t>2</a:t>
            </a:r>
            <a:r>
              <a:rPr kumimoji="1" lang="zh-CN" altLang="en-US" sz="2400" dirty="0">
                <a:latin typeface="幼圆" panose="02010509060101010101" pitchFamily="49" charset="-122"/>
                <a:ea typeface="幼圆" panose="02010509060101010101" pitchFamily="49" charset="-122"/>
              </a:rPr>
              <a:t>）计算每个簇的平均值，并用该平均值代表相应的簇。</a:t>
            </a:r>
            <a:endParaRPr kumimoji="1" lang="zh-CN" altLang="en-US" sz="2400" dirty="0">
              <a:latin typeface="幼圆" panose="02010509060101010101" pitchFamily="49" charset="-122"/>
              <a:ea typeface="幼圆" panose="02010509060101010101" pitchFamily="49" charset="-122"/>
            </a:endParaRPr>
          </a:p>
          <a:p>
            <a:pPr marL="609600" indent="-609600"/>
            <a:r>
              <a:rPr kumimoji="1" lang="en-US" altLang="zh-CN" sz="2400" dirty="0">
                <a:latin typeface="幼圆" panose="02010509060101010101" pitchFamily="49" charset="-122"/>
                <a:ea typeface="幼圆" panose="02010509060101010101" pitchFamily="49" charset="-122"/>
              </a:rPr>
              <a:t>3</a:t>
            </a:r>
            <a:r>
              <a:rPr kumimoji="1" lang="zh-CN" altLang="en-US" sz="2400" dirty="0">
                <a:latin typeface="幼圆" panose="02010509060101010101" pitchFamily="49" charset="-122"/>
                <a:ea typeface="幼圆" panose="02010509060101010101" pitchFamily="49" charset="-122"/>
              </a:rPr>
              <a:t>）根据每个对象与各个簇中心的距离，分配给最近的簇。</a:t>
            </a:r>
            <a:endParaRPr kumimoji="1" lang="zh-CN" altLang="en-US" sz="2400" dirty="0">
              <a:latin typeface="幼圆" panose="02010509060101010101" pitchFamily="49" charset="-122"/>
              <a:ea typeface="幼圆" panose="02010509060101010101" pitchFamily="49" charset="-122"/>
            </a:endParaRPr>
          </a:p>
          <a:p>
            <a:pPr marL="609600" indent="-609600"/>
            <a:r>
              <a:rPr kumimoji="1" lang="en-US" altLang="zh-CN" sz="2400" dirty="0">
                <a:latin typeface="幼圆" panose="02010509060101010101" pitchFamily="49" charset="-122"/>
                <a:ea typeface="幼圆" panose="02010509060101010101" pitchFamily="49" charset="-122"/>
              </a:rPr>
              <a:t>4</a:t>
            </a:r>
            <a:r>
              <a:rPr kumimoji="1" lang="zh-CN" altLang="en-US" sz="2400" dirty="0">
                <a:latin typeface="幼圆" panose="02010509060101010101" pitchFamily="49" charset="-122"/>
                <a:ea typeface="幼圆" panose="02010509060101010101" pitchFamily="49" charset="-122"/>
              </a:rPr>
              <a:t>）然后转（</a:t>
            </a:r>
            <a:r>
              <a:rPr kumimoji="1" lang="en-US" altLang="zh-CN" sz="2400" dirty="0">
                <a:latin typeface="幼圆" panose="02010509060101010101" pitchFamily="49" charset="-122"/>
                <a:ea typeface="幼圆" panose="02010509060101010101" pitchFamily="49" charset="-122"/>
              </a:rPr>
              <a:t>2</a:t>
            </a:r>
            <a:r>
              <a:rPr kumimoji="1" lang="zh-CN" altLang="en-US" sz="2400" dirty="0">
                <a:latin typeface="幼圆" panose="02010509060101010101" pitchFamily="49" charset="-122"/>
                <a:ea typeface="幼圆" panose="02010509060101010101" pitchFamily="49" charset="-122"/>
              </a:rPr>
              <a:t>），重新计算每个簇的平均值。这个过程不断重复直到满足某个准则函数才停止。</a:t>
            </a:r>
            <a:endParaRPr kumimoji="1" lang="zh-CN" altLang="en-US" sz="2400" dirty="0">
              <a:latin typeface="幼圆" panose="02010509060101010101" pitchFamily="49" charset="-122"/>
              <a:ea typeface="幼圆" panose="020105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2446338" y="5746750"/>
            <a:ext cx="28082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000CC"/>
                </a:solidFill>
                <a:ea typeface="幼圆" panose="02010509060101010101" pitchFamily="49" charset="-122"/>
              </a:rPr>
              <a:t>K-</a:t>
            </a:r>
            <a:r>
              <a:rPr kumimoji="1" lang="zh-CN" altLang="en-US" sz="2800" b="1" dirty="0">
                <a:solidFill>
                  <a:srgbClr val="0000CC"/>
                </a:solidFill>
                <a:ea typeface="幼圆" panose="02010509060101010101" pitchFamily="49" charset="-122"/>
              </a:rPr>
              <a:t>均值聚类示例</a:t>
            </a:r>
            <a:endParaRPr kumimoji="1" lang="zh-CN" altLang="en-US" sz="2800" b="1" dirty="0">
              <a:solidFill>
                <a:srgbClr val="0000CC"/>
              </a:solidFill>
              <a:ea typeface="幼圆" panose="02010509060101010101" pitchFamily="49" charset="-122"/>
            </a:endParaRPr>
          </a:p>
        </p:txBody>
      </p:sp>
      <p:pic>
        <p:nvPicPr>
          <p:cNvPr id="6349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7700" y="533400"/>
            <a:ext cx="6335713" cy="49260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5"/>
          <p:cNvSpPr>
            <a:spLocks noChangeArrowheads="1"/>
          </p:cNvSpPr>
          <p:nvPr/>
        </p:nvSpPr>
        <p:spPr bwMode="auto">
          <a:xfrm>
            <a:off x="457200" y="2209800"/>
            <a:ext cx="7848600" cy="3415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ea typeface="幼圆" panose="02010509060101010101" pitchFamily="49" charset="-122"/>
              </a:rPr>
              <a:t>输入</a:t>
            </a:r>
            <a:r>
              <a:rPr lang="en-US" altLang="zh-CN" sz="2400" b="1" dirty="0">
                <a:ea typeface="幼圆" panose="02010509060101010101" pitchFamily="49" charset="-122"/>
              </a:rPr>
              <a:t>: </a:t>
            </a:r>
            <a:r>
              <a:rPr lang="zh-CN" altLang="en-US" sz="2400" dirty="0">
                <a:ea typeface="幼圆" panose="02010509060101010101" pitchFamily="49" charset="-122"/>
              </a:rPr>
              <a:t>簇的数目</a:t>
            </a:r>
            <a:r>
              <a:rPr lang="en-US" altLang="zh-CN" sz="2400" dirty="0">
                <a:ea typeface="幼圆" panose="02010509060101010101" pitchFamily="49" charset="-122"/>
              </a:rPr>
              <a:t>k </a:t>
            </a:r>
            <a:r>
              <a:rPr lang="zh-CN" altLang="en-US" sz="2400" dirty="0">
                <a:ea typeface="幼圆" panose="02010509060101010101" pitchFamily="49" charset="-122"/>
              </a:rPr>
              <a:t>和包含</a:t>
            </a:r>
            <a:r>
              <a:rPr lang="en-US" altLang="zh-CN" sz="2400" dirty="0">
                <a:ea typeface="幼圆" panose="02010509060101010101" pitchFamily="49" charset="-122"/>
              </a:rPr>
              <a:t>n </a:t>
            </a:r>
            <a:r>
              <a:rPr lang="zh-CN" altLang="en-US" sz="2400" dirty="0">
                <a:ea typeface="幼圆" panose="02010509060101010101" pitchFamily="49" charset="-122"/>
              </a:rPr>
              <a:t>个对象的数据库。</a:t>
            </a:r>
            <a:endParaRPr lang="zh-CN" altLang="en-US" sz="2400" dirty="0">
              <a:ea typeface="幼圆" panose="02010509060101010101" pitchFamily="49" charset="-122"/>
            </a:endParaRPr>
          </a:p>
          <a:p>
            <a:r>
              <a:rPr lang="zh-CN" altLang="en-US" sz="2400" b="1" dirty="0">
                <a:ea typeface="幼圆" panose="02010509060101010101" pitchFamily="49" charset="-122"/>
              </a:rPr>
              <a:t>输出</a:t>
            </a:r>
            <a:r>
              <a:rPr lang="en-US" altLang="zh-CN" sz="2400" b="1" dirty="0">
                <a:ea typeface="幼圆" panose="02010509060101010101" pitchFamily="49" charset="-122"/>
              </a:rPr>
              <a:t>: </a:t>
            </a:r>
            <a:r>
              <a:rPr lang="en-US" altLang="zh-CN" sz="2400" dirty="0">
                <a:ea typeface="幼圆" panose="02010509060101010101" pitchFamily="49" charset="-122"/>
              </a:rPr>
              <a:t>k </a:t>
            </a:r>
            <a:r>
              <a:rPr lang="zh-CN" altLang="en-US" sz="2400" dirty="0">
                <a:ea typeface="幼圆" panose="02010509060101010101" pitchFamily="49" charset="-122"/>
              </a:rPr>
              <a:t>个簇</a:t>
            </a:r>
            <a:r>
              <a:rPr lang="en-US" altLang="zh-CN" sz="2400" dirty="0">
                <a:ea typeface="幼圆" panose="02010509060101010101" pitchFamily="49" charset="-122"/>
              </a:rPr>
              <a:t>, </a:t>
            </a:r>
            <a:r>
              <a:rPr lang="zh-CN" altLang="en-US" sz="2400" dirty="0">
                <a:ea typeface="幼圆" panose="02010509060101010101" pitchFamily="49" charset="-122"/>
              </a:rPr>
              <a:t>使平方误差准则最小。</a:t>
            </a:r>
            <a:endParaRPr lang="zh-CN" altLang="en-US" sz="2400" dirty="0">
              <a:ea typeface="幼圆" panose="02010509060101010101" pitchFamily="49" charset="-122"/>
            </a:endParaRPr>
          </a:p>
          <a:p>
            <a:r>
              <a:rPr lang="zh-CN" altLang="en-US" sz="2400" dirty="0">
                <a:ea typeface="幼圆" panose="02010509060101010101" pitchFamily="49" charset="-122"/>
              </a:rPr>
              <a:t>方法：基于簇中对象的平均值。</a:t>
            </a:r>
            <a:endParaRPr lang="zh-CN" altLang="en-US" sz="2400" dirty="0">
              <a:ea typeface="幼圆" panose="02010509060101010101" pitchFamily="49" charset="-122"/>
            </a:endParaRPr>
          </a:p>
          <a:p>
            <a:r>
              <a:rPr lang="en-US" altLang="zh-CN" sz="2400" dirty="0">
                <a:ea typeface="幼圆" panose="02010509060101010101" pitchFamily="49" charset="-122"/>
              </a:rPr>
              <a:t>( l) </a:t>
            </a:r>
            <a:r>
              <a:rPr lang="zh-CN" altLang="en-US" sz="2400" dirty="0">
                <a:ea typeface="幼圆" panose="02010509060101010101" pitchFamily="49" charset="-122"/>
              </a:rPr>
              <a:t>任意选择</a:t>
            </a:r>
            <a:r>
              <a:rPr lang="en-US" altLang="zh-CN" sz="2400" dirty="0">
                <a:ea typeface="幼圆" panose="02010509060101010101" pitchFamily="49" charset="-122"/>
              </a:rPr>
              <a:t>k </a:t>
            </a:r>
            <a:r>
              <a:rPr lang="zh-CN" altLang="en-US" sz="2400" dirty="0">
                <a:ea typeface="幼圆" panose="02010509060101010101" pitchFamily="49" charset="-122"/>
              </a:rPr>
              <a:t>个对象作为初始的簇中心</a:t>
            </a:r>
            <a:r>
              <a:rPr lang="en-US" altLang="zh-CN" sz="2400" dirty="0">
                <a:ea typeface="幼圆" panose="02010509060101010101" pitchFamily="49" charset="-122"/>
              </a:rPr>
              <a:t>;</a:t>
            </a:r>
            <a:endParaRPr lang="en-US" altLang="zh-CN" sz="2400" dirty="0">
              <a:ea typeface="幼圆" panose="02010509060101010101" pitchFamily="49" charset="-122"/>
            </a:endParaRPr>
          </a:p>
          <a:p>
            <a:r>
              <a:rPr lang="en-US" altLang="zh-CN" sz="2400" dirty="0">
                <a:ea typeface="幼圆" panose="02010509060101010101" pitchFamily="49" charset="-122"/>
              </a:rPr>
              <a:t>(2 ) r e p e a t ,</a:t>
            </a:r>
            <a:endParaRPr lang="en-US" altLang="zh-CN" sz="2400" dirty="0">
              <a:ea typeface="幼圆" panose="02010509060101010101" pitchFamily="49" charset="-122"/>
            </a:endParaRPr>
          </a:p>
          <a:p>
            <a:r>
              <a:rPr lang="en-US" altLang="zh-CN" sz="2400" dirty="0">
                <a:ea typeface="幼圆" panose="02010509060101010101" pitchFamily="49" charset="-122"/>
              </a:rPr>
              <a:t>(3 ) </a:t>
            </a:r>
            <a:r>
              <a:rPr lang="zh-CN" altLang="en-US" sz="2400" dirty="0">
                <a:ea typeface="幼圆" panose="02010509060101010101" pitchFamily="49" charset="-122"/>
              </a:rPr>
              <a:t>根据簇中对象的平均值</a:t>
            </a:r>
            <a:r>
              <a:rPr lang="en-US" altLang="zh-CN" sz="2400" dirty="0">
                <a:ea typeface="幼圆" panose="02010509060101010101" pitchFamily="49" charset="-122"/>
              </a:rPr>
              <a:t>, </a:t>
            </a:r>
            <a:r>
              <a:rPr lang="zh-CN" altLang="en-US" sz="2400" dirty="0">
                <a:ea typeface="幼圆" panose="02010509060101010101" pitchFamily="49" charset="-122"/>
              </a:rPr>
              <a:t>将每个对象</a:t>
            </a:r>
            <a:r>
              <a:rPr lang="en-US" altLang="zh-CN" sz="2400" dirty="0">
                <a:ea typeface="幼圆" panose="02010509060101010101" pitchFamily="49" charset="-122"/>
              </a:rPr>
              <a:t>(</a:t>
            </a:r>
            <a:r>
              <a:rPr lang="zh-CN" altLang="en-US" sz="2400" dirty="0">
                <a:ea typeface="幼圆" panose="02010509060101010101" pitchFamily="49" charset="-122"/>
              </a:rPr>
              <a:t>重新</a:t>
            </a:r>
            <a:r>
              <a:rPr lang="en-US" altLang="zh-CN" sz="2400" dirty="0">
                <a:ea typeface="幼圆" panose="02010509060101010101" pitchFamily="49" charset="-122"/>
              </a:rPr>
              <a:t>) </a:t>
            </a:r>
            <a:r>
              <a:rPr lang="zh-CN" altLang="en-US" sz="2400" dirty="0">
                <a:ea typeface="幼圆" panose="02010509060101010101" pitchFamily="49" charset="-122"/>
              </a:rPr>
              <a:t>赋给最</a:t>
            </a:r>
            <a:endParaRPr lang="zh-CN" altLang="en-US" sz="2400" dirty="0">
              <a:ea typeface="幼圆" panose="02010509060101010101" pitchFamily="49" charset="-122"/>
            </a:endParaRPr>
          </a:p>
          <a:p>
            <a:r>
              <a:rPr lang="zh-CN" altLang="en-US" sz="2400" dirty="0">
                <a:ea typeface="幼圆" panose="02010509060101010101" pitchFamily="49" charset="-122"/>
              </a:rPr>
              <a:t>类似的簇</a:t>
            </a:r>
            <a:r>
              <a:rPr lang="en-US" altLang="zh-CN" sz="2400" dirty="0">
                <a:ea typeface="幼圆" panose="02010509060101010101" pitchFamily="49" charset="-122"/>
              </a:rPr>
              <a:t>:</a:t>
            </a:r>
            <a:endParaRPr lang="en-US" altLang="zh-CN" sz="2400" dirty="0">
              <a:ea typeface="幼圆" panose="02010509060101010101" pitchFamily="49" charset="-122"/>
            </a:endParaRPr>
          </a:p>
          <a:p>
            <a:r>
              <a:rPr lang="en-US" altLang="zh-CN" sz="2400" dirty="0">
                <a:ea typeface="幼圆" panose="02010509060101010101" pitchFamily="49" charset="-122"/>
              </a:rPr>
              <a:t>(4 ) </a:t>
            </a:r>
            <a:r>
              <a:rPr lang="zh-CN" altLang="en-US" sz="2400" dirty="0">
                <a:ea typeface="幼圆" panose="02010509060101010101" pitchFamily="49" charset="-122"/>
              </a:rPr>
              <a:t>更新簇的平均值</a:t>
            </a:r>
            <a:r>
              <a:rPr lang="en-US" altLang="zh-CN" sz="2400" dirty="0">
                <a:ea typeface="幼圆" panose="02010509060101010101" pitchFamily="49" charset="-122"/>
              </a:rPr>
              <a:t>, </a:t>
            </a:r>
            <a:r>
              <a:rPr lang="zh-CN" altLang="en-US" sz="2400" dirty="0">
                <a:ea typeface="幼圆" panose="02010509060101010101" pitchFamily="49" charset="-122"/>
              </a:rPr>
              <a:t>即计算每个簇中对象的平均值</a:t>
            </a:r>
            <a:r>
              <a:rPr lang="en-US" altLang="zh-CN" sz="2400" dirty="0">
                <a:ea typeface="幼圆" panose="02010509060101010101" pitchFamily="49" charset="-122"/>
              </a:rPr>
              <a:t>;</a:t>
            </a:r>
            <a:endParaRPr lang="en-US" altLang="zh-CN" sz="2400" dirty="0">
              <a:ea typeface="幼圆" panose="02010509060101010101" pitchFamily="49" charset="-122"/>
            </a:endParaRPr>
          </a:p>
          <a:p>
            <a:r>
              <a:rPr lang="en-US" altLang="zh-CN" sz="2400" dirty="0">
                <a:ea typeface="幼圆" panose="02010509060101010101" pitchFamily="49" charset="-122"/>
              </a:rPr>
              <a:t>(5) u n t </a:t>
            </a:r>
            <a:r>
              <a:rPr lang="en-US" altLang="zh-CN" sz="2400" dirty="0" err="1">
                <a:ea typeface="幼圆" panose="02010509060101010101" pitchFamily="49" charset="-122"/>
              </a:rPr>
              <a:t>i</a:t>
            </a:r>
            <a:r>
              <a:rPr lang="en-US" altLang="zh-CN" sz="2400" dirty="0">
                <a:ea typeface="幼圆" panose="02010509060101010101" pitchFamily="49" charset="-122"/>
              </a:rPr>
              <a:t> l </a:t>
            </a:r>
            <a:r>
              <a:rPr lang="zh-CN" altLang="en-US" sz="2400" dirty="0">
                <a:ea typeface="幼圆" panose="02010509060101010101" pitchFamily="49" charset="-122"/>
              </a:rPr>
              <a:t>不再发生变化。</a:t>
            </a:r>
            <a:endParaRPr lang="zh-CN" altLang="en-US" sz="2400" dirty="0">
              <a:ea typeface="幼圆" panose="02010509060101010101" pitchFamily="49" charset="-122"/>
            </a:endParaRPr>
          </a:p>
        </p:txBody>
      </p:sp>
      <p:sp>
        <p:nvSpPr>
          <p:cNvPr id="51206" name="Rectangle 6"/>
          <p:cNvSpPr>
            <a:spLocks noChangeArrowheads="1"/>
          </p:cNvSpPr>
          <p:nvPr/>
        </p:nvSpPr>
        <p:spPr bwMode="auto">
          <a:xfrm>
            <a:off x="457200" y="762000"/>
            <a:ext cx="815340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rgbClr val="C00000"/>
                </a:solidFill>
                <a:latin typeface="微软雅黑" panose="020B0503020204020204" charset="-122"/>
                <a:ea typeface="微软雅黑" panose="020B0503020204020204" charset="-122"/>
                <a:cs typeface="微软雅黑" panose="020B0503020204020204" charset="-122"/>
              </a:rPr>
              <a:t>K-means</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算法</a:t>
            </a:r>
            <a:r>
              <a:rPr lang="en-US" altLang="zh-CN" sz="2400" b="1" dirty="0">
                <a:solidFill>
                  <a:srgbClr val="C00000"/>
                </a:solidFill>
                <a:latin typeface="微软雅黑" panose="020B0503020204020204" charset="-122"/>
                <a:ea typeface="微软雅黑" panose="020B0503020204020204" charset="-122"/>
                <a:cs typeface="微软雅黑" panose="020B0503020204020204" charset="-122"/>
              </a:rPr>
              <a:t>2</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个核心问题：</a:t>
            </a:r>
            <a:endParaRPr lang="zh-CN" altLang="en-US" sz="2400" b="1" dirty="0">
              <a:solidFill>
                <a:srgbClr val="C00000"/>
              </a:solidFill>
              <a:latin typeface="微软雅黑" panose="020B0503020204020204" charset="-122"/>
              <a:ea typeface="微软雅黑" panose="020B0503020204020204" charset="-122"/>
              <a:cs typeface="微软雅黑" panose="020B0503020204020204" charset="-122"/>
            </a:endParaRPr>
          </a:p>
          <a:p>
            <a:r>
              <a:rPr lang="en-US" altLang="zh-CN" sz="2400" dirty="0">
                <a:ea typeface="幼圆" panose="02010509060101010101" pitchFamily="49" charset="-122"/>
              </a:rPr>
              <a:t>1.</a:t>
            </a:r>
            <a:r>
              <a:rPr lang="zh-CN" altLang="en-US" sz="2400" dirty="0">
                <a:ea typeface="幼圆" panose="02010509060101010101" pitchFamily="49" charset="-122"/>
              </a:rPr>
              <a:t>度量记录之间的相关性的计算公式，此处采用欧式距离。</a:t>
            </a:r>
            <a:endParaRPr lang="zh-CN" altLang="en-US" sz="2400" dirty="0">
              <a:ea typeface="幼圆" panose="02010509060101010101" pitchFamily="49" charset="-122"/>
            </a:endParaRPr>
          </a:p>
          <a:p>
            <a:r>
              <a:rPr lang="en-US" altLang="zh-CN" sz="2400" dirty="0">
                <a:ea typeface="幼圆" panose="02010509060101010101" pitchFamily="49" charset="-122"/>
              </a:rPr>
              <a:t>2.</a:t>
            </a:r>
            <a:r>
              <a:rPr lang="zh-CN" altLang="en-US" sz="2400" dirty="0">
                <a:ea typeface="幼圆" panose="02010509060101010101" pitchFamily="49" charset="-122"/>
              </a:rPr>
              <a:t>更新簇内质心的方法，此处采用平均值法，即</a:t>
            </a:r>
            <a:r>
              <a:rPr lang="en-US" altLang="zh-CN" sz="2400" dirty="0">
                <a:ea typeface="幼圆" panose="02010509060101010101" pitchFamily="49" charset="-122"/>
              </a:rPr>
              <a:t>means</a:t>
            </a:r>
            <a:r>
              <a:rPr lang="zh-CN" altLang="en-US" sz="2400" b="1" dirty="0">
                <a:ea typeface="幼圆" panose="02010509060101010101" pitchFamily="49" charset="-122"/>
              </a:rPr>
              <a:t>。</a:t>
            </a:r>
            <a:endParaRPr lang="zh-CN" altLang="en-US" sz="2400" b="1" dirty="0">
              <a:ea typeface="幼圆" panose="02010509060101010101"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381000" y="1143000"/>
            <a:ext cx="8382000" cy="411353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914400" indent="-457200">
              <a:defRPr>
                <a:solidFill>
                  <a:schemeClr val="tx1"/>
                </a:solidFill>
                <a:latin typeface="Arial" panose="020B0604020202020204" pitchFamily="34" charset="0"/>
                <a:ea typeface="宋体" panose="02010600030101010101" pitchFamily="2" charset="-122"/>
              </a:defRPr>
            </a:lvl2pPr>
            <a:lvl3pPr marL="1371600" indent="-457200">
              <a:defRPr>
                <a:solidFill>
                  <a:schemeClr val="tx1"/>
                </a:solidFill>
                <a:latin typeface="Arial" panose="020B0604020202020204" pitchFamily="34" charset="0"/>
                <a:ea typeface="宋体" panose="02010600030101010101" pitchFamily="2" charset="-122"/>
              </a:defRPr>
            </a:lvl3pPr>
            <a:lvl4pPr marL="1828800" indent="-457200">
              <a:defRPr>
                <a:solidFill>
                  <a:schemeClr val="tx1"/>
                </a:solidFill>
                <a:latin typeface="Arial" panose="020B0604020202020204" pitchFamily="34" charset="0"/>
                <a:ea typeface="宋体" panose="02010600030101010101" pitchFamily="2" charset="-122"/>
              </a:defRPr>
            </a:lvl4pPr>
            <a:lvl5pPr marL="2286000" indent="-457200">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05000"/>
              </a:lnSpc>
              <a:spcBef>
                <a:spcPct val="15000"/>
              </a:spcBef>
              <a:buSzPct val="80000"/>
            </a:pP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算法  </a:t>
            </a:r>
            <a:r>
              <a:rPr lang="en-US" altLang="zh-CN" sz="2400" b="1" i="1" dirty="0">
                <a:solidFill>
                  <a:srgbClr val="C00000"/>
                </a:solidFill>
                <a:latin typeface="微软雅黑" panose="020B0503020204020204" charset="-122"/>
                <a:ea typeface="微软雅黑" panose="020B0503020204020204" charset="-122"/>
                <a:cs typeface="微软雅黑" panose="020B0503020204020204" charset="-122"/>
              </a:rPr>
              <a:t>k</a:t>
            </a:r>
            <a:r>
              <a:rPr lang="en-US" altLang="zh-CN" sz="2400" b="1" dirty="0">
                <a:solidFill>
                  <a:srgbClr val="C00000"/>
                </a:solidFill>
                <a:latin typeface="微软雅黑" panose="020B0503020204020204" charset="-122"/>
                <a:ea typeface="微软雅黑" panose="020B0503020204020204" charset="-122"/>
                <a:cs typeface="微软雅黑" panose="020B0503020204020204" charset="-122"/>
              </a:rPr>
              <a:t>-means</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算法</a:t>
            </a:r>
            <a:endParaRPr lang="zh-CN" altLang="en-US" sz="2000" b="1" dirty="0">
              <a:latin typeface="Times New Roman" panose="02020603050405020304" pitchFamily="18" charset="0"/>
              <a:ea typeface="幼圆" panose="02010509060101010101" pitchFamily="49" charset="-122"/>
            </a:endParaRPr>
          </a:p>
          <a:p>
            <a:pPr>
              <a:lnSpc>
                <a:spcPct val="105000"/>
              </a:lnSpc>
              <a:spcBef>
                <a:spcPct val="15000"/>
              </a:spcBef>
              <a:buSzPct val="80000"/>
            </a:pPr>
            <a:r>
              <a:rPr lang="zh-CN" altLang="en-US" sz="2000" dirty="0">
                <a:latin typeface="Times New Roman" panose="02020603050405020304" pitchFamily="18" charset="0"/>
                <a:ea typeface="幼圆" panose="02010509060101010101" pitchFamily="49" charset="-122"/>
              </a:rPr>
              <a:t>输入：簇的数目</a:t>
            </a:r>
            <a:r>
              <a:rPr lang="en-US" altLang="zh-CN" sz="2000" i="1" dirty="0">
                <a:latin typeface="Times New Roman" panose="02020603050405020304" pitchFamily="18" charset="0"/>
                <a:ea typeface="幼圆" panose="02010509060101010101" pitchFamily="49" charset="-122"/>
              </a:rPr>
              <a:t>k</a:t>
            </a:r>
            <a:r>
              <a:rPr lang="zh-CN" altLang="en-US" sz="2000" dirty="0">
                <a:latin typeface="Times New Roman" panose="02020603050405020304" pitchFamily="18" charset="0"/>
                <a:ea typeface="幼圆" panose="02010509060101010101" pitchFamily="49" charset="-122"/>
              </a:rPr>
              <a:t>和包含</a:t>
            </a:r>
            <a:r>
              <a:rPr lang="en-US" altLang="zh-CN" sz="2000" i="1" dirty="0">
                <a:latin typeface="Times New Roman" panose="02020603050405020304" pitchFamily="18" charset="0"/>
                <a:ea typeface="幼圆" panose="02010509060101010101" pitchFamily="49" charset="-122"/>
              </a:rPr>
              <a:t>n</a:t>
            </a:r>
            <a:r>
              <a:rPr lang="zh-CN" altLang="en-US" sz="2000" dirty="0">
                <a:latin typeface="Times New Roman" panose="02020603050405020304" pitchFamily="18" charset="0"/>
                <a:ea typeface="幼圆" panose="02010509060101010101" pitchFamily="49" charset="-122"/>
              </a:rPr>
              <a:t>个对象的数据库。</a:t>
            </a:r>
            <a:endParaRPr lang="zh-CN" altLang="en-US" sz="2000" dirty="0">
              <a:latin typeface="Times New Roman" panose="02020603050405020304" pitchFamily="18" charset="0"/>
              <a:ea typeface="幼圆" panose="02010509060101010101" pitchFamily="49" charset="-122"/>
            </a:endParaRPr>
          </a:p>
          <a:p>
            <a:pPr>
              <a:lnSpc>
                <a:spcPct val="105000"/>
              </a:lnSpc>
              <a:spcBef>
                <a:spcPct val="15000"/>
              </a:spcBef>
              <a:buSzPct val="80000"/>
            </a:pPr>
            <a:r>
              <a:rPr lang="zh-CN" altLang="en-US" sz="2000" dirty="0">
                <a:latin typeface="Times New Roman" panose="02020603050405020304" pitchFamily="18" charset="0"/>
                <a:ea typeface="幼圆" panose="02010509060101010101" pitchFamily="49" charset="-122"/>
              </a:rPr>
              <a:t>输出：</a:t>
            </a:r>
            <a:r>
              <a:rPr lang="en-US" altLang="zh-CN" sz="2000" i="1" dirty="0">
                <a:latin typeface="Times New Roman" panose="02020603050405020304" pitchFamily="18" charset="0"/>
                <a:ea typeface="幼圆" panose="02010509060101010101" pitchFamily="49" charset="-122"/>
              </a:rPr>
              <a:t>k</a:t>
            </a:r>
            <a:r>
              <a:rPr lang="zh-CN" altLang="en-US" sz="2000" dirty="0">
                <a:latin typeface="Times New Roman" panose="02020603050405020304" pitchFamily="18" charset="0"/>
                <a:ea typeface="幼圆" panose="02010509060101010101" pitchFamily="49" charset="-122"/>
              </a:rPr>
              <a:t>个簇，使平方误差准则最小。</a:t>
            </a:r>
            <a:endParaRPr lang="zh-CN" altLang="en-US" sz="2000" dirty="0">
              <a:latin typeface="Times New Roman" panose="02020603050405020304" pitchFamily="18" charset="0"/>
              <a:ea typeface="幼圆" panose="02010509060101010101" pitchFamily="49" charset="-122"/>
            </a:endParaRPr>
          </a:p>
          <a:p>
            <a:pPr>
              <a:lnSpc>
                <a:spcPct val="105000"/>
              </a:lnSpc>
              <a:spcBef>
                <a:spcPct val="15000"/>
              </a:spcBef>
              <a:spcAft>
                <a:spcPct val="20000"/>
              </a:spcAft>
              <a:buSzPct val="80000"/>
            </a:pPr>
            <a:r>
              <a:rPr lang="zh-CN" altLang="en-US" sz="2000" dirty="0">
                <a:latin typeface="Times New Roman" panose="02020603050405020304" pitchFamily="18" charset="0"/>
                <a:ea typeface="幼圆" panose="02010509060101010101" pitchFamily="49" charset="-122"/>
              </a:rPr>
              <a:t>（</a:t>
            </a:r>
            <a:r>
              <a:rPr lang="en-US" altLang="zh-CN" sz="2000" dirty="0">
                <a:latin typeface="Times New Roman" panose="02020603050405020304" pitchFamily="18" charset="0"/>
                <a:ea typeface="幼圆" panose="02010509060101010101" pitchFamily="49" charset="-122"/>
              </a:rPr>
              <a:t>1)assign initial value for means; /*</a:t>
            </a:r>
            <a:r>
              <a:rPr lang="zh-CN" altLang="en-US" sz="2000" dirty="0">
                <a:latin typeface="Times New Roman" panose="02020603050405020304" pitchFamily="18" charset="0"/>
                <a:ea typeface="幼圆" panose="02010509060101010101" pitchFamily="49" charset="-122"/>
              </a:rPr>
              <a:t>任意分配到</a:t>
            </a:r>
            <a:r>
              <a:rPr lang="en-US" altLang="zh-CN" sz="2000" i="1" dirty="0">
                <a:latin typeface="Times New Roman" panose="02020603050405020304" pitchFamily="18" charset="0"/>
                <a:ea typeface="幼圆" panose="02010509060101010101" pitchFamily="49" charset="-122"/>
              </a:rPr>
              <a:t>k</a:t>
            </a:r>
            <a:r>
              <a:rPr lang="zh-CN" altLang="en-US" sz="2000" dirty="0">
                <a:latin typeface="Times New Roman" panose="02020603050405020304" pitchFamily="18" charset="0"/>
                <a:ea typeface="幼圆" panose="02010509060101010101" pitchFamily="49" charset="-122"/>
              </a:rPr>
              <a:t>个对象作为簇的平均值*</a:t>
            </a:r>
            <a:r>
              <a:rPr lang="en-US" altLang="zh-CN" sz="2000" dirty="0">
                <a:latin typeface="Times New Roman" panose="02020603050405020304" pitchFamily="18" charset="0"/>
                <a:ea typeface="幼圆" panose="02010509060101010101" pitchFamily="49" charset="-122"/>
              </a:rPr>
              <a:t>/</a:t>
            </a:r>
            <a:endParaRPr lang="en-US" altLang="zh-CN" sz="2000" dirty="0">
              <a:latin typeface="Times New Roman" panose="02020603050405020304" pitchFamily="18" charset="0"/>
              <a:ea typeface="幼圆" panose="02010509060101010101" pitchFamily="49" charset="-122"/>
            </a:endParaRPr>
          </a:p>
          <a:p>
            <a:pPr>
              <a:lnSpc>
                <a:spcPct val="105000"/>
              </a:lnSpc>
              <a:spcBef>
                <a:spcPct val="15000"/>
              </a:spcBef>
              <a:buSzPct val="80000"/>
            </a:pPr>
            <a:r>
              <a:rPr lang="en-US" altLang="zh-CN" sz="2000" dirty="0">
                <a:latin typeface="Times New Roman" panose="02020603050405020304" pitchFamily="18" charset="0"/>
                <a:ea typeface="幼圆" panose="02010509060101010101" pitchFamily="49" charset="-122"/>
              </a:rPr>
              <a:t> (2) REPEAT</a:t>
            </a:r>
            <a:endParaRPr lang="en-US" altLang="zh-CN" sz="2000" dirty="0">
              <a:latin typeface="Times New Roman" panose="02020603050405020304" pitchFamily="18" charset="0"/>
              <a:ea typeface="幼圆" panose="02010509060101010101" pitchFamily="49" charset="-122"/>
            </a:endParaRPr>
          </a:p>
          <a:p>
            <a:pPr>
              <a:lnSpc>
                <a:spcPct val="105000"/>
              </a:lnSpc>
              <a:spcBef>
                <a:spcPct val="15000"/>
              </a:spcBef>
              <a:buSzPct val="80000"/>
            </a:pPr>
            <a:r>
              <a:rPr lang="en-US" altLang="zh-CN" sz="2000" dirty="0">
                <a:latin typeface="Times New Roman" panose="02020603050405020304" pitchFamily="18" charset="0"/>
                <a:ea typeface="幼圆" panose="02010509060101010101" pitchFamily="49" charset="-122"/>
              </a:rPr>
              <a:t> (3)    FOR </a:t>
            </a:r>
            <a:r>
              <a:rPr lang="en-US" altLang="zh-CN" sz="2000" i="1" dirty="0">
                <a:latin typeface="Times New Roman" panose="02020603050405020304" pitchFamily="18" charset="0"/>
                <a:ea typeface="幼圆" panose="02010509060101010101" pitchFamily="49" charset="-122"/>
              </a:rPr>
              <a:t>j</a:t>
            </a:r>
            <a:r>
              <a:rPr lang="en-US" altLang="zh-CN" sz="2000" dirty="0">
                <a:latin typeface="Times New Roman" panose="02020603050405020304" pitchFamily="18" charset="0"/>
                <a:ea typeface="幼圆" panose="02010509060101010101" pitchFamily="49" charset="-122"/>
              </a:rPr>
              <a:t>=1 to </a:t>
            </a:r>
            <a:r>
              <a:rPr lang="en-US" altLang="zh-CN" sz="2000" i="1" dirty="0">
                <a:latin typeface="Times New Roman" panose="02020603050405020304" pitchFamily="18" charset="0"/>
                <a:ea typeface="幼圆" panose="02010509060101010101" pitchFamily="49" charset="-122"/>
              </a:rPr>
              <a:t>n </a:t>
            </a:r>
            <a:r>
              <a:rPr lang="en-US" altLang="zh-CN" sz="2000" dirty="0">
                <a:latin typeface="Times New Roman" panose="02020603050405020304" pitchFamily="18" charset="0"/>
                <a:ea typeface="幼圆" panose="02010509060101010101" pitchFamily="49" charset="-122"/>
              </a:rPr>
              <a:t>DO assign each  </a:t>
            </a:r>
            <a:r>
              <a:rPr lang="en-US" altLang="zh-CN" sz="2000" i="1" dirty="0" err="1">
                <a:latin typeface="Times New Roman" panose="02020603050405020304" pitchFamily="18" charset="0"/>
                <a:ea typeface="幼圆" panose="02010509060101010101" pitchFamily="49" charset="-122"/>
              </a:rPr>
              <a:t>xj</a:t>
            </a:r>
            <a:r>
              <a:rPr lang="en-US" altLang="zh-CN" sz="2000" i="1" dirty="0">
                <a:latin typeface="Times New Roman" panose="02020603050405020304" pitchFamily="18" charset="0"/>
                <a:ea typeface="幼圆" panose="02010509060101010101" pitchFamily="49" charset="-122"/>
              </a:rPr>
              <a:t> </a:t>
            </a:r>
            <a:r>
              <a:rPr lang="en-US" altLang="zh-CN" sz="2000" dirty="0">
                <a:latin typeface="Times New Roman" panose="02020603050405020304" pitchFamily="18" charset="0"/>
                <a:ea typeface="幼圆" panose="02010509060101010101" pitchFamily="49" charset="-122"/>
              </a:rPr>
              <a:t>  to the closest clusters;</a:t>
            </a:r>
            <a:endParaRPr lang="en-US" altLang="zh-CN" sz="2000" dirty="0">
              <a:latin typeface="Times New Roman" panose="02020603050405020304" pitchFamily="18" charset="0"/>
              <a:ea typeface="幼圆" panose="02010509060101010101" pitchFamily="49" charset="-122"/>
            </a:endParaRPr>
          </a:p>
          <a:p>
            <a:pPr>
              <a:lnSpc>
                <a:spcPct val="140000"/>
              </a:lnSpc>
              <a:spcBef>
                <a:spcPct val="40000"/>
              </a:spcBef>
              <a:buSzPct val="80000"/>
            </a:pPr>
            <a:r>
              <a:rPr lang="en-US" altLang="zh-CN" sz="2000" dirty="0">
                <a:latin typeface="Times New Roman" panose="02020603050405020304" pitchFamily="18" charset="0"/>
                <a:ea typeface="幼圆" panose="02010509060101010101" pitchFamily="49" charset="-122"/>
              </a:rPr>
              <a:t> (4)    FOR </a:t>
            </a:r>
            <a:r>
              <a:rPr lang="en-US" altLang="zh-CN" sz="2000" i="1" dirty="0" err="1">
                <a:latin typeface="Times New Roman" panose="02020603050405020304" pitchFamily="18" charset="0"/>
                <a:ea typeface="幼圆" panose="02010509060101010101" pitchFamily="49" charset="-122"/>
              </a:rPr>
              <a:t>i</a:t>
            </a:r>
            <a:r>
              <a:rPr lang="en-US" altLang="zh-CN" sz="2000" dirty="0">
                <a:latin typeface="Times New Roman" panose="02020603050405020304" pitchFamily="18" charset="0"/>
                <a:ea typeface="幼圆" panose="02010509060101010101" pitchFamily="49" charset="-122"/>
              </a:rPr>
              <a:t>=1 to </a:t>
            </a:r>
            <a:r>
              <a:rPr lang="en-US" altLang="zh-CN" sz="2000" i="1" dirty="0">
                <a:latin typeface="Times New Roman" panose="02020603050405020304" pitchFamily="18" charset="0"/>
                <a:ea typeface="幼圆" panose="02010509060101010101" pitchFamily="49" charset="-122"/>
              </a:rPr>
              <a:t>k</a:t>
            </a:r>
            <a:r>
              <a:rPr lang="en-US" altLang="zh-CN" sz="2000" dirty="0">
                <a:latin typeface="Times New Roman" panose="02020603050405020304" pitchFamily="18" charset="0"/>
                <a:ea typeface="幼圆" panose="02010509060101010101" pitchFamily="49" charset="-122"/>
              </a:rPr>
              <a:t> DO                          		/ *</a:t>
            </a:r>
            <a:r>
              <a:rPr lang="zh-CN" altLang="en-US" sz="2000" dirty="0">
                <a:latin typeface="Times New Roman" panose="02020603050405020304" pitchFamily="18" charset="0"/>
                <a:ea typeface="幼圆" panose="02010509060101010101" pitchFamily="49" charset="-122"/>
              </a:rPr>
              <a:t>更新簇平均值*</a:t>
            </a:r>
            <a:r>
              <a:rPr lang="en-US" altLang="zh-CN" sz="2000" dirty="0">
                <a:latin typeface="Times New Roman" panose="02020603050405020304" pitchFamily="18" charset="0"/>
                <a:ea typeface="幼圆" panose="02010509060101010101" pitchFamily="49" charset="-122"/>
              </a:rPr>
              <a:t>/</a:t>
            </a:r>
            <a:endParaRPr lang="en-US" altLang="zh-CN" sz="2000" dirty="0">
              <a:latin typeface="Times New Roman" panose="02020603050405020304" pitchFamily="18" charset="0"/>
              <a:ea typeface="幼圆" panose="02010509060101010101" pitchFamily="49" charset="-122"/>
            </a:endParaRPr>
          </a:p>
          <a:p>
            <a:pPr>
              <a:lnSpc>
                <a:spcPct val="140000"/>
              </a:lnSpc>
              <a:spcBef>
                <a:spcPct val="65000"/>
              </a:spcBef>
              <a:buSzPct val="80000"/>
            </a:pPr>
            <a:r>
              <a:rPr lang="en-US" altLang="zh-CN" sz="2000" dirty="0">
                <a:latin typeface="Times New Roman" panose="02020603050405020304" pitchFamily="18" charset="0"/>
                <a:ea typeface="幼圆" panose="02010509060101010101" pitchFamily="49" charset="-122"/>
              </a:rPr>
              <a:t> (5)   Compute                                          		 /*</a:t>
            </a:r>
            <a:r>
              <a:rPr lang="zh-CN" altLang="en-US" sz="2000" dirty="0">
                <a:latin typeface="Times New Roman" panose="02020603050405020304" pitchFamily="18" charset="0"/>
                <a:ea typeface="幼圆" panose="02010509060101010101" pitchFamily="49" charset="-122"/>
              </a:rPr>
              <a:t>计算准则函数</a:t>
            </a:r>
            <a:r>
              <a:rPr lang="en-US" altLang="zh-CN" sz="2000" i="1" dirty="0">
                <a:latin typeface="Times New Roman" panose="02020603050405020304" pitchFamily="18" charset="0"/>
                <a:ea typeface="幼圆" panose="02010509060101010101" pitchFamily="49" charset="-122"/>
              </a:rPr>
              <a:t>E</a:t>
            </a:r>
            <a:r>
              <a:rPr lang="en-US" altLang="zh-CN" sz="2000" dirty="0">
                <a:latin typeface="Times New Roman" panose="02020603050405020304" pitchFamily="18" charset="0"/>
                <a:ea typeface="幼圆" panose="02010509060101010101" pitchFamily="49" charset="-122"/>
              </a:rPr>
              <a:t>*/</a:t>
            </a:r>
            <a:endParaRPr lang="en-US" altLang="zh-CN" sz="2000" dirty="0">
              <a:latin typeface="Times New Roman" panose="02020603050405020304" pitchFamily="18" charset="0"/>
              <a:ea typeface="幼圆" panose="02010509060101010101" pitchFamily="49" charset="-122"/>
            </a:endParaRPr>
          </a:p>
          <a:p>
            <a:pPr>
              <a:lnSpc>
                <a:spcPct val="125000"/>
              </a:lnSpc>
              <a:spcBef>
                <a:spcPct val="50000"/>
              </a:spcBef>
              <a:buSzPct val="80000"/>
            </a:pPr>
            <a:r>
              <a:rPr lang="en-US" altLang="zh-CN" sz="2000" dirty="0">
                <a:latin typeface="Times New Roman" panose="02020603050405020304" pitchFamily="18" charset="0"/>
                <a:ea typeface="幼圆" panose="02010509060101010101" pitchFamily="49" charset="-122"/>
              </a:rPr>
              <a:t> (6) UNTIL  </a:t>
            </a:r>
            <a:r>
              <a:rPr lang="en-US" altLang="zh-CN" sz="2000" i="1" dirty="0">
                <a:latin typeface="Times New Roman" panose="02020603050405020304" pitchFamily="18" charset="0"/>
                <a:ea typeface="幼圆" panose="02010509060101010101" pitchFamily="49" charset="-122"/>
              </a:rPr>
              <a:t>E</a:t>
            </a:r>
            <a:r>
              <a:rPr lang="zh-CN" altLang="en-US" sz="2000" dirty="0">
                <a:latin typeface="Times New Roman" panose="02020603050405020304" pitchFamily="18" charset="0"/>
                <a:ea typeface="幼圆" panose="02010509060101010101" pitchFamily="49" charset="-122"/>
              </a:rPr>
              <a:t>不再明显地发生变化。</a:t>
            </a:r>
            <a:endParaRPr lang="zh-CN" altLang="en-US" sz="2000" dirty="0">
              <a:latin typeface="Times New Roman" panose="02020603050405020304" pitchFamily="18" charset="0"/>
              <a:ea typeface="幼圆" panose="02010509060101010101" pitchFamily="49" charset="-122"/>
            </a:endParaRPr>
          </a:p>
        </p:txBody>
      </p:sp>
      <p:graphicFrame>
        <p:nvGraphicFramePr>
          <p:cNvPr id="6147" name="Object 3"/>
          <p:cNvGraphicFramePr>
            <a:graphicFrameLocks noChangeAspect="1"/>
          </p:cNvGraphicFramePr>
          <p:nvPr>
            <p:ph sz="half" idx="4294967295"/>
          </p:nvPr>
        </p:nvGraphicFramePr>
        <p:xfrm>
          <a:off x="2514600" y="3962400"/>
          <a:ext cx="2709863" cy="665163"/>
        </p:xfrm>
        <a:graphic>
          <a:graphicData uri="http://schemas.openxmlformats.org/presentationml/2006/ole">
            <mc:AlternateContent xmlns:mc="http://schemas.openxmlformats.org/markup-compatibility/2006">
              <mc:Choice xmlns:v="urn:schemas-microsoft-com:vml" Requires="v">
                <p:oleObj spid="_x0000_s4104" name="公式" r:id="rId1" imgW="1445260" imgH="353695" progId="Equation.3">
                  <p:embed/>
                </p:oleObj>
              </mc:Choice>
              <mc:Fallback>
                <p:oleObj name="公式" r:id="rId1" imgW="1445260" imgH="353695"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962400"/>
                        <a:ext cx="2709863" cy="6651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8" name="Object 4"/>
          <p:cNvGraphicFramePr>
            <a:graphicFrameLocks noChangeAspect="1"/>
          </p:cNvGraphicFramePr>
          <p:nvPr>
            <p:ph sz="half" idx="4294967295"/>
          </p:nvPr>
        </p:nvGraphicFramePr>
        <p:xfrm>
          <a:off x="3429000" y="3352800"/>
          <a:ext cx="2317750" cy="831850"/>
        </p:xfrm>
        <a:graphic>
          <a:graphicData uri="http://schemas.openxmlformats.org/presentationml/2006/ole">
            <mc:AlternateContent xmlns:mc="http://schemas.openxmlformats.org/markup-compatibility/2006">
              <mc:Choice xmlns:v="urn:schemas-microsoft-com:vml" Requires="v">
                <p:oleObj spid="_x0000_s4105" name="公式" r:id="rId3" imgW="1032510" imgH="462280" progId="Equation.3">
                  <p:embed/>
                </p:oleObj>
              </mc:Choice>
              <mc:Fallback>
                <p:oleObj name="公式" r:id="rId3" imgW="1032510" imgH="4622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3352800"/>
                        <a:ext cx="2317750" cy="831850"/>
                      </a:xfrm>
                      <a:prstGeom prst="rect">
                        <a:avLst/>
                      </a:prstGeom>
                      <a:noFill/>
                      <a:ln>
                        <a:noFill/>
                      </a:ln>
                      <a:effectLst/>
                      <a:extLst>
                        <a:ext uri="{909E8E84-426E-40DD-AFC4-6F175D3DCCD1}">
                          <a14:hiddenFill xmlns:a14="http://schemas.microsoft.com/office/drawing/2010/main">
                            <a:solidFill>
                              <a:srgbClr val="CCFFFF">
                                <a:alpha val="7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104" name="Group 192"/>
          <p:cNvGraphicFramePr>
            <a:graphicFrameLocks noGrp="1"/>
          </p:cNvGraphicFramePr>
          <p:nvPr>
            <p:ph/>
          </p:nvPr>
        </p:nvGraphicFramePr>
        <p:xfrm>
          <a:off x="381000" y="762000"/>
          <a:ext cx="2057400" cy="3414714"/>
        </p:xfrm>
        <a:graphic>
          <a:graphicData uri="http://schemas.openxmlformats.org/drawingml/2006/table">
            <a:tbl>
              <a:tblPr/>
              <a:tblGrid>
                <a:gridCol w="685800"/>
                <a:gridCol w="685800"/>
                <a:gridCol w="685800"/>
              </a:tblGrid>
              <a:tr h="596900">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O</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x</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y</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r>
              <a:tr h="596900">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1</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0</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2</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r>
              <a:tr h="598488">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2</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0</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0</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r>
              <a:tr h="596900">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3</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1.5</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0</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r>
              <a:tr h="506413">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4</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5</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0</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r>
              <a:tr h="519113">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5</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5</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lvl1pPr marL="342900" indent="-342900">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404"/>
                          </a:solidFill>
                          <a:effectLst/>
                          <a:latin typeface="Times New Roman" panose="02020603050405020304" pitchFamily="18" charset="0"/>
                          <a:ea typeface="幼圆" panose="02010509060101010101" pitchFamily="49" charset="-122"/>
                          <a:cs typeface="Times New Roman" panose="02020603050405020304" pitchFamily="18" charset="0"/>
                        </a:rPr>
                        <a:t>2</a:t>
                      </a:r>
                      <a:endParaRPr kumimoji="0" lang="en-US" altLang="zh-CN" sz="2000" b="0" i="0" u="none" strike="noStrike" cap="none" normalizeH="0" baseline="0" dirty="0">
                        <a:ln>
                          <a:noFill/>
                        </a:ln>
                        <a:solidFill>
                          <a:srgbClr val="000404"/>
                        </a:solidFill>
                        <a:effectLst/>
                        <a:latin typeface="Arial" panose="020B0604020202020204" pitchFamily="34" charset="0"/>
                        <a:ea typeface="幼圆" panose="020105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r>
            </a:tbl>
          </a:graphicData>
        </a:graphic>
      </p:graphicFrame>
      <p:sp>
        <p:nvSpPr>
          <p:cNvPr id="39074" name="Rectangle 162"/>
          <p:cNvSpPr>
            <a:spLocks noRot="1" noChangeArrowheads="1"/>
          </p:cNvSpPr>
          <p:nvPr/>
        </p:nvSpPr>
        <p:spPr bwMode="auto">
          <a:xfrm>
            <a:off x="2362200" y="457200"/>
            <a:ext cx="67818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990600" indent="-5334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371600" indent="-4572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752600" indent="-381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209800" indent="-381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80000"/>
              </a:lnSpc>
              <a:buFont typeface="Wingdings" panose="05000000000000000000" pitchFamily="2" charset="2"/>
              <a:buNone/>
            </a:pP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数据对象集合</a:t>
            </a:r>
            <a:r>
              <a:rPr lang="en-US" altLang="zh-CN" sz="2400" dirty="0">
                <a:latin typeface="Times New Roman" panose="02020603050405020304" pitchFamily="18" charset="0"/>
                <a:ea typeface="幼圆" panose="02010509060101010101" pitchFamily="49" charset="-122"/>
                <a:cs typeface="Times New Roman" panose="02020603050405020304" pitchFamily="18" charset="0"/>
              </a:rPr>
              <a:t>S</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见表</a:t>
            </a:r>
            <a:r>
              <a:rPr lang="en-US" altLang="zh-CN" sz="2400" dirty="0">
                <a:latin typeface="Times New Roman" panose="02020603050405020304" pitchFamily="18" charset="0"/>
                <a:ea typeface="幼圆" panose="02010509060101010101" pitchFamily="49" charset="-122"/>
                <a:cs typeface="Times New Roman" panose="02020603050405020304" pitchFamily="18" charset="0"/>
              </a:rPr>
              <a:t>1</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，作为一个聚类分析的二维样本，要求的簇的数量</a:t>
            </a:r>
            <a:r>
              <a:rPr lang="en-US" altLang="zh-CN" sz="2400" dirty="0">
                <a:latin typeface="Times New Roman" panose="02020603050405020304" pitchFamily="18" charset="0"/>
                <a:ea typeface="幼圆" panose="02010509060101010101" pitchFamily="49" charset="-122"/>
                <a:cs typeface="Times New Roman" panose="02020603050405020304" pitchFamily="18" charset="0"/>
              </a:rPr>
              <a:t>k=2</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a:t>
            </a:r>
            <a:endParaRPr lang="zh-CN" altLang="en-US" sz="24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80000"/>
              </a:lnSpc>
              <a:buFont typeface="Wingdings" panose="05000000000000000000" pitchFamily="2" charset="2"/>
              <a:buNone/>
            </a:pPr>
            <a:r>
              <a:rPr lang="en-US" altLang="zh-CN" sz="2400" dirty="0">
                <a:latin typeface="Times New Roman" panose="02020603050405020304" pitchFamily="18" charset="0"/>
                <a:ea typeface="幼圆" panose="02010509060101010101" pitchFamily="49" charset="-122"/>
                <a:cs typeface="Times New Roman" panose="02020603050405020304" pitchFamily="18" charset="0"/>
              </a:rPr>
              <a:t>(1)</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选择          ，         为初始的簇中心，即                     ，                    。</a:t>
            </a:r>
            <a:endParaRPr lang="zh-CN" altLang="en-US" sz="24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80000"/>
              </a:lnSpc>
              <a:buFont typeface="Wingdings" panose="05000000000000000000" pitchFamily="2" charset="2"/>
              <a:buNone/>
            </a:pPr>
            <a:r>
              <a:rPr lang="en-US" altLang="zh-CN" sz="2400" dirty="0">
                <a:latin typeface="Times New Roman" panose="02020603050405020304" pitchFamily="18" charset="0"/>
                <a:ea typeface="幼圆" panose="02010509060101010101" pitchFamily="49" charset="-122"/>
                <a:cs typeface="Times New Roman" panose="02020603050405020304" pitchFamily="18" charset="0"/>
              </a:rPr>
              <a:t>(2)</a:t>
            </a:r>
            <a:r>
              <a:rPr lang="zh-CN" altLang="en-US" sz="2400" dirty="0">
                <a:latin typeface="Times New Roman" panose="02020603050405020304" pitchFamily="18" charset="0"/>
                <a:ea typeface="幼圆" panose="02010509060101010101" pitchFamily="49" charset="-122"/>
                <a:cs typeface="Times New Roman" panose="02020603050405020304" pitchFamily="18" charset="0"/>
              </a:rPr>
              <a:t>对剩余的每个对象，根据其与各个簇中心的距离，将它赋给最近的簇。</a:t>
            </a:r>
            <a:endParaRPr lang="zh-CN" altLang="en-US" sz="24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80000"/>
              </a:lnSpc>
              <a:buFont typeface="Wingdings" panose="05000000000000000000" pitchFamily="2" charset="2"/>
              <a:buNone/>
            </a:pPr>
            <a:r>
              <a:rPr lang="zh-CN" altLang="en-US" sz="2400" b="1" dirty="0">
                <a:ea typeface="幼圆" panose="02010509060101010101" pitchFamily="49" charset="-122"/>
              </a:rPr>
              <a:t>     对      ：</a:t>
            </a:r>
            <a:endParaRPr lang="zh-CN" altLang="en-US" sz="2400" b="1" dirty="0">
              <a:ea typeface="幼圆" panose="02010509060101010101" pitchFamily="49" charset="-122"/>
            </a:endParaRPr>
          </a:p>
          <a:p>
            <a:pPr>
              <a:lnSpc>
                <a:spcPct val="80000"/>
              </a:lnSpc>
              <a:buFont typeface="Wingdings" panose="05000000000000000000" pitchFamily="2" charset="2"/>
              <a:buNone/>
            </a:pPr>
            <a:endParaRPr lang="zh-CN" altLang="en-US" sz="2400" b="1" dirty="0">
              <a:ea typeface="幼圆" panose="02010509060101010101" pitchFamily="49" charset="-122"/>
            </a:endParaRPr>
          </a:p>
          <a:p>
            <a:pPr>
              <a:lnSpc>
                <a:spcPct val="80000"/>
              </a:lnSpc>
              <a:buFont typeface="Wingdings" panose="05000000000000000000" pitchFamily="2" charset="2"/>
              <a:buNone/>
            </a:pPr>
            <a:r>
              <a:rPr lang="zh-CN" altLang="en-US" sz="2400" dirty="0">
                <a:solidFill>
                  <a:srgbClr val="000404"/>
                </a:solidFill>
                <a:ea typeface="幼圆" panose="02010509060101010101" pitchFamily="49" charset="-122"/>
              </a:rPr>
              <a:t>           </a:t>
            </a:r>
            <a:endParaRPr lang="zh-CN" altLang="en-US" sz="2400" dirty="0">
              <a:solidFill>
                <a:srgbClr val="000404"/>
              </a:solidFill>
              <a:ea typeface="幼圆" panose="02010509060101010101" pitchFamily="49" charset="-122"/>
            </a:endParaRPr>
          </a:p>
          <a:p>
            <a:pPr>
              <a:lnSpc>
                <a:spcPct val="80000"/>
              </a:lnSpc>
            </a:pPr>
            <a:endParaRPr lang="en-US" altLang="zh-CN" sz="2400" dirty="0">
              <a:solidFill>
                <a:srgbClr val="000404"/>
              </a:solidFill>
              <a:ea typeface="幼圆" panose="02010509060101010101" pitchFamily="49" charset="-122"/>
            </a:endParaRPr>
          </a:p>
        </p:txBody>
      </p:sp>
      <p:sp>
        <p:nvSpPr>
          <p:cNvPr id="39075" name="Text Box 163"/>
          <p:cNvSpPr txBox="1">
            <a:spLocks noChangeArrowheads="1"/>
          </p:cNvSpPr>
          <p:nvPr/>
        </p:nvSpPr>
        <p:spPr bwMode="auto">
          <a:xfrm>
            <a:off x="457200" y="4392613"/>
            <a:ext cx="8686800" cy="2861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dirty="0">
                <a:ea typeface="幼圆" panose="02010509060101010101" pitchFamily="49" charset="-122"/>
              </a:rPr>
              <a:t>显然</a:t>
            </a:r>
            <a:r>
              <a:rPr lang="en-US" altLang="zh-CN" sz="2400" dirty="0">
                <a:ea typeface="幼圆" panose="02010509060101010101" pitchFamily="49" charset="-122"/>
              </a:rPr>
              <a:t>       </a:t>
            </a:r>
            <a:r>
              <a:rPr lang="zh-CN" altLang="en-US" sz="2400" dirty="0">
                <a:ea typeface="幼圆" panose="02010509060101010101" pitchFamily="49" charset="-122"/>
              </a:rPr>
              <a:t>                               ，故将   分配给   ；同理，将    分配给    ，   </a:t>
            </a:r>
            <a:r>
              <a:rPr lang="en-US" altLang="zh-CN" sz="2400" dirty="0">
                <a:ea typeface="幼圆" panose="02010509060101010101" pitchFamily="49" charset="-122"/>
              </a:rPr>
              <a:t>       </a:t>
            </a:r>
            <a:endParaRPr lang="en-US" altLang="zh-CN" sz="2400" dirty="0">
              <a:ea typeface="幼圆" panose="02010509060101010101" pitchFamily="49" charset="-122"/>
            </a:endParaRPr>
          </a:p>
          <a:p>
            <a:r>
              <a:rPr lang="en-US" altLang="zh-CN" sz="2400" dirty="0">
                <a:ea typeface="幼圆" panose="02010509060101010101" pitchFamily="49" charset="-122"/>
              </a:rPr>
              <a:t>     </a:t>
            </a:r>
            <a:r>
              <a:rPr lang="zh-CN" altLang="en-US" sz="2400" dirty="0">
                <a:ea typeface="幼圆" panose="02010509060101010101" pitchFamily="49" charset="-122"/>
              </a:rPr>
              <a:t>分配给</a:t>
            </a:r>
            <a:r>
              <a:rPr lang="en-US" altLang="zh-CN" sz="2400" dirty="0">
                <a:ea typeface="幼圆" panose="02010509060101010101" pitchFamily="49" charset="-122"/>
              </a:rPr>
              <a:t> </a:t>
            </a:r>
            <a:r>
              <a:rPr lang="zh-CN" altLang="en-US" sz="2400" dirty="0">
                <a:ea typeface="幼圆" panose="02010509060101010101" pitchFamily="49" charset="-122"/>
              </a:rPr>
              <a:t>     。</a:t>
            </a:r>
            <a:endParaRPr lang="zh-CN" altLang="en-US" sz="2400" dirty="0">
              <a:ea typeface="幼圆" panose="02010509060101010101" pitchFamily="49" charset="-122"/>
            </a:endParaRPr>
          </a:p>
          <a:p>
            <a:r>
              <a:rPr lang="zh-CN" altLang="en-US" sz="2400" dirty="0">
                <a:ea typeface="幼圆" panose="02010509060101010101" pitchFamily="49" charset="-122"/>
              </a:rPr>
              <a:t>更新，得到新簇                     和</a:t>
            </a:r>
            <a:endParaRPr lang="zh-CN" altLang="en-US" sz="2400" dirty="0">
              <a:ea typeface="幼圆" panose="02010509060101010101" pitchFamily="49" charset="-122"/>
            </a:endParaRPr>
          </a:p>
          <a:p>
            <a:r>
              <a:rPr lang="zh-CN" altLang="en-US" sz="2400" dirty="0">
                <a:ea typeface="幼圆" panose="02010509060101010101" pitchFamily="49" charset="-122"/>
              </a:rPr>
              <a:t>计算平方误差准则，单个方差为</a:t>
            </a:r>
            <a:endParaRPr lang="zh-CN" altLang="en-US" sz="2400" dirty="0">
              <a:ea typeface="幼圆" panose="02010509060101010101" pitchFamily="49" charset="-122"/>
            </a:endParaRPr>
          </a:p>
          <a:p>
            <a:endParaRPr lang="zh-CN" altLang="en-US" sz="2400" b="1" dirty="0">
              <a:ea typeface="幼圆" panose="02010509060101010101" pitchFamily="49" charset="-122"/>
            </a:endParaRPr>
          </a:p>
          <a:p>
            <a:endParaRPr lang="zh-CN" altLang="en-US" sz="2400" b="1" dirty="0">
              <a:ea typeface="幼圆" panose="02010509060101010101" pitchFamily="49" charset="-122"/>
            </a:endParaRPr>
          </a:p>
          <a:p>
            <a:pPr>
              <a:spcBef>
                <a:spcPct val="50000"/>
              </a:spcBef>
            </a:pPr>
            <a:endParaRPr lang="en-US" altLang="zh-CN" sz="2400" dirty="0">
              <a:ea typeface="幼圆" panose="02010509060101010101" pitchFamily="49" charset="-122"/>
            </a:endParaRPr>
          </a:p>
        </p:txBody>
      </p:sp>
      <p:graphicFrame>
        <p:nvGraphicFramePr>
          <p:cNvPr id="39080" name="Object 168"/>
          <p:cNvGraphicFramePr>
            <a:graphicFrameLocks noChangeAspect="1"/>
          </p:cNvGraphicFramePr>
          <p:nvPr/>
        </p:nvGraphicFramePr>
        <p:xfrm>
          <a:off x="3505200" y="1066800"/>
          <a:ext cx="685800" cy="350838"/>
        </p:xfrm>
        <a:graphic>
          <a:graphicData uri="http://schemas.openxmlformats.org/presentationml/2006/ole">
            <mc:AlternateContent xmlns:mc="http://schemas.openxmlformats.org/markup-compatibility/2006">
              <mc:Choice xmlns:v="urn:schemas-microsoft-com:vml" Requires="v">
                <p:oleObj spid="_x0000_s5176" name="公式" r:id="rId1" imgW="501650" imgH="226060" progId="Equation.3">
                  <p:embed/>
                </p:oleObj>
              </mc:Choice>
              <mc:Fallback>
                <p:oleObj name="公式" r:id="rId1" imgW="501650" imgH="226060" progId="Equation.3">
                  <p:embed/>
                  <p:pic>
                    <p:nvPicPr>
                      <p:cNvPr id="0" name="Object 16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1066800"/>
                        <a:ext cx="685800" cy="350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081" name="Object 169"/>
          <p:cNvGraphicFramePr>
            <a:graphicFrameLocks noChangeAspect="1"/>
          </p:cNvGraphicFramePr>
          <p:nvPr/>
        </p:nvGraphicFramePr>
        <p:xfrm>
          <a:off x="4419600" y="1066800"/>
          <a:ext cx="838200" cy="371475"/>
        </p:xfrm>
        <a:graphic>
          <a:graphicData uri="http://schemas.openxmlformats.org/presentationml/2006/ole">
            <mc:AlternateContent xmlns:mc="http://schemas.openxmlformats.org/markup-compatibility/2006">
              <mc:Choice xmlns:v="urn:schemas-microsoft-com:vml" Requires="v">
                <p:oleObj spid="_x0000_s5177" name="公式" r:id="rId3" imgW="511175" imgH="226060" progId="Equation.3">
                  <p:embed/>
                </p:oleObj>
              </mc:Choice>
              <mc:Fallback>
                <p:oleObj name="公式" r:id="rId3" imgW="511175" imgH="226060" progId="Equation.3">
                  <p:embed/>
                  <p:pic>
                    <p:nvPicPr>
                      <p:cNvPr id="0" name="Object 1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066800"/>
                        <a:ext cx="83820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082" name="Object 170"/>
          <p:cNvGraphicFramePr>
            <a:graphicFrameLocks noChangeAspect="1"/>
          </p:cNvGraphicFramePr>
          <p:nvPr/>
        </p:nvGraphicFramePr>
        <p:xfrm>
          <a:off x="3352800" y="1371600"/>
          <a:ext cx="1524000" cy="379413"/>
        </p:xfrm>
        <a:graphic>
          <a:graphicData uri="http://schemas.openxmlformats.org/presentationml/2006/ole">
            <mc:AlternateContent xmlns:mc="http://schemas.openxmlformats.org/markup-compatibility/2006">
              <mc:Choice xmlns:v="urn:schemas-microsoft-com:vml" Requires="v">
                <p:oleObj spid="_x0000_s5178" name="公式" r:id="rId5" imgW="1032510" imgH="226060" progId="Equation.3">
                  <p:embed/>
                </p:oleObj>
              </mc:Choice>
              <mc:Fallback>
                <p:oleObj name="公式" r:id="rId5" imgW="1032510" imgH="226060" progId="Equation.3">
                  <p:embed/>
                  <p:pic>
                    <p:nvPicPr>
                      <p:cNvPr id="0" name="Object 1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1371600"/>
                        <a:ext cx="152400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083" name="Object 171"/>
          <p:cNvGraphicFramePr>
            <a:graphicFrameLocks noChangeAspect="1"/>
          </p:cNvGraphicFramePr>
          <p:nvPr/>
        </p:nvGraphicFramePr>
        <p:xfrm>
          <a:off x="5486400" y="1371600"/>
          <a:ext cx="1600200" cy="382588"/>
        </p:xfrm>
        <a:graphic>
          <a:graphicData uri="http://schemas.openxmlformats.org/presentationml/2006/ole">
            <mc:AlternateContent xmlns:mc="http://schemas.openxmlformats.org/markup-compatibility/2006">
              <mc:Choice xmlns:v="urn:schemas-microsoft-com:vml" Requires="v">
                <p:oleObj spid="_x0000_s5179" name="公式" r:id="rId7" imgW="1071880" imgH="226060" progId="Equation.3">
                  <p:embed/>
                </p:oleObj>
              </mc:Choice>
              <mc:Fallback>
                <p:oleObj name="公式" r:id="rId7" imgW="1071880" imgH="226060" progId="Equation.3">
                  <p:embed/>
                  <p:pic>
                    <p:nvPicPr>
                      <p:cNvPr id="0" name="Object 17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6400" y="1371600"/>
                        <a:ext cx="1600200" cy="382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084" name="Object 172"/>
          <p:cNvGraphicFramePr>
            <a:graphicFrameLocks noChangeAspect="1"/>
          </p:cNvGraphicFramePr>
          <p:nvPr/>
        </p:nvGraphicFramePr>
        <p:xfrm>
          <a:off x="3810000" y="2819400"/>
          <a:ext cx="3581400" cy="492125"/>
        </p:xfrm>
        <a:graphic>
          <a:graphicData uri="http://schemas.openxmlformats.org/presentationml/2006/ole">
            <mc:AlternateContent xmlns:mc="http://schemas.openxmlformats.org/markup-compatibility/2006">
              <mc:Choice xmlns:v="urn:schemas-microsoft-com:vml" Requires="v">
                <p:oleObj spid="_x0000_s5180" name="公式" r:id="rId9" imgW="2517140" imgH="304800" progId="Equation.3">
                  <p:embed/>
                </p:oleObj>
              </mc:Choice>
              <mc:Fallback>
                <p:oleObj name="公式" r:id="rId9" imgW="2517140" imgH="304800" progId="Equation.3">
                  <p:embed/>
                  <p:pic>
                    <p:nvPicPr>
                      <p:cNvPr id="0" name="Object 17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0" y="2819400"/>
                        <a:ext cx="3581400"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085" name="Object 173"/>
          <p:cNvGraphicFramePr>
            <a:graphicFrameLocks noChangeAspect="1"/>
          </p:cNvGraphicFramePr>
          <p:nvPr/>
        </p:nvGraphicFramePr>
        <p:xfrm>
          <a:off x="3733800" y="3352800"/>
          <a:ext cx="3581400" cy="490538"/>
        </p:xfrm>
        <a:graphic>
          <a:graphicData uri="http://schemas.openxmlformats.org/presentationml/2006/ole">
            <mc:AlternateContent xmlns:mc="http://schemas.openxmlformats.org/markup-compatibility/2006">
              <mc:Choice xmlns:v="urn:schemas-microsoft-com:vml" Requires="v">
                <p:oleObj spid="_x0000_s5181" name="公式" r:id="rId11" imgW="2517140" imgH="304800" progId="Equation.3">
                  <p:embed/>
                </p:oleObj>
              </mc:Choice>
              <mc:Fallback>
                <p:oleObj name="公式" r:id="rId11" imgW="2517140" imgH="304800" progId="Equation.3">
                  <p:embed/>
                  <p:pic>
                    <p:nvPicPr>
                      <p:cNvPr id="0" name="Object 17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33800" y="3352800"/>
                        <a:ext cx="3581400"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086" name="Object 174"/>
          <p:cNvGraphicFramePr>
            <a:graphicFrameLocks noChangeAspect="1"/>
          </p:cNvGraphicFramePr>
          <p:nvPr/>
        </p:nvGraphicFramePr>
        <p:xfrm>
          <a:off x="1219200" y="4419600"/>
          <a:ext cx="2514600" cy="452438"/>
        </p:xfrm>
        <a:graphic>
          <a:graphicData uri="http://schemas.openxmlformats.org/presentationml/2006/ole">
            <mc:AlternateContent xmlns:mc="http://schemas.openxmlformats.org/markup-compatibility/2006">
              <mc:Choice xmlns:v="urn:schemas-microsoft-com:vml" Requires="v">
                <p:oleObj spid="_x0000_s5182" name="公式" r:id="rId13" imgW="1494790" imgH="236220" progId="Equation.3">
                  <p:embed/>
                </p:oleObj>
              </mc:Choice>
              <mc:Fallback>
                <p:oleObj name="公式" r:id="rId13" imgW="1494790" imgH="236220" progId="Equation.3">
                  <p:embed/>
                  <p:pic>
                    <p:nvPicPr>
                      <p:cNvPr id="0" name="Object 17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19200" y="4419600"/>
                        <a:ext cx="2514600" cy="45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090" name="Object 178"/>
          <p:cNvGraphicFramePr>
            <a:graphicFrameLocks noChangeAspect="1"/>
          </p:cNvGraphicFramePr>
          <p:nvPr/>
        </p:nvGraphicFramePr>
        <p:xfrm>
          <a:off x="3200400" y="2438400"/>
          <a:ext cx="317500" cy="381000"/>
        </p:xfrm>
        <a:graphic>
          <a:graphicData uri="http://schemas.openxmlformats.org/presentationml/2006/ole">
            <mc:AlternateContent xmlns:mc="http://schemas.openxmlformats.org/markup-compatibility/2006">
              <mc:Choice xmlns:v="urn:schemas-microsoft-com:vml" Requires="v">
                <p:oleObj spid="_x0000_s5183" name="公式" r:id="rId15" imgW="196850" imgH="236220" progId="Equation.3">
                  <p:embed/>
                </p:oleObj>
              </mc:Choice>
              <mc:Fallback>
                <p:oleObj name="公式" r:id="rId15" imgW="196850" imgH="236220" progId="Equation.3">
                  <p:embed/>
                  <p:pic>
                    <p:nvPicPr>
                      <p:cNvPr id="0" name="Object 17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00400" y="2438400"/>
                        <a:ext cx="3175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095" name="Rectangle 183"/>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39094" name="Object 182"/>
          <p:cNvGraphicFramePr>
            <a:graphicFrameLocks noChangeAspect="1"/>
          </p:cNvGraphicFramePr>
          <p:nvPr/>
        </p:nvGraphicFramePr>
        <p:xfrm>
          <a:off x="4648200" y="4419600"/>
          <a:ext cx="317500" cy="381000"/>
        </p:xfrm>
        <a:graphic>
          <a:graphicData uri="http://schemas.openxmlformats.org/presentationml/2006/ole">
            <mc:AlternateContent xmlns:mc="http://schemas.openxmlformats.org/markup-compatibility/2006">
              <mc:Choice xmlns:v="urn:schemas-microsoft-com:vml" Requires="v">
                <p:oleObj spid="_x0000_s5184" name="公式" r:id="rId17" imgW="196850" imgH="236220" progId="Equation.3">
                  <p:embed/>
                </p:oleObj>
              </mc:Choice>
              <mc:Fallback>
                <p:oleObj name="公式" r:id="rId17" imgW="196850" imgH="236220" progId="Equation.3">
                  <p:embed/>
                  <p:pic>
                    <p:nvPicPr>
                      <p:cNvPr id="0" name="Object 18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48200" y="4419600"/>
                        <a:ext cx="3175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097" name="Rectangle 185"/>
          <p:cNvSpPr>
            <a:spLocks noChangeArrowheads="1"/>
          </p:cNvSpPr>
          <p:nvPr/>
        </p:nvSpPr>
        <p:spPr bwMode="auto">
          <a:xfrm>
            <a:off x="0" y="3134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39096" name="Object 184"/>
          <p:cNvGraphicFramePr>
            <a:graphicFrameLocks noChangeAspect="1"/>
          </p:cNvGraphicFramePr>
          <p:nvPr/>
        </p:nvGraphicFramePr>
        <p:xfrm>
          <a:off x="5791200" y="4419600"/>
          <a:ext cx="347663" cy="381000"/>
        </p:xfrm>
        <a:graphic>
          <a:graphicData uri="http://schemas.openxmlformats.org/presentationml/2006/ole">
            <mc:AlternateContent xmlns:mc="http://schemas.openxmlformats.org/markup-compatibility/2006">
              <mc:Choice xmlns:v="urn:schemas-microsoft-com:vml" Requires="v">
                <p:oleObj spid="_x0000_s5185" name="公式" r:id="rId19" imgW="206375" imgH="226060" progId="Equation.3">
                  <p:embed/>
                </p:oleObj>
              </mc:Choice>
              <mc:Fallback>
                <p:oleObj name="公式" r:id="rId19" imgW="206375" imgH="226060" progId="Equation.3">
                  <p:embed/>
                  <p:pic>
                    <p:nvPicPr>
                      <p:cNvPr id="0" name="Object 18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91200" y="4419600"/>
                        <a:ext cx="34766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099" name="Rectangle 187"/>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39098" name="Object 186"/>
          <p:cNvGraphicFramePr>
            <a:graphicFrameLocks noChangeAspect="1"/>
          </p:cNvGraphicFramePr>
          <p:nvPr/>
        </p:nvGraphicFramePr>
        <p:xfrm>
          <a:off x="7476490" y="4419600"/>
          <a:ext cx="347663" cy="381000"/>
        </p:xfrm>
        <a:graphic>
          <a:graphicData uri="http://schemas.openxmlformats.org/presentationml/2006/ole">
            <mc:AlternateContent xmlns:mc="http://schemas.openxmlformats.org/markup-compatibility/2006">
              <mc:Choice xmlns:v="urn:schemas-microsoft-com:vml" Requires="v">
                <p:oleObj spid="_x0000_s5186" name="公式" r:id="rId21" imgW="206375" imgH="226060" progId="Equation.3">
                  <p:embed/>
                </p:oleObj>
              </mc:Choice>
              <mc:Fallback>
                <p:oleObj name="公式" r:id="rId21" imgW="206375" imgH="226060" progId="Equation.3">
                  <p:embed/>
                  <p:pic>
                    <p:nvPicPr>
                      <p:cNvPr id="0" name="Object 18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476490" y="4419600"/>
                        <a:ext cx="34766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101" name="Rectangle 189"/>
          <p:cNvSpPr>
            <a:spLocks noChangeArrowheads="1"/>
          </p:cNvSpPr>
          <p:nvPr/>
        </p:nvSpPr>
        <p:spPr bwMode="auto">
          <a:xfrm>
            <a:off x="4479634" y="3134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endParaRPr lang="zh-CN" altLang="zh-CN" dirty="0">
              <a:ea typeface="幼圆" panose="02010509060101010101" pitchFamily="49" charset="-122"/>
            </a:endParaRPr>
          </a:p>
        </p:txBody>
      </p:sp>
      <p:graphicFrame>
        <p:nvGraphicFramePr>
          <p:cNvPr id="39100" name="Object 188"/>
          <p:cNvGraphicFramePr>
            <a:graphicFrameLocks noChangeAspect="1"/>
          </p:cNvGraphicFramePr>
          <p:nvPr/>
        </p:nvGraphicFramePr>
        <p:xfrm>
          <a:off x="8676640" y="4392930"/>
          <a:ext cx="347663" cy="381000"/>
        </p:xfrm>
        <a:graphic>
          <a:graphicData uri="http://schemas.openxmlformats.org/presentationml/2006/ole">
            <mc:AlternateContent xmlns:mc="http://schemas.openxmlformats.org/markup-compatibility/2006">
              <mc:Choice xmlns:v="urn:schemas-microsoft-com:vml" Requires="v">
                <p:oleObj spid="_x0000_s5187" name="公式" r:id="rId23" imgW="206375" imgH="226060" progId="Equation.3">
                  <p:embed/>
                </p:oleObj>
              </mc:Choice>
              <mc:Fallback>
                <p:oleObj name="公式" r:id="rId23" imgW="206375" imgH="226060" progId="Equation.3">
                  <p:embed/>
                  <p:pic>
                    <p:nvPicPr>
                      <p:cNvPr id="0" name="Object 18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676640" y="4392930"/>
                        <a:ext cx="34766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103" name="Rectangle 19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39102" name="Object 190"/>
          <p:cNvGraphicFramePr>
            <a:graphicFrameLocks noChangeAspect="1"/>
          </p:cNvGraphicFramePr>
          <p:nvPr/>
        </p:nvGraphicFramePr>
        <p:xfrm>
          <a:off x="597059" y="4765358"/>
          <a:ext cx="332105" cy="398145"/>
        </p:xfrm>
        <a:graphic>
          <a:graphicData uri="http://schemas.openxmlformats.org/presentationml/2006/ole">
            <mc:AlternateContent xmlns:mc="http://schemas.openxmlformats.org/markup-compatibility/2006">
              <mc:Choice xmlns:v="urn:schemas-microsoft-com:vml" Requires="v">
                <p:oleObj spid="_x0000_s5188" name="公式" r:id="rId25" imgW="190500" imgH="228600" progId="Equation.3">
                  <p:embed/>
                </p:oleObj>
              </mc:Choice>
              <mc:Fallback>
                <p:oleObj name="公式" r:id="rId25" imgW="190500" imgH="228600" progId="Equation.3">
                  <p:embed/>
                  <p:pic>
                    <p:nvPicPr>
                      <p:cNvPr id="0" name="Object 190"/>
                      <p:cNvPicPr>
                        <a:picLocks noChangeAspect="1" noChangeArrowheads="1"/>
                      </p:cNvPicPr>
                      <p:nvPr/>
                    </p:nvPicPr>
                    <p:blipFill>
                      <a:blip r:embed="rId26"/>
                      <a:srcRect/>
                      <a:stretch>
                        <a:fillRect/>
                      </a:stretch>
                    </p:blipFill>
                    <p:spPr bwMode="auto">
                      <a:xfrm>
                        <a:off x="597059" y="4765358"/>
                        <a:ext cx="332105" cy="3981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106" name="Rectangle 19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39105" name="Object 193"/>
          <p:cNvGraphicFramePr>
            <a:graphicFrameLocks noChangeAspect="1"/>
          </p:cNvGraphicFramePr>
          <p:nvPr/>
        </p:nvGraphicFramePr>
        <p:xfrm>
          <a:off x="1838960" y="4803140"/>
          <a:ext cx="307975" cy="375920"/>
        </p:xfrm>
        <a:graphic>
          <a:graphicData uri="http://schemas.openxmlformats.org/presentationml/2006/ole">
            <mc:AlternateContent xmlns:mc="http://schemas.openxmlformats.org/markup-compatibility/2006">
              <mc:Choice xmlns:v="urn:schemas-microsoft-com:vml" Requires="v">
                <p:oleObj spid="_x0000_s5189" name="公式" r:id="rId27" imgW="177165" imgH="215900" progId="Equation.3">
                  <p:embed/>
                </p:oleObj>
              </mc:Choice>
              <mc:Fallback>
                <p:oleObj name="公式" r:id="rId27" imgW="177165" imgH="215900" progId="Equation.3">
                  <p:embed/>
                  <p:pic>
                    <p:nvPicPr>
                      <p:cNvPr id="0" name="Object 193"/>
                      <p:cNvPicPr>
                        <a:picLocks noChangeAspect="1" noChangeArrowheads="1"/>
                      </p:cNvPicPr>
                      <p:nvPr/>
                    </p:nvPicPr>
                    <p:blipFill>
                      <a:blip r:embed="rId28"/>
                      <a:srcRect/>
                      <a:stretch>
                        <a:fillRect/>
                      </a:stretch>
                    </p:blipFill>
                    <p:spPr bwMode="auto">
                      <a:xfrm>
                        <a:off x="1838960" y="4803140"/>
                        <a:ext cx="307975" cy="375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108" name="Rectangle 196"/>
          <p:cNvSpPr>
            <a:spLocks noChangeArrowheads="1"/>
          </p:cNvSpPr>
          <p:nvPr/>
        </p:nvSpPr>
        <p:spPr bwMode="auto">
          <a:xfrm>
            <a:off x="0" y="3130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39107" name="Object 195"/>
          <p:cNvGraphicFramePr>
            <a:graphicFrameLocks noChangeAspect="1"/>
          </p:cNvGraphicFramePr>
          <p:nvPr/>
        </p:nvGraphicFramePr>
        <p:xfrm>
          <a:off x="2819400" y="5181600"/>
          <a:ext cx="1371600" cy="374650"/>
        </p:xfrm>
        <a:graphic>
          <a:graphicData uri="http://schemas.openxmlformats.org/presentationml/2006/ole">
            <mc:AlternateContent xmlns:mc="http://schemas.openxmlformats.org/markup-compatibility/2006">
              <mc:Choice xmlns:v="urn:schemas-microsoft-com:vml" Requires="v">
                <p:oleObj spid="_x0000_s5190" name="公式" r:id="rId29" imgW="865505" imgH="236220" progId="Equation.3">
                  <p:embed/>
                </p:oleObj>
              </mc:Choice>
              <mc:Fallback>
                <p:oleObj name="公式" r:id="rId29" imgW="865505" imgH="236220" progId="Equation.3">
                  <p:embed/>
                  <p:pic>
                    <p:nvPicPr>
                      <p:cNvPr id="0" name="Object 19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819400" y="5181600"/>
                        <a:ext cx="1371600"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110" name="Rectangle 198"/>
          <p:cNvSpPr>
            <a:spLocks noChangeArrowheads="1"/>
          </p:cNvSpPr>
          <p:nvPr/>
        </p:nvSpPr>
        <p:spPr bwMode="auto">
          <a:xfrm>
            <a:off x="0" y="3130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39109" name="Object 197"/>
          <p:cNvGraphicFramePr>
            <a:graphicFrameLocks noChangeAspect="1"/>
          </p:cNvGraphicFramePr>
          <p:nvPr/>
        </p:nvGraphicFramePr>
        <p:xfrm>
          <a:off x="4726940" y="5181441"/>
          <a:ext cx="1747520" cy="354330"/>
        </p:xfrm>
        <a:graphic>
          <a:graphicData uri="http://schemas.openxmlformats.org/presentationml/2006/ole">
            <mc:AlternateContent xmlns:mc="http://schemas.openxmlformats.org/markup-compatibility/2006">
              <mc:Choice xmlns:v="urn:schemas-microsoft-com:vml" Requires="v">
                <p:oleObj spid="_x0000_s5191" name="公式" r:id="rId31" imgW="1130300" imgH="228600" progId="Equation.3">
                  <p:embed/>
                </p:oleObj>
              </mc:Choice>
              <mc:Fallback>
                <p:oleObj name="公式" r:id="rId31" imgW="1130300" imgH="228600" progId="Equation.3">
                  <p:embed/>
                  <p:pic>
                    <p:nvPicPr>
                      <p:cNvPr id="0" name="Object 197"/>
                      <p:cNvPicPr>
                        <a:picLocks noChangeAspect="1" noChangeArrowheads="1"/>
                      </p:cNvPicPr>
                      <p:nvPr/>
                    </p:nvPicPr>
                    <p:blipFill>
                      <a:blip r:embed="rId32"/>
                      <a:srcRect/>
                      <a:stretch>
                        <a:fillRect/>
                      </a:stretch>
                    </p:blipFill>
                    <p:spPr bwMode="auto">
                      <a:xfrm>
                        <a:off x="4726940" y="5181441"/>
                        <a:ext cx="1747520" cy="3543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112" name="Rectangle 200"/>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39111" name="Object 199"/>
          <p:cNvGraphicFramePr>
            <a:graphicFrameLocks noChangeAspect="1"/>
          </p:cNvGraphicFramePr>
          <p:nvPr/>
        </p:nvGraphicFramePr>
        <p:xfrm>
          <a:off x="762000" y="5943600"/>
          <a:ext cx="5638800" cy="441325"/>
        </p:xfrm>
        <a:graphic>
          <a:graphicData uri="http://schemas.openxmlformats.org/presentationml/2006/ole">
            <mc:AlternateContent xmlns:mc="http://schemas.openxmlformats.org/markup-compatibility/2006">
              <mc:Choice xmlns:v="urn:schemas-microsoft-com:vml" Requires="v">
                <p:oleObj spid="_x0000_s5192" name="公式" r:id="rId33" imgW="3146425" imgH="245745" progId="Equation.3">
                  <p:embed/>
                </p:oleObj>
              </mc:Choice>
              <mc:Fallback>
                <p:oleObj name="公式" r:id="rId33" imgW="3146425" imgH="245745" progId="Equation.3">
                  <p:embed/>
                  <p:pic>
                    <p:nvPicPr>
                      <p:cNvPr id="0" name="Object 19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62000" y="5943600"/>
                        <a:ext cx="5638800"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114" name="Rectangle 202"/>
          <p:cNvSpPr>
            <a:spLocks noChangeArrowheads="1"/>
          </p:cNvSpPr>
          <p:nvPr/>
        </p:nvSpPr>
        <p:spPr bwMode="auto">
          <a:xfrm>
            <a:off x="0" y="3134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39113" name="Object 201"/>
          <p:cNvGraphicFramePr>
            <a:graphicFrameLocks noChangeAspect="1"/>
          </p:cNvGraphicFramePr>
          <p:nvPr/>
        </p:nvGraphicFramePr>
        <p:xfrm>
          <a:off x="7010400" y="5943600"/>
          <a:ext cx="1371600" cy="414338"/>
        </p:xfrm>
        <a:graphic>
          <a:graphicData uri="http://schemas.openxmlformats.org/presentationml/2006/ole">
            <mc:AlternateContent xmlns:mc="http://schemas.openxmlformats.org/markup-compatibility/2006">
              <mc:Choice xmlns:v="urn:schemas-microsoft-com:vml" Requires="v">
                <p:oleObj spid="_x0000_s5193" name="公式" r:id="rId35" imgW="747395" imgH="226060" progId="Equation.3">
                  <p:embed/>
                </p:oleObj>
              </mc:Choice>
              <mc:Fallback>
                <p:oleObj name="公式" r:id="rId35" imgW="747395" imgH="226060" progId="Equation.3">
                  <p:embed/>
                  <p:pic>
                    <p:nvPicPr>
                      <p:cNvPr id="0" name="Object 201"/>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7010400" y="5943600"/>
                        <a:ext cx="1371600"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115" name="Text Box 203"/>
          <p:cNvSpPr txBox="1">
            <a:spLocks noChangeArrowheads="1"/>
          </p:cNvSpPr>
          <p:nvPr/>
        </p:nvSpPr>
        <p:spPr bwMode="auto">
          <a:xfrm>
            <a:off x="609600" y="304800"/>
            <a:ext cx="1447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C00000"/>
                </a:solidFill>
                <a:ea typeface="幼圆" panose="02010509060101010101" pitchFamily="49" charset="-122"/>
              </a:rPr>
              <a:t>例子</a:t>
            </a:r>
            <a:endParaRPr lang="zh-CN" altLang="en-US" sz="2400" b="1" dirty="0">
              <a:solidFill>
                <a:srgbClr val="C00000"/>
              </a:solidFill>
              <a:ea typeface="幼圆" panose="020105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5"/>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sp>
        <p:nvSpPr>
          <p:cNvPr id="40967" name="Rectangle 7"/>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sp>
        <p:nvSpPr>
          <p:cNvPr id="40970" name="Rectangle 10"/>
          <p:cNvSpPr>
            <a:spLocks noChangeArrowheads="1"/>
          </p:cNvSpPr>
          <p:nvPr/>
        </p:nvSpPr>
        <p:spPr bwMode="auto">
          <a:xfrm>
            <a:off x="4800600" y="309403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zh-CN" dirty="0">
              <a:ea typeface="幼圆" panose="02010509060101010101" pitchFamily="49" charset="-122"/>
            </a:endParaRPr>
          </a:p>
        </p:txBody>
      </p:sp>
      <p:sp>
        <p:nvSpPr>
          <p:cNvPr id="40971" name="Rectangle 11"/>
          <p:cNvSpPr>
            <a:spLocks noChangeArrowheads="1"/>
          </p:cNvSpPr>
          <p:nvPr/>
        </p:nvSpPr>
        <p:spPr bwMode="auto">
          <a:xfrm>
            <a:off x="457200" y="3184525"/>
            <a:ext cx="3111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1000" dirty="0">
                <a:latin typeface="Times New Roman" panose="02020603050405020304" pitchFamily="18" charset="0"/>
                <a:ea typeface="幼圆" panose="02010509060101010101" pitchFamily="49" charset="-122"/>
                <a:cs typeface="Times New Roman" panose="02020603050405020304" pitchFamily="18" charset="0"/>
              </a:rPr>
              <a:t>，</a:t>
            </a:r>
            <a:endParaRPr lang="zh-CN" altLang="en-US" dirty="0">
              <a:ea typeface="幼圆" panose="02010509060101010101" pitchFamily="49" charset="-122"/>
            </a:endParaRPr>
          </a:p>
        </p:txBody>
      </p:sp>
      <p:sp>
        <p:nvSpPr>
          <p:cNvPr id="40972" name="Rectangle 12"/>
          <p:cNvSpPr>
            <a:spLocks noChangeArrowheads="1"/>
          </p:cNvSpPr>
          <p:nvPr/>
        </p:nvSpPr>
        <p:spPr bwMode="auto">
          <a:xfrm>
            <a:off x="457200" y="3648075"/>
            <a:ext cx="3111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457200" algn="l"/>
              </a:tabLst>
              <a:defRPr>
                <a:solidFill>
                  <a:schemeClr val="tx1"/>
                </a:solidFill>
                <a:latin typeface="Arial" panose="020B0604020202020204" pitchFamily="34" charset="0"/>
                <a:ea typeface="宋体" panose="02010600030101010101" pitchFamily="2" charset="-122"/>
              </a:defRPr>
            </a:lvl1pPr>
            <a:lvl2pPr>
              <a:tabLst>
                <a:tab pos="457200" algn="l"/>
              </a:tabLst>
              <a:defRPr>
                <a:solidFill>
                  <a:schemeClr val="tx1"/>
                </a:solidFill>
                <a:latin typeface="Arial" panose="020B0604020202020204" pitchFamily="34" charset="0"/>
                <a:ea typeface="宋体" panose="02010600030101010101" pitchFamily="2" charset="-122"/>
              </a:defRPr>
            </a:lvl2pPr>
            <a:lvl3pPr>
              <a:tabLst>
                <a:tab pos="457200" algn="l"/>
              </a:tabLst>
              <a:defRPr>
                <a:solidFill>
                  <a:schemeClr val="tx1"/>
                </a:solidFill>
                <a:latin typeface="Arial" panose="020B0604020202020204" pitchFamily="34" charset="0"/>
                <a:ea typeface="宋体" panose="02010600030101010101" pitchFamily="2" charset="-122"/>
              </a:defRPr>
            </a:lvl3pPr>
            <a:lvl4pPr>
              <a:tabLst>
                <a:tab pos="457200" algn="l"/>
              </a:tabLst>
              <a:defRPr>
                <a:solidFill>
                  <a:schemeClr val="tx1"/>
                </a:solidFill>
                <a:latin typeface="Arial" panose="020B0604020202020204" pitchFamily="34" charset="0"/>
                <a:ea typeface="宋体" panose="02010600030101010101" pitchFamily="2" charset="-122"/>
              </a:defRPr>
            </a:lvl4pPr>
            <a:lvl5pPr>
              <a:tabLst>
                <a:tab pos="4572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4572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4572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4572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457200" algn="l"/>
              </a:tabLst>
              <a:defRPr>
                <a:solidFill>
                  <a:schemeClr val="tx1"/>
                </a:solidFill>
                <a:latin typeface="Arial" panose="020B0604020202020204" pitchFamily="34" charset="0"/>
                <a:ea typeface="宋体" panose="02010600030101010101" pitchFamily="2" charset="-122"/>
              </a:defRPr>
            </a:lvl9pPr>
          </a:lstStyle>
          <a:p>
            <a:r>
              <a:rPr lang="zh-CN" altLang="en-US" sz="1000" dirty="0">
                <a:latin typeface="Times New Roman" panose="02020603050405020304" pitchFamily="18" charset="0"/>
                <a:ea typeface="幼圆" panose="02010509060101010101" pitchFamily="49" charset="-122"/>
                <a:cs typeface="Times New Roman" panose="02020603050405020304" pitchFamily="18" charset="0"/>
              </a:rPr>
              <a:t>。</a:t>
            </a:r>
            <a:endParaRPr lang="zh-CN" altLang="en-US" dirty="0">
              <a:ea typeface="幼圆" panose="02010509060101010101" pitchFamily="49" charset="-122"/>
            </a:endParaRPr>
          </a:p>
        </p:txBody>
      </p:sp>
      <p:sp>
        <p:nvSpPr>
          <p:cNvPr id="40974" name="Rectangle 14"/>
          <p:cNvSpPr>
            <a:spLocks noChangeArrowheads="1"/>
          </p:cNvSpPr>
          <p:nvPr/>
        </p:nvSpPr>
        <p:spPr bwMode="auto">
          <a:xfrm>
            <a:off x="0" y="3130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sp>
        <p:nvSpPr>
          <p:cNvPr id="40976" name="Rectangle 16"/>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sp>
        <p:nvSpPr>
          <p:cNvPr id="40979" name="Rectangle 19"/>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sp>
        <p:nvSpPr>
          <p:cNvPr id="40981" name="Rectangle 2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sp>
        <p:nvSpPr>
          <p:cNvPr id="40983" name="Text Box 23"/>
          <p:cNvSpPr txBox="1">
            <a:spLocks noChangeArrowheads="1"/>
          </p:cNvSpPr>
          <p:nvPr/>
        </p:nvSpPr>
        <p:spPr bwMode="auto">
          <a:xfrm>
            <a:off x="304800" y="609600"/>
            <a:ext cx="67818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dirty="0">
                <a:ea typeface="幼圆" panose="02010509060101010101" pitchFamily="49" charset="-122"/>
              </a:rPr>
              <a:t>总体平均方差是：</a:t>
            </a:r>
            <a:endParaRPr lang="zh-CN" altLang="en-US" sz="2400" b="1" dirty="0">
              <a:ea typeface="幼圆" panose="02010509060101010101" pitchFamily="49" charset="-122"/>
            </a:endParaRPr>
          </a:p>
          <a:p>
            <a:pPr>
              <a:spcBef>
                <a:spcPct val="50000"/>
              </a:spcBef>
            </a:pPr>
            <a:r>
              <a:rPr lang="zh-CN" altLang="en-US" sz="2400" b="1" dirty="0">
                <a:ea typeface="幼圆" panose="02010509060101010101" pitchFamily="49" charset="-122"/>
              </a:rPr>
              <a:t>（</a:t>
            </a:r>
            <a:r>
              <a:rPr lang="en-US" altLang="zh-CN" sz="2400" b="1" dirty="0">
                <a:ea typeface="幼圆" panose="02010509060101010101" pitchFamily="49" charset="-122"/>
              </a:rPr>
              <a:t>3</a:t>
            </a:r>
            <a:r>
              <a:rPr lang="zh-CN" altLang="en-US" sz="2400" b="1" dirty="0">
                <a:ea typeface="幼圆" panose="02010509060101010101" pitchFamily="49" charset="-122"/>
              </a:rPr>
              <a:t>）计算新的簇的中心。 </a:t>
            </a:r>
            <a:endParaRPr lang="zh-CN" altLang="en-US" sz="2400" b="1" dirty="0">
              <a:ea typeface="幼圆" panose="02010509060101010101" pitchFamily="49" charset="-122"/>
            </a:endParaRPr>
          </a:p>
          <a:p>
            <a:pPr>
              <a:spcBef>
                <a:spcPct val="50000"/>
              </a:spcBef>
            </a:pPr>
            <a:endParaRPr lang="en-US" altLang="zh-CN" sz="2400" b="1" dirty="0">
              <a:ea typeface="幼圆" panose="02010509060101010101" pitchFamily="49" charset="-122"/>
            </a:endParaRPr>
          </a:p>
        </p:txBody>
      </p:sp>
      <p:sp>
        <p:nvSpPr>
          <p:cNvPr id="40985" name="Rectangle 25"/>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40984" name="Object 24"/>
          <p:cNvGraphicFramePr>
            <a:graphicFrameLocks noChangeAspect="1"/>
          </p:cNvGraphicFramePr>
          <p:nvPr/>
        </p:nvGraphicFramePr>
        <p:xfrm>
          <a:off x="2819400" y="533400"/>
          <a:ext cx="4572000" cy="481013"/>
        </p:xfrm>
        <a:graphic>
          <a:graphicData uri="http://schemas.openxmlformats.org/presentationml/2006/ole">
            <mc:AlternateContent xmlns:mc="http://schemas.openxmlformats.org/markup-compatibility/2006">
              <mc:Choice xmlns:v="urn:schemas-microsoft-com:vml" Requires="v">
                <p:oleObj spid="_x0000_s6176" name="公式" r:id="rId1" imgW="2153285" imgH="226060" progId="Equation.3">
                  <p:embed/>
                </p:oleObj>
              </mc:Choice>
              <mc:Fallback>
                <p:oleObj name="公式" r:id="rId1" imgW="2153285" imgH="226060" progId="Equation.3">
                  <p:embed/>
                  <p:pic>
                    <p:nvPicPr>
                      <p:cNvPr id="0" name="Object 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533400"/>
                        <a:ext cx="45720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87" name="Rectangle 27"/>
          <p:cNvSpPr>
            <a:spLocks noChangeArrowheads="1"/>
          </p:cNvSpPr>
          <p:nvPr/>
        </p:nvSpPr>
        <p:spPr bwMode="auto">
          <a:xfrm>
            <a:off x="0" y="3134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40986" name="Object 26"/>
          <p:cNvGraphicFramePr>
            <a:graphicFrameLocks noChangeAspect="1"/>
          </p:cNvGraphicFramePr>
          <p:nvPr/>
        </p:nvGraphicFramePr>
        <p:xfrm>
          <a:off x="1981200" y="1676400"/>
          <a:ext cx="3719513" cy="385763"/>
        </p:xfrm>
        <a:graphic>
          <a:graphicData uri="http://schemas.openxmlformats.org/presentationml/2006/ole">
            <mc:AlternateContent xmlns:mc="http://schemas.openxmlformats.org/markup-compatibility/2006">
              <mc:Choice xmlns:v="urn:schemas-microsoft-com:vml" Requires="v">
                <p:oleObj spid="_x0000_s6177" name="公式" r:id="rId3" imgW="2172970" imgH="226060" progId="Equation.3">
                  <p:embed/>
                </p:oleObj>
              </mc:Choice>
              <mc:Fallback>
                <p:oleObj name="公式" r:id="rId3" imgW="2172970" imgH="226060"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676400"/>
                        <a:ext cx="3719513" cy="385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89" name="Rectangle 29"/>
          <p:cNvSpPr>
            <a:spLocks noChangeArrowheads="1"/>
          </p:cNvSpPr>
          <p:nvPr/>
        </p:nvSpPr>
        <p:spPr bwMode="auto">
          <a:xfrm>
            <a:off x="0" y="3134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40988" name="Object 28"/>
          <p:cNvGraphicFramePr>
            <a:graphicFrameLocks noChangeAspect="1"/>
          </p:cNvGraphicFramePr>
          <p:nvPr/>
        </p:nvGraphicFramePr>
        <p:xfrm>
          <a:off x="1981200" y="2133600"/>
          <a:ext cx="4724400" cy="373063"/>
        </p:xfrm>
        <a:graphic>
          <a:graphicData uri="http://schemas.openxmlformats.org/presentationml/2006/ole">
            <mc:AlternateContent xmlns:mc="http://schemas.openxmlformats.org/markup-compatibility/2006">
              <mc:Choice xmlns:v="urn:schemas-microsoft-com:vml" Requires="v">
                <p:oleObj spid="_x0000_s6178" name="公式" r:id="rId5" imgW="2861310" imgH="226060" progId="Equation.3">
                  <p:embed/>
                </p:oleObj>
              </mc:Choice>
              <mc:Fallback>
                <p:oleObj name="公式" r:id="rId5" imgW="2861310" imgH="226060" progId="Equation.3">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2133600"/>
                        <a:ext cx="4724400" cy="373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90" name="Text Box 30"/>
          <p:cNvSpPr txBox="1">
            <a:spLocks noChangeArrowheads="1"/>
          </p:cNvSpPr>
          <p:nvPr/>
        </p:nvSpPr>
        <p:spPr bwMode="auto">
          <a:xfrm>
            <a:off x="533400" y="2590800"/>
            <a:ext cx="8610600" cy="1753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ea typeface="幼圆" panose="02010509060101010101" pitchFamily="49" charset="-122"/>
              </a:rPr>
              <a:t>重复（</a:t>
            </a:r>
            <a:r>
              <a:rPr lang="en-US" altLang="zh-CN" sz="2400" dirty="0">
                <a:ea typeface="幼圆" panose="02010509060101010101" pitchFamily="49" charset="-122"/>
              </a:rPr>
              <a:t>2</a:t>
            </a:r>
            <a:r>
              <a:rPr lang="zh-CN" altLang="en-US" sz="2400" dirty="0">
                <a:ea typeface="幼圆" panose="02010509060101010101" pitchFamily="49" charset="-122"/>
              </a:rPr>
              <a:t>）和（</a:t>
            </a:r>
            <a:r>
              <a:rPr lang="en-US" altLang="zh-CN" sz="2400" dirty="0">
                <a:ea typeface="幼圆" panose="02010509060101010101" pitchFamily="49" charset="-122"/>
              </a:rPr>
              <a:t>3</a:t>
            </a:r>
            <a:r>
              <a:rPr lang="zh-CN" altLang="en-US" sz="2400" dirty="0">
                <a:ea typeface="幼圆" panose="02010509060101010101" pitchFamily="49" charset="-122"/>
              </a:rPr>
              <a:t>），得到</a:t>
            </a:r>
            <a:r>
              <a:rPr lang="en-US" altLang="zh-CN" sz="2400" dirty="0">
                <a:ea typeface="幼圆" panose="02010509060101010101" pitchFamily="49" charset="-122"/>
              </a:rPr>
              <a:t>O</a:t>
            </a:r>
            <a:r>
              <a:rPr lang="en-US" altLang="zh-CN" sz="2400" baseline="-25000" dirty="0">
                <a:ea typeface="幼圆" panose="02010509060101010101" pitchFamily="49" charset="-122"/>
              </a:rPr>
              <a:t>1</a:t>
            </a:r>
            <a:r>
              <a:rPr lang="zh-CN" altLang="en-US" sz="2400" dirty="0">
                <a:ea typeface="幼圆" panose="02010509060101010101" pitchFamily="49" charset="-122"/>
              </a:rPr>
              <a:t>分配给</a:t>
            </a:r>
            <a:r>
              <a:rPr lang="en-US" altLang="zh-CN" sz="2400" dirty="0">
                <a:ea typeface="幼圆" panose="02010509060101010101" pitchFamily="49" charset="-122"/>
              </a:rPr>
              <a:t>C</a:t>
            </a:r>
            <a:r>
              <a:rPr lang="en-US" altLang="zh-CN" sz="2400" baseline="-25000" dirty="0">
                <a:ea typeface="幼圆" panose="02010509060101010101" pitchFamily="49" charset="-122"/>
              </a:rPr>
              <a:t>1</a:t>
            </a:r>
            <a:r>
              <a:rPr lang="zh-CN" altLang="en-US" sz="2400" dirty="0">
                <a:ea typeface="幼圆" panose="02010509060101010101" pitchFamily="49" charset="-122"/>
              </a:rPr>
              <a:t>；</a:t>
            </a:r>
            <a:r>
              <a:rPr lang="en-US" altLang="zh-CN" sz="2400" dirty="0">
                <a:ea typeface="幼圆" panose="02010509060101010101" pitchFamily="49" charset="-122"/>
              </a:rPr>
              <a:t>O</a:t>
            </a:r>
            <a:r>
              <a:rPr lang="en-US" altLang="zh-CN" sz="2400" baseline="-25000" dirty="0">
                <a:ea typeface="幼圆" panose="02010509060101010101" pitchFamily="49" charset="-122"/>
              </a:rPr>
              <a:t>2</a:t>
            </a:r>
            <a:r>
              <a:rPr lang="zh-CN" altLang="en-US" sz="2400" dirty="0">
                <a:ea typeface="幼圆" panose="02010509060101010101" pitchFamily="49" charset="-122"/>
              </a:rPr>
              <a:t>分配给</a:t>
            </a:r>
            <a:r>
              <a:rPr lang="en-US" altLang="zh-CN" sz="2400" dirty="0">
                <a:ea typeface="幼圆" panose="02010509060101010101" pitchFamily="49" charset="-122"/>
              </a:rPr>
              <a:t>C</a:t>
            </a:r>
            <a:r>
              <a:rPr lang="en-US" altLang="zh-CN" sz="2400" baseline="-25000" dirty="0">
                <a:ea typeface="幼圆" panose="02010509060101010101" pitchFamily="49" charset="-122"/>
              </a:rPr>
              <a:t>2</a:t>
            </a:r>
            <a:r>
              <a:rPr lang="zh-CN" altLang="en-US" sz="2400" dirty="0">
                <a:ea typeface="幼圆" panose="02010509060101010101" pitchFamily="49" charset="-122"/>
              </a:rPr>
              <a:t>，</a:t>
            </a:r>
            <a:r>
              <a:rPr lang="en-US" altLang="zh-CN" sz="2400" dirty="0">
                <a:ea typeface="幼圆" panose="02010509060101010101" pitchFamily="49" charset="-122"/>
              </a:rPr>
              <a:t>O</a:t>
            </a:r>
            <a:r>
              <a:rPr lang="en-US" altLang="zh-CN" sz="2400" baseline="-25000" dirty="0">
                <a:ea typeface="幼圆" panose="02010509060101010101" pitchFamily="49" charset="-122"/>
              </a:rPr>
              <a:t>3</a:t>
            </a:r>
            <a:r>
              <a:rPr lang="zh-CN" altLang="en-US" sz="2400" dirty="0">
                <a:ea typeface="幼圆" panose="02010509060101010101" pitchFamily="49" charset="-122"/>
              </a:rPr>
              <a:t>分配给</a:t>
            </a:r>
            <a:r>
              <a:rPr lang="en-US" altLang="zh-CN" sz="2400" dirty="0">
                <a:ea typeface="幼圆" panose="02010509060101010101" pitchFamily="49" charset="-122"/>
              </a:rPr>
              <a:t>C</a:t>
            </a:r>
            <a:r>
              <a:rPr lang="en-US" altLang="zh-CN" sz="2400" baseline="-25000" dirty="0">
                <a:ea typeface="幼圆" panose="02010509060101010101" pitchFamily="49" charset="-122"/>
              </a:rPr>
              <a:t>2</a:t>
            </a:r>
            <a:r>
              <a:rPr lang="en-US" altLang="zh-CN" sz="2400" dirty="0">
                <a:ea typeface="幼圆" panose="02010509060101010101" pitchFamily="49" charset="-122"/>
              </a:rPr>
              <a:t> </a:t>
            </a:r>
            <a:r>
              <a:rPr lang="zh-CN" altLang="en-US" sz="2400" dirty="0">
                <a:ea typeface="幼圆" panose="02010509060101010101" pitchFamily="49" charset="-122"/>
              </a:rPr>
              <a:t>，</a:t>
            </a:r>
            <a:r>
              <a:rPr lang="en-US" altLang="zh-CN" sz="2400" dirty="0">
                <a:ea typeface="幼圆" panose="02010509060101010101" pitchFamily="49" charset="-122"/>
              </a:rPr>
              <a:t>O</a:t>
            </a:r>
            <a:r>
              <a:rPr lang="en-US" altLang="zh-CN" sz="2400" baseline="-25000" dirty="0">
                <a:ea typeface="幼圆" panose="02010509060101010101" pitchFamily="49" charset="-122"/>
              </a:rPr>
              <a:t>4</a:t>
            </a:r>
            <a:r>
              <a:rPr lang="zh-CN" altLang="en-US" sz="2400" dirty="0">
                <a:ea typeface="幼圆" panose="02010509060101010101" pitchFamily="49" charset="-122"/>
              </a:rPr>
              <a:t>分配给</a:t>
            </a:r>
            <a:r>
              <a:rPr lang="en-US" altLang="zh-CN" sz="2400" dirty="0">
                <a:ea typeface="幼圆" panose="02010509060101010101" pitchFamily="49" charset="-122"/>
              </a:rPr>
              <a:t>C</a:t>
            </a:r>
            <a:r>
              <a:rPr lang="en-US" altLang="zh-CN" sz="2400" baseline="-25000" dirty="0">
                <a:ea typeface="幼圆" panose="02010509060101010101" pitchFamily="49" charset="-122"/>
              </a:rPr>
              <a:t>2</a:t>
            </a:r>
            <a:r>
              <a:rPr lang="zh-CN" altLang="en-US" sz="2400" dirty="0">
                <a:ea typeface="幼圆" panose="02010509060101010101" pitchFamily="49" charset="-122"/>
              </a:rPr>
              <a:t>，</a:t>
            </a:r>
            <a:r>
              <a:rPr lang="en-US" altLang="zh-CN" sz="2400" dirty="0">
                <a:ea typeface="幼圆" panose="02010509060101010101" pitchFamily="49" charset="-122"/>
              </a:rPr>
              <a:t>O</a:t>
            </a:r>
            <a:r>
              <a:rPr lang="en-US" altLang="zh-CN" sz="2400" baseline="-25000" dirty="0">
                <a:ea typeface="幼圆" panose="02010509060101010101" pitchFamily="49" charset="-122"/>
              </a:rPr>
              <a:t>5</a:t>
            </a:r>
            <a:r>
              <a:rPr lang="zh-CN" altLang="en-US" sz="2400" dirty="0">
                <a:ea typeface="幼圆" panose="02010509060101010101" pitchFamily="49" charset="-122"/>
              </a:rPr>
              <a:t>分配给</a:t>
            </a:r>
            <a:r>
              <a:rPr lang="en-US" altLang="zh-CN" sz="2400" dirty="0">
                <a:ea typeface="幼圆" panose="02010509060101010101" pitchFamily="49" charset="-122"/>
              </a:rPr>
              <a:t>C</a:t>
            </a:r>
            <a:r>
              <a:rPr lang="en-US" altLang="zh-CN" sz="2400" baseline="-25000" dirty="0">
                <a:ea typeface="幼圆" panose="02010509060101010101" pitchFamily="49" charset="-122"/>
              </a:rPr>
              <a:t>1</a:t>
            </a:r>
            <a:r>
              <a:rPr lang="zh-CN" altLang="en-US" sz="2400" dirty="0">
                <a:ea typeface="幼圆" panose="02010509060101010101" pitchFamily="49" charset="-122"/>
              </a:rPr>
              <a:t>。</a:t>
            </a:r>
            <a:r>
              <a:rPr lang="zh-CN" altLang="en-US" sz="2400" b="1" dirty="0">
                <a:ea typeface="幼圆" panose="02010509060101010101" pitchFamily="49" charset="-122"/>
              </a:rPr>
              <a:t>更新，得到新簇</a:t>
            </a:r>
            <a:endParaRPr lang="zh-CN" altLang="en-US" sz="2400" b="1" dirty="0">
              <a:ea typeface="幼圆" panose="02010509060101010101" pitchFamily="49" charset="-122"/>
            </a:endParaRPr>
          </a:p>
          <a:p>
            <a:pPr>
              <a:spcBef>
                <a:spcPct val="50000"/>
              </a:spcBef>
            </a:pPr>
            <a:r>
              <a:rPr lang="zh-CN" altLang="en-US" sz="2400" b="1" dirty="0">
                <a:ea typeface="幼圆" panose="02010509060101010101" pitchFamily="49" charset="-122"/>
              </a:rPr>
              <a:t>和                           。 中心为</a:t>
            </a:r>
            <a:r>
              <a:rPr lang="en-US" altLang="zh-CN" sz="2400" b="1" dirty="0">
                <a:ea typeface="幼圆" panose="02010509060101010101" pitchFamily="49" charset="-122"/>
              </a:rPr>
              <a:t>   </a:t>
            </a:r>
            <a:r>
              <a:rPr lang="zh-CN" altLang="en-US" sz="2400" b="1" dirty="0">
                <a:ea typeface="幼圆" panose="02010509060101010101" pitchFamily="49" charset="-122"/>
              </a:rPr>
              <a:t>                    ，                      。显影的单个方差分别为</a:t>
            </a:r>
            <a:endParaRPr lang="zh-CN" altLang="en-US" sz="2400" b="1" dirty="0">
              <a:ea typeface="幼圆" panose="02010509060101010101" pitchFamily="49" charset="-122"/>
            </a:endParaRPr>
          </a:p>
        </p:txBody>
      </p:sp>
      <p:sp>
        <p:nvSpPr>
          <p:cNvPr id="40992" name="Rectangle 32"/>
          <p:cNvSpPr>
            <a:spLocks noChangeArrowheads="1"/>
          </p:cNvSpPr>
          <p:nvPr/>
        </p:nvSpPr>
        <p:spPr bwMode="auto">
          <a:xfrm>
            <a:off x="0" y="3134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sp>
        <p:nvSpPr>
          <p:cNvPr id="40994" name="Rectangle 34"/>
          <p:cNvSpPr>
            <a:spLocks noChangeArrowheads="1"/>
          </p:cNvSpPr>
          <p:nvPr/>
        </p:nvSpPr>
        <p:spPr bwMode="auto">
          <a:xfrm>
            <a:off x="0" y="3134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sp>
        <p:nvSpPr>
          <p:cNvPr id="40996" name="Rectangle 36"/>
          <p:cNvSpPr>
            <a:spLocks noChangeArrowheads="1"/>
          </p:cNvSpPr>
          <p:nvPr/>
        </p:nvSpPr>
        <p:spPr bwMode="auto">
          <a:xfrm>
            <a:off x="0" y="3134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sp>
        <p:nvSpPr>
          <p:cNvPr id="40998" name="Rectangle 38"/>
          <p:cNvSpPr>
            <a:spLocks noChangeArrowheads="1"/>
          </p:cNvSpPr>
          <p:nvPr/>
        </p:nvSpPr>
        <p:spPr bwMode="auto">
          <a:xfrm>
            <a:off x="0" y="3130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40997" name="Object 37"/>
          <p:cNvGraphicFramePr>
            <a:graphicFrameLocks noChangeAspect="1"/>
          </p:cNvGraphicFramePr>
          <p:nvPr/>
        </p:nvGraphicFramePr>
        <p:xfrm>
          <a:off x="7164070" y="3033395"/>
          <a:ext cx="1447800" cy="395288"/>
        </p:xfrm>
        <a:graphic>
          <a:graphicData uri="http://schemas.openxmlformats.org/presentationml/2006/ole">
            <mc:AlternateContent xmlns:mc="http://schemas.openxmlformats.org/markup-compatibility/2006">
              <mc:Choice xmlns:v="urn:schemas-microsoft-com:vml" Requires="v">
                <p:oleObj spid="_x0000_s6179" name="公式" r:id="rId7" imgW="865505" imgH="236220" progId="Equation.3">
                  <p:embed/>
                </p:oleObj>
              </mc:Choice>
              <mc:Fallback>
                <p:oleObj name="公式" r:id="rId7" imgW="865505" imgH="236220" progId="Equation.3">
                  <p:embed/>
                  <p:pic>
                    <p:nvPicPr>
                      <p:cNvPr id="0"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64070" y="3033395"/>
                        <a:ext cx="1447800"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9" name="Object 39"/>
          <p:cNvGraphicFramePr>
            <a:graphicFrameLocks noChangeAspect="1"/>
          </p:cNvGraphicFramePr>
          <p:nvPr/>
        </p:nvGraphicFramePr>
        <p:xfrm>
          <a:off x="914400" y="3529965"/>
          <a:ext cx="1905000" cy="396875"/>
        </p:xfrm>
        <a:graphic>
          <a:graphicData uri="http://schemas.openxmlformats.org/presentationml/2006/ole">
            <mc:AlternateContent xmlns:mc="http://schemas.openxmlformats.org/markup-compatibility/2006">
              <mc:Choice xmlns:v="urn:schemas-microsoft-com:vml" Requires="v">
                <p:oleObj spid="_x0000_s6180" name="公式" r:id="rId9" imgW="1130935" imgH="236220" progId="Equation.3">
                  <p:embed/>
                </p:oleObj>
              </mc:Choice>
              <mc:Fallback>
                <p:oleObj name="公式" r:id="rId9" imgW="1130935" imgH="236220" progId="Equation.3">
                  <p:embed/>
                  <p:pic>
                    <p:nvPicPr>
                      <p:cNvPr id="0" name="Object 3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3529965"/>
                        <a:ext cx="1905000"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02" name="Rectangle 4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ea typeface="幼圆" panose="02010509060101010101" pitchFamily="49" charset="-122"/>
            </a:endParaRPr>
          </a:p>
        </p:txBody>
      </p:sp>
      <p:graphicFrame>
        <p:nvGraphicFramePr>
          <p:cNvPr id="41001" name="Object 41"/>
          <p:cNvGraphicFramePr>
            <a:graphicFrameLocks noChangeAspect="1"/>
          </p:cNvGraphicFramePr>
          <p:nvPr/>
        </p:nvGraphicFramePr>
        <p:xfrm>
          <a:off x="4088765" y="3486150"/>
          <a:ext cx="1500188" cy="417513"/>
        </p:xfrm>
        <a:graphic>
          <a:graphicData uri="http://schemas.openxmlformats.org/presentationml/2006/ole">
            <mc:AlternateContent xmlns:mc="http://schemas.openxmlformats.org/markup-compatibility/2006">
              <mc:Choice xmlns:v="urn:schemas-microsoft-com:vml" Requires="v">
                <p:oleObj spid="_x0000_s6181" name="公式" r:id="rId11" imgW="815975" imgH="226060" progId="Equation.3">
                  <p:embed/>
                </p:oleObj>
              </mc:Choice>
              <mc:Fallback>
                <p:oleObj name="公式" r:id="rId11" imgW="815975" imgH="226060" progId="Equation.3">
                  <p:embed/>
                  <p:pic>
                    <p:nvPicPr>
                      <p:cNvPr id="0" name="Object 4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88765" y="3486150"/>
                        <a:ext cx="1500188"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3" name="Object 43"/>
          <p:cNvGraphicFramePr>
            <a:graphicFrameLocks noChangeAspect="1"/>
          </p:cNvGraphicFramePr>
          <p:nvPr/>
        </p:nvGraphicFramePr>
        <p:xfrm>
          <a:off x="5867718" y="3492024"/>
          <a:ext cx="1623695" cy="399415"/>
        </p:xfrm>
        <a:graphic>
          <a:graphicData uri="http://schemas.openxmlformats.org/presentationml/2006/ole">
            <mc:AlternateContent xmlns:mc="http://schemas.openxmlformats.org/markup-compatibility/2006">
              <mc:Choice xmlns:v="urn:schemas-microsoft-com:vml" Requires="v">
                <p:oleObj spid="_x0000_s6182" name="公式" r:id="rId13" imgW="876300" imgH="215900" progId="Equation.3">
                  <p:embed/>
                </p:oleObj>
              </mc:Choice>
              <mc:Fallback>
                <p:oleObj name="公式" r:id="rId13" imgW="876300" imgH="215900" progId="Equation.3">
                  <p:embed/>
                  <p:pic>
                    <p:nvPicPr>
                      <p:cNvPr id="0" name="Object 43"/>
                      <p:cNvPicPr>
                        <a:picLocks noChangeAspect="1" noChangeArrowheads="1"/>
                      </p:cNvPicPr>
                      <p:nvPr/>
                    </p:nvPicPr>
                    <p:blipFill>
                      <a:blip r:embed="rId14"/>
                      <a:srcRect/>
                      <a:stretch>
                        <a:fillRect/>
                      </a:stretch>
                    </p:blipFill>
                    <p:spPr bwMode="auto">
                      <a:xfrm>
                        <a:off x="5867718" y="3492024"/>
                        <a:ext cx="1623695" cy="3994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5" name="Object 45"/>
          <p:cNvGraphicFramePr>
            <a:graphicFrameLocks noChangeAspect="1"/>
          </p:cNvGraphicFramePr>
          <p:nvPr/>
        </p:nvGraphicFramePr>
        <p:xfrm>
          <a:off x="304800" y="4343400"/>
          <a:ext cx="6629400" cy="469900"/>
        </p:xfrm>
        <a:graphic>
          <a:graphicData uri="http://schemas.openxmlformats.org/presentationml/2006/ole">
            <mc:AlternateContent xmlns:mc="http://schemas.openxmlformats.org/markup-compatibility/2006">
              <mc:Choice xmlns:v="urn:schemas-microsoft-com:vml" Requires="v">
                <p:oleObj spid="_x0000_s6183" name="公式" r:id="rId15" imgW="3470910" imgH="245745" progId="Equation.3">
                  <p:embed/>
                </p:oleObj>
              </mc:Choice>
              <mc:Fallback>
                <p:oleObj name="公式" r:id="rId15" imgW="3470910" imgH="245745" progId="Equation.3">
                  <p:embed/>
                  <p:pic>
                    <p:nvPicPr>
                      <p:cNvPr id="0" name="Object 4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4800" y="4343400"/>
                        <a:ext cx="66294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7" name="Object 47"/>
          <p:cNvGraphicFramePr>
            <a:graphicFrameLocks noChangeAspect="1"/>
          </p:cNvGraphicFramePr>
          <p:nvPr/>
        </p:nvGraphicFramePr>
        <p:xfrm>
          <a:off x="7239000" y="4343400"/>
          <a:ext cx="1447800" cy="457200"/>
        </p:xfrm>
        <a:graphic>
          <a:graphicData uri="http://schemas.openxmlformats.org/presentationml/2006/ole">
            <mc:AlternateContent xmlns:mc="http://schemas.openxmlformats.org/markup-compatibility/2006">
              <mc:Choice xmlns:v="urn:schemas-microsoft-com:vml" Requires="v">
                <p:oleObj spid="_x0000_s6184" name="公式" r:id="rId17" imgW="717550" imgH="226060" progId="Equation.3">
                  <p:embed/>
                </p:oleObj>
              </mc:Choice>
              <mc:Fallback>
                <p:oleObj name="公式" r:id="rId17" imgW="717550" imgH="226060" progId="Equation.3">
                  <p:embed/>
                  <p:pic>
                    <p:nvPicPr>
                      <p:cNvPr id="0" name="Object 4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39000" y="4343400"/>
                        <a:ext cx="1447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09" name="Rectangle 49"/>
          <p:cNvSpPr>
            <a:spLocks noChangeArrowheads="1"/>
          </p:cNvSpPr>
          <p:nvPr/>
        </p:nvSpPr>
        <p:spPr bwMode="auto">
          <a:xfrm>
            <a:off x="457200" y="4949974"/>
            <a:ext cx="2590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400" b="1" dirty="0">
                <a:ea typeface="幼圆" panose="02010509060101010101" pitchFamily="49" charset="-122"/>
              </a:rPr>
              <a:t>总体平均误差是：</a:t>
            </a:r>
            <a:r>
              <a:rPr lang="zh-CN" altLang="en-US" dirty="0">
                <a:ea typeface="幼圆" panose="02010509060101010101" pitchFamily="49" charset="-122"/>
              </a:rPr>
              <a:t> </a:t>
            </a:r>
            <a:endParaRPr lang="zh-CN" altLang="en-US" dirty="0">
              <a:ea typeface="幼圆" panose="02010509060101010101" pitchFamily="49" charset="-122"/>
            </a:endParaRPr>
          </a:p>
        </p:txBody>
      </p:sp>
      <p:graphicFrame>
        <p:nvGraphicFramePr>
          <p:cNvPr id="41010" name="Object 50"/>
          <p:cNvGraphicFramePr>
            <a:graphicFrameLocks noChangeAspect="1"/>
          </p:cNvGraphicFramePr>
          <p:nvPr/>
        </p:nvGraphicFramePr>
        <p:xfrm>
          <a:off x="3276600" y="4876800"/>
          <a:ext cx="4419600" cy="446088"/>
        </p:xfrm>
        <a:graphic>
          <a:graphicData uri="http://schemas.openxmlformats.org/presentationml/2006/ole">
            <mc:AlternateContent xmlns:mc="http://schemas.openxmlformats.org/markup-compatibility/2006">
              <mc:Choice xmlns:v="urn:schemas-microsoft-com:vml" Requires="v">
                <p:oleObj spid="_x0000_s6185" name="公式" r:id="rId19" imgW="2241550" imgH="226060" progId="Equation.3">
                  <p:embed/>
                </p:oleObj>
              </mc:Choice>
              <mc:Fallback>
                <p:oleObj name="公式" r:id="rId19" imgW="2241550" imgH="226060" progId="Equation.3">
                  <p:embed/>
                  <p:pic>
                    <p:nvPicPr>
                      <p:cNvPr id="0" name="Object 5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76600" y="4876800"/>
                        <a:ext cx="4419600" cy="446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12" name="Rectangle 52"/>
          <p:cNvSpPr>
            <a:spLocks noChangeArrowheads="1"/>
          </p:cNvSpPr>
          <p:nvPr/>
        </p:nvSpPr>
        <p:spPr bwMode="auto">
          <a:xfrm>
            <a:off x="304800" y="5327561"/>
            <a:ext cx="8839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400" b="1" dirty="0">
                <a:ea typeface="幼圆" panose="02010509060101010101" pitchFamily="49" charset="-122"/>
              </a:rPr>
              <a:t>由上可以看出，第一次迭代后，总体平均误差值</a:t>
            </a:r>
            <a:r>
              <a:rPr lang="en-US" altLang="zh-CN" sz="2400" b="1" dirty="0">
                <a:ea typeface="幼圆" panose="02010509060101010101" pitchFamily="49" charset="-122"/>
              </a:rPr>
              <a:t>52.25~25.65</a:t>
            </a:r>
            <a:r>
              <a:rPr lang="zh-CN" altLang="en-US" sz="2400" b="1" dirty="0">
                <a:ea typeface="幼圆" panose="02010509060101010101" pitchFamily="49" charset="-122"/>
              </a:rPr>
              <a:t>，显著减小。由于在两次迭代中，簇中心不变，所以停止迭代过程</a:t>
            </a:r>
            <a:r>
              <a:rPr lang="zh-CN" altLang="en-US" sz="2400" dirty="0">
                <a:ea typeface="幼圆" panose="02010509060101010101" pitchFamily="49" charset="-122"/>
              </a:rPr>
              <a:t>，</a:t>
            </a:r>
            <a:r>
              <a:rPr lang="zh-CN" altLang="en-US" sz="2400" b="1" dirty="0">
                <a:ea typeface="幼圆" panose="02010509060101010101" pitchFamily="49" charset="-122"/>
              </a:rPr>
              <a:t>算法停止</a:t>
            </a:r>
            <a:r>
              <a:rPr lang="zh-CN" altLang="en-US" sz="2400" dirty="0">
                <a:ea typeface="幼圆" panose="02010509060101010101" pitchFamily="49" charset="-122"/>
              </a:rPr>
              <a:t>。</a:t>
            </a:r>
            <a:r>
              <a:rPr lang="zh-CN" altLang="en-US" dirty="0">
                <a:ea typeface="幼圆" panose="02010509060101010101" pitchFamily="49" charset="-122"/>
              </a:rPr>
              <a:t> </a:t>
            </a:r>
            <a:endParaRPr lang="zh-CN" altLang="en-US" dirty="0">
              <a:ea typeface="幼圆" panose="02010509060101010101"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762000" y="685800"/>
            <a:ext cx="4206240"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0000"/>
              </a:lnSpc>
            </a:pPr>
            <a:r>
              <a:rPr lang="en-US" altLang="zh-CN" sz="2800" b="1" i="1">
                <a:solidFill>
                  <a:srgbClr val="C00000"/>
                </a:solidFill>
                <a:latin typeface="微软雅黑" panose="020B0503020204020204" charset="-122"/>
                <a:ea typeface="微软雅黑" panose="020B0503020204020204" charset="-122"/>
                <a:cs typeface="微软雅黑" panose="020B0503020204020204" charset="-122"/>
              </a:rPr>
              <a:t>k</a:t>
            </a:r>
            <a:r>
              <a:rPr lang="en-US" altLang="zh-CN" sz="2800" b="1">
                <a:solidFill>
                  <a:srgbClr val="C00000"/>
                </a:solidFill>
                <a:latin typeface="微软雅黑" panose="020B0503020204020204" charset="-122"/>
                <a:ea typeface="微软雅黑" panose="020B0503020204020204" charset="-122"/>
                <a:cs typeface="微软雅黑" panose="020B0503020204020204" charset="-122"/>
              </a:rPr>
              <a:t>-means</a:t>
            </a:r>
            <a:r>
              <a:rPr lang="zh-CN" altLang="en-US" sz="2800" b="1">
                <a:solidFill>
                  <a:srgbClr val="C00000"/>
                </a:solidFill>
                <a:latin typeface="微软雅黑" panose="020B0503020204020204" charset="-122"/>
                <a:ea typeface="微软雅黑" panose="020B0503020204020204" charset="-122"/>
                <a:cs typeface="微软雅黑" panose="020B0503020204020204" charset="-122"/>
              </a:rPr>
              <a:t>算法的性能分析</a:t>
            </a:r>
            <a:endParaRPr lang="zh-CN" altLang="en-US" sz="28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8195" name="Rectangle 3"/>
          <p:cNvSpPr>
            <a:spLocks noChangeArrowheads="1"/>
          </p:cNvSpPr>
          <p:nvPr/>
        </p:nvSpPr>
        <p:spPr bwMode="auto">
          <a:xfrm>
            <a:off x="533400" y="1447800"/>
            <a:ext cx="8305800" cy="4793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16280" indent="-25908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60000"/>
              <a:buFont typeface="Wingdings" panose="05000000000000000000" pitchFamily="2" charset="2"/>
              <a:buChar char="n"/>
            </a:pPr>
            <a:r>
              <a:rPr lang="zh-CN" altLang="en-US" sz="2800" b="1" dirty="0">
                <a:solidFill>
                  <a:srgbClr val="002060"/>
                </a:solidFill>
                <a:latin typeface="微软雅黑" panose="020B0503020204020204" charset="-122"/>
                <a:ea typeface="微软雅黑" panose="020B0503020204020204" charset="-122"/>
              </a:rPr>
              <a:t>主要优点：</a:t>
            </a:r>
            <a:endParaRPr lang="zh-CN" altLang="en-US" sz="2800" b="1" dirty="0">
              <a:latin typeface="华文新魏" panose="02010800040101010101" pitchFamily="2" charset="-122"/>
              <a:ea typeface="华文新魏" panose="02010800040101010101" pitchFamily="2" charset="-122"/>
            </a:endParaRPr>
          </a:p>
          <a:p>
            <a:pPr>
              <a:spcBef>
                <a:spcPct val="20000"/>
              </a:spcBef>
              <a:buClr>
                <a:schemeClr val="tx2"/>
              </a:buClr>
              <a:buFont typeface="Wingdings" panose="05000000000000000000" pitchFamily="2" charset="2"/>
              <a:buChar char="u"/>
            </a:pPr>
            <a:r>
              <a:rPr lang="zh-CN" altLang="en-US" sz="2000" dirty="0">
                <a:latin typeface="幼圆" panose="02010509060101010101" pitchFamily="49" charset="-122"/>
                <a:ea typeface="幼圆" panose="02010509060101010101" pitchFamily="49" charset="-122"/>
              </a:rPr>
              <a:t>是解决聚类问题的一种经典算法，简单、快速。</a:t>
            </a:r>
            <a:endParaRPr lang="zh-CN" altLang="en-US" sz="2000" dirty="0">
              <a:latin typeface="幼圆" panose="02010509060101010101" pitchFamily="49" charset="-122"/>
              <a:ea typeface="幼圆" panose="02010509060101010101" pitchFamily="49" charset="-122"/>
            </a:endParaRPr>
          </a:p>
          <a:p>
            <a:pPr>
              <a:spcBef>
                <a:spcPct val="20000"/>
              </a:spcBef>
              <a:buClr>
                <a:schemeClr val="tx2"/>
              </a:buClr>
              <a:buFont typeface="Wingdings" panose="05000000000000000000" pitchFamily="2" charset="2"/>
              <a:buChar char="u"/>
            </a:pPr>
            <a:r>
              <a:rPr lang="zh-CN" altLang="en-US" sz="2000" dirty="0">
                <a:latin typeface="幼圆" panose="02010509060101010101" pitchFamily="49" charset="-122"/>
                <a:ea typeface="幼圆" panose="02010509060101010101" pitchFamily="49" charset="-122"/>
              </a:rPr>
              <a:t>对处理大数据集，该算法是相对可伸缩和高效率的。</a:t>
            </a:r>
            <a:r>
              <a:rPr lang="zh-CN" altLang="en-US" sz="2000" dirty="0">
                <a:ea typeface="幼圆" panose="02010509060101010101" pitchFamily="49" charset="-122"/>
              </a:rPr>
              <a:t>因为它的复杂度是</a:t>
            </a:r>
            <a:r>
              <a:rPr lang="en-US" altLang="zh-CN" sz="2000" dirty="0">
                <a:ea typeface="幼圆" panose="02010509060101010101" pitchFamily="49" charset="-122"/>
              </a:rPr>
              <a:t>0 (n k t ) , </a:t>
            </a:r>
            <a:r>
              <a:rPr lang="zh-CN" altLang="en-US" sz="2000" dirty="0">
                <a:ea typeface="幼圆" panose="02010509060101010101" pitchFamily="49" charset="-122"/>
              </a:rPr>
              <a:t>其中</a:t>
            </a:r>
            <a:r>
              <a:rPr lang="en-US" altLang="zh-CN" sz="2000" dirty="0">
                <a:ea typeface="幼圆" panose="02010509060101010101" pitchFamily="49" charset="-122"/>
              </a:rPr>
              <a:t>, n </a:t>
            </a:r>
            <a:r>
              <a:rPr lang="zh-CN" altLang="en-US" sz="2000" dirty="0">
                <a:ea typeface="幼圆" panose="02010509060101010101" pitchFamily="49" charset="-122"/>
              </a:rPr>
              <a:t>是所有对象的数目</a:t>
            </a:r>
            <a:r>
              <a:rPr lang="en-US" altLang="zh-CN" sz="2000" dirty="0">
                <a:ea typeface="幼圆" panose="02010509060101010101" pitchFamily="49" charset="-122"/>
              </a:rPr>
              <a:t>, k </a:t>
            </a:r>
            <a:r>
              <a:rPr lang="zh-CN" altLang="en-US" sz="2000" dirty="0">
                <a:ea typeface="幼圆" panose="02010509060101010101" pitchFamily="49" charset="-122"/>
              </a:rPr>
              <a:t>是簇的数目</a:t>
            </a:r>
            <a:r>
              <a:rPr lang="en-US" altLang="zh-CN" sz="2000" dirty="0">
                <a:ea typeface="幼圆" panose="02010509060101010101" pitchFamily="49" charset="-122"/>
              </a:rPr>
              <a:t>, t </a:t>
            </a:r>
            <a:r>
              <a:rPr lang="zh-CN" altLang="en-US" sz="2000" dirty="0">
                <a:ea typeface="幼圆" panose="02010509060101010101" pitchFamily="49" charset="-122"/>
              </a:rPr>
              <a:t>是迭代的次数。通常</a:t>
            </a:r>
            <a:r>
              <a:rPr lang="en-US" altLang="zh-CN" sz="2000" dirty="0">
                <a:ea typeface="幼圆" panose="02010509060101010101" pitchFamily="49" charset="-122"/>
              </a:rPr>
              <a:t>k &lt; &lt;n </a:t>
            </a:r>
            <a:r>
              <a:rPr lang="zh-CN" altLang="en-US" sz="2000" dirty="0">
                <a:ea typeface="幼圆" panose="02010509060101010101" pitchFamily="49" charset="-122"/>
              </a:rPr>
              <a:t>且</a:t>
            </a:r>
            <a:r>
              <a:rPr lang="en-US" altLang="zh-CN" sz="2000" dirty="0">
                <a:ea typeface="幼圆" panose="02010509060101010101" pitchFamily="49" charset="-122"/>
              </a:rPr>
              <a:t>t &lt; &lt;n </a:t>
            </a:r>
            <a:r>
              <a:rPr lang="zh-CN" altLang="en-US" sz="2000" dirty="0">
                <a:ea typeface="幼圆" panose="02010509060101010101" pitchFamily="49" charset="-122"/>
              </a:rPr>
              <a:t>。</a:t>
            </a:r>
            <a:endParaRPr lang="zh-CN" altLang="en-US" sz="2000" dirty="0">
              <a:ea typeface="幼圆" panose="02010509060101010101" pitchFamily="49" charset="-122"/>
            </a:endParaRPr>
          </a:p>
          <a:p>
            <a:pPr>
              <a:spcBef>
                <a:spcPct val="20000"/>
              </a:spcBef>
              <a:buClr>
                <a:schemeClr val="tx2"/>
              </a:buClr>
              <a:buFont typeface="Wingdings" panose="05000000000000000000" pitchFamily="2" charset="2"/>
              <a:buChar char="u"/>
            </a:pPr>
            <a:r>
              <a:rPr lang="zh-CN" altLang="en-US" sz="2000" dirty="0">
                <a:latin typeface="幼圆" panose="02010509060101010101" pitchFamily="49" charset="-122"/>
                <a:ea typeface="幼圆" panose="02010509060101010101" pitchFamily="49" charset="-122"/>
              </a:rPr>
              <a:t>当结果簇是密集的，而簇与簇之间区别明显时</a:t>
            </a:r>
            <a:r>
              <a:rPr lang="en-US" altLang="zh-CN" sz="2000" dirty="0">
                <a:latin typeface="幼圆" panose="02010509060101010101" pitchFamily="49" charset="-122"/>
                <a:ea typeface="幼圆" panose="02010509060101010101" pitchFamily="49" charset="-122"/>
              </a:rPr>
              <a:t>, </a:t>
            </a:r>
            <a:r>
              <a:rPr lang="zh-CN" altLang="en-US" sz="2000" dirty="0">
                <a:latin typeface="幼圆" panose="02010509060101010101" pitchFamily="49" charset="-122"/>
                <a:ea typeface="幼圆" panose="02010509060101010101" pitchFamily="49" charset="-122"/>
              </a:rPr>
              <a:t>它的效果较好。</a:t>
            </a:r>
            <a:endParaRPr lang="zh-CN" altLang="en-US" sz="2000" b="1" dirty="0">
              <a:latin typeface="幼圆" panose="02010509060101010101" pitchFamily="49" charset="-122"/>
              <a:ea typeface="幼圆" panose="02010509060101010101" pitchFamily="49" charset="-122"/>
            </a:endParaRPr>
          </a:p>
          <a:p>
            <a:pPr algn="l">
              <a:spcBef>
                <a:spcPct val="20000"/>
              </a:spcBef>
              <a:buClr>
                <a:schemeClr val="tx1"/>
              </a:buClr>
              <a:buSzPct val="60000"/>
              <a:buFont typeface="Wingdings" panose="05000000000000000000" pitchFamily="2" charset="2"/>
              <a:buChar char="n"/>
            </a:pPr>
            <a:r>
              <a:rPr lang="zh-CN" altLang="en-US" sz="2800" b="1" dirty="0">
                <a:solidFill>
                  <a:srgbClr val="002060"/>
                </a:solidFill>
                <a:latin typeface="微软雅黑" panose="020B0503020204020204" charset="-122"/>
                <a:ea typeface="微软雅黑" panose="020B0503020204020204" charset="-122"/>
              </a:rPr>
              <a:t>主要缺点</a:t>
            </a:r>
            <a:endParaRPr lang="zh-CN" altLang="en-US" sz="2800" b="1" dirty="0">
              <a:solidFill>
                <a:srgbClr val="002060"/>
              </a:solidFill>
              <a:latin typeface="微软雅黑" panose="020B0503020204020204" charset="-122"/>
              <a:ea typeface="微软雅黑" panose="020B0503020204020204" charset="-122"/>
            </a:endParaRPr>
          </a:p>
          <a:p>
            <a:pPr>
              <a:spcBef>
                <a:spcPct val="20000"/>
              </a:spcBef>
              <a:buClr>
                <a:schemeClr val="tx2"/>
              </a:buClr>
              <a:buFont typeface="Wingdings" panose="05000000000000000000" pitchFamily="2" charset="2"/>
              <a:buChar char="u"/>
            </a:pPr>
            <a:r>
              <a:rPr lang="zh-CN" altLang="en-US" sz="2000" dirty="0">
                <a:latin typeface="幼圆" panose="02010509060101010101" pitchFamily="49" charset="-122"/>
                <a:ea typeface="幼圆" panose="02010509060101010101" pitchFamily="49" charset="-122"/>
              </a:rPr>
              <a:t>在簇的平均值被定义的情况下才能使用，</a:t>
            </a:r>
            <a:r>
              <a:rPr lang="zh-CN" altLang="en-US" sz="2000" dirty="0">
                <a:ea typeface="幼圆" panose="02010509060101010101" pitchFamily="49" charset="-122"/>
              </a:rPr>
              <a:t>这对于处理符号属性的数据不适用。</a:t>
            </a:r>
            <a:endParaRPr lang="zh-CN" altLang="en-US" sz="2000" dirty="0">
              <a:ea typeface="幼圆" panose="02010509060101010101" pitchFamily="49" charset="-122"/>
            </a:endParaRPr>
          </a:p>
          <a:p>
            <a:pPr>
              <a:spcBef>
                <a:spcPct val="20000"/>
              </a:spcBef>
              <a:buClr>
                <a:schemeClr val="tx2"/>
              </a:buClr>
              <a:buFont typeface="Wingdings" panose="05000000000000000000" pitchFamily="2" charset="2"/>
              <a:buChar char="u"/>
            </a:pPr>
            <a:r>
              <a:rPr lang="zh-CN" altLang="en-US" sz="2000" dirty="0">
                <a:latin typeface="幼圆" panose="02010509060101010101" pitchFamily="49" charset="-122"/>
                <a:ea typeface="幼圆" panose="02010509060101010101" pitchFamily="49" charset="-122"/>
              </a:rPr>
              <a:t>必须事先给出</a:t>
            </a:r>
            <a:r>
              <a:rPr lang="en-US" altLang="zh-CN" sz="2000" i="1" dirty="0">
                <a:latin typeface="幼圆" panose="02010509060101010101" pitchFamily="49" charset="-122"/>
                <a:ea typeface="幼圆" panose="02010509060101010101" pitchFamily="49" charset="-122"/>
              </a:rPr>
              <a:t>k</a:t>
            </a:r>
            <a:r>
              <a:rPr lang="zh-CN" altLang="en-US" sz="2000" dirty="0">
                <a:latin typeface="幼圆" panose="02010509060101010101" pitchFamily="49" charset="-122"/>
                <a:ea typeface="幼圆" panose="02010509060101010101" pitchFamily="49" charset="-122"/>
              </a:rPr>
              <a:t>（要生成的簇的数目），而且对初值敏感，对于不同的初始值，可能会导致不同结果。</a:t>
            </a:r>
            <a:endParaRPr lang="zh-CN" altLang="en-US" sz="2000" i="1" dirty="0">
              <a:latin typeface="幼圆" panose="02010509060101010101" pitchFamily="49" charset="-122"/>
              <a:ea typeface="幼圆" panose="02010509060101010101" pitchFamily="49" charset="-122"/>
            </a:endParaRPr>
          </a:p>
          <a:p>
            <a:pPr>
              <a:spcBef>
                <a:spcPct val="20000"/>
              </a:spcBef>
              <a:buClr>
                <a:schemeClr val="tx2"/>
              </a:buClr>
              <a:buFont typeface="Wingdings" panose="05000000000000000000" pitchFamily="2" charset="2"/>
              <a:buChar char="u"/>
            </a:pPr>
            <a:r>
              <a:rPr lang="zh-CN" altLang="en-US" sz="2000" dirty="0">
                <a:latin typeface="幼圆" panose="02010509060101010101" pitchFamily="49" charset="-122"/>
                <a:ea typeface="幼圆" panose="02010509060101010101" pitchFamily="49" charset="-122"/>
              </a:rPr>
              <a:t>它对于“躁声”和孤立点数据是敏感的，</a:t>
            </a:r>
            <a:r>
              <a:rPr lang="zh-CN" altLang="en-US" sz="2000" dirty="0">
                <a:ea typeface="幼圆" panose="02010509060101010101" pitchFamily="49" charset="-122"/>
              </a:rPr>
              <a:t>少量的该类数据能够对平均值产生极大的影响。</a:t>
            </a:r>
            <a:endParaRPr lang="zh-CN" altLang="en-US" sz="2000" dirty="0">
              <a:ea typeface="幼圆" panose="02010509060101010101" pitchFamily="49"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Text Box 4"/>
          <p:cNvSpPr txBox="1">
            <a:spLocks noChangeArrowheads="1"/>
          </p:cNvSpPr>
          <p:nvPr/>
        </p:nvSpPr>
        <p:spPr bwMode="auto">
          <a:xfrm>
            <a:off x="228600" y="1295400"/>
            <a:ext cx="8610600" cy="4154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 typeface="Wingdings" panose="05000000000000000000" pitchFamily="2" charset="2"/>
              <a:buChar char="u"/>
            </a:pPr>
            <a:r>
              <a:rPr lang="en-US" altLang="zh-CN" sz="2400" dirty="0">
                <a:ea typeface="幼圆" panose="02010509060101010101" pitchFamily="49" charset="-122"/>
              </a:rPr>
              <a:t>k-modes </a:t>
            </a:r>
            <a:r>
              <a:rPr lang="zh-CN" altLang="en-US" sz="2400" dirty="0">
                <a:ea typeface="幼圆" panose="02010509060101010101" pitchFamily="49" charset="-122"/>
              </a:rPr>
              <a:t>算法：实现对离散数据的快速聚类，保留了</a:t>
            </a:r>
            <a:r>
              <a:rPr lang="en-US" altLang="zh-CN" sz="2400" dirty="0">
                <a:ea typeface="幼圆" panose="02010509060101010101" pitchFamily="49" charset="-122"/>
              </a:rPr>
              <a:t>k-means</a:t>
            </a:r>
            <a:r>
              <a:rPr lang="zh-CN" altLang="en-US" sz="2400" dirty="0">
                <a:ea typeface="幼圆" panose="02010509060101010101" pitchFamily="49" charset="-122"/>
              </a:rPr>
              <a:t>算法的效率同时将</a:t>
            </a:r>
            <a:r>
              <a:rPr lang="en-US" altLang="zh-CN" sz="2400" dirty="0">
                <a:ea typeface="幼圆" panose="02010509060101010101" pitchFamily="49" charset="-122"/>
              </a:rPr>
              <a:t>k-means</a:t>
            </a:r>
            <a:r>
              <a:rPr lang="zh-CN" altLang="en-US" sz="2400" dirty="0">
                <a:ea typeface="幼圆" panose="02010509060101010101" pitchFamily="49" charset="-122"/>
              </a:rPr>
              <a:t>的应用范围扩大到离散数据。</a:t>
            </a:r>
            <a:endParaRPr lang="zh-CN" altLang="en-US" sz="2400" dirty="0">
              <a:ea typeface="幼圆" panose="02010509060101010101" pitchFamily="49" charset="-122"/>
            </a:endParaRPr>
          </a:p>
          <a:p>
            <a:endParaRPr lang="zh-CN" altLang="en-US" sz="2400" dirty="0">
              <a:ea typeface="幼圆" panose="02010509060101010101" pitchFamily="49" charset="-122"/>
            </a:endParaRPr>
          </a:p>
          <a:p>
            <a:pPr>
              <a:buFont typeface="Wingdings" panose="05000000000000000000" pitchFamily="2" charset="2"/>
              <a:buChar char="u"/>
            </a:pPr>
            <a:r>
              <a:rPr lang="en-US" altLang="zh-CN" sz="2400" dirty="0">
                <a:ea typeface="幼圆" panose="02010509060101010101" pitchFamily="49" charset="-122"/>
              </a:rPr>
              <a:t>K-modes</a:t>
            </a:r>
            <a:r>
              <a:rPr lang="zh-CN" altLang="en-US" sz="2400" dirty="0">
                <a:ea typeface="幼圆" panose="02010509060101010101" pitchFamily="49" charset="-122"/>
              </a:rPr>
              <a:t>算法是按照</a:t>
            </a:r>
            <a:r>
              <a:rPr lang="en-US" altLang="zh-CN" sz="2400" dirty="0">
                <a:ea typeface="幼圆" panose="02010509060101010101" pitchFamily="49" charset="-122"/>
              </a:rPr>
              <a:t>k-means</a:t>
            </a:r>
            <a:r>
              <a:rPr lang="zh-CN" altLang="en-US" sz="2400" dirty="0">
                <a:ea typeface="幼圆" panose="02010509060101010101" pitchFamily="49" charset="-122"/>
              </a:rPr>
              <a:t>算法的核心内容进行修改，针对分类属性的度量和更新质心的问题而改进。</a:t>
            </a:r>
            <a:endParaRPr lang="zh-CN" altLang="en-US" sz="2400" dirty="0">
              <a:ea typeface="幼圆" panose="02010509060101010101" pitchFamily="49" charset="-122"/>
            </a:endParaRPr>
          </a:p>
          <a:p>
            <a:pPr>
              <a:buFont typeface="Wingdings" panose="05000000000000000000" pitchFamily="2" charset="2"/>
              <a:buNone/>
            </a:pPr>
            <a:r>
              <a:rPr lang="zh-CN" altLang="en-US" sz="2400" dirty="0">
                <a:ea typeface="幼圆" panose="02010509060101010101" pitchFamily="49" charset="-122"/>
              </a:rPr>
              <a:t>具体如下</a:t>
            </a:r>
            <a:r>
              <a:rPr lang="en-US" altLang="zh-CN" sz="2400" dirty="0">
                <a:ea typeface="幼圆" panose="02010509060101010101" pitchFamily="49" charset="-122"/>
              </a:rPr>
              <a:t>:</a:t>
            </a:r>
            <a:endParaRPr lang="en-US" altLang="zh-CN" sz="2400" dirty="0">
              <a:ea typeface="幼圆" panose="02010509060101010101" pitchFamily="49" charset="-122"/>
            </a:endParaRPr>
          </a:p>
          <a:p>
            <a:pPr>
              <a:buFont typeface="Wingdings" panose="05000000000000000000" pitchFamily="2" charset="2"/>
              <a:buNone/>
            </a:pPr>
            <a:r>
              <a:rPr lang="en-US" altLang="zh-CN" sz="2400" dirty="0">
                <a:ea typeface="幼圆" panose="02010509060101010101" pitchFamily="49" charset="-122"/>
              </a:rPr>
              <a:t>1.</a:t>
            </a:r>
            <a:r>
              <a:rPr lang="zh-CN" altLang="en-US" sz="2400" dirty="0">
                <a:ea typeface="幼圆" panose="02010509060101010101" pitchFamily="49" charset="-122"/>
              </a:rPr>
              <a:t>度量记录之间的相关性</a:t>
            </a:r>
            <a:r>
              <a:rPr lang="en-US" altLang="zh-CN" sz="2400" dirty="0">
                <a:ea typeface="幼圆" panose="02010509060101010101" pitchFamily="49" charset="-122"/>
              </a:rPr>
              <a:t>D</a:t>
            </a:r>
            <a:r>
              <a:rPr lang="zh-CN" altLang="en-US" sz="2400" dirty="0">
                <a:ea typeface="幼圆" panose="02010509060101010101" pitchFamily="49" charset="-122"/>
              </a:rPr>
              <a:t>的计算公式是比较两记录之间，属性相同为</a:t>
            </a:r>
            <a:r>
              <a:rPr lang="en-US" altLang="zh-CN" sz="2400" dirty="0">
                <a:ea typeface="幼圆" panose="02010509060101010101" pitchFamily="49" charset="-122"/>
              </a:rPr>
              <a:t>0</a:t>
            </a:r>
            <a:r>
              <a:rPr lang="zh-CN" altLang="en-US" sz="2400" dirty="0">
                <a:ea typeface="幼圆" panose="02010509060101010101" pitchFamily="49" charset="-122"/>
              </a:rPr>
              <a:t>，不同为</a:t>
            </a:r>
            <a:r>
              <a:rPr lang="en-US" altLang="zh-CN" sz="2400" dirty="0">
                <a:ea typeface="幼圆" panose="02010509060101010101" pitchFamily="49" charset="-122"/>
              </a:rPr>
              <a:t>1.</a:t>
            </a:r>
            <a:r>
              <a:rPr lang="zh-CN" altLang="en-US" sz="2400" dirty="0">
                <a:ea typeface="幼圆" panose="02010509060101010101" pitchFamily="49" charset="-122"/>
              </a:rPr>
              <a:t>并所有相加。因此</a:t>
            </a:r>
            <a:r>
              <a:rPr lang="en-US" altLang="zh-CN" sz="2400" dirty="0">
                <a:ea typeface="幼圆" panose="02010509060101010101" pitchFamily="49" charset="-122"/>
              </a:rPr>
              <a:t>D</a:t>
            </a:r>
            <a:r>
              <a:rPr lang="zh-CN" altLang="en-US" sz="2400" dirty="0">
                <a:ea typeface="幼圆" panose="02010509060101010101" pitchFamily="49" charset="-122"/>
              </a:rPr>
              <a:t>越大，即他的不相关程度越强（与欧式距离代表的意义是一样的）；</a:t>
            </a:r>
            <a:endParaRPr lang="zh-CN" altLang="en-US" sz="2400" dirty="0">
              <a:ea typeface="幼圆" panose="02010509060101010101" pitchFamily="49" charset="-122"/>
            </a:endParaRPr>
          </a:p>
          <a:p>
            <a:r>
              <a:rPr lang="en-US" altLang="zh-CN" sz="2400" dirty="0">
                <a:ea typeface="幼圆" panose="02010509060101010101" pitchFamily="49" charset="-122"/>
              </a:rPr>
              <a:t>2.</a:t>
            </a:r>
            <a:r>
              <a:rPr lang="zh-CN" altLang="en-US" sz="2400" dirty="0">
                <a:ea typeface="幼圆" panose="02010509060101010101" pitchFamily="49" charset="-122"/>
              </a:rPr>
              <a:t>更新</a:t>
            </a:r>
            <a:r>
              <a:rPr lang="en-US" altLang="zh-CN" sz="2400" dirty="0">
                <a:ea typeface="幼圆" panose="02010509060101010101" pitchFamily="49" charset="-122"/>
              </a:rPr>
              <a:t>modes</a:t>
            </a:r>
            <a:r>
              <a:rPr lang="zh-CN" altLang="en-US" sz="2400" dirty="0">
                <a:ea typeface="幼圆" panose="02010509060101010101" pitchFamily="49" charset="-122"/>
              </a:rPr>
              <a:t>，使用一个簇的每个属性出现频率最大的那个属性值作为代表簇的属性值。</a:t>
            </a:r>
            <a:endParaRPr lang="zh-CN" altLang="en-US" sz="2400" dirty="0">
              <a:ea typeface="幼圆" panose="02010509060101010101" pitchFamily="49" charset="-122"/>
            </a:endParaRPr>
          </a:p>
        </p:txBody>
      </p:sp>
      <p:sp>
        <p:nvSpPr>
          <p:cNvPr id="47111" name="Rectangle 7"/>
          <p:cNvSpPr>
            <a:spLocks noChangeArrowheads="1"/>
          </p:cNvSpPr>
          <p:nvPr/>
        </p:nvSpPr>
        <p:spPr bwMode="auto">
          <a:xfrm>
            <a:off x="304800" y="304800"/>
            <a:ext cx="7696200"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2800" b="1">
                <a:solidFill>
                  <a:srgbClr val="C00000"/>
                </a:solidFill>
                <a:latin typeface="微软雅黑" panose="020B0503020204020204" charset="-122"/>
                <a:ea typeface="微软雅黑" panose="020B0503020204020204" charset="-122"/>
                <a:cs typeface="微软雅黑" panose="020B0503020204020204" charset="-122"/>
              </a:rPr>
              <a:t>k-means</a:t>
            </a:r>
            <a:r>
              <a:rPr lang="zh-CN" altLang="en-US" sz="2800" b="1">
                <a:solidFill>
                  <a:srgbClr val="C00000"/>
                </a:solidFill>
                <a:latin typeface="微软雅黑" panose="020B0503020204020204" charset="-122"/>
                <a:ea typeface="微软雅黑" panose="020B0503020204020204" charset="-122"/>
                <a:cs typeface="微软雅黑" panose="020B0503020204020204" charset="-122"/>
              </a:rPr>
              <a:t>算法的改进方法</a:t>
            </a:r>
            <a:r>
              <a:rPr lang="en-US" altLang="zh-CN" sz="2800" b="1">
                <a:solidFill>
                  <a:srgbClr val="C00000"/>
                </a:solidFill>
                <a:latin typeface="微软雅黑" panose="020B0503020204020204" charset="-122"/>
                <a:ea typeface="微软雅黑" panose="020B0503020204020204" charset="-122"/>
                <a:cs typeface="微软雅黑" panose="020B0503020204020204" charset="-122"/>
              </a:rPr>
              <a:t>——k-mode </a:t>
            </a:r>
            <a:r>
              <a:rPr lang="zh-CN" altLang="en-US" sz="2800" b="1">
                <a:solidFill>
                  <a:srgbClr val="C00000"/>
                </a:solidFill>
                <a:latin typeface="微软雅黑" panose="020B0503020204020204" charset="-122"/>
                <a:ea typeface="微软雅黑" panose="020B0503020204020204" charset="-122"/>
                <a:cs typeface="微软雅黑" panose="020B0503020204020204" charset="-122"/>
              </a:rPr>
              <a:t>算法</a:t>
            </a:r>
            <a:endParaRPr lang="zh-CN" altLang="en-US" sz="2800" b="1">
              <a:solidFill>
                <a:srgbClr val="C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4"/>
          <p:cNvSpPr txBox="1">
            <a:spLocks noChangeArrowheads="1"/>
          </p:cNvSpPr>
          <p:nvPr/>
        </p:nvSpPr>
        <p:spPr bwMode="auto">
          <a:xfrm>
            <a:off x="304800" y="1371600"/>
            <a:ext cx="8305800" cy="4154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 typeface="Wingdings" panose="05000000000000000000" pitchFamily="2" charset="2"/>
              <a:buChar char="u"/>
            </a:pPr>
            <a:r>
              <a:rPr lang="en-US" altLang="zh-CN" sz="2400" i="1" dirty="0">
                <a:ea typeface="幼圆" panose="02010509060101010101" pitchFamily="49" charset="-122"/>
              </a:rPr>
              <a:t>k</a:t>
            </a:r>
            <a:r>
              <a:rPr lang="en-US" altLang="zh-CN" sz="2400" dirty="0">
                <a:ea typeface="幼圆" panose="02010509060101010101" pitchFamily="49" charset="-122"/>
              </a:rPr>
              <a:t>-Prototype</a:t>
            </a:r>
            <a:r>
              <a:rPr lang="zh-CN" altLang="en-US" sz="2400" dirty="0">
                <a:ea typeface="幼圆" panose="02010509060101010101" pitchFamily="49" charset="-122"/>
              </a:rPr>
              <a:t>算法：可以对离散与数值属性两种混合的数据进行聚类，在</a:t>
            </a:r>
            <a:r>
              <a:rPr lang="en-US" altLang="zh-CN" sz="2400" i="1" dirty="0">
                <a:ea typeface="幼圆" panose="02010509060101010101" pitchFamily="49" charset="-122"/>
              </a:rPr>
              <a:t>k</a:t>
            </a:r>
            <a:r>
              <a:rPr lang="en-US" altLang="zh-CN" sz="2400" dirty="0">
                <a:ea typeface="幼圆" panose="02010509060101010101" pitchFamily="49" charset="-122"/>
              </a:rPr>
              <a:t>-prototype</a:t>
            </a:r>
            <a:r>
              <a:rPr lang="zh-CN" altLang="en-US" sz="2400" dirty="0">
                <a:ea typeface="幼圆" panose="02010509060101010101" pitchFamily="49" charset="-122"/>
              </a:rPr>
              <a:t>中定义了一个对数值与离散属性都计算的相异性度量标准。</a:t>
            </a:r>
            <a:endParaRPr lang="zh-CN" altLang="en-US" sz="2400" dirty="0">
              <a:ea typeface="幼圆" panose="02010509060101010101" pitchFamily="49" charset="-122"/>
            </a:endParaRPr>
          </a:p>
          <a:p>
            <a:r>
              <a:rPr lang="en-US" altLang="zh-CN" sz="2400" dirty="0">
                <a:ea typeface="幼圆" panose="02010509060101010101" pitchFamily="49" charset="-122"/>
              </a:rPr>
              <a:t>K-Prototype</a:t>
            </a:r>
            <a:r>
              <a:rPr lang="zh-CN" altLang="en-US" sz="2400" dirty="0">
                <a:ea typeface="幼圆" panose="02010509060101010101" pitchFamily="49" charset="-122"/>
              </a:rPr>
              <a:t>算法是结合</a:t>
            </a:r>
            <a:r>
              <a:rPr lang="en-US" altLang="zh-CN" sz="2400" dirty="0">
                <a:ea typeface="幼圆" panose="02010509060101010101" pitchFamily="49" charset="-122"/>
              </a:rPr>
              <a:t>K-Means</a:t>
            </a:r>
            <a:r>
              <a:rPr lang="zh-CN" altLang="en-US" sz="2400" dirty="0">
                <a:ea typeface="幼圆" panose="02010509060101010101" pitchFamily="49" charset="-122"/>
              </a:rPr>
              <a:t>与</a:t>
            </a:r>
            <a:r>
              <a:rPr lang="en-US" altLang="zh-CN" sz="2400" dirty="0">
                <a:ea typeface="幼圆" panose="02010509060101010101" pitchFamily="49" charset="-122"/>
              </a:rPr>
              <a:t>K-modes</a:t>
            </a:r>
            <a:r>
              <a:rPr lang="zh-CN" altLang="en-US" sz="2400" dirty="0">
                <a:ea typeface="幼圆" panose="02010509060101010101" pitchFamily="49" charset="-122"/>
              </a:rPr>
              <a:t>算法，针对混合属性的，解决</a:t>
            </a:r>
            <a:r>
              <a:rPr lang="en-US" altLang="zh-CN" sz="2400" dirty="0">
                <a:ea typeface="幼圆" panose="02010509060101010101" pitchFamily="49" charset="-122"/>
              </a:rPr>
              <a:t>2</a:t>
            </a:r>
            <a:r>
              <a:rPr lang="zh-CN" altLang="en-US" sz="2400" dirty="0">
                <a:ea typeface="幼圆" panose="02010509060101010101" pitchFamily="49" charset="-122"/>
              </a:rPr>
              <a:t>个核心问题如下：</a:t>
            </a:r>
            <a:endParaRPr lang="zh-CN" altLang="en-US" sz="2400" dirty="0">
              <a:ea typeface="幼圆" panose="02010509060101010101" pitchFamily="49" charset="-122"/>
            </a:endParaRPr>
          </a:p>
          <a:p>
            <a:r>
              <a:rPr lang="en-US" altLang="zh-CN" sz="2400" dirty="0">
                <a:ea typeface="幼圆" panose="02010509060101010101" pitchFamily="49" charset="-122"/>
              </a:rPr>
              <a:t>1.</a:t>
            </a:r>
            <a:r>
              <a:rPr lang="zh-CN" altLang="en-US" sz="2400" dirty="0">
                <a:ea typeface="幼圆" panose="02010509060101010101" pitchFamily="49" charset="-122"/>
              </a:rPr>
              <a:t>度量具有混合属性的方法是，数值属性采用</a:t>
            </a:r>
            <a:r>
              <a:rPr lang="en-US" altLang="zh-CN" sz="2400" dirty="0">
                <a:ea typeface="幼圆" panose="02010509060101010101" pitchFamily="49" charset="-122"/>
              </a:rPr>
              <a:t>K-means</a:t>
            </a:r>
            <a:r>
              <a:rPr lang="zh-CN" altLang="en-US" sz="2400" dirty="0">
                <a:ea typeface="幼圆" panose="02010509060101010101" pitchFamily="49" charset="-122"/>
              </a:rPr>
              <a:t>方法得到</a:t>
            </a:r>
            <a:r>
              <a:rPr lang="en-US" altLang="zh-CN" sz="2400" dirty="0">
                <a:ea typeface="幼圆" panose="02010509060101010101" pitchFamily="49" charset="-122"/>
              </a:rPr>
              <a:t>P1</a:t>
            </a:r>
            <a:r>
              <a:rPr lang="zh-CN" altLang="en-US" sz="2400" dirty="0">
                <a:ea typeface="幼圆" panose="02010509060101010101" pitchFamily="49" charset="-122"/>
              </a:rPr>
              <a:t>，分类属性采用</a:t>
            </a:r>
            <a:r>
              <a:rPr lang="en-US" altLang="zh-CN" sz="2400" dirty="0">
                <a:ea typeface="幼圆" panose="02010509060101010101" pitchFamily="49" charset="-122"/>
              </a:rPr>
              <a:t>K-modes</a:t>
            </a:r>
            <a:r>
              <a:rPr lang="zh-CN" altLang="en-US" sz="2400" dirty="0">
                <a:ea typeface="幼圆" panose="02010509060101010101" pitchFamily="49" charset="-122"/>
              </a:rPr>
              <a:t>方法</a:t>
            </a:r>
            <a:r>
              <a:rPr lang="en-US" altLang="zh-CN" sz="2400" dirty="0">
                <a:ea typeface="幼圆" panose="02010509060101010101" pitchFamily="49" charset="-122"/>
              </a:rPr>
              <a:t>P2</a:t>
            </a:r>
            <a:r>
              <a:rPr lang="zh-CN" altLang="en-US" sz="2400" dirty="0">
                <a:ea typeface="幼圆" panose="02010509060101010101" pitchFamily="49" charset="-122"/>
              </a:rPr>
              <a:t>，那么</a:t>
            </a:r>
            <a:r>
              <a:rPr lang="en-US" altLang="zh-CN" sz="2400" dirty="0">
                <a:ea typeface="幼圆" panose="02010509060101010101" pitchFamily="49" charset="-122"/>
              </a:rPr>
              <a:t>D=P1+a*P2</a:t>
            </a:r>
            <a:r>
              <a:rPr lang="zh-CN" altLang="en-US" sz="2400" dirty="0">
                <a:ea typeface="幼圆" panose="02010509060101010101" pitchFamily="49" charset="-122"/>
              </a:rPr>
              <a:t>，</a:t>
            </a:r>
            <a:r>
              <a:rPr lang="en-US" altLang="zh-CN" sz="2400" dirty="0">
                <a:ea typeface="幼圆" panose="02010509060101010101" pitchFamily="49" charset="-122"/>
              </a:rPr>
              <a:t>a</a:t>
            </a:r>
            <a:r>
              <a:rPr lang="zh-CN" altLang="en-US" sz="2400" dirty="0">
                <a:ea typeface="幼圆" panose="02010509060101010101" pitchFamily="49" charset="-122"/>
              </a:rPr>
              <a:t>是权重，如果觉得分类属性重要，则增加</a:t>
            </a:r>
            <a:r>
              <a:rPr lang="en-US" altLang="zh-CN" sz="2400" dirty="0">
                <a:ea typeface="幼圆" panose="02010509060101010101" pitchFamily="49" charset="-122"/>
              </a:rPr>
              <a:t>a</a:t>
            </a:r>
            <a:r>
              <a:rPr lang="zh-CN" altLang="en-US" sz="2400" dirty="0">
                <a:ea typeface="幼圆" panose="02010509060101010101" pitchFamily="49" charset="-122"/>
              </a:rPr>
              <a:t>，否则减少</a:t>
            </a:r>
            <a:r>
              <a:rPr lang="en-US" altLang="zh-CN" sz="2400" dirty="0">
                <a:ea typeface="幼圆" panose="02010509060101010101" pitchFamily="49" charset="-122"/>
              </a:rPr>
              <a:t>a</a:t>
            </a:r>
            <a:r>
              <a:rPr lang="zh-CN" altLang="en-US" sz="2400" dirty="0">
                <a:ea typeface="幼圆" panose="02010509060101010101" pitchFamily="49" charset="-122"/>
              </a:rPr>
              <a:t>，</a:t>
            </a:r>
            <a:r>
              <a:rPr lang="en-US" altLang="zh-CN" sz="2400" dirty="0">
                <a:ea typeface="幼圆" panose="02010509060101010101" pitchFamily="49" charset="-122"/>
              </a:rPr>
              <a:t>a=0</a:t>
            </a:r>
            <a:r>
              <a:rPr lang="zh-CN" altLang="en-US" sz="2400" dirty="0">
                <a:ea typeface="幼圆" panose="02010509060101010101" pitchFamily="49" charset="-122"/>
              </a:rPr>
              <a:t>时即只有数值属性</a:t>
            </a:r>
            <a:endParaRPr lang="zh-CN" altLang="en-US" sz="2400" dirty="0">
              <a:ea typeface="幼圆" panose="02010509060101010101" pitchFamily="49" charset="-122"/>
            </a:endParaRPr>
          </a:p>
          <a:p>
            <a:r>
              <a:rPr lang="en-US" altLang="zh-CN" sz="2400" dirty="0">
                <a:ea typeface="幼圆" panose="02010509060101010101" pitchFamily="49" charset="-122"/>
              </a:rPr>
              <a:t>2.</a:t>
            </a:r>
            <a:r>
              <a:rPr lang="zh-CN" altLang="en-US" sz="2400" dirty="0">
                <a:ea typeface="幼圆" panose="02010509060101010101" pitchFamily="49" charset="-122"/>
              </a:rPr>
              <a:t>更新一个簇的中心的方法，方法是结合</a:t>
            </a:r>
            <a:r>
              <a:rPr lang="en-US" altLang="zh-CN" sz="2400" dirty="0">
                <a:ea typeface="幼圆" panose="02010509060101010101" pitchFamily="49" charset="-122"/>
              </a:rPr>
              <a:t>K-Means</a:t>
            </a:r>
            <a:r>
              <a:rPr lang="zh-CN" altLang="en-US" sz="2400" dirty="0">
                <a:ea typeface="幼圆" panose="02010509060101010101" pitchFamily="49" charset="-122"/>
              </a:rPr>
              <a:t>与</a:t>
            </a:r>
            <a:r>
              <a:rPr lang="en-US" altLang="zh-CN" sz="2400" dirty="0">
                <a:ea typeface="幼圆" panose="02010509060101010101" pitchFamily="49" charset="-122"/>
              </a:rPr>
              <a:t>K-modes</a:t>
            </a:r>
            <a:r>
              <a:rPr lang="zh-CN" altLang="en-US" sz="2400" dirty="0">
                <a:ea typeface="幼圆" panose="02010509060101010101" pitchFamily="49" charset="-122"/>
              </a:rPr>
              <a:t>的更新方法。</a:t>
            </a:r>
            <a:endParaRPr lang="zh-CN" altLang="en-US" sz="2400" dirty="0">
              <a:ea typeface="幼圆" panose="02010509060101010101" pitchFamily="49" charset="-122"/>
            </a:endParaRPr>
          </a:p>
        </p:txBody>
      </p:sp>
      <p:sp>
        <p:nvSpPr>
          <p:cNvPr id="49157" name="Rectangle 5"/>
          <p:cNvSpPr>
            <a:spLocks noChangeArrowheads="1"/>
          </p:cNvSpPr>
          <p:nvPr/>
        </p:nvSpPr>
        <p:spPr bwMode="auto">
          <a:xfrm>
            <a:off x="304800" y="304800"/>
            <a:ext cx="8534400" cy="632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3200" b="1">
                <a:solidFill>
                  <a:srgbClr val="C00000"/>
                </a:solidFill>
                <a:latin typeface="微软雅黑" panose="020B0503020204020204" charset="-122"/>
                <a:ea typeface="微软雅黑" panose="020B0503020204020204" charset="-122"/>
                <a:cs typeface="微软雅黑" panose="020B0503020204020204" charset="-122"/>
              </a:rPr>
              <a:t>k-means</a:t>
            </a:r>
            <a:r>
              <a:rPr lang="zh-CN" altLang="en-US" sz="3200" b="1">
                <a:solidFill>
                  <a:srgbClr val="C00000"/>
                </a:solidFill>
                <a:latin typeface="微软雅黑" panose="020B0503020204020204" charset="-122"/>
                <a:ea typeface="微软雅黑" panose="020B0503020204020204" charset="-122"/>
                <a:cs typeface="微软雅黑" panose="020B0503020204020204" charset="-122"/>
              </a:rPr>
              <a:t>算法的改进方法</a:t>
            </a:r>
            <a:r>
              <a:rPr lang="en-US" altLang="zh-CN" sz="3200" b="1">
                <a:solidFill>
                  <a:srgbClr val="C00000"/>
                </a:solidFill>
                <a:latin typeface="微软雅黑" panose="020B0503020204020204" charset="-122"/>
                <a:ea typeface="微软雅黑" panose="020B0503020204020204" charset="-122"/>
                <a:cs typeface="微软雅黑" panose="020B0503020204020204" charset="-122"/>
              </a:rPr>
              <a:t>k-prototype</a:t>
            </a:r>
            <a:r>
              <a:rPr lang="zh-CN" altLang="en-US" sz="3200" b="1">
                <a:solidFill>
                  <a:srgbClr val="C00000"/>
                </a:solidFill>
                <a:latin typeface="微软雅黑" panose="020B0503020204020204" charset="-122"/>
                <a:ea typeface="微软雅黑" panose="020B0503020204020204" charset="-122"/>
                <a:cs typeface="微软雅黑" panose="020B0503020204020204" charset="-122"/>
              </a:rPr>
              <a:t>算法</a:t>
            </a:r>
            <a:endParaRPr lang="zh-CN" altLang="en-US" sz="3200" b="1">
              <a:solidFill>
                <a:srgbClr val="C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4"/>
          <p:cNvSpPr>
            <a:spLocks noChangeArrowheads="1"/>
          </p:cNvSpPr>
          <p:nvPr/>
        </p:nvSpPr>
        <p:spPr bwMode="auto">
          <a:xfrm>
            <a:off x="395605" y="1412875"/>
            <a:ext cx="7848600" cy="249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buSzPct val="60000"/>
              <a:buFont typeface="Wingdings" panose="05000000000000000000" pitchFamily="2" charset="2"/>
              <a:buNone/>
            </a:pPr>
            <a:r>
              <a:rPr lang="en-US" altLang="zh-CN" sz="2400" i="1" dirty="0">
                <a:ea typeface="幼圆" panose="02010509060101010101" pitchFamily="49" charset="-122"/>
              </a:rPr>
              <a:t>k</a:t>
            </a:r>
            <a:r>
              <a:rPr lang="en-US" altLang="zh-CN" sz="2400" dirty="0">
                <a:ea typeface="幼圆" panose="02010509060101010101" pitchFamily="49" charset="-122"/>
              </a:rPr>
              <a:t>-</a:t>
            </a:r>
            <a:r>
              <a:rPr lang="zh-CN" altLang="en-US" sz="2400" dirty="0">
                <a:ea typeface="幼圆" panose="02010509060101010101" pitchFamily="49" charset="-122"/>
              </a:rPr>
              <a:t>中心点算法：</a:t>
            </a:r>
            <a:endParaRPr lang="zh-CN" altLang="en-US" sz="2400" dirty="0">
              <a:ea typeface="幼圆" panose="02010509060101010101" pitchFamily="49" charset="-122"/>
            </a:endParaRPr>
          </a:p>
          <a:p>
            <a:pPr>
              <a:spcBef>
                <a:spcPct val="50000"/>
              </a:spcBef>
              <a:buClr>
                <a:schemeClr val="tx1"/>
              </a:buClr>
              <a:buSzPct val="60000"/>
              <a:buFont typeface="Wingdings" panose="05000000000000000000" pitchFamily="2" charset="2"/>
              <a:buNone/>
            </a:pPr>
            <a:r>
              <a:rPr lang="en-US" altLang="zh-CN" sz="2400" i="1" dirty="0">
                <a:ea typeface="幼圆" panose="02010509060101010101" pitchFamily="49" charset="-122"/>
              </a:rPr>
              <a:t>k</a:t>
            </a:r>
            <a:r>
              <a:rPr lang="en-US" altLang="zh-CN" sz="2400" dirty="0">
                <a:ea typeface="幼圆" panose="02010509060101010101" pitchFamily="49" charset="-122"/>
              </a:rPr>
              <a:t> -means</a:t>
            </a:r>
            <a:r>
              <a:rPr lang="zh-CN" altLang="en-US" sz="2400" dirty="0">
                <a:ea typeface="幼圆" panose="02010509060101010101" pitchFamily="49" charset="-122"/>
              </a:rPr>
              <a:t>算法对于孤立点是敏感的。为了解决这个问题，不采用簇中的平均值作为参照点，可以选用簇中位置最中心的对象，即中心点作为参照点。这样划分方法仍然是基于最小化所有对象与其参照点之间的相异度之和的原则来执行的。 </a:t>
            </a:r>
            <a:endParaRPr lang="zh-CN" altLang="en-US" sz="2400" dirty="0">
              <a:ea typeface="幼圆" panose="02010509060101010101" pitchFamily="49" charset="-122"/>
            </a:endParaRPr>
          </a:p>
        </p:txBody>
      </p:sp>
      <p:sp>
        <p:nvSpPr>
          <p:cNvPr id="50181" name="Rectangle 5"/>
          <p:cNvSpPr>
            <a:spLocks noChangeArrowheads="1"/>
          </p:cNvSpPr>
          <p:nvPr/>
        </p:nvSpPr>
        <p:spPr bwMode="auto">
          <a:xfrm>
            <a:off x="457200" y="685800"/>
            <a:ext cx="7848600" cy="632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3200" b="1">
                <a:solidFill>
                  <a:srgbClr val="C00000"/>
                </a:solidFill>
                <a:latin typeface="微软雅黑" panose="020B0503020204020204" charset="-122"/>
                <a:ea typeface="微软雅黑" panose="020B0503020204020204" charset="-122"/>
                <a:cs typeface="微软雅黑" panose="020B0503020204020204" charset="-122"/>
              </a:rPr>
              <a:t>k-means</a:t>
            </a:r>
            <a:r>
              <a:rPr lang="zh-CN" altLang="en-US" sz="3200" b="1">
                <a:solidFill>
                  <a:srgbClr val="C00000"/>
                </a:solidFill>
                <a:latin typeface="微软雅黑" panose="020B0503020204020204" charset="-122"/>
                <a:ea typeface="微软雅黑" panose="020B0503020204020204" charset="-122"/>
                <a:cs typeface="微软雅黑" panose="020B0503020204020204" charset="-122"/>
              </a:rPr>
              <a:t>算法的改进方法</a:t>
            </a:r>
            <a:r>
              <a:rPr lang="en-US" altLang="zh-CN" sz="3200" b="1">
                <a:solidFill>
                  <a:srgbClr val="C00000"/>
                </a:solidFill>
                <a:latin typeface="微软雅黑" panose="020B0503020204020204" charset="-122"/>
                <a:ea typeface="微软雅黑" panose="020B0503020204020204" charset="-122"/>
                <a:cs typeface="微软雅黑" panose="020B0503020204020204" charset="-122"/>
              </a:rPr>
              <a:t>—k-</a:t>
            </a:r>
            <a:r>
              <a:rPr lang="zh-CN" altLang="en-US" sz="3200" b="1">
                <a:solidFill>
                  <a:srgbClr val="C00000"/>
                </a:solidFill>
                <a:latin typeface="微软雅黑" panose="020B0503020204020204" charset="-122"/>
                <a:ea typeface="微软雅黑" panose="020B0503020204020204" charset="-122"/>
                <a:cs typeface="微软雅黑" panose="020B0503020204020204" charset="-122"/>
              </a:rPr>
              <a:t>中心点算法</a:t>
            </a:r>
            <a:endParaRPr lang="zh-CN" altLang="en-US" sz="3200" b="1">
              <a:solidFill>
                <a:srgbClr val="C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15695" y="1268730"/>
            <a:ext cx="5080000" cy="1322070"/>
          </a:xfrm>
          <a:prstGeom prst="rect">
            <a:avLst/>
          </a:prstGeom>
        </p:spPr>
        <p:txBody>
          <a:bodyPr>
            <a:spAutoFit/>
          </a:bodyPr>
          <a:p>
            <a:pPr marL="0" indent="0">
              <a:spcAft>
                <a:spcPct val="0"/>
              </a:spcAft>
            </a:pP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1"/>
              </a:rPr>
              <a:t>idx =</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1"/>
              </a:rPr>
              <a:t> </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1"/>
              </a:rPr>
              <a:t>kmeans</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1"/>
              </a:rPr>
              <a:t>(X,k)</a:t>
            </a:r>
            <a:endParaRPr lang="en-US" altLang="zh-CN" sz="1600" b="0" i="0">
              <a:solidFill>
                <a:srgbClr val="004B87"/>
              </a:solidFill>
              <a:latin typeface="Times New Roman" panose="02020603050405020304" pitchFamily="18" charset="0"/>
              <a:ea typeface="Menlo"/>
              <a:cs typeface="Times New Roman" panose="02020603050405020304" pitchFamily="18" charset="0"/>
              <a:hlinkClick r:id="rId1"/>
            </a:endParaRPr>
          </a:p>
          <a:p>
            <a:pPr marL="0" indent="0">
              <a:spcAft>
                <a:spcPct val="0"/>
              </a:spcAft>
            </a:pP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2"/>
              </a:rPr>
              <a:t>idx =</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2"/>
              </a:rPr>
              <a:t> </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2"/>
              </a:rPr>
              <a:t>kmeans</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2"/>
              </a:rPr>
              <a:t>(X,k,Name,Value)</a:t>
            </a:r>
            <a:endParaRPr lang="en-US" altLang="zh-CN" sz="1600" b="0" i="0">
              <a:solidFill>
                <a:srgbClr val="004B87"/>
              </a:solidFill>
              <a:latin typeface="Times New Roman" panose="02020603050405020304" pitchFamily="18" charset="0"/>
              <a:ea typeface="Menlo"/>
              <a:cs typeface="Times New Roman" panose="02020603050405020304" pitchFamily="18" charset="0"/>
              <a:hlinkClick r:id="rId2"/>
            </a:endParaRPr>
          </a:p>
          <a:p>
            <a:pPr marL="0" indent="0">
              <a:spcAft>
                <a:spcPct val="0"/>
              </a:spcAft>
            </a:pP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3"/>
              </a:rPr>
              <a:t>[idx,C] =</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3"/>
              </a:rPr>
              <a:t> </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3"/>
              </a:rPr>
              <a:t>kmeans</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3"/>
              </a:rPr>
              <a:t>(</a:t>
            </a:r>
            <a:r>
              <a:rPr lang="en-US" altLang="zh-CN" sz="1600" b="1" i="0">
                <a:solidFill>
                  <a:srgbClr val="004B87"/>
                </a:solidFill>
                <a:latin typeface="Times New Roman" panose="02020603050405020304" pitchFamily="18" charset="0"/>
                <a:ea typeface="Menlo"/>
                <a:cs typeface="Times New Roman" panose="02020603050405020304" pitchFamily="18" charset="0"/>
                <a:hlinkClick r:id="rId3"/>
              </a:rPr>
              <a:t>___</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3"/>
              </a:rPr>
              <a:t>)</a:t>
            </a:r>
            <a:endParaRPr lang="en-US" altLang="zh-CN" sz="1600" b="0" i="0">
              <a:solidFill>
                <a:srgbClr val="004B87"/>
              </a:solidFill>
              <a:latin typeface="Times New Roman" panose="02020603050405020304" pitchFamily="18" charset="0"/>
              <a:ea typeface="Menlo"/>
              <a:cs typeface="Times New Roman" panose="02020603050405020304" pitchFamily="18" charset="0"/>
              <a:hlinkClick r:id="rId3"/>
            </a:endParaRPr>
          </a:p>
          <a:p>
            <a:pPr marL="0" indent="0">
              <a:spcAft>
                <a:spcPct val="0"/>
              </a:spcAft>
            </a:pP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4"/>
              </a:rPr>
              <a:t>[idx,C,sumd] =</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4"/>
              </a:rPr>
              <a:t> </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4"/>
              </a:rPr>
              <a:t>kmeans</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4"/>
              </a:rPr>
              <a:t>(</a:t>
            </a:r>
            <a:r>
              <a:rPr lang="en-US" altLang="zh-CN" sz="1600" b="1" i="0">
                <a:solidFill>
                  <a:srgbClr val="004B87"/>
                </a:solidFill>
                <a:latin typeface="Times New Roman" panose="02020603050405020304" pitchFamily="18" charset="0"/>
                <a:ea typeface="Menlo"/>
                <a:cs typeface="Times New Roman" panose="02020603050405020304" pitchFamily="18" charset="0"/>
                <a:hlinkClick r:id="rId4"/>
              </a:rPr>
              <a:t>___</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4"/>
              </a:rPr>
              <a:t>)</a:t>
            </a:r>
            <a:endParaRPr lang="en-US" altLang="zh-CN" sz="1600" b="0" i="0">
              <a:solidFill>
                <a:srgbClr val="004B87"/>
              </a:solidFill>
              <a:latin typeface="Times New Roman" panose="02020603050405020304" pitchFamily="18" charset="0"/>
              <a:ea typeface="Menlo"/>
              <a:cs typeface="Times New Roman" panose="02020603050405020304" pitchFamily="18" charset="0"/>
              <a:hlinkClick r:id="rId4"/>
            </a:endParaRPr>
          </a:p>
          <a:p>
            <a:pPr marL="0" indent="0">
              <a:spcAft>
                <a:spcPct val="0"/>
              </a:spcAft>
            </a:pP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5"/>
              </a:rPr>
              <a:t>[idx,C,sumd,D] =</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5"/>
              </a:rPr>
              <a:t> </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5"/>
              </a:rPr>
              <a:t>kmeans</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5"/>
              </a:rPr>
              <a:t>(</a:t>
            </a:r>
            <a:r>
              <a:rPr lang="en-US" altLang="zh-CN" sz="1600" b="1" i="0">
                <a:solidFill>
                  <a:srgbClr val="004B87"/>
                </a:solidFill>
                <a:latin typeface="Times New Roman" panose="02020603050405020304" pitchFamily="18" charset="0"/>
                <a:ea typeface="Menlo"/>
                <a:cs typeface="Times New Roman" panose="02020603050405020304" pitchFamily="18" charset="0"/>
                <a:hlinkClick r:id="rId5"/>
              </a:rPr>
              <a:t>___</a:t>
            </a:r>
            <a:r>
              <a:rPr lang="en-US" altLang="zh-CN" sz="1600" b="0" i="0">
                <a:solidFill>
                  <a:srgbClr val="004B87"/>
                </a:solidFill>
                <a:latin typeface="Times New Roman" panose="02020603050405020304" pitchFamily="18" charset="0"/>
                <a:ea typeface="Menlo"/>
                <a:cs typeface="Times New Roman" panose="02020603050405020304" pitchFamily="18" charset="0"/>
                <a:hlinkClick r:id="rId5"/>
              </a:rPr>
              <a:t>)</a:t>
            </a:r>
            <a:endParaRPr lang="en-US" altLang="zh-CN" sz="1600" b="0" i="0">
              <a:solidFill>
                <a:srgbClr val="004B87"/>
              </a:solidFill>
              <a:latin typeface="Times New Roman" panose="02020603050405020304" pitchFamily="18" charset="0"/>
              <a:ea typeface="Menlo"/>
              <a:cs typeface="Times New Roman" panose="02020603050405020304" pitchFamily="18" charset="0"/>
              <a:hlinkClick r:id="rId5"/>
            </a:endParaRPr>
          </a:p>
        </p:txBody>
      </p:sp>
      <p:sp>
        <p:nvSpPr>
          <p:cNvPr id="3" name="文本框 2"/>
          <p:cNvSpPr txBox="1"/>
          <p:nvPr/>
        </p:nvSpPr>
        <p:spPr>
          <a:xfrm>
            <a:off x="1043305" y="2997200"/>
            <a:ext cx="7056120" cy="2030095"/>
          </a:xfrm>
          <a:prstGeom prst="rect">
            <a:avLst/>
          </a:prstGeom>
          <a:noFill/>
        </p:spPr>
        <p:txBody>
          <a:bodyPr wrap="square" rtlCol="0" anchor="t">
            <a:spAutoFit/>
          </a:bodyPr>
          <a:p>
            <a:r>
              <a:rPr lang="en-US" altLang="zh-CN">
                <a:latin typeface="Times New Roman" panose="02020603050405020304" pitchFamily="18" charset="0"/>
                <a:cs typeface="Times New Roman" panose="02020603050405020304" pitchFamily="18" charset="0"/>
              </a:rPr>
              <a:t>1, idx = kmeans(X,k) </a:t>
            </a:r>
            <a:r>
              <a:rPr lang="zh-CN" altLang="en-US">
                <a:latin typeface="Times New Roman" panose="02020603050405020304" pitchFamily="18" charset="0"/>
                <a:cs typeface="Times New Roman" panose="02020603050405020304" pitchFamily="18" charset="0"/>
              </a:rPr>
              <a:t>执行</a:t>
            </a:r>
            <a:r>
              <a:rPr lang="en-US" altLang="zh-CN">
                <a:latin typeface="Times New Roman" panose="02020603050405020304" pitchFamily="18" charset="0"/>
                <a:cs typeface="Times New Roman" panose="02020603050405020304" pitchFamily="18" charset="0"/>
              </a:rPr>
              <a:t> k </a:t>
            </a:r>
            <a:r>
              <a:rPr lang="zh-CN" altLang="en-US">
                <a:latin typeface="Times New Roman" panose="02020603050405020304" pitchFamily="18" charset="0"/>
                <a:cs typeface="Times New Roman" panose="02020603050405020304" pitchFamily="18" charset="0"/>
              </a:rPr>
              <a:t>均值聚类，以将</a:t>
            </a:r>
            <a:r>
              <a:rPr lang="en-US" altLang="zh-CN">
                <a:latin typeface="Times New Roman" panose="02020603050405020304" pitchFamily="18" charset="0"/>
                <a:cs typeface="Times New Roman" panose="02020603050405020304" pitchFamily="18" charset="0"/>
              </a:rPr>
              <a:t> n</a:t>
            </a:r>
            <a:r>
              <a:rPr lang="en-US"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p </a:t>
            </a:r>
            <a:r>
              <a:rPr lang="zh-CN" altLang="en-US">
                <a:latin typeface="Times New Roman" panose="02020603050405020304" pitchFamily="18" charset="0"/>
                <a:cs typeface="Times New Roman" panose="02020603050405020304" pitchFamily="18" charset="0"/>
              </a:rPr>
              <a:t>数据矩阵</a:t>
            </a:r>
            <a:r>
              <a:rPr lang="en-US" altLang="zh-CN">
                <a:latin typeface="Times New Roman" panose="02020603050405020304" pitchFamily="18" charset="0"/>
                <a:cs typeface="Times New Roman" panose="02020603050405020304" pitchFamily="18" charset="0"/>
              </a:rPr>
              <a:t> X </a:t>
            </a:r>
            <a:r>
              <a:rPr lang="zh-CN" altLang="en-US">
                <a:latin typeface="Times New Roman" panose="02020603050405020304" pitchFamily="18" charset="0"/>
                <a:cs typeface="Times New Roman" panose="02020603050405020304" pitchFamily="18" charset="0"/>
              </a:rPr>
              <a:t>的观测值划分为</a:t>
            </a:r>
            <a:r>
              <a:rPr lang="en-US" altLang="zh-CN">
                <a:latin typeface="Times New Roman" panose="02020603050405020304" pitchFamily="18" charset="0"/>
                <a:cs typeface="Times New Roman" panose="02020603050405020304" pitchFamily="18" charset="0"/>
              </a:rPr>
              <a:t> k </a:t>
            </a:r>
            <a:r>
              <a:rPr lang="zh-CN" altLang="en-US">
                <a:latin typeface="Times New Roman" panose="02020603050405020304" pitchFamily="18" charset="0"/>
                <a:cs typeface="Times New Roman" panose="02020603050405020304" pitchFamily="18" charset="0"/>
              </a:rPr>
              <a:t>个聚类，并返回包含每个观测值的簇索引的</a:t>
            </a:r>
            <a:r>
              <a:rPr lang="en-US" altLang="zh-CN">
                <a:latin typeface="Times New Roman" panose="02020603050405020304" pitchFamily="18" charset="0"/>
                <a:cs typeface="Times New Roman" panose="02020603050405020304" pitchFamily="18" charset="0"/>
              </a:rPr>
              <a:t> n</a:t>
            </a:r>
            <a:r>
              <a:rPr lang="en-US"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1 </a:t>
            </a:r>
            <a:r>
              <a:rPr lang="zh-CN" altLang="en-US">
                <a:latin typeface="Times New Roman" panose="02020603050405020304" pitchFamily="18" charset="0"/>
                <a:cs typeface="Times New Roman" panose="02020603050405020304" pitchFamily="18" charset="0"/>
              </a:rPr>
              <a:t>向量</a:t>
            </a:r>
            <a:r>
              <a:rPr lang="en-US" altLang="zh-CN">
                <a:latin typeface="Times New Roman" panose="02020603050405020304" pitchFamily="18" charset="0"/>
                <a:cs typeface="Times New Roman" panose="02020603050405020304" pitchFamily="18" charset="0"/>
              </a:rPr>
              <a:t> (idx)</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X </a:t>
            </a:r>
            <a:r>
              <a:rPr lang="zh-CN" altLang="en-US">
                <a:latin typeface="Times New Roman" panose="02020603050405020304" pitchFamily="18" charset="0"/>
                <a:cs typeface="Times New Roman" panose="02020603050405020304" pitchFamily="18" charset="0"/>
              </a:rPr>
              <a:t>的行对应于点，列对应于变量。</a:t>
            </a:r>
            <a:endParaRPr lang="zh-CN" altLang="en-US">
              <a:latin typeface="Times New Roman" panose="02020603050405020304" pitchFamily="18" charset="0"/>
              <a:cs typeface="Times New Roman" panose="02020603050405020304" pitchFamily="18" charset="0"/>
            </a:endParaRPr>
          </a:p>
          <a:p>
            <a:r>
              <a:rPr lang="zh-CN" altLang="en-US">
                <a:latin typeface="Times New Roman" panose="02020603050405020304" pitchFamily="18" charset="0"/>
                <a:cs typeface="Times New Roman" panose="02020603050405020304" pitchFamily="18" charset="0"/>
              </a:rPr>
              <a:t>默认情况下，</a:t>
            </a:r>
            <a:r>
              <a:rPr lang="en-US" altLang="zh-CN">
                <a:latin typeface="Times New Roman" panose="02020603050405020304" pitchFamily="18" charset="0"/>
                <a:cs typeface="Times New Roman" panose="02020603050405020304" pitchFamily="18" charset="0"/>
              </a:rPr>
              <a:t>kmeans </a:t>
            </a:r>
            <a:r>
              <a:rPr lang="zh-CN" altLang="en-US">
                <a:latin typeface="Times New Roman" panose="02020603050405020304" pitchFamily="18" charset="0"/>
                <a:cs typeface="Times New Roman" panose="02020603050405020304" pitchFamily="18" charset="0"/>
              </a:rPr>
              <a:t>使用欧几里德距离平方度量，并用</a:t>
            </a:r>
            <a:r>
              <a:rPr lang="en-US" altLang="zh-CN">
                <a:latin typeface="Times New Roman" panose="02020603050405020304" pitchFamily="18" charset="0"/>
                <a:cs typeface="Times New Roman" panose="02020603050405020304" pitchFamily="18" charset="0"/>
              </a:rPr>
              <a:t> k-means++ </a:t>
            </a:r>
            <a:r>
              <a:rPr lang="zh-CN" altLang="en-US">
                <a:latin typeface="Times New Roman" panose="02020603050405020304" pitchFamily="18" charset="0"/>
                <a:cs typeface="Times New Roman" panose="02020603050405020304" pitchFamily="18" charset="0"/>
              </a:rPr>
              <a:t>算法进行簇中心初始化。</a:t>
            </a:r>
            <a:endParaRPr lang="zh-CN" altLang="en-US">
              <a:latin typeface="Times New Roman" panose="02020603050405020304" pitchFamily="18" charset="0"/>
              <a:cs typeface="Times New Roman" panose="02020603050405020304" pitchFamily="18" charset="0"/>
            </a:endParaRPr>
          </a:p>
          <a:p>
            <a:pPr algn="l">
              <a:buClrTx/>
              <a:buSzTx/>
              <a:buFontTx/>
            </a:pPr>
            <a:r>
              <a:rPr lang="en-US" altLang="zh-CN">
                <a:solidFill>
                  <a:srgbClr val="404040"/>
                </a:solidFill>
                <a:latin typeface="Times New Roman" panose="02020603050405020304" pitchFamily="18" charset="0"/>
                <a:ea typeface="Menlo"/>
                <a:cs typeface="Times New Roman" panose="02020603050405020304" pitchFamily="18" charset="0"/>
                <a:sym typeface="+mn-ea"/>
              </a:rPr>
              <a:t>2, [</a:t>
            </a:r>
            <a:r>
              <a:rPr lang="en-US" altLang="zh-CN">
                <a:solidFill>
                  <a:srgbClr val="004B87"/>
                </a:solidFill>
                <a:latin typeface="Times New Roman" panose="02020603050405020304" pitchFamily="18" charset="0"/>
                <a:ea typeface="Menlo"/>
                <a:cs typeface="Times New Roman" panose="02020603050405020304" pitchFamily="18" charset="0"/>
                <a:sym typeface="+mn-ea"/>
                <a:hlinkClick r:id="rId6"/>
              </a:rPr>
              <a:t>idx</a:t>
            </a:r>
            <a:r>
              <a:rPr lang="en-US" altLang="zh-CN">
                <a:solidFill>
                  <a:srgbClr val="404040"/>
                </a:solidFill>
                <a:latin typeface="Times New Roman" panose="02020603050405020304" pitchFamily="18" charset="0"/>
                <a:ea typeface="Menlo"/>
                <a:cs typeface="Times New Roman" panose="02020603050405020304" pitchFamily="18" charset="0"/>
                <a:sym typeface="+mn-ea"/>
              </a:rPr>
              <a:t>,</a:t>
            </a:r>
            <a:r>
              <a:rPr lang="en-US" altLang="zh-CN">
                <a:solidFill>
                  <a:srgbClr val="004B87"/>
                </a:solidFill>
                <a:latin typeface="Times New Roman" panose="02020603050405020304" pitchFamily="18" charset="0"/>
                <a:ea typeface="Menlo"/>
                <a:cs typeface="Times New Roman" panose="02020603050405020304" pitchFamily="18" charset="0"/>
                <a:sym typeface="+mn-ea"/>
                <a:hlinkClick r:id="rId7"/>
              </a:rPr>
              <a:t>C</a:t>
            </a:r>
            <a:r>
              <a:rPr lang="en-US" altLang="zh-CN">
                <a:solidFill>
                  <a:srgbClr val="404040"/>
                </a:solidFill>
                <a:latin typeface="Times New Roman" panose="02020603050405020304" pitchFamily="18" charset="0"/>
                <a:ea typeface="Menlo"/>
                <a:cs typeface="Times New Roman" panose="02020603050405020304" pitchFamily="18" charset="0"/>
                <a:sym typeface="+mn-ea"/>
              </a:rPr>
              <a:t>] = </a:t>
            </a:r>
            <a:r>
              <a:rPr lang="zh-CN" altLang="en-US">
                <a:latin typeface="Times New Roman" panose="02020603050405020304" pitchFamily="18" charset="0"/>
                <a:cs typeface="Times New Roman" panose="02020603050405020304" pitchFamily="18" charset="0"/>
                <a:sym typeface="+mn-ea"/>
              </a:rPr>
              <a:t>kmeans(___) 在 k×p 矩阵 C 中返回 k 个簇质心的位置。</a:t>
            </a:r>
            <a:endParaRPr lang="zh-CN" altLang="en-US" b="0" i="0">
              <a:latin typeface="Times New Roman" panose="02020603050405020304" pitchFamily="18" charset="0"/>
              <a:cs typeface="Times New Roman" panose="02020603050405020304" pitchFamily="18" charset="0"/>
            </a:endParaRPr>
          </a:p>
          <a:p>
            <a:endParaRPr lang="zh-CN" altLang="en-US">
              <a:latin typeface="Times New Roman" panose="02020603050405020304" pitchFamily="18" charset="0"/>
              <a:cs typeface="Times New Roman" panose="02020603050405020304" pitchFamily="18" charset="0"/>
            </a:endParaRPr>
          </a:p>
        </p:txBody>
      </p:sp>
      <p:sp>
        <p:nvSpPr>
          <p:cNvPr id="5" name="文本框 4"/>
          <p:cNvSpPr txBox="1"/>
          <p:nvPr/>
        </p:nvSpPr>
        <p:spPr>
          <a:xfrm>
            <a:off x="1043305" y="620395"/>
            <a:ext cx="4542790" cy="460375"/>
          </a:xfrm>
          <a:prstGeom prst="rect">
            <a:avLst/>
          </a:prstGeom>
          <a:noFill/>
        </p:spPr>
        <p:txBody>
          <a:bodyPr wrap="square" rtlCol="0">
            <a:spAutoFit/>
          </a:bodyPr>
          <a:p>
            <a:r>
              <a:rPr lang="en-US" altLang="zh-CN" sz="2400" b="1">
                <a:solidFill>
                  <a:srgbClr val="C00000"/>
                </a:solidFill>
                <a:latin typeface="微软雅黑" panose="020B0503020204020204" charset="-122"/>
                <a:ea typeface="微软雅黑" panose="020B0503020204020204" charset="-122"/>
                <a:cs typeface="微软雅黑" panose="020B0503020204020204" charset="-122"/>
              </a:rPr>
              <a:t>k-Means matlab</a:t>
            </a:r>
            <a:r>
              <a:rPr lang="zh-CN" altLang="en-US" sz="2400" b="1">
                <a:solidFill>
                  <a:srgbClr val="C00000"/>
                </a:solidFill>
                <a:latin typeface="微软雅黑" panose="020B0503020204020204" charset="-122"/>
                <a:ea typeface="微软雅黑" panose="020B0503020204020204" charset="-122"/>
                <a:cs typeface="微软雅黑" panose="020B0503020204020204" charset="-122"/>
              </a:rPr>
              <a:t>语法</a:t>
            </a:r>
            <a:endParaRPr lang="zh-CN" altLang="en-US" sz="2400" b="1">
              <a:solidFill>
                <a:srgbClr val="C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Rot="1" noChangeArrowheads="1"/>
          </p:cNvSpPr>
          <p:nvPr>
            <p:ph type="ctrTitle"/>
          </p:nvPr>
        </p:nvSpPr>
        <p:spPr/>
        <p:txBody>
          <a:bodyPr>
            <a:normAutofit/>
          </a:bodyPr>
          <a:lstStyle/>
          <a:p>
            <a:r>
              <a:rPr lang="zh-CN" altLang="en-US" sz="5400" b="1" i="1" dirty="0"/>
              <a:t>最小圆覆盖算法</a:t>
            </a:r>
            <a:endParaRPr lang="zh-CN" altLang="en-US" sz="5400" b="1" i="1"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fade">
                                      <p:cBhvr>
                                        <p:cTn id="7" dur="2000"/>
                                        <p:tgtEl>
                                          <p:spTgt spid="3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b="1" i="0" dirty="0">
                <a:solidFill>
                  <a:srgbClr val="C00000"/>
                </a:solidFill>
                <a:effectLst/>
                <a:latin typeface="微软雅黑" panose="020B0503020204020204" charset="-122"/>
                <a:ea typeface="微软雅黑" panose="020B0503020204020204" charset="-122"/>
              </a:rPr>
              <a:t>最小圆覆盖</a:t>
            </a:r>
            <a:endParaRPr lang="zh-CN" altLang="en-US" sz="3200" b="1" i="0" dirty="0">
              <a:solidFill>
                <a:srgbClr val="C00000"/>
              </a:solidFill>
              <a:effectLst/>
              <a:latin typeface="微软雅黑" panose="020B0503020204020204" charset="-122"/>
              <a:ea typeface="微软雅黑" panose="020B0503020204020204" charset="-122"/>
            </a:endParaRPr>
          </a:p>
        </p:txBody>
      </p:sp>
      <p:sp>
        <p:nvSpPr>
          <p:cNvPr id="3" name="内容占位符 2"/>
          <p:cNvSpPr>
            <a:spLocks noGrp="1"/>
          </p:cNvSpPr>
          <p:nvPr>
            <p:ph sz="quarter" idx="1"/>
          </p:nvPr>
        </p:nvSpPr>
        <p:spPr/>
        <p:txBody>
          <a:bodyPr/>
          <a:lstStyle/>
          <a:p>
            <a:r>
              <a:rPr lang="zh-CN" altLang="en-US" sz="2800" dirty="0">
                <a:latin typeface="幼圆" panose="02010509060101010101" pitchFamily="49" charset="-122"/>
                <a:ea typeface="幼圆" panose="02010509060101010101" pitchFamily="49" charset="-122"/>
              </a:rPr>
              <a:t>是数学中的一个算法</a:t>
            </a:r>
            <a:r>
              <a:rPr lang="zh-CN" altLang="en-US" sz="2800" dirty="0">
                <a:latin typeface="幼圆" panose="02010509060101010101" pitchFamily="49" charset="-122"/>
                <a:ea typeface="幼圆" panose="02010509060101010101" pitchFamily="49" charset="-122"/>
                <a:hlinkClick r:id="rId1"/>
              </a:rPr>
              <a:t>问题</a:t>
            </a:r>
            <a:r>
              <a:rPr lang="zh-CN" altLang="en-US" sz="2800" dirty="0">
                <a:latin typeface="幼圆" panose="02010509060101010101" pitchFamily="49" charset="-122"/>
                <a:ea typeface="幼圆" panose="02010509060101010101" pitchFamily="49" charset="-122"/>
              </a:rPr>
              <a:t>，研究如何寻找能够覆盖</a:t>
            </a:r>
            <a:r>
              <a:rPr lang="zh-CN" altLang="en-US" sz="2800" dirty="0">
                <a:latin typeface="幼圆" panose="02010509060101010101" pitchFamily="49" charset="-122"/>
                <a:ea typeface="幼圆" panose="02010509060101010101" pitchFamily="49" charset="-122"/>
                <a:hlinkClick r:id="rId2"/>
              </a:rPr>
              <a:t>平面</a:t>
            </a:r>
            <a:r>
              <a:rPr lang="zh-CN" altLang="en-US" sz="2800" dirty="0">
                <a:latin typeface="幼圆" panose="02010509060101010101" pitchFamily="49" charset="-122"/>
                <a:ea typeface="幼圆" panose="02010509060101010101" pitchFamily="49" charset="-122"/>
              </a:rPr>
              <a:t>上</a:t>
            </a:r>
            <a:r>
              <a:rPr lang="zh-CN" altLang="en-US" sz="2800" dirty="0">
                <a:latin typeface="幼圆" panose="02010509060101010101" pitchFamily="49" charset="-122"/>
                <a:ea typeface="幼圆" panose="02010509060101010101" pitchFamily="49" charset="-122"/>
                <a:hlinkClick r:id="rId3"/>
              </a:rPr>
              <a:t>一群</a:t>
            </a:r>
            <a:r>
              <a:rPr lang="zh-CN" altLang="en-US" sz="2800" dirty="0">
                <a:latin typeface="幼圆" panose="02010509060101010101" pitchFamily="49" charset="-122"/>
                <a:ea typeface="幼圆" panose="02010509060101010101" pitchFamily="49" charset="-122"/>
                <a:hlinkClick r:id="rId4"/>
              </a:rPr>
              <a:t>点</a:t>
            </a:r>
            <a:r>
              <a:rPr lang="zh-CN" altLang="en-US" sz="2800" dirty="0">
                <a:latin typeface="幼圆" panose="02010509060101010101" pitchFamily="49" charset="-122"/>
                <a:ea typeface="幼圆" panose="02010509060101010101" pitchFamily="49" charset="-122"/>
              </a:rPr>
              <a:t>的最小</a:t>
            </a:r>
            <a:r>
              <a:rPr lang="zh-CN" altLang="en-US" sz="2800" dirty="0">
                <a:latin typeface="幼圆" panose="02010509060101010101" pitchFamily="49" charset="-122"/>
                <a:ea typeface="幼圆" panose="02010509060101010101" pitchFamily="49" charset="-122"/>
                <a:hlinkClick r:id="rId5"/>
              </a:rPr>
              <a:t>圆</a:t>
            </a:r>
            <a:r>
              <a:rPr lang="zh-CN" altLang="en-US" sz="2800" dirty="0">
                <a:latin typeface="幼圆" panose="02010509060101010101" pitchFamily="49" charset="-122"/>
                <a:ea typeface="幼圆" panose="02010509060101010101" pitchFamily="49" charset="-122"/>
              </a:rPr>
              <a:t>。这个问题在一般的</a:t>
            </a:r>
            <a:r>
              <a:rPr lang="en-US" altLang="zh-CN" sz="2800" dirty="0">
                <a:latin typeface="幼圆" panose="02010509060101010101" pitchFamily="49" charset="-122"/>
                <a:ea typeface="幼圆" panose="02010509060101010101" pitchFamily="49" charset="-122"/>
                <a:hlinkClick r:id="rId6"/>
              </a:rPr>
              <a:t>n</a:t>
            </a:r>
            <a:r>
              <a:rPr lang="zh-CN" altLang="en-US" sz="2800" dirty="0">
                <a:latin typeface="幼圆" panose="02010509060101010101" pitchFamily="49" charset="-122"/>
                <a:ea typeface="幼圆" panose="02010509060101010101" pitchFamily="49" charset="-122"/>
                <a:hlinkClick r:id="rId6"/>
              </a:rPr>
              <a:t>维空间</a:t>
            </a:r>
            <a:r>
              <a:rPr lang="zh-CN" altLang="en-US" sz="2800" dirty="0">
                <a:latin typeface="幼圆" panose="02010509060101010101" pitchFamily="49" charset="-122"/>
                <a:ea typeface="幼圆" panose="02010509060101010101" pitchFamily="49" charset="-122"/>
              </a:rPr>
              <a:t>中的推广是最小包围球的问题，即寻找能覆盖</a:t>
            </a:r>
            <a:r>
              <a:rPr lang="en-US" altLang="zh-CN" sz="2800" dirty="0">
                <a:latin typeface="幼圆" panose="02010509060101010101" pitchFamily="49" charset="-122"/>
                <a:ea typeface="幼圆" panose="02010509060101010101" pitchFamily="49" charset="-122"/>
              </a:rPr>
              <a:t>n</a:t>
            </a:r>
            <a:r>
              <a:rPr lang="zh-CN" altLang="en-US" sz="2800" dirty="0">
                <a:latin typeface="幼圆" panose="02010509060101010101" pitchFamily="49" charset="-122"/>
                <a:ea typeface="幼圆" panose="02010509060101010101" pitchFamily="49" charset="-122"/>
              </a:rPr>
              <a:t>维空间中某个点集的最小</a:t>
            </a:r>
            <a:r>
              <a:rPr lang="zh-CN" altLang="en-US" sz="2800" dirty="0">
                <a:latin typeface="幼圆" panose="02010509060101010101" pitchFamily="49" charset="-122"/>
                <a:ea typeface="幼圆" panose="02010509060101010101" pitchFamily="49" charset="-122"/>
                <a:hlinkClick r:id="rId7"/>
              </a:rPr>
              <a:t>球</a:t>
            </a:r>
            <a:r>
              <a:rPr lang="zh-CN" altLang="en-US" sz="2800" dirty="0">
                <a:latin typeface="幼圆" panose="02010509060101010101" pitchFamily="49" charset="-122"/>
                <a:ea typeface="幼圆" panose="02010509060101010101" pitchFamily="49" charset="-122"/>
              </a:rPr>
              <a:t>。最小圆覆盖问题最早由十九世纪的</a:t>
            </a:r>
            <a:r>
              <a:rPr lang="zh-CN" altLang="en-US" sz="2800" dirty="0">
                <a:latin typeface="幼圆" panose="02010509060101010101" pitchFamily="49" charset="-122"/>
                <a:ea typeface="幼圆" panose="02010509060101010101" pitchFamily="49" charset="-122"/>
                <a:hlinkClick r:id="rId8"/>
              </a:rPr>
              <a:t>英国</a:t>
            </a:r>
            <a:r>
              <a:rPr lang="zh-CN" altLang="en-US" sz="2800" dirty="0">
                <a:latin typeface="幼圆" panose="02010509060101010101" pitchFamily="49" charset="-122"/>
                <a:ea typeface="幼圆" panose="02010509060101010101" pitchFamily="49" charset="-122"/>
                <a:hlinkClick r:id="rId9"/>
              </a:rPr>
              <a:t>数学家</a:t>
            </a:r>
            <a:r>
              <a:rPr lang="zh-CN" altLang="en-US" sz="2800" dirty="0">
                <a:latin typeface="幼圆" panose="02010509060101010101" pitchFamily="49" charset="-122"/>
                <a:ea typeface="幼圆" panose="02010509060101010101" pitchFamily="49" charset="-122"/>
                <a:hlinkClick r:id="rId10"/>
              </a:rPr>
              <a:t>詹姆斯</a:t>
            </a:r>
            <a:r>
              <a:rPr lang="en-US" altLang="zh-CN" sz="2800" dirty="0">
                <a:latin typeface="幼圆" panose="02010509060101010101" pitchFamily="49" charset="-122"/>
                <a:ea typeface="幼圆" panose="02010509060101010101" pitchFamily="49" charset="-122"/>
                <a:hlinkClick r:id="rId10"/>
              </a:rPr>
              <a:t>·</a:t>
            </a:r>
            <a:r>
              <a:rPr lang="zh-CN" altLang="en-US" sz="2800" dirty="0">
                <a:latin typeface="幼圆" panose="02010509060101010101" pitchFamily="49" charset="-122"/>
                <a:ea typeface="幼圆" panose="02010509060101010101" pitchFamily="49" charset="-122"/>
                <a:hlinkClick r:id="rId10"/>
              </a:rPr>
              <a:t>约瑟夫</a:t>
            </a:r>
            <a:r>
              <a:rPr lang="en-US" altLang="zh-CN" sz="2800" dirty="0">
                <a:latin typeface="幼圆" panose="02010509060101010101" pitchFamily="49" charset="-122"/>
                <a:ea typeface="幼圆" panose="02010509060101010101" pitchFamily="49" charset="-122"/>
                <a:hlinkClick r:id="rId10"/>
              </a:rPr>
              <a:t>·</a:t>
            </a:r>
            <a:r>
              <a:rPr lang="zh-CN" altLang="en-US" sz="2800" dirty="0">
                <a:latin typeface="幼圆" panose="02010509060101010101" pitchFamily="49" charset="-122"/>
                <a:ea typeface="幼圆" panose="02010509060101010101" pitchFamily="49" charset="-122"/>
                <a:hlinkClick r:id="rId10"/>
              </a:rPr>
              <a:t>西尔维斯特</a:t>
            </a:r>
            <a:r>
              <a:rPr lang="zh-CN" altLang="en-US" sz="2800" dirty="0">
                <a:latin typeface="幼圆" panose="02010509060101010101" pitchFamily="49" charset="-122"/>
                <a:ea typeface="幼圆" panose="02010509060101010101" pitchFamily="49" charset="-122"/>
              </a:rPr>
              <a:t>在</a:t>
            </a:r>
            <a:r>
              <a:rPr lang="en-US" altLang="zh-CN" sz="2800" dirty="0">
                <a:latin typeface="幼圆" panose="02010509060101010101" pitchFamily="49" charset="-122"/>
                <a:ea typeface="幼圆" panose="02010509060101010101" pitchFamily="49" charset="-122"/>
              </a:rPr>
              <a:t>1857</a:t>
            </a:r>
            <a:r>
              <a:rPr lang="zh-CN" altLang="en-US" sz="2800" dirty="0">
                <a:latin typeface="幼圆" panose="02010509060101010101" pitchFamily="49" charset="-122"/>
                <a:ea typeface="幼圆" panose="02010509060101010101" pitchFamily="49" charset="-122"/>
              </a:rPr>
              <a:t>年提出。</a:t>
            </a:r>
            <a:endParaRPr lang="zh-CN" altLang="en-US" sz="2800" dirty="0">
              <a:latin typeface="幼圆" panose="02010509060101010101" pitchFamily="49" charset="-122"/>
              <a:ea typeface="幼圆" panose="02010509060101010101" pitchFamily="49" charset="-122"/>
            </a:endParaRPr>
          </a:p>
        </p:txBody>
      </p:sp>
      <p:sp>
        <p:nvSpPr>
          <p:cNvPr id="58370" name="Rectangle 2"/>
          <p:cNvSpPr>
            <a:spLocks noGrp="1" noRot="1" noChangeArrowheads="1"/>
          </p:cNvSpPr>
          <p:nvPr/>
        </p:nvSpPr>
        <p:spPr>
          <a:xfrm>
            <a:off x="530225" y="4220845"/>
            <a:ext cx="8540750" cy="1450975"/>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pPr>
            <a:r>
              <a:rPr lang="zh-CN" altLang="zh-CN" sz="2800" b="1" dirty="0">
                <a:latin typeface="幼圆" panose="02010509060101010101" pitchFamily="49" charset="-122"/>
                <a:ea typeface="幼圆" panose="02010509060101010101" pitchFamily="49" charset="-122"/>
              </a:rPr>
              <a:t>问题描述</a:t>
            </a:r>
            <a:endParaRPr lang="zh-CN" altLang="zh-CN" sz="2800" b="1" dirty="0">
              <a:latin typeface="幼圆" panose="02010509060101010101" pitchFamily="49" charset="-122"/>
              <a:ea typeface="幼圆" panose="020105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pPr>
            <a:r>
              <a:rPr lang="zh-CN" altLang="zh-CN" sz="2800" dirty="0">
                <a:latin typeface="幼圆" panose="02010509060101010101" pitchFamily="49" charset="-122"/>
                <a:ea typeface="幼圆" panose="02010509060101010101" pitchFamily="49" charset="-122"/>
              </a:rPr>
              <a:t>给定n个点，用一个最小的圆把这些点全部覆盖，求这个圆的圆心半径</a:t>
            </a:r>
            <a:endParaRPr lang="zh-CN" altLang="zh-CN" sz="2800" dirty="0">
              <a:latin typeface="幼圆" panose="02010509060101010101" pitchFamily="49" charset="-122"/>
              <a:ea typeface="幼圆" panose="02010509060101010101" pitchFamily="49" charset="-122"/>
            </a:endParaRPr>
          </a:p>
          <a:p>
            <a:pPr algn="just">
              <a:lnSpc>
                <a:spcPct val="110000"/>
              </a:lnSpc>
              <a:spcBef>
                <a:spcPct val="10000"/>
              </a:spcBef>
              <a:buClr>
                <a:schemeClr val="tx1"/>
              </a:buClr>
              <a:buSzPct val="60000"/>
              <a:buFont typeface="Wingdings" panose="05000000000000000000" pitchFamily="2" charset="2"/>
              <a:buNone/>
            </a:pPr>
            <a:endParaRPr kumimoji="1" lang="zh-CN" altLang="en-US" dirty="0">
              <a:latin typeface="幼圆" panose="02010509060101010101" pitchFamily="49" charset="-122"/>
              <a:ea typeface="幼圆" panose="02010509060101010101" pitchFamily="49" charset="-122"/>
            </a:endParaRPr>
          </a:p>
          <a:p>
            <a:endParaRPr lang="en-US" altLang="zh-CN" dirty="0">
              <a:latin typeface="幼圆" panose="02010509060101010101" pitchFamily="49" charset="-122"/>
              <a:ea typeface="幼圆" panose="020105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34010" y="1052830"/>
            <a:ext cx="8352790" cy="3046095"/>
          </a:xfrm>
          <a:prstGeom prst="rect">
            <a:avLst/>
          </a:prstGeom>
          <a:noFill/>
        </p:spPr>
        <p:txBody>
          <a:bodyPr wrap="square" rtlCol="0">
            <a:spAutoFit/>
          </a:bodyPr>
          <a:p>
            <a:r>
              <a:rPr lang="zh-CN" altLang="en-US" sz="2400"/>
              <a:t>平面上的最小覆盖圆仅由两种情况决定，不存在</a:t>
            </a:r>
            <a:r>
              <a:rPr lang="en-US" altLang="zh-CN" sz="2400"/>
              <a:t> “</a:t>
            </a:r>
            <a:r>
              <a:rPr lang="zh-CN" altLang="en-US" sz="2400"/>
              <a:t>由</a:t>
            </a:r>
            <a:r>
              <a:rPr lang="en-US" altLang="zh-CN" sz="2400"/>
              <a:t> 4 </a:t>
            </a:r>
            <a:r>
              <a:rPr lang="zh-CN" altLang="en-US" sz="2400"/>
              <a:t>个及以上点同时在圆上</a:t>
            </a:r>
            <a:r>
              <a:rPr lang="en-US" altLang="zh-CN" sz="2400"/>
              <a:t>” </a:t>
            </a:r>
            <a:r>
              <a:rPr lang="zh-CN" altLang="en-US" sz="2400"/>
              <a:t>的可能（否则可找到更小的圆覆盖这些点）：</a:t>
            </a:r>
            <a:endParaRPr lang="zh-CN" altLang="en-US" sz="2400"/>
          </a:p>
          <a:p>
            <a:r>
              <a:rPr lang="en-US" altLang="zh-CN" sz="2400"/>
              <a:t>1</a:t>
            </a:r>
            <a:r>
              <a:rPr lang="zh-CN" altLang="en-US" sz="2400"/>
              <a:t>）</a:t>
            </a:r>
            <a:r>
              <a:rPr lang="en-US" altLang="zh-CN" sz="2400"/>
              <a:t>1 </a:t>
            </a:r>
            <a:r>
              <a:rPr lang="zh-CN" altLang="en-US" sz="2400"/>
              <a:t>个点确定：所有点重合，圆以该点为圆心，半径为</a:t>
            </a:r>
            <a:r>
              <a:rPr lang="en-US" altLang="zh-CN" sz="2400"/>
              <a:t> 0</a:t>
            </a:r>
            <a:r>
              <a:rPr lang="zh-CN" altLang="en-US" sz="2400"/>
              <a:t>。</a:t>
            </a:r>
            <a:endParaRPr lang="zh-CN" altLang="en-US" sz="2400"/>
          </a:p>
          <a:p>
            <a:r>
              <a:rPr lang="en-US" altLang="zh-CN" sz="2400"/>
              <a:t>2</a:t>
            </a:r>
            <a:r>
              <a:rPr lang="zh-CN" altLang="en-US" sz="2400"/>
              <a:t>）</a:t>
            </a:r>
            <a:r>
              <a:rPr lang="en-US" altLang="zh-CN" sz="2400"/>
              <a:t>2 </a:t>
            </a:r>
            <a:r>
              <a:rPr lang="zh-CN" altLang="en-US" sz="2400"/>
              <a:t>个点确定：圆以这两点的连线为直径（此时其他点均在圆内或圆上）。</a:t>
            </a:r>
            <a:endParaRPr lang="zh-CN" altLang="en-US" sz="2400"/>
          </a:p>
          <a:p>
            <a:r>
              <a:rPr lang="en-US" altLang="zh-CN" sz="2400"/>
              <a:t>3</a:t>
            </a:r>
            <a:r>
              <a:rPr lang="zh-CN" altLang="en-US" sz="2400"/>
              <a:t>）</a:t>
            </a:r>
            <a:r>
              <a:rPr lang="en-US" altLang="zh-CN" sz="2400"/>
              <a:t>3 </a:t>
            </a:r>
            <a:r>
              <a:rPr lang="zh-CN" altLang="en-US" sz="2400"/>
              <a:t>个点确定：这三点构成锐角或直角三角形，圆为该三角形的外接圆；若为钝角三角形，圆仍以最长边为直径（钝角顶点在圆内）。</a:t>
            </a:r>
            <a:endParaRPr lang="zh-CN" altLang="en-US" sz="2400"/>
          </a:p>
        </p:txBody>
      </p:sp>
      <p:sp>
        <p:nvSpPr>
          <p:cNvPr id="4" name="标题 3"/>
          <p:cNvSpPr/>
          <p:nvPr>
            <p:ph type="title"/>
          </p:nvPr>
        </p:nvSpPr>
        <p:spPr>
          <a:xfrm>
            <a:off x="323850" y="255905"/>
            <a:ext cx="4791710" cy="581025"/>
          </a:xfrm>
        </p:spPr>
        <p:txBody>
          <a:bodyPr>
            <a:normAutofit fontScale="90000"/>
          </a:bodyPr>
          <a:p>
            <a:r>
              <a:rPr lang="zh-CN" altLang="en-US" sz="2800" b="1">
                <a:solidFill>
                  <a:srgbClr val="C00000"/>
                </a:solidFill>
                <a:latin typeface="微软雅黑" panose="020B0503020204020204" charset="-122"/>
                <a:ea typeface="微软雅黑" panose="020B0503020204020204" charset="-122"/>
                <a:sym typeface="+mn-ea"/>
              </a:rPr>
              <a:t>一、核心原理：圆的确定条件</a:t>
            </a:r>
            <a:endParaRPr lang="zh-CN" altLang="en-US" sz="2800" b="1">
              <a:solidFill>
                <a:srgbClr val="C00000"/>
              </a:solidFill>
              <a:latin typeface="微软雅黑" panose="020B0503020204020204" charset="-122"/>
              <a:ea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99795" y="908685"/>
            <a:ext cx="7362825" cy="3710940"/>
          </a:xfrm>
          <a:prstGeom prst="rect">
            <a:avLst/>
          </a:prstGeom>
        </p:spPr>
        <p:txBody>
          <a:bodyPr wrap="square">
            <a:spAutoFit/>
          </a:bodyPr>
          <a:p>
            <a:pPr marL="0" indent="0">
              <a:lnSpc>
                <a:spcPts val="2100"/>
              </a:lnSpc>
              <a:spcBef>
                <a:spcPts val="600"/>
              </a:spcBef>
              <a:spcAft>
                <a:spcPts val="600"/>
              </a:spcAft>
            </a:pP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最常用的实现方式是 “增量法”，通过逐步加入点并调整圆的范围，确保每一步的圆都覆盖已加入的所有点，具体步骤如下：</a:t>
            </a:r>
            <a:endPar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endParaRPr>
          </a:p>
          <a:p>
            <a:pPr marL="0" indent="0">
              <a:lnSpc>
                <a:spcPts val="1725"/>
              </a:lnSpc>
              <a:spcBef>
                <a:spcPts val="2100"/>
              </a:spcBef>
              <a:spcAft>
                <a:spcPts val="700"/>
              </a:spcAft>
            </a:pP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1.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算法流程（</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3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层循环迭代）</a:t>
            </a:r>
            <a:endPar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endParaRPr>
          </a:p>
          <a:p>
            <a:pPr marL="0" indent="0">
              <a:lnSpc>
                <a:spcPts val="2100"/>
              </a:lnSpc>
              <a:spcBef>
                <a:spcPct val="0"/>
              </a:spcBef>
              <a:spcAft>
                <a:spcPct val="0"/>
              </a:spcAft>
              <a:buFont typeface="Arial" panose="020B0604020202020204"/>
              <a:buChar char="•"/>
            </a:pP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外层循环：依次将每个点</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Pi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作为 “候选边界点”，若</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Pi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在当前圆外，则以</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Pi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为圆心、半径 </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0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重新初始化圆（此时圆仅覆盖</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Pi</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a:t>
            </a:r>
            <a:endPar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endParaRPr>
          </a:p>
          <a:p>
            <a:pPr marL="0" indent="0">
              <a:lnSpc>
                <a:spcPts val="2100"/>
              </a:lnSpc>
              <a:spcBef>
                <a:spcPct val="0"/>
              </a:spcBef>
              <a:spcAft>
                <a:spcPct val="0"/>
              </a:spcAft>
              <a:buFont typeface="Arial" panose="020B0604020202020204"/>
              <a:buChar char="•"/>
            </a:pP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中层循环：针对当前圆心</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Pi</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，依次将前</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(i-1)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个点</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Pi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作为 “候选边界点”，若</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Pj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在当前圆外，则以</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(Pi,Pj)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为直径重新初始化圆（此时圆覆盖</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(Pi, Pj)</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a:t>
            </a:r>
            <a:endPar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endParaRPr>
          </a:p>
          <a:p>
            <a:pPr marL="0" indent="0">
              <a:lnSpc>
                <a:spcPts val="2100"/>
              </a:lnSpc>
              <a:spcBef>
                <a:spcPct val="0"/>
              </a:spcBef>
              <a:spcAft>
                <a:spcPct val="0"/>
              </a:spcAft>
              <a:buFont typeface="Arial" panose="020B0604020202020204"/>
              <a:buChar char="•"/>
            </a:pP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内层循环：针对当前直径</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(Pj,Pj)</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，依次将前</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(j-1)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个点</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(Pk)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作为 “候选边界点”，若</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(Pk)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在当前圆外，则以</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(Pi, Pj, Pk) </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为三点计算外接圆（此时圆覆盖</a:t>
            </a:r>
            <a:r>
              <a:rPr lang="en-US" altLang="zh-CN" sz="2000" b="0" i="0">
                <a:solidFill>
                  <a:srgbClr val="000000"/>
                </a:solidFill>
                <a:latin typeface="幼圆" panose="02010509060101010101" pitchFamily="49" charset="-122"/>
                <a:ea typeface="幼圆" panose="02010509060101010101" pitchFamily="49" charset="-122"/>
                <a:cs typeface="幼圆" panose="02010509060101010101" pitchFamily="49" charset="-122"/>
              </a:rPr>
              <a:t> (Pi,Pj, Pk</a:t>
            </a:r>
            <a:r>
              <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rPr>
              <a:t>）。</a:t>
            </a:r>
            <a:endParaRPr lang="zh-CN" altLang="en-US" sz="2000" b="0" i="0">
              <a:solidFill>
                <a:srgbClr val="000000"/>
              </a:solidFill>
              <a:latin typeface="幼圆" panose="02010509060101010101" pitchFamily="49" charset="-122"/>
              <a:ea typeface="幼圆" panose="02010509060101010101" pitchFamily="49" charset="-122"/>
              <a:cs typeface="幼圆" panose="02010509060101010101" pitchFamily="49" charset="-122"/>
            </a:endParaRPr>
          </a:p>
        </p:txBody>
      </p:sp>
      <p:sp>
        <p:nvSpPr>
          <p:cNvPr id="4" name="文本框 3"/>
          <p:cNvSpPr txBox="1"/>
          <p:nvPr/>
        </p:nvSpPr>
        <p:spPr>
          <a:xfrm>
            <a:off x="827405" y="332740"/>
            <a:ext cx="7573645" cy="331470"/>
          </a:xfrm>
          <a:prstGeom prst="rect">
            <a:avLst/>
          </a:prstGeom>
          <a:noFill/>
        </p:spPr>
        <p:txBody>
          <a:bodyPr wrap="square" rtlCol="0" anchor="t">
            <a:spAutoFit/>
          </a:bodyPr>
          <a:p>
            <a:pPr marL="0" indent="0">
              <a:lnSpc>
                <a:spcPts val="1875"/>
              </a:lnSpc>
              <a:spcBef>
                <a:spcPts val="2400"/>
              </a:spcBef>
              <a:spcAft>
                <a:spcPts val="900"/>
              </a:spcAft>
            </a:pPr>
            <a:r>
              <a:rPr lang="zh-CN" altLang="en-US" sz="2400" b="1">
                <a:solidFill>
                  <a:srgbClr val="C00000"/>
                </a:solidFill>
                <a:latin typeface="微软雅黑" panose="020B0503020204020204" charset="-122"/>
                <a:ea typeface="微软雅黑" panose="020B0503020204020204" charset="-122"/>
                <a:cs typeface="微软雅黑" panose="020B0503020204020204" charset="-122"/>
                <a:sym typeface="+mn-ea"/>
              </a:rPr>
              <a:t>二、经典算法：增量法（</a:t>
            </a:r>
            <a:r>
              <a:rPr lang="en-US" altLang="zh-CN" sz="2400" b="1">
                <a:solidFill>
                  <a:srgbClr val="C00000"/>
                </a:solidFill>
                <a:latin typeface="微软雅黑" panose="020B0503020204020204" charset="-122"/>
                <a:ea typeface="微软雅黑" panose="020B0503020204020204" charset="-122"/>
                <a:cs typeface="微软雅黑" panose="020B0503020204020204" charset="-122"/>
                <a:sym typeface="+mn-ea"/>
              </a:rPr>
              <a:t>Incremental Algorithm</a:t>
            </a:r>
            <a:r>
              <a:rPr lang="zh-CN" altLang="en-US" sz="2400" b="1">
                <a:solidFill>
                  <a:srgbClr val="C00000"/>
                </a:solidFill>
                <a:latin typeface="微软雅黑" panose="020B0503020204020204" charset="-122"/>
                <a:ea typeface="微软雅黑" panose="020B0503020204020204" charset="-122"/>
                <a:cs typeface="微软雅黑" panose="020B0503020204020204" charset="-122"/>
                <a:sym typeface="+mn-ea"/>
              </a:rPr>
              <a:t>）</a:t>
            </a:r>
            <a:endParaRPr lang="zh-CN" altLang="en-US" sz="2400" b="1">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676275" y="1772816"/>
            <a:ext cx="7791450" cy="20383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pPr algn="ctr"/>
            <a:r>
              <a:rPr lang="zh-CN" altLang="en-US" sz="6000" dirty="0">
                <a:solidFill>
                  <a:srgbClr val="00B0F0"/>
                </a:solidFill>
                <a:latin typeface="Calibri" panose="020F0502020204030204" charset="0"/>
                <a:cs typeface="Calibri" panose="020F0502020204030204" charset="0"/>
              </a:rPr>
              <a:t>感谢同学们认真听课</a:t>
            </a:r>
            <a:r>
              <a:rPr lang="en-US" altLang="zh-CN" sz="6000" i="0" dirty="0">
                <a:solidFill>
                  <a:srgbClr val="00B0F0"/>
                </a:solidFill>
                <a:latin typeface="Calibri" panose="020F0502020204030204" charset="0"/>
                <a:cs typeface="Calibri" panose="020F0502020204030204" charset="0"/>
              </a:rPr>
              <a:t>!</a:t>
            </a:r>
            <a:endParaRPr lang="zh-CN" altLang="en-US" sz="6000" i="0" dirty="0">
              <a:solidFill>
                <a:srgbClr val="00B0F0"/>
              </a:solidFill>
              <a:latin typeface="Calibri" panose="020F0502020204030204" charset="0"/>
              <a:cs typeface="Calibri" panose="020F0502020204030204" charset="0"/>
            </a:endParaRPr>
          </a:p>
        </p:txBody>
      </p:sp>
      <p:sp>
        <p:nvSpPr>
          <p:cNvPr id="5" name="TextBox 4"/>
          <p:cNvSpPr txBox="1"/>
          <p:nvPr/>
        </p:nvSpPr>
        <p:spPr>
          <a:xfrm>
            <a:off x="1547664" y="3446615"/>
            <a:ext cx="590465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C47546"/>
                </a:solidFill>
                <a:effectLst/>
                <a:uLnTx/>
                <a:uFillTx/>
                <a:latin typeface="Calibri" panose="020F0502020204030204" charset="0"/>
                <a:ea typeface="黑体" panose="02010609060101010101" charset="-122"/>
                <a:cs typeface="Calibri" panose="020F0502020204030204" charset="0"/>
              </a:rPr>
              <a:t>欢迎同学们积极提问、交流</a:t>
            </a:r>
            <a:endParaRPr kumimoji="0" lang="zh-CN" altLang="en-US" sz="2800" b="0" i="0" u="none" strike="noStrike" kern="1200" cap="none" spc="0" normalizeH="0" baseline="0" noProof="0" dirty="0">
              <a:ln>
                <a:noFill/>
              </a:ln>
              <a:solidFill>
                <a:srgbClr val="C47546"/>
              </a:solidFill>
              <a:effectLst/>
              <a:uLnTx/>
              <a:uFillTx/>
              <a:latin typeface="Calibri" panose="020F0502020204030204" charset="0"/>
              <a:ea typeface="黑体" panose="02010609060101010101" charset="-122"/>
              <a:cs typeface="Calibri" panose="020F0502020204030204" charset="0"/>
            </a:endParaRPr>
          </a:p>
        </p:txBody>
      </p:sp>
      <p:sp>
        <p:nvSpPr>
          <p:cNvPr id="4" name="TextBox 3"/>
          <p:cNvSpPr txBox="1"/>
          <p:nvPr/>
        </p:nvSpPr>
        <p:spPr>
          <a:xfrm>
            <a:off x="1561255" y="4606536"/>
            <a:ext cx="590465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C47546"/>
                </a:solidFill>
                <a:effectLst/>
                <a:uLnTx/>
                <a:uFillTx/>
                <a:latin typeface="Calibri" panose="020F0502020204030204" charset="0"/>
                <a:ea typeface="黑体" panose="02010609060101010101" charset="-122"/>
                <a:cs typeface="Calibri" panose="020F0502020204030204" charset="0"/>
                <a:hlinkClick r:id="rId1"/>
              </a:rPr>
              <a:t>mcstj@mail.sysu.edu.cn</a:t>
            </a:r>
            <a:r>
              <a:rPr kumimoji="0" lang="en-US" altLang="zh-CN" sz="2800" b="0" i="0" u="none" strike="noStrike" kern="1200" cap="none" spc="0" normalizeH="0" baseline="0" noProof="0" dirty="0">
                <a:ln>
                  <a:noFill/>
                </a:ln>
                <a:solidFill>
                  <a:srgbClr val="C47546"/>
                </a:solidFill>
                <a:effectLst/>
                <a:uLnTx/>
                <a:uFillTx/>
                <a:latin typeface="Calibri" panose="020F0502020204030204" charset="0"/>
                <a:ea typeface="黑体" panose="02010609060101010101" charset="-122"/>
                <a:cs typeface="Calibri" panose="020F0502020204030204" charset="0"/>
              </a:rPr>
              <a:t> </a:t>
            </a:r>
            <a:endParaRPr kumimoji="0" lang="en-US" altLang="zh-CN" sz="2800" b="0" i="0" u="none" strike="noStrike" kern="1200" cap="none" spc="0" normalizeH="0" baseline="0" noProof="0" dirty="0">
              <a:ln>
                <a:noFill/>
              </a:ln>
              <a:solidFill>
                <a:srgbClr val="C47546"/>
              </a:solidFill>
              <a:effectLst/>
              <a:uLnTx/>
              <a:uFillTx/>
              <a:latin typeface="Calibri" panose="020F0502020204030204" charset="0"/>
              <a:ea typeface="黑体" panose="02010609060101010101" charset="-122"/>
              <a:cs typeface="Calibri" panose="020F0502020204030204" charset="0"/>
            </a:endParaRPr>
          </a:p>
        </p:txBody>
      </p:sp>
    </p:spTree>
  </p:cSld>
  <p:clrMapOvr>
    <a:masterClrMapping/>
  </p:clrMapOvr>
</p:sld>
</file>

<file path=ppt/tags/tag1.xml><?xml version="1.0" encoding="utf-8"?>
<p:tagLst xmlns:p="http://schemas.openxmlformats.org/presentationml/2006/main">
  <p:tag name="DEFAULTFONTSIZE" val="10"/>
  <p:tag name="DEFAULTWIDTH" val="354"/>
  <p:tag name="DEFAULTHEIGHT" val="383"/>
  <p:tag name="commondata" val="eyJoZGlkIjoiODFjMzZmMzA5NzlkZDNlNzAwNzg3NzY2MTk0YWM2MGYifQ=="/>
</p:tagLst>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极目远眺">
  <a:themeElements>
    <a:clrScheme name="极目远眺">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极目远眺">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极目远眺">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极目远眺">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Horizon</Template>
  <TotalTime>0</TotalTime>
  <Words>7434</Words>
  <Application>WPS 演示</Application>
  <PresentationFormat>全屏显示(4:3)</PresentationFormat>
  <Paragraphs>381</Paragraphs>
  <Slides>44</Slides>
  <Notes>16</Notes>
  <HiddenSlides>0</HiddenSlides>
  <MMClips>0</MMClips>
  <ScaleCrop>false</ScaleCrop>
  <HeadingPairs>
    <vt:vector size="8" baseType="variant">
      <vt:variant>
        <vt:lpstr>已用的字体</vt:lpstr>
      </vt:variant>
      <vt:variant>
        <vt:i4>27</vt:i4>
      </vt:variant>
      <vt:variant>
        <vt:lpstr>主题</vt:lpstr>
      </vt:variant>
      <vt:variant>
        <vt:i4>3</vt:i4>
      </vt:variant>
      <vt:variant>
        <vt:lpstr>嵌入 OLE 服务器</vt:lpstr>
      </vt:variant>
      <vt:variant>
        <vt:i4>33</vt:i4>
      </vt:variant>
      <vt:variant>
        <vt:lpstr>幻灯片标题</vt:lpstr>
      </vt:variant>
      <vt:variant>
        <vt:i4>44</vt:i4>
      </vt:variant>
    </vt:vector>
  </HeadingPairs>
  <TitlesOfParts>
    <vt:vector size="107" baseType="lpstr">
      <vt:lpstr>Arial</vt:lpstr>
      <vt:lpstr>宋体</vt:lpstr>
      <vt:lpstr>Wingdings</vt:lpstr>
      <vt:lpstr>Wingdings 2</vt:lpstr>
      <vt:lpstr>幼圆</vt:lpstr>
      <vt:lpstr>Arial</vt:lpstr>
      <vt:lpstr>PMingLiU</vt:lpstr>
      <vt:lpstr>MingLiU-ExtB</vt:lpstr>
      <vt:lpstr>Arial Narrow</vt:lpstr>
      <vt:lpstr>方正姚体</vt:lpstr>
      <vt:lpstr>黑体</vt:lpstr>
      <vt:lpstr>Cambria Math</vt:lpstr>
      <vt:lpstr>微软雅黑</vt:lpstr>
      <vt:lpstr>Arial Unicode MS</vt:lpstr>
      <vt:lpstr>Calibri</vt:lpstr>
      <vt:lpstr>Times New Roman</vt:lpstr>
      <vt:lpstr>华文新魏</vt:lpstr>
      <vt:lpstr>Tahoma</vt:lpstr>
      <vt:lpstr>Helvetica Neue</vt:lpstr>
      <vt:lpstr>Perpetua</vt:lpstr>
      <vt:lpstr>Franklin Gothic Book</vt:lpstr>
      <vt:lpstr>Franklin Gothic Medium</vt:lpstr>
      <vt:lpstr>Wingdings</vt:lpstr>
      <vt:lpstr>ui-sans-serif</vt:lpstr>
      <vt:lpstr>Segoe Print</vt:lpstr>
      <vt:lpstr>MS Mincho</vt:lpstr>
      <vt:lpstr>Menlo</vt:lpstr>
      <vt:lpstr>极目远眺</vt:lpstr>
      <vt:lpstr>Equity</vt:lpstr>
      <vt:lpstr>暗香扑面</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数学实验与数学软件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K-means聚类算法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最小圆覆盖算法</vt:lpstr>
      <vt:lpstr>最小圆覆盖</vt:lpstr>
      <vt:lpstr>算法</vt:lpstr>
      <vt:lpstr>PowerPoint 演示文稿</vt:lpstr>
      <vt:lpstr>PowerPoint 演示文稿</vt:lpstr>
      <vt:lpstr>感谢同学们认真听课!</vt:lpstr>
    </vt:vector>
  </TitlesOfParts>
  <Company>NUS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数学实验与数学软件 </dc:title>
  <dc:creator>JIA LI</dc:creator>
  <cp:lastModifiedBy>谭军</cp:lastModifiedBy>
  <cp:revision>860</cp:revision>
  <dcterms:created xsi:type="dcterms:W3CDTF">2014-07-04T06:51:00Z</dcterms:created>
  <dcterms:modified xsi:type="dcterms:W3CDTF">2025-10-15T09:49:57Z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F29B75EB676145B782975D0896B8708D_13</vt:lpwstr>
  </property>
  <property fmtid="{D5CDD505-2E9C-101B-9397-08002B2CF9AE}" pid="3" name="KSOProductBuildVer">
    <vt:lpwstr>2052-12.1.0.23125</vt:lpwstr>
  </property>
</Properties>
</file>